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1159" r:id="rId3"/>
    <p:sldId id="1164" r:id="rId4"/>
    <p:sldId id="1160" r:id="rId5"/>
    <p:sldId id="1161" r:id="rId6"/>
    <p:sldId id="1162" r:id="rId7"/>
    <p:sldId id="1157" r:id="rId8"/>
    <p:sldId id="1163" r:id="rId9"/>
    <p:sldId id="1138" r:id="rId10"/>
    <p:sldId id="1165" r:id="rId11"/>
    <p:sldId id="1143" r:id="rId12"/>
    <p:sldId id="1144" r:id="rId13"/>
    <p:sldId id="1136" r:id="rId14"/>
    <p:sldId id="1151" r:id="rId15"/>
    <p:sldId id="1154" r:id="rId16"/>
    <p:sldId id="1137" r:id="rId17"/>
    <p:sldId id="1156" r:id="rId18"/>
    <p:sldId id="1150" r:id="rId19"/>
    <p:sldId id="1134" r:id="rId20"/>
    <p:sldId id="1145" r:id="rId21"/>
    <p:sldId id="1135" r:id="rId22"/>
    <p:sldId id="1140" r:id="rId23"/>
    <p:sldId id="1139" r:id="rId24"/>
    <p:sldId id="1141" r:id="rId25"/>
    <p:sldId id="1166" r:id="rId26"/>
    <p:sldId id="1167" r:id="rId27"/>
    <p:sldId id="393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2FFFA2-EC4B-1B83-AAE5-2E10B0594C73}" v="18" dt="2024-11-05T05:23:20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2" autoAdjust="0"/>
    <p:restoredTop sz="94660"/>
  </p:normalViewPr>
  <p:slideViewPr>
    <p:cSldViewPr snapToGrid="0">
      <p:cViewPr varScale="1">
        <p:scale>
          <a:sx n="67" d="100"/>
          <a:sy n="67" d="100"/>
        </p:scale>
        <p:origin x="6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gavathi Sankaranarayanan" userId="S::bagavathi.sankaranarayanan@jasmin-infotech.com::0fed73e0-a665-4abd-a2f8-a880fa58ca96" providerId="AD" clId="Web-{462FFFA2-EC4B-1B83-AAE5-2E10B0594C73}"/>
    <pc:docChg chg="modSld">
      <pc:chgData name="Bagavathi Sankaranarayanan" userId="S::bagavathi.sankaranarayanan@jasmin-infotech.com::0fed73e0-a665-4abd-a2f8-a880fa58ca96" providerId="AD" clId="Web-{462FFFA2-EC4B-1B83-AAE5-2E10B0594C73}" dt="2024-11-05T05:23:20.870" v="16"/>
      <pc:docMkLst>
        <pc:docMk/>
      </pc:docMkLst>
      <pc:sldChg chg="addAnim">
        <pc:chgData name="Bagavathi Sankaranarayanan" userId="S::bagavathi.sankaranarayanan@jasmin-infotech.com::0fed73e0-a665-4abd-a2f8-a880fa58ca96" providerId="AD" clId="Web-{462FFFA2-EC4B-1B83-AAE5-2E10B0594C73}" dt="2024-11-05T05:21:20.759" v="9"/>
        <pc:sldMkLst>
          <pc:docMk/>
          <pc:sldMk cId="2116575755" sldId="1143"/>
        </pc:sldMkLst>
      </pc:sldChg>
      <pc:sldChg chg="addAnim">
        <pc:chgData name="Bagavathi Sankaranarayanan" userId="S::bagavathi.sankaranarayanan@jasmin-infotech.com::0fed73e0-a665-4abd-a2f8-a880fa58ca96" providerId="AD" clId="Web-{462FFFA2-EC4B-1B83-AAE5-2E10B0594C73}" dt="2024-11-05T05:21:24.322" v="10"/>
        <pc:sldMkLst>
          <pc:docMk/>
          <pc:sldMk cId="15666814" sldId="1144"/>
        </pc:sldMkLst>
      </pc:sldChg>
      <pc:sldChg chg="addAnim delAnim modAnim">
        <pc:chgData name="Bagavathi Sankaranarayanan" userId="S::bagavathi.sankaranarayanan@jasmin-infotech.com::0fed73e0-a665-4abd-a2f8-a880fa58ca96" providerId="AD" clId="Web-{462FFFA2-EC4B-1B83-AAE5-2E10B0594C73}" dt="2024-11-05T05:20:57.681" v="7"/>
        <pc:sldMkLst>
          <pc:docMk/>
          <pc:sldMk cId="422273208" sldId="1157"/>
        </pc:sldMkLst>
      </pc:sldChg>
      <pc:sldChg chg="addAnim delAnim">
        <pc:chgData name="Bagavathi Sankaranarayanan" userId="S::bagavathi.sankaranarayanan@jasmin-infotech.com::0fed73e0-a665-4abd-a2f8-a880fa58ca96" providerId="AD" clId="Web-{462FFFA2-EC4B-1B83-AAE5-2E10B0594C73}" dt="2024-11-05T05:20:19.414" v="0"/>
        <pc:sldMkLst>
          <pc:docMk/>
          <pc:sldMk cId="1879312530" sldId="1159"/>
        </pc:sldMkLst>
      </pc:sldChg>
      <pc:sldChg chg="addAnim delAnim">
        <pc:chgData name="Bagavathi Sankaranarayanan" userId="S::bagavathi.sankaranarayanan@jasmin-infotech.com::0fed73e0-a665-4abd-a2f8-a880fa58ca96" providerId="AD" clId="Web-{462FFFA2-EC4B-1B83-AAE5-2E10B0594C73}" dt="2024-11-05T05:20:32.680" v="2"/>
        <pc:sldMkLst>
          <pc:docMk/>
          <pc:sldMk cId="1989042519" sldId="1160"/>
        </pc:sldMkLst>
      </pc:sldChg>
      <pc:sldChg chg="addAnim delAnim">
        <pc:chgData name="Bagavathi Sankaranarayanan" userId="S::bagavathi.sankaranarayanan@jasmin-infotech.com::0fed73e0-a665-4abd-a2f8-a880fa58ca96" providerId="AD" clId="Web-{462FFFA2-EC4B-1B83-AAE5-2E10B0594C73}" dt="2024-11-05T05:20:38.555" v="3"/>
        <pc:sldMkLst>
          <pc:docMk/>
          <pc:sldMk cId="1994072253" sldId="1161"/>
        </pc:sldMkLst>
      </pc:sldChg>
      <pc:sldChg chg="addAnim">
        <pc:chgData name="Bagavathi Sankaranarayanan" userId="S::bagavathi.sankaranarayanan@jasmin-infotech.com::0fed73e0-a665-4abd-a2f8-a880fa58ca96" providerId="AD" clId="Web-{462FFFA2-EC4B-1B83-AAE5-2E10B0594C73}" dt="2024-11-05T05:20:42.024" v="4"/>
        <pc:sldMkLst>
          <pc:docMk/>
          <pc:sldMk cId="387927480" sldId="1162"/>
        </pc:sldMkLst>
      </pc:sldChg>
      <pc:sldChg chg="addAnim delAnim">
        <pc:chgData name="Bagavathi Sankaranarayanan" userId="S::bagavathi.sankaranarayanan@jasmin-infotech.com::0fed73e0-a665-4abd-a2f8-a880fa58ca96" providerId="AD" clId="Web-{462FFFA2-EC4B-1B83-AAE5-2E10B0594C73}" dt="2024-11-05T05:20:27.836" v="1"/>
        <pc:sldMkLst>
          <pc:docMk/>
          <pc:sldMk cId="4208945488" sldId="1164"/>
        </pc:sldMkLst>
      </pc:sldChg>
      <pc:sldChg chg="addAnim delAnim">
        <pc:chgData name="Bagavathi Sankaranarayanan" userId="S::bagavathi.sankaranarayanan@jasmin-infotech.com::0fed73e0-a665-4abd-a2f8-a880fa58ca96" providerId="AD" clId="Web-{462FFFA2-EC4B-1B83-AAE5-2E10B0594C73}" dt="2024-11-05T05:23:20.870" v="16"/>
        <pc:sldMkLst>
          <pc:docMk/>
          <pc:sldMk cId="3584950215" sldId="1165"/>
        </pc:sldMkLst>
      </pc:sldChg>
      <pc:sldChg chg="modSp">
        <pc:chgData name="Bagavathi Sankaranarayanan" userId="S::bagavathi.sankaranarayanan@jasmin-infotech.com::0fed73e0-a665-4abd-a2f8-a880fa58ca96" providerId="AD" clId="Web-{462FFFA2-EC4B-1B83-AAE5-2E10B0594C73}" dt="2024-11-05T05:22:27.838" v="15" actId="20577"/>
        <pc:sldMkLst>
          <pc:docMk/>
          <pc:sldMk cId="1490199807" sldId="1167"/>
        </pc:sldMkLst>
        <pc:spChg chg="mod">
          <ac:chgData name="Bagavathi Sankaranarayanan" userId="S::bagavathi.sankaranarayanan@jasmin-infotech.com::0fed73e0-a665-4abd-a2f8-a880fa58ca96" providerId="AD" clId="Web-{462FFFA2-EC4B-1B83-AAE5-2E10B0594C73}" dt="2024-11-05T05:22:27.838" v="15" actId="20577"/>
          <ac:spMkLst>
            <pc:docMk/>
            <pc:sldMk cId="1490199807" sldId="1167"/>
            <ac:spMk id="2" creationId="{D33CEFDF-0A8E-43CC-92B1-4A58256DCB3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6ED3CF-35FE-4CF8-948B-F3CAABE62015}" type="doc">
      <dgm:prSet loTypeId="urn:microsoft.com/office/officeart/2018/2/layout/IconLabel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21D791C-E53F-4A73-933F-8F3B79719AF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>
              <a:latin typeface="Calibri Light" panose="020F0302020204030204"/>
            </a:rPr>
            <a:t>PLAYBACK  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 Speaker</a:t>
          </a:r>
          <a:r>
            <a:rPr lang="en-US" b="0"/>
            <a:t> processing</a:t>
          </a:r>
          <a:r>
            <a:rPr lang="en-US" b="0">
              <a:latin typeface="Calibri Light" panose="020F0302020204030204"/>
            </a:rPr>
            <a:t> 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 pro-audio</a:t>
          </a:r>
        </a:p>
      </dgm:t>
    </dgm:pt>
    <dgm:pt modelId="{DDA07F6B-BF9F-4367-96F1-26B92382FCCA}" type="parTrans" cxnId="{8D074790-1C81-49BD-99F6-459A38FD1958}">
      <dgm:prSet/>
      <dgm:spPr/>
      <dgm:t>
        <a:bodyPr/>
        <a:lstStyle/>
        <a:p>
          <a:endParaRPr lang="en-IN"/>
        </a:p>
      </dgm:t>
    </dgm:pt>
    <dgm:pt modelId="{DFB77F2C-185E-4CC9-8C3A-F39B3A1A016D}" type="sibTrans" cxnId="{8D074790-1C81-49BD-99F6-459A38FD1958}">
      <dgm:prSet/>
      <dgm:spPr/>
      <dgm:t>
        <a:bodyPr/>
        <a:lstStyle/>
        <a:p>
          <a:endParaRPr lang="en-US"/>
        </a:p>
      </dgm:t>
    </dgm:pt>
    <dgm:pt modelId="{FEB59D6C-2674-401F-A083-63BC71DC27B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Voice </a:t>
          </a:r>
          <a:r>
            <a:rPr lang="en-US" b="1">
              <a:latin typeface="Calibri Light" panose="020F0302020204030204"/>
            </a:rPr>
            <a:t>input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  Audio</a:t>
          </a:r>
          <a:r>
            <a:rPr lang="en-US" b="0"/>
            <a:t> as </a:t>
          </a:r>
          <a:r>
            <a:rPr lang="en-US" b="0">
              <a:latin typeface="Calibri Light" panose="020F0302020204030204"/>
            </a:rPr>
            <a:t>UI 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  IOT</a:t>
          </a:r>
          <a:r>
            <a:rPr lang="en-US" b="0"/>
            <a:t> mobile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</a:t>
          </a:r>
        </a:p>
      </dgm:t>
    </dgm:pt>
    <dgm:pt modelId="{04A59B21-6DF9-49E0-BDF9-6C387615EB8C}" type="parTrans" cxnId="{238168B5-6D17-4D2C-B32F-4A0AB7EA8C5B}">
      <dgm:prSet/>
      <dgm:spPr/>
      <dgm:t>
        <a:bodyPr/>
        <a:lstStyle/>
        <a:p>
          <a:endParaRPr lang="en-IN"/>
        </a:p>
      </dgm:t>
    </dgm:pt>
    <dgm:pt modelId="{6A167BEE-B251-4F69-8124-4CF604BBB2B8}" type="sibTrans" cxnId="{238168B5-6D17-4D2C-B32F-4A0AB7EA8C5B}">
      <dgm:prSet/>
      <dgm:spPr/>
      <dgm:t>
        <a:bodyPr/>
        <a:lstStyle/>
        <a:p>
          <a:endParaRPr lang="en-US"/>
        </a:p>
      </dgm:t>
    </dgm:pt>
    <dgm:pt modelId="{CDC27082-60D4-49A7-8FAC-CD17F44F6D2A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b="0" dirty="0"/>
            <a:t>Communication</a:t>
          </a:r>
          <a:br>
            <a:rPr lang="en-US" b="0" dirty="0">
              <a:latin typeface="Calibri Light" panose="020F0302020204030204"/>
            </a:rPr>
          </a:br>
          <a:r>
            <a:rPr lang="en-US" b="0" dirty="0">
              <a:latin typeface="Calibri Light" panose="020F0302020204030204"/>
            </a:rPr>
            <a:t>Microphone</a:t>
          </a:r>
          <a:br>
            <a:rPr lang="en-US" b="0" dirty="0">
              <a:latin typeface="Calibri Light" panose="020F0302020204030204"/>
            </a:rPr>
          </a:br>
          <a:r>
            <a:rPr lang="en-US" b="0" dirty="0">
              <a:latin typeface="Calibri Light" panose="020F0302020204030204"/>
            </a:rPr>
            <a:t>Speaker</a:t>
          </a:r>
          <a:br>
            <a:rPr lang="en-US" b="0" dirty="0">
              <a:latin typeface="Calibri Light" panose="020F0302020204030204"/>
            </a:rPr>
          </a:br>
          <a:r>
            <a:rPr lang="en-US" b="0" dirty="0">
              <a:latin typeface="Calibri Light" panose="020F0302020204030204"/>
            </a:rPr>
            <a:t>         </a:t>
          </a:r>
        </a:p>
      </dgm:t>
    </dgm:pt>
    <dgm:pt modelId="{174D59FA-2BA0-48BC-962A-585DEE4F1021}" type="parTrans" cxnId="{C5D2B955-9080-49F9-8885-4A5BD8BAEB92}">
      <dgm:prSet/>
      <dgm:spPr/>
      <dgm:t>
        <a:bodyPr/>
        <a:lstStyle/>
        <a:p>
          <a:endParaRPr lang="en-IN"/>
        </a:p>
      </dgm:t>
    </dgm:pt>
    <dgm:pt modelId="{D5CC652D-EEC0-4D7C-9A67-2EA85D1DE11B}" type="sibTrans" cxnId="{C5D2B955-9080-49F9-8885-4A5BD8BAEB92}">
      <dgm:prSet/>
      <dgm:spPr/>
      <dgm:t>
        <a:bodyPr/>
        <a:lstStyle/>
        <a:p>
          <a:endParaRPr lang="en-US"/>
        </a:p>
      </dgm:t>
    </dgm:pt>
    <dgm:pt modelId="{03B07C8D-BADA-4299-9A1D-E3C826EDD132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b="0"/>
            <a:t>Analytics 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</a:t>
          </a:r>
          <a:r>
            <a:rPr lang="en-US" b="0"/>
            <a:t>Contextual Awareness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</a:t>
          </a:r>
          <a:r>
            <a:rPr lang="en-US" b="0"/>
            <a:t>Smart devices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Big</a:t>
          </a:r>
          <a:r>
            <a:rPr lang="en-US" b="0"/>
            <a:t> Data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IOT,Wearables</a:t>
          </a:r>
          <a:r>
            <a:rPr lang="en-US" b="0"/>
            <a:t> </a:t>
          </a:r>
          <a:br>
            <a:rPr lang="en-US" b="0">
              <a:latin typeface="Calibri Light" panose="020F0302020204030204"/>
            </a:rPr>
          </a:br>
          <a:r>
            <a:rPr lang="en-US" b="0">
              <a:latin typeface="Calibri Light" panose="020F0302020204030204"/>
            </a:rPr>
            <a:t>         Medical</a:t>
          </a:r>
        </a:p>
      </dgm:t>
    </dgm:pt>
    <dgm:pt modelId="{5135F340-1C99-47DF-8107-43AEE5CF3399}" type="parTrans" cxnId="{EE3BFF85-6A09-4A2F-AA14-55F10EE0FAC0}">
      <dgm:prSet/>
      <dgm:spPr/>
      <dgm:t>
        <a:bodyPr/>
        <a:lstStyle/>
        <a:p>
          <a:endParaRPr lang="en-IN"/>
        </a:p>
      </dgm:t>
    </dgm:pt>
    <dgm:pt modelId="{17918671-28C8-41C6-8105-ACF7C93E700B}" type="sibTrans" cxnId="{EE3BFF85-6A09-4A2F-AA14-55F10EE0FAC0}">
      <dgm:prSet/>
      <dgm:spPr/>
      <dgm:t>
        <a:bodyPr/>
        <a:lstStyle/>
        <a:p>
          <a:endParaRPr lang="en-US"/>
        </a:p>
      </dgm:t>
    </dgm:pt>
    <dgm:pt modelId="{6EA561CE-340D-4BD9-979E-0130462C490D}" type="pres">
      <dgm:prSet presAssocID="{AB6ED3CF-35FE-4CF8-948B-F3CAABE62015}" presName="root" presStyleCnt="0">
        <dgm:presLayoutVars>
          <dgm:dir/>
          <dgm:resizeHandles val="exact"/>
        </dgm:presLayoutVars>
      </dgm:prSet>
      <dgm:spPr/>
    </dgm:pt>
    <dgm:pt modelId="{26574BAB-119F-4A30-BD44-2C4FFDF8280D}" type="pres">
      <dgm:prSet presAssocID="{D21D791C-E53F-4A73-933F-8F3B79719AF6}" presName="compNode" presStyleCnt="0"/>
      <dgm:spPr/>
    </dgm:pt>
    <dgm:pt modelId="{85222259-6818-4AE1-8C50-411A98EA9E17}" type="pres">
      <dgm:prSet presAssocID="{D21D791C-E53F-4A73-933F-8F3B79719A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olume"/>
        </a:ext>
      </dgm:extLst>
    </dgm:pt>
    <dgm:pt modelId="{D107D858-2DC5-4EE0-B733-6708F9E79415}" type="pres">
      <dgm:prSet presAssocID="{D21D791C-E53F-4A73-933F-8F3B79719AF6}" presName="spaceRect" presStyleCnt="0"/>
      <dgm:spPr/>
    </dgm:pt>
    <dgm:pt modelId="{C15A3B14-BA01-40F3-BCC8-FE76C7FE2136}" type="pres">
      <dgm:prSet presAssocID="{D21D791C-E53F-4A73-933F-8F3B79719AF6}" presName="textRect" presStyleLbl="revTx" presStyleIdx="0" presStyleCnt="4">
        <dgm:presLayoutVars>
          <dgm:chMax val="1"/>
          <dgm:chPref val="1"/>
        </dgm:presLayoutVars>
      </dgm:prSet>
      <dgm:spPr/>
    </dgm:pt>
    <dgm:pt modelId="{D92B5760-9519-4F94-BF95-9BE63E6B174F}" type="pres">
      <dgm:prSet presAssocID="{DFB77F2C-185E-4CC9-8C3A-F39B3A1A016D}" presName="sibTrans" presStyleCnt="0"/>
      <dgm:spPr/>
    </dgm:pt>
    <dgm:pt modelId="{7AF5BB2B-9EB3-41ED-A4AD-8F95DF879D33}" type="pres">
      <dgm:prSet presAssocID="{FEB59D6C-2674-401F-A083-63BC71DC27BB}" presName="compNode" presStyleCnt="0"/>
      <dgm:spPr/>
    </dgm:pt>
    <dgm:pt modelId="{5BD00267-C631-4DCC-9B6E-60697AEEED75}" type="pres">
      <dgm:prSet presAssocID="{FEB59D6C-2674-401F-A083-63BC71DC27B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D44C987-525E-44A7-80A6-9A5F3657EF07}" type="pres">
      <dgm:prSet presAssocID="{FEB59D6C-2674-401F-A083-63BC71DC27BB}" presName="spaceRect" presStyleCnt="0"/>
      <dgm:spPr/>
    </dgm:pt>
    <dgm:pt modelId="{24593CA2-D0E8-4560-B479-5D0B42C12357}" type="pres">
      <dgm:prSet presAssocID="{FEB59D6C-2674-401F-A083-63BC71DC27BB}" presName="textRect" presStyleLbl="revTx" presStyleIdx="1" presStyleCnt="4">
        <dgm:presLayoutVars>
          <dgm:chMax val="1"/>
          <dgm:chPref val="1"/>
        </dgm:presLayoutVars>
      </dgm:prSet>
      <dgm:spPr/>
    </dgm:pt>
    <dgm:pt modelId="{88A1EE39-EF28-4081-AA43-E06A77B7098C}" type="pres">
      <dgm:prSet presAssocID="{6A167BEE-B251-4F69-8124-4CF604BBB2B8}" presName="sibTrans" presStyleCnt="0"/>
      <dgm:spPr/>
    </dgm:pt>
    <dgm:pt modelId="{6BBD86EC-CFFC-434C-906C-A74287AC32A5}" type="pres">
      <dgm:prSet presAssocID="{CDC27082-60D4-49A7-8FAC-CD17F44F6D2A}" presName="compNode" presStyleCnt="0"/>
      <dgm:spPr/>
    </dgm:pt>
    <dgm:pt modelId="{2BA60F9A-C825-4107-9D3F-411A7424E86B}" type="pres">
      <dgm:prSet presAssocID="{CDC27082-60D4-49A7-8FAC-CD17F44F6D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C4A63BEB-930D-415C-96D9-EB8C2444308F}" type="pres">
      <dgm:prSet presAssocID="{CDC27082-60D4-49A7-8FAC-CD17F44F6D2A}" presName="spaceRect" presStyleCnt="0"/>
      <dgm:spPr/>
    </dgm:pt>
    <dgm:pt modelId="{49B0BF57-E02A-4483-BCF8-8529EA0BB416}" type="pres">
      <dgm:prSet presAssocID="{CDC27082-60D4-49A7-8FAC-CD17F44F6D2A}" presName="textRect" presStyleLbl="revTx" presStyleIdx="2" presStyleCnt="4">
        <dgm:presLayoutVars>
          <dgm:chMax val="1"/>
          <dgm:chPref val="1"/>
        </dgm:presLayoutVars>
      </dgm:prSet>
      <dgm:spPr/>
    </dgm:pt>
    <dgm:pt modelId="{427DE02F-E2AB-4D2F-8901-F760E3D21523}" type="pres">
      <dgm:prSet presAssocID="{D5CC652D-EEC0-4D7C-9A67-2EA85D1DE11B}" presName="sibTrans" presStyleCnt="0"/>
      <dgm:spPr/>
    </dgm:pt>
    <dgm:pt modelId="{CE56D9CC-7C20-4D51-846F-C9B97B194669}" type="pres">
      <dgm:prSet presAssocID="{03B07C8D-BADA-4299-9A1D-E3C826EDD132}" presName="compNode" presStyleCnt="0"/>
      <dgm:spPr/>
    </dgm:pt>
    <dgm:pt modelId="{67303BB3-C770-4458-8A54-EA3A9C39B7D9}" type="pres">
      <dgm:prSet presAssocID="{03B07C8D-BADA-4299-9A1D-E3C826EDD1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BE0E160B-A490-4382-8B54-22CE065906F5}" type="pres">
      <dgm:prSet presAssocID="{03B07C8D-BADA-4299-9A1D-E3C826EDD132}" presName="spaceRect" presStyleCnt="0"/>
      <dgm:spPr/>
    </dgm:pt>
    <dgm:pt modelId="{0D668F26-E0E3-4422-B5D7-88AE6CA26EB3}" type="pres">
      <dgm:prSet presAssocID="{03B07C8D-BADA-4299-9A1D-E3C826EDD13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801438-2279-4D46-A2DD-EEFA611D06A8}" type="presOf" srcId="{AB6ED3CF-35FE-4CF8-948B-F3CAABE62015}" destId="{6EA561CE-340D-4BD9-979E-0130462C490D}" srcOrd="0" destOrd="0" presId="urn:microsoft.com/office/officeart/2018/2/layout/IconLabelList"/>
    <dgm:cxn modelId="{853CAE5B-CFDC-477E-B1C5-E3EF35B7DC25}" type="presOf" srcId="{CDC27082-60D4-49A7-8FAC-CD17F44F6D2A}" destId="{49B0BF57-E02A-4483-BCF8-8529EA0BB416}" srcOrd="0" destOrd="0" presId="urn:microsoft.com/office/officeart/2018/2/layout/IconLabelList"/>
    <dgm:cxn modelId="{C5D2B955-9080-49F9-8885-4A5BD8BAEB92}" srcId="{AB6ED3CF-35FE-4CF8-948B-F3CAABE62015}" destId="{CDC27082-60D4-49A7-8FAC-CD17F44F6D2A}" srcOrd="2" destOrd="0" parTransId="{174D59FA-2BA0-48BC-962A-585DEE4F1021}" sibTransId="{D5CC652D-EEC0-4D7C-9A67-2EA85D1DE11B}"/>
    <dgm:cxn modelId="{5ED0DE7C-7E28-406B-9815-E0D4FAF938D2}" type="presOf" srcId="{D21D791C-E53F-4A73-933F-8F3B79719AF6}" destId="{C15A3B14-BA01-40F3-BCC8-FE76C7FE2136}" srcOrd="0" destOrd="0" presId="urn:microsoft.com/office/officeart/2018/2/layout/IconLabelList"/>
    <dgm:cxn modelId="{EE3BFF85-6A09-4A2F-AA14-55F10EE0FAC0}" srcId="{AB6ED3CF-35FE-4CF8-948B-F3CAABE62015}" destId="{03B07C8D-BADA-4299-9A1D-E3C826EDD132}" srcOrd="3" destOrd="0" parTransId="{5135F340-1C99-47DF-8107-43AEE5CF3399}" sibTransId="{17918671-28C8-41C6-8105-ACF7C93E700B}"/>
    <dgm:cxn modelId="{8D074790-1C81-49BD-99F6-459A38FD1958}" srcId="{AB6ED3CF-35FE-4CF8-948B-F3CAABE62015}" destId="{D21D791C-E53F-4A73-933F-8F3B79719AF6}" srcOrd="0" destOrd="0" parTransId="{DDA07F6B-BF9F-4367-96F1-26B92382FCCA}" sibTransId="{DFB77F2C-185E-4CC9-8C3A-F39B3A1A016D}"/>
    <dgm:cxn modelId="{238168B5-6D17-4D2C-B32F-4A0AB7EA8C5B}" srcId="{AB6ED3CF-35FE-4CF8-948B-F3CAABE62015}" destId="{FEB59D6C-2674-401F-A083-63BC71DC27BB}" srcOrd="1" destOrd="0" parTransId="{04A59B21-6DF9-49E0-BDF9-6C387615EB8C}" sibTransId="{6A167BEE-B251-4F69-8124-4CF604BBB2B8}"/>
    <dgm:cxn modelId="{0C8FB2BC-E0AF-45D6-93F3-14E8C125B2B1}" type="presOf" srcId="{FEB59D6C-2674-401F-A083-63BC71DC27BB}" destId="{24593CA2-D0E8-4560-B479-5D0B42C12357}" srcOrd="0" destOrd="0" presId="urn:microsoft.com/office/officeart/2018/2/layout/IconLabelList"/>
    <dgm:cxn modelId="{B80D7ED7-A78A-4544-941F-0BBE01AF83F5}" type="presOf" srcId="{03B07C8D-BADA-4299-9A1D-E3C826EDD132}" destId="{0D668F26-E0E3-4422-B5D7-88AE6CA26EB3}" srcOrd="0" destOrd="0" presId="urn:microsoft.com/office/officeart/2018/2/layout/IconLabelList"/>
    <dgm:cxn modelId="{5442418A-C457-4668-A7A7-F7722886ED13}" type="presParOf" srcId="{6EA561CE-340D-4BD9-979E-0130462C490D}" destId="{26574BAB-119F-4A30-BD44-2C4FFDF8280D}" srcOrd="0" destOrd="0" presId="urn:microsoft.com/office/officeart/2018/2/layout/IconLabelList"/>
    <dgm:cxn modelId="{F3EBFA5B-AB65-4FA8-BDF9-450278936C62}" type="presParOf" srcId="{26574BAB-119F-4A30-BD44-2C4FFDF8280D}" destId="{85222259-6818-4AE1-8C50-411A98EA9E17}" srcOrd="0" destOrd="0" presId="urn:microsoft.com/office/officeart/2018/2/layout/IconLabelList"/>
    <dgm:cxn modelId="{D34DFC45-3632-4785-A54C-18F524CC2567}" type="presParOf" srcId="{26574BAB-119F-4A30-BD44-2C4FFDF8280D}" destId="{D107D858-2DC5-4EE0-B733-6708F9E79415}" srcOrd="1" destOrd="0" presId="urn:microsoft.com/office/officeart/2018/2/layout/IconLabelList"/>
    <dgm:cxn modelId="{3995E170-3D66-4447-AF00-EFB520F5624B}" type="presParOf" srcId="{26574BAB-119F-4A30-BD44-2C4FFDF8280D}" destId="{C15A3B14-BA01-40F3-BCC8-FE76C7FE2136}" srcOrd="2" destOrd="0" presId="urn:microsoft.com/office/officeart/2018/2/layout/IconLabelList"/>
    <dgm:cxn modelId="{440157F5-8F8C-4A31-A8C6-999F09F891B5}" type="presParOf" srcId="{6EA561CE-340D-4BD9-979E-0130462C490D}" destId="{D92B5760-9519-4F94-BF95-9BE63E6B174F}" srcOrd="1" destOrd="0" presId="urn:microsoft.com/office/officeart/2018/2/layout/IconLabelList"/>
    <dgm:cxn modelId="{7263595A-5D2D-4D72-B836-3A396A610C08}" type="presParOf" srcId="{6EA561CE-340D-4BD9-979E-0130462C490D}" destId="{7AF5BB2B-9EB3-41ED-A4AD-8F95DF879D33}" srcOrd="2" destOrd="0" presId="urn:microsoft.com/office/officeart/2018/2/layout/IconLabelList"/>
    <dgm:cxn modelId="{2F15ED9D-8927-4260-A8B9-2039B7325D76}" type="presParOf" srcId="{7AF5BB2B-9EB3-41ED-A4AD-8F95DF879D33}" destId="{5BD00267-C631-4DCC-9B6E-60697AEEED75}" srcOrd="0" destOrd="0" presId="urn:microsoft.com/office/officeart/2018/2/layout/IconLabelList"/>
    <dgm:cxn modelId="{D6BD8A5F-C2CF-4F48-8FC6-92DDC66CD56C}" type="presParOf" srcId="{7AF5BB2B-9EB3-41ED-A4AD-8F95DF879D33}" destId="{1D44C987-525E-44A7-80A6-9A5F3657EF07}" srcOrd="1" destOrd="0" presId="urn:microsoft.com/office/officeart/2018/2/layout/IconLabelList"/>
    <dgm:cxn modelId="{68DBB34C-B75A-44A2-AC15-818FC90EB37D}" type="presParOf" srcId="{7AF5BB2B-9EB3-41ED-A4AD-8F95DF879D33}" destId="{24593CA2-D0E8-4560-B479-5D0B42C12357}" srcOrd="2" destOrd="0" presId="urn:microsoft.com/office/officeart/2018/2/layout/IconLabelList"/>
    <dgm:cxn modelId="{0E646AAF-89EE-4C62-9826-B73D0D87E64E}" type="presParOf" srcId="{6EA561CE-340D-4BD9-979E-0130462C490D}" destId="{88A1EE39-EF28-4081-AA43-E06A77B7098C}" srcOrd="3" destOrd="0" presId="urn:microsoft.com/office/officeart/2018/2/layout/IconLabelList"/>
    <dgm:cxn modelId="{9AB046C8-DE9F-4E9B-B568-BF74AA01A93E}" type="presParOf" srcId="{6EA561CE-340D-4BD9-979E-0130462C490D}" destId="{6BBD86EC-CFFC-434C-906C-A74287AC32A5}" srcOrd="4" destOrd="0" presId="urn:microsoft.com/office/officeart/2018/2/layout/IconLabelList"/>
    <dgm:cxn modelId="{B830F102-D23E-4209-B854-71263BEF711E}" type="presParOf" srcId="{6BBD86EC-CFFC-434C-906C-A74287AC32A5}" destId="{2BA60F9A-C825-4107-9D3F-411A7424E86B}" srcOrd="0" destOrd="0" presId="urn:microsoft.com/office/officeart/2018/2/layout/IconLabelList"/>
    <dgm:cxn modelId="{1A14323D-31E0-4B6E-BDEA-93C400D94B79}" type="presParOf" srcId="{6BBD86EC-CFFC-434C-906C-A74287AC32A5}" destId="{C4A63BEB-930D-415C-96D9-EB8C2444308F}" srcOrd="1" destOrd="0" presId="urn:microsoft.com/office/officeart/2018/2/layout/IconLabelList"/>
    <dgm:cxn modelId="{4CD86BCA-4A1C-43EF-8A4A-D92E9C476E26}" type="presParOf" srcId="{6BBD86EC-CFFC-434C-906C-A74287AC32A5}" destId="{49B0BF57-E02A-4483-BCF8-8529EA0BB416}" srcOrd="2" destOrd="0" presId="urn:microsoft.com/office/officeart/2018/2/layout/IconLabelList"/>
    <dgm:cxn modelId="{991FD0C8-212D-456D-8FD9-2D32513D4BF5}" type="presParOf" srcId="{6EA561CE-340D-4BD9-979E-0130462C490D}" destId="{427DE02F-E2AB-4D2F-8901-F760E3D21523}" srcOrd="5" destOrd="0" presId="urn:microsoft.com/office/officeart/2018/2/layout/IconLabelList"/>
    <dgm:cxn modelId="{51C2B574-A3CF-4562-AC75-1950BCB03DCF}" type="presParOf" srcId="{6EA561CE-340D-4BD9-979E-0130462C490D}" destId="{CE56D9CC-7C20-4D51-846F-C9B97B194669}" srcOrd="6" destOrd="0" presId="urn:microsoft.com/office/officeart/2018/2/layout/IconLabelList"/>
    <dgm:cxn modelId="{411198E2-226C-40A0-B101-E50D4548ED4F}" type="presParOf" srcId="{CE56D9CC-7C20-4D51-846F-C9B97B194669}" destId="{67303BB3-C770-4458-8A54-EA3A9C39B7D9}" srcOrd="0" destOrd="0" presId="urn:microsoft.com/office/officeart/2018/2/layout/IconLabelList"/>
    <dgm:cxn modelId="{CD293D76-CB25-4E59-8076-FD9EB7F0A8D3}" type="presParOf" srcId="{CE56D9CC-7C20-4D51-846F-C9B97B194669}" destId="{BE0E160B-A490-4382-8B54-22CE065906F5}" srcOrd="1" destOrd="0" presId="urn:microsoft.com/office/officeart/2018/2/layout/IconLabelList"/>
    <dgm:cxn modelId="{9BF7118C-AE9D-4B74-B8FA-492E920D8A93}" type="presParOf" srcId="{CE56D9CC-7C20-4D51-846F-C9B97B194669}" destId="{0D668F26-E0E3-4422-B5D7-88AE6CA26EB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22259-6818-4AE1-8C50-411A98EA9E17}">
      <dsp:nvSpPr>
        <dsp:cNvPr id="0" name=""/>
        <dsp:cNvSpPr/>
      </dsp:nvSpPr>
      <dsp:spPr>
        <a:xfrm>
          <a:off x="1084938" y="525615"/>
          <a:ext cx="930827" cy="9308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5A3B14-BA01-40F3-BCC8-FE76C7FE2136}">
      <dsp:nvSpPr>
        <dsp:cNvPr id="0" name=""/>
        <dsp:cNvSpPr/>
      </dsp:nvSpPr>
      <dsp:spPr>
        <a:xfrm>
          <a:off x="516099" y="1803824"/>
          <a:ext cx="2068505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latin typeface="Calibri Light" panose="020F0302020204030204"/>
            </a:rPr>
            <a:t>PLAYBACK  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 Speaker</a:t>
          </a:r>
          <a:r>
            <a:rPr lang="en-US" sz="1100" b="0" kern="1200"/>
            <a:t> processing</a:t>
          </a:r>
          <a:r>
            <a:rPr lang="en-US" sz="1100" b="0" kern="1200">
              <a:latin typeface="Calibri Light" panose="020F0302020204030204"/>
            </a:rPr>
            <a:t> 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 pro-audio</a:t>
          </a:r>
        </a:p>
      </dsp:txBody>
      <dsp:txXfrm>
        <a:off x="516099" y="1803824"/>
        <a:ext cx="2068505" cy="1035000"/>
      </dsp:txXfrm>
    </dsp:sp>
    <dsp:sp modelId="{5BD00267-C631-4DCC-9B6E-60697AEEED75}">
      <dsp:nvSpPr>
        <dsp:cNvPr id="0" name=""/>
        <dsp:cNvSpPr/>
      </dsp:nvSpPr>
      <dsp:spPr>
        <a:xfrm>
          <a:off x="3515432" y="525615"/>
          <a:ext cx="930827" cy="9308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93CA2-D0E8-4560-B479-5D0B42C12357}">
      <dsp:nvSpPr>
        <dsp:cNvPr id="0" name=""/>
        <dsp:cNvSpPr/>
      </dsp:nvSpPr>
      <dsp:spPr>
        <a:xfrm>
          <a:off x="2946593" y="1803824"/>
          <a:ext cx="2068505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Voice </a:t>
          </a:r>
          <a:r>
            <a:rPr lang="en-US" sz="1100" b="1" kern="1200">
              <a:latin typeface="Calibri Light" panose="020F0302020204030204"/>
            </a:rPr>
            <a:t>input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  Audio</a:t>
          </a:r>
          <a:r>
            <a:rPr lang="en-US" sz="1100" b="0" kern="1200"/>
            <a:t> as </a:t>
          </a:r>
          <a:r>
            <a:rPr lang="en-US" sz="1100" b="0" kern="1200">
              <a:latin typeface="Calibri Light" panose="020F0302020204030204"/>
            </a:rPr>
            <a:t>UI 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  IOT</a:t>
          </a:r>
          <a:r>
            <a:rPr lang="en-US" sz="1100" b="0" kern="1200"/>
            <a:t> mobile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</a:t>
          </a:r>
        </a:p>
      </dsp:txBody>
      <dsp:txXfrm>
        <a:off x="2946593" y="1803824"/>
        <a:ext cx="2068505" cy="1035000"/>
      </dsp:txXfrm>
    </dsp:sp>
    <dsp:sp modelId="{2BA60F9A-C825-4107-9D3F-411A7424E86B}">
      <dsp:nvSpPr>
        <dsp:cNvPr id="0" name=""/>
        <dsp:cNvSpPr/>
      </dsp:nvSpPr>
      <dsp:spPr>
        <a:xfrm>
          <a:off x="5945927" y="525615"/>
          <a:ext cx="930827" cy="9308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B0BF57-E02A-4483-BCF8-8529EA0BB416}">
      <dsp:nvSpPr>
        <dsp:cNvPr id="0" name=""/>
        <dsp:cNvSpPr/>
      </dsp:nvSpPr>
      <dsp:spPr>
        <a:xfrm>
          <a:off x="5377088" y="1803824"/>
          <a:ext cx="2068505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 dirty="0"/>
            <a:t>Communication</a:t>
          </a:r>
          <a:br>
            <a:rPr lang="en-US" sz="1100" b="0" kern="1200" dirty="0">
              <a:latin typeface="Calibri Light" panose="020F0302020204030204"/>
            </a:rPr>
          </a:br>
          <a:r>
            <a:rPr lang="en-US" sz="1100" b="0" kern="1200" dirty="0">
              <a:latin typeface="Calibri Light" panose="020F0302020204030204"/>
            </a:rPr>
            <a:t>Microphone</a:t>
          </a:r>
          <a:br>
            <a:rPr lang="en-US" sz="1100" b="0" kern="1200" dirty="0">
              <a:latin typeface="Calibri Light" panose="020F0302020204030204"/>
            </a:rPr>
          </a:br>
          <a:r>
            <a:rPr lang="en-US" sz="1100" b="0" kern="1200" dirty="0">
              <a:latin typeface="Calibri Light" panose="020F0302020204030204"/>
            </a:rPr>
            <a:t>Speaker</a:t>
          </a:r>
          <a:br>
            <a:rPr lang="en-US" sz="1100" b="0" kern="1200" dirty="0">
              <a:latin typeface="Calibri Light" panose="020F0302020204030204"/>
            </a:rPr>
          </a:br>
          <a:r>
            <a:rPr lang="en-US" sz="1100" b="0" kern="1200" dirty="0">
              <a:latin typeface="Calibri Light" panose="020F0302020204030204"/>
            </a:rPr>
            <a:t>         </a:t>
          </a:r>
        </a:p>
      </dsp:txBody>
      <dsp:txXfrm>
        <a:off x="5377088" y="1803824"/>
        <a:ext cx="2068505" cy="1035000"/>
      </dsp:txXfrm>
    </dsp:sp>
    <dsp:sp modelId="{67303BB3-C770-4458-8A54-EA3A9C39B7D9}">
      <dsp:nvSpPr>
        <dsp:cNvPr id="0" name=""/>
        <dsp:cNvSpPr/>
      </dsp:nvSpPr>
      <dsp:spPr>
        <a:xfrm>
          <a:off x="8376421" y="525615"/>
          <a:ext cx="930827" cy="9308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68F26-E0E3-4422-B5D7-88AE6CA26EB3}">
      <dsp:nvSpPr>
        <dsp:cNvPr id="0" name=""/>
        <dsp:cNvSpPr/>
      </dsp:nvSpPr>
      <dsp:spPr>
        <a:xfrm>
          <a:off x="7807582" y="1803824"/>
          <a:ext cx="2068505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Analytics 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</a:t>
          </a:r>
          <a:r>
            <a:rPr lang="en-US" sz="1100" b="0" kern="1200"/>
            <a:t>Contextual Awareness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</a:t>
          </a:r>
          <a:r>
            <a:rPr lang="en-US" sz="1100" b="0" kern="1200"/>
            <a:t>Smart devices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Big</a:t>
          </a:r>
          <a:r>
            <a:rPr lang="en-US" sz="1100" b="0" kern="1200"/>
            <a:t> Data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IOT,Wearables</a:t>
          </a:r>
          <a:r>
            <a:rPr lang="en-US" sz="1100" b="0" kern="1200"/>
            <a:t> </a:t>
          </a:r>
          <a:br>
            <a:rPr lang="en-US" sz="1100" b="0" kern="1200">
              <a:latin typeface="Calibri Light" panose="020F0302020204030204"/>
            </a:rPr>
          </a:br>
          <a:r>
            <a:rPr lang="en-US" sz="1100" b="0" kern="1200">
              <a:latin typeface="Calibri Light" panose="020F0302020204030204"/>
            </a:rPr>
            <a:t>         Medical</a:t>
          </a:r>
        </a:p>
      </dsp:txBody>
      <dsp:txXfrm>
        <a:off x="7807582" y="1803824"/>
        <a:ext cx="2068505" cy="103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9FCAF1F-1C98-4485-96B0-B250AD6698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63415" y="847635"/>
            <a:ext cx="3741742" cy="1200329"/>
          </a:xfrm>
          <a:prstGeom prst="rect">
            <a:avLst/>
          </a:prstGeom>
        </p:spPr>
      </p:pic>
      <p:sp>
        <p:nvSpPr>
          <p:cNvPr id="8" name="Text Box 16">
            <a:extLst>
              <a:ext uri="{FF2B5EF4-FFF2-40B4-BE49-F238E27FC236}">
                <a16:creationId xmlns:a16="http://schemas.microsoft.com/office/drawing/2014/main" id="{4124788B-26D4-40D5-ADB7-E3EFDD03A2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7897" y="6411954"/>
            <a:ext cx="167640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50" b="0" u="sng">
                <a:solidFill>
                  <a:srgbClr val="000099"/>
                </a:solidFill>
                <a:latin typeface="+mn-lt"/>
              </a:rPr>
              <a:t>www.jasmin-infotech.com</a:t>
            </a:r>
            <a:endParaRPr lang="en-US" sz="1400" b="0" i="1">
              <a:solidFill>
                <a:srgbClr val="C14916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77034-DC3B-43B3-B26E-F6B88C578A4A}"/>
              </a:ext>
            </a:extLst>
          </p:cNvPr>
          <p:cNvSpPr txBox="1"/>
          <p:nvPr userDrawn="1"/>
        </p:nvSpPr>
        <p:spPr>
          <a:xfrm>
            <a:off x="5165921" y="2034372"/>
            <a:ext cx="32964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>
                <a:solidFill>
                  <a:srgbClr val="000000"/>
                </a:solidFill>
                <a:effectLst/>
              </a:rPr>
              <a:t>Helping you innovate</a:t>
            </a:r>
            <a:endParaRPr lang="en-IN" sz="2000" b="1" i="1"/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31D66A2A-A548-48C9-922B-D62471C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400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A4D-61F7-48C2-AF6D-1188E40D2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575" y="1218996"/>
            <a:ext cx="11335108" cy="513735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DA613D-B314-4766-868E-E2A78364DF0B}"/>
              </a:ext>
            </a:extLst>
          </p:cNvPr>
          <p:cNvCxnSpPr/>
          <p:nvPr userDrawn="1"/>
        </p:nvCxnSpPr>
        <p:spPr>
          <a:xfrm>
            <a:off x="2057400" y="6629400"/>
            <a:ext cx="0" cy="22860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6C6A39-B8E4-4532-96D5-5915685A7FB5}"/>
              </a:ext>
            </a:extLst>
          </p:cNvPr>
          <p:cNvCxnSpPr>
            <a:cxnSpLocks/>
          </p:cNvCxnSpPr>
          <p:nvPr userDrawn="1"/>
        </p:nvCxnSpPr>
        <p:spPr>
          <a:xfrm>
            <a:off x="448575" y="1064707"/>
            <a:ext cx="11335108" cy="0"/>
          </a:xfrm>
          <a:prstGeom prst="line">
            <a:avLst/>
          </a:prstGeom>
          <a:ln w="19050">
            <a:solidFill>
              <a:srgbClr val="0000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2">
            <a:extLst>
              <a:ext uri="{FF2B5EF4-FFF2-40B4-BE49-F238E27FC236}">
                <a16:creationId xmlns:a16="http://schemas.microsoft.com/office/drawing/2014/main" id="{3EE4CF6D-F48F-4791-83CA-3DB99D72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34600" y="6422754"/>
            <a:ext cx="1219199" cy="298721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C2C37E-1BD9-4EA1-880A-134343D0CA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951" y="209850"/>
            <a:ext cx="674848" cy="71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677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id="{35B1BB6A-62CB-411F-8E6F-CE29E323FDD6}"/>
              </a:ext>
            </a:extLst>
          </p:cNvPr>
          <p:cNvSpPr txBox="1">
            <a:spLocks/>
          </p:cNvSpPr>
          <p:nvPr userDrawn="1"/>
        </p:nvSpPr>
        <p:spPr>
          <a:xfrm>
            <a:off x="4917287" y="5337469"/>
            <a:ext cx="6094602" cy="8853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50">
                <a:solidFill>
                  <a:schemeClr val="accent2"/>
                </a:solidFill>
              </a:rPr>
              <a:t>THANK YOU!</a:t>
            </a:r>
            <a:endParaRPr lang="en-IN" sz="405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780C04-86F0-48AA-880D-9780441582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17128" y="2485236"/>
            <a:ext cx="3467080" cy="111221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F3AA549-D622-4A21-9ECE-DB969E0703AF}"/>
              </a:ext>
            </a:extLst>
          </p:cNvPr>
          <p:cNvSpPr/>
          <p:nvPr userDrawn="1"/>
        </p:nvSpPr>
        <p:spPr>
          <a:xfrm>
            <a:off x="11144304" y="4221882"/>
            <a:ext cx="209496" cy="209496"/>
          </a:xfrm>
          <a:custGeom>
            <a:avLst/>
            <a:gdLst>
              <a:gd name="connsiteX0" fmla="*/ 101580 w 279328"/>
              <a:gd name="connsiteY0" fmla="*/ 209496 h 279328"/>
              <a:gd name="connsiteX1" fmla="*/ 107916 w 279328"/>
              <a:gd name="connsiteY1" fmla="*/ 215846 h 279328"/>
              <a:gd name="connsiteX2" fmla="*/ 106067 w 279328"/>
              <a:gd name="connsiteY2" fmla="*/ 220333 h 279328"/>
              <a:gd name="connsiteX3" fmla="*/ 87018 w 279328"/>
              <a:gd name="connsiteY3" fmla="*/ 239382 h 279328"/>
              <a:gd name="connsiteX4" fmla="*/ 82531 w 279328"/>
              <a:gd name="connsiteY4" fmla="*/ 241244 h 279328"/>
              <a:gd name="connsiteX5" fmla="*/ 76182 w 279328"/>
              <a:gd name="connsiteY5" fmla="*/ 234894 h 279328"/>
              <a:gd name="connsiteX6" fmla="*/ 78044 w 279328"/>
              <a:gd name="connsiteY6" fmla="*/ 230407 h 279328"/>
              <a:gd name="connsiteX7" fmla="*/ 97079 w 279328"/>
              <a:gd name="connsiteY7" fmla="*/ 211358 h 279328"/>
              <a:gd name="connsiteX8" fmla="*/ 101580 w 279328"/>
              <a:gd name="connsiteY8" fmla="*/ 209496 h 279328"/>
              <a:gd name="connsiteX9" fmla="*/ 95230 w 279328"/>
              <a:gd name="connsiteY9" fmla="*/ 177748 h 279328"/>
              <a:gd name="connsiteX10" fmla="*/ 101580 w 279328"/>
              <a:gd name="connsiteY10" fmla="*/ 184111 h 279328"/>
              <a:gd name="connsiteX11" fmla="*/ 99718 w 279328"/>
              <a:gd name="connsiteY11" fmla="*/ 188585 h 279328"/>
              <a:gd name="connsiteX12" fmla="*/ 36235 w 279328"/>
              <a:gd name="connsiteY12" fmla="*/ 252081 h 279328"/>
              <a:gd name="connsiteX13" fmla="*/ 31748 w 279328"/>
              <a:gd name="connsiteY13" fmla="*/ 253930 h 279328"/>
              <a:gd name="connsiteX14" fmla="*/ 25398 w 279328"/>
              <a:gd name="connsiteY14" fmla="*/ 247580 h 279328"/>
              <a:gd name="connsiteX15" fmla="*/ 27247 w 279328"/>
              <a:gd name="connsiteY15" fmla="*/ 243093 h 279328"/>
              <a:gd name="connsiteX16" fmla="*/ 90743 w 279328"/>
              <a:gd name="connsiteY16" fmla="*/ 179611 h 279328"/>
              <a:gd name="connsiteX17" fmla="*/ 95230 w 279328"/>
              <a:gd name="connsiteY17" fmla="*/ 177748 h 279328"/>
              <a:gd name="connsiteX18" fmla="*/ 63483 w 279328"/>
              <a:gd name="connsiteY18" fmla="*/ 171412 h 279328"/>
              <a:gd name="connsiteX19" fmla="*/ 69833 w 279328"/>
              <a:gd name="connsiteY19" fmla="*/ 177748 h 279328"/>
              <a:gd name="connsiteX20" fmla="*/ 67971 w 279328"/>
              <a:gd name="connsiteY20" fmla="*/ 182249 h 279328"/>
              <a:gd name="connsiteX21" fmla="*/ 61621 w 279328"/>
              <a:gd name="connsiteY21" fmla="*/ 188585 h 279328"/>
              <a:gd name="connsiteX22" fmla="*/ 57134 w 279328"/>
              <a:gd name="connsiteY22" fmla="*/ 190448 h 279328"/>
              <a:gd name="connsiteX23" fmla="*/ 50784 w 279328"/>
              <a:gd name="connsiteY23" fmla="*/ 184111 h 279328"/>
              <a:gd name="connsiteX24" fmla="*/ 52647 w 279328"/>
              <a:gd name="connsiteY24" fmla="*/ 179611 h 279328"/>
              <a:gd name="connsiteX25" fmla="*/ 58996 w 279328"/>
              <a:gd name="connsiteY25" fmla="*/ 173261 h 279328"/>
              <a:gd name="connsiteX26" fmla="*/ 63483 w 279328"/>
              <a:gd name="connsiteY26" fmla="*/ 171412 h 279328"/>
              <a:gd name="connsiteX27" fmla="*/ 254176 w 279328"/>
              <a:gd name="connsiteY27" fmla="*/ 34140 h 279328"/>
              <a:gd name="connsiteX28" fmla="*/ 121728 w 279328"/>
              <a:gd name="connsiteY28" fmla="*/ 166588 h 279328"/>
              <a:gd name="connsiteX29" fmla="*/ 158816 w 279328"/>
              <a:gd name="connsiteY29" fmla="*/ 256646 h 279328"/>
              <a:gd name="connsiteX30" fmla="*/ 254176 w 279328"/>
              <a:gd name="connsiteY30" fmla="*/ 34140 h 279328"/>
              <a:gd name="connsiteX31" fmla="*/ 245188 w 279328"/>
              <a:gd name="connsiteY31" fmla="*/ 25153 h 279328"/>
              <a:gd name="connsiteX32" fmla="*/ 22695 w 279328"/>
              <a:gd name="connsiteY32" fmla="*/ 120525 h 279328"/>
              <a:gd name="connsiteX33" fmla="*/ 112753 w 279328"/>
              <a:gd name="connsiteY33" fmla="*/ 157601 h 279328"/>
              <a:gd name="connsiteX34" fmla="*/ 272978 w 279328"/>
              <a:gd name="connsiteY34" fmla="*/ 0 h 279328"/>
              <a:gd name="connsiteX35" fmla="*/ 279328 w 279328"/>
              <a:gd name="connsiteY35" fmla="*/ 6350 h 279328"/>
              <a:gd name="connsiteX36" fmla="*/ 278643 w 279328"/>
              <a:gd name="connsiteY36" fmla="*/ 9039 h 279328"/>
              <a:gd name="connsiteX37" fmla="*/ 278720 w 279328"/>
              <a:gd name="connsiteY37" fmla="*/ 9078 h 279328"/>
              <a:gd name="connsiteX38" fmla="*/ 164558 w 279328"/>
              <a:gd name="connsiteY38" fmla="*/ 275423 h 279328"/>
              <a:gd name="connsiteX39" fmla="*/ 164532 w 279328"/>
              <a:gd name="connsiteY39" fmla="*/ 275487 h 279328"/>
              <a:gd name="connsiteX40" fmla="*/ 164441 w 279328"/>
              <a:gd name="connsiteY40" fmla="*/ 275707 h 279328"/>
              <a:gd name="connsiteX41" fmla="*/ 164403 w 279328"/>
              <a:gd name="connsiteY41" fmla="*/ 275694 h 279328"/>
              <a:gd name="connsiteX42" fmla="*/ 158713 w 279328"/>
              <a:gd name="connsiteY42" fmla="*/ 279328 h 279328"/>
              <a:gd name="connsiteX43" fmla="*/ 152712 w 279328"/>
              <a:gd name="connsiteY43" fmla="*/ 274737 h 279328"/>
              <a:gd name="connsiteX44" fmla="*/ 152609 w 279328"/>
              <a:gd name="connsiteY44" fmla="*/ 274776 h 279328"/>
              <a:gd name="connsiteX45" fmla="*/ 109429 w 279328"/>
              <a:gd name="connsiteY45" fmla="*/ 169899 h 279328"/>
              <a:gd name="connsiteX46" fmla="*/ 4565 w 279328"/>
              <a:gd name="connsiteY46" fmla="*/ 126719 h 279328"/>
              <a:gd name="connsiteX47" fmla="*/ 4591 w 279328"/>
              <a:gd name="connsiteY47" fmla="*/ 126616 h 279328"/>
              <a:gd name="connsiteX48" fmla="*/ 0 w 279328"/>
              <a:gd name="connsiteY48" fmla="*/ 120615 h 279328"/>
              <a:gd name="connsiteX49" fmla="*/ 3634 w 279328"/>
              <a:gd name="connsiteY49" fmla="*/ 114925 h 279328"/>
              <a:gd name="connsiteX50" fmla="*/ 3621 w 279328"/>
              <a:gd name="connsiteY50" fmla="*/ 114900 h 279328"/>
              <a:gd name="connsiteX51" fmla="*/ 3841 w 279328"/>
              <a:gd name="connsiteY51" fmla="*/ 114796 h 279328"/>
              <a:gd name="connsiteX52" fmla="*/ 3905 w 279328"/>
              <a:gd name="connsiteY52" fmla="*/ 114770 h 279328"/>
              <a:gd name="connsiteX53" fmla="*/ 270250 w 279328"/>
              <a:gd name="connsiteY53" fmla="*/ 621 h 279328"/>
              <a:gd name="connsiteX54" fmla="*/ 270276 w 279328"/>
              <a:gd name="connsiteY54" fmla="*/ 673 h 279328"/>
              <a:gd name="connsiteX55" fmla="*/ 272978 w 279328"/>
              <a:gd name="connsiteY55" fmla="*/ 0 h 27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279328" h="279328">
                <a:moveTo>
                  <a:pt x="101580" y="209496"/>
                </a:moveTo>
                <a:cubicBezTo>
                  <a:pt x="105084" y="209496"/>
                  <a:pt x="107916" y="212341"/>
                  <a:pt x="107916" y="215846"/>
                </a:cubicBezTo>
                <a:cubicBezTo>
                  <a:pt x="107916" y="217604"/>
                  <a:pt x="107218" y="219195"/>
                  <a:pt x="106067" y="220333"/>
                </a:cubicBezTo>
                <a:lnTo>
                  <a:pt x="87018" y="239382"/>
                </a:lnTo>
                <a:cubicBezTo>
                  <a:pt x="85867" y="240533"/>
                  <a:pt x="84277" y="241244"/>
                  <a:pt x="82531" y="241244"/>
                </a:cubicBezTo>
                <a:cubicBezTo>
                  <a:pt x="79027" y="241244"/>
                  <a:pt x="76182" y="238399"/>
                  <a:pt x="76182" y="234894"/>
                </a:cubicBezTo>
                <a:cubicBezTo>
                  <a:pt x="76182" y="233148"/>
                  <a:pt x="76893" y="231545"/>
                  <a:pt x="78044" y="230407"/>
                </a:cubicBezTo>
                <a:lnTo>
                  <a:pt x="97079" y="211358"/>
                </a:lnTo>
                <a:cubicBezTo>
                  <a:pt x="98230" y="210207"/>
                  <a:pt x="99821" y="209496"/>
                  <a:pt x="101580" y="209496"/>
                </a:cubicBezTo>
                <a:close/>
                <a:moveTo>
                  <a:pt x="95230" y="177748"/>
                </a:moveTo>
                <a:cubicBezTo>
                  <a:pt x="98735" y="177748"/>
                  <a:pt x="101580" y="180606"/>
                  <a:pt x="101580" y="184111"/>
                </a:cubicBezTo>
                <a:cubicBezTo>
                  <a:pt x="101580" y="185857"/>
                  <a:pt x="100868" y="187447"/>
                  <a:pt x="99718" y="188585"/>
                </a:cubicBezTo>
                <a:lnTo>
                  <a:pt x="36235" y="252081"/>
                </a:lnTo>
                <a:cubicBezTo>
                  <a:pt x="35084" y="253232"/>
                  <a:pt x="33493" y="253930"/>
                  <a:pt x="31748" y="253930"/>
                </a:cubicBezTo>
                <a:cubicBezTo>
                  <a:pt x="28243" y="253930"/>
                  <a:pt x="25398" y="251098"/>
                  <a:pt x="25398" y="247580"/>
                </a:cubicBezTo>
                <a:cubicBezTo>
                  <a:pt x="25398" y="245848"/>
                  <a:pt x="26109" y="244257"/>
                  <a:pt x="27247" y="243093"/>
                </a:cubicBezTo>
                <a:lnTo>
                  <a:pt x="90743" y="179611"/>
                </a:lnTo>
                <a:cubicBezTo>
                  <a:pt x="91881" y="178473"/>
                  <a:pt x="93471" y="177748"/>
                  <a:pt x="95230" y="177748"/>
                </a:cubicBezTo>
                <a:close/>
                <a:moveTo>
                  <a:pt x="63483" y="171412"/>
                </a:moveTo>
                <a:cubicBezTo>
                  <a:pt x="66988" y="171412"/>
                  <a:pt x="69833" y="174257"/>
                  <a:pt x="69833" y="177748"/>
                </a:cubicBezTo>
                <a:cubicBezTo>
                  <a:pt x="69833" y="179507"/>
                  <a:pt x="69122" y="181098"/>
                  <a:pt x="67971" y="182249"/>
                </a:cubicBezTo>
                <a:lnTo>
                  <a:pt x="61621" y="188585"/>
                </a:lnTo>
                <a:cubicBezTo>
                  <a:pt x="60470" y="189749"/>
                  <a:pt x="58893" y="190448"/>
                  <a:pt x="57134" y="190448"/>
                </a:cubicBezTo>
                <a:cubicBezTo>
                  <a:pt x="53629" y="190448"/>
                  <a:pt x="50784" y="187603"/>
                  <a:pt x="50784" y="184111"/>
                </a:cubicBezTo>
                <a:cubicBezTo>
                  <a:pt x="50784" y="182352"/>
                  <a:pt x="51496" y="180774"/>
                  <a:pt x="52647" y="179611"/>
                </a:cubicBezTo>
                <a:lnTo>
                  <a:pt x="58996" y="173261"/>
                </a:lnTo>
                <a:cubicBezTo>
                  <a:pt x="60147" y="172123"/>
                  <a:pt x="61738" y="171412"/>
                  <a:pt x="63483" y="171412"/>
                </a:cubicBezTo>
                <a:close/>
                <a:moveTo>
                  <a:pt x="254176" y="34140"/>
                </a:moveTo>
                <a:lnTo>
                  <a:pt x="121728" y="166588"/>
                </a:lnTo>
                <a:lnTo>
                  <a:pt x="158816" y="256646"/>
                </a:lnTo>
                <a:cubicBezTo>
                  <a:pt x="158816" y="256646"/>
                  <a:pt x="254176" y="34140"/>
                  <a:pt x="254176" y="34140"/>
                </a:cubicBezTo>
                <a:close/>
                <a:moveTo>
                  <a:pt x="245188" y="25153"/>
                </a:moveTo>
                <a:lnTo>
                  <a:pt x="22695" y="120525"/>
                </a:lnTo>
                <a:cubicBezTo>
                  <a:pt x="22695" y="120525"/>
                  <a:pt x="112753" y="157601"/>
                  <a:pt x="112753" y="157601"/>
                </a:cubicBezTo>
                <a:close/>
                <a:moveTo>
                  <a:pt x="272978" y="0"/>
                </a:moveTo>
                <a:cubicBezTo>
                  <a:pt x="276483" y="0"/>
                  <a:pt x="279328" y="2845"/>
                  <a:pt x="279328" y="6350"/>
                </a:cubicBezTo>
                <a:cubicBezTo>
                  <a:pt x="279328" y="7332"/>
                  <a:pt x="279043" y="8225"/>
                  <a:pt x="278643" y="9039"/>
                </a:cubicBezTo>
                <a:lnTo>
                  <a:pt x="278720" y="9078"/>
                </a:lnTo>
                <a:lnTo>
                  <a:pt x="164558" y="275423"/>
                </a:lnTo>
                <a:cubicBezTo>
                  <a:pt x="164558" y="275449"/>
                  <a:pt x="164545" y="275462"/>
                  <a:pt x="164532" y="275487"/>
                </a:cubicBezTo>
                <a:lnTo>
                  <a:pt x="164441" y="275707"/>
                </a:lnTo>
                <a:lnTo>
                  <a:pt x="164403" y="275694"/>
                </a:lnTo>
                <a:cubicBezTo>
                  <a:pt x="163381" y="277828"/>
                  <a:pt x="161234" y="279328"/>
                  <a:pt x="158713" y="279328"/>
                </a:cubicBezTo>
                <a:cubicBezTo>
                  <a:pt x="155829" y="279328"/>
                  <a:pt x="153488" y="277375"/>
                  <a:pt x="152712" y="274737"/>
                </a:cubicBezTo>
                <a:lnTo>
                  <a:pt x="152609" y="274776"/>
                </a:lnTo>
                <a:lnTo>
                  <a:pt x="109429" y="169899"/>
                </a:lnTo>
                <a:lnTo>
                  <a:pt x="4565" y="126719"/>
                </a:lnTo>
                <a:lnTo>
                  <a:pt x="4591" y="126616"/>
                </a:lnTo>
                <a:cubicBezTo>
                  <a:pt x="1953" y="125840"/>
                  <a:pt x="0" y="123499"/>
                  <a:pt x="0" y="120615"/>
                </a:cubicBezTo>
                <a:cubicBezTo>
                  <a:pt x="0" y="118094"/>
                  <a:pt x="1500" y="115960"/>
                  <a:pt x="3634" y="114925"/>
                </a:cubicBezTo>
                <a:lnTo>
                  <a:pt x="3621" y="114900"/>
                </a:lnTo>
                <a:lnTo>
                  <a:pt x="3841" y="114796"/>
                </a:lnTo>
                <a:cubicBezTo>
                  <a:pt x="3867" y="114783"/>
                  <a:pt x="3892" y="114770"/>
                  <a:pt x="3905" y="114770"/>
                </a:cubicBezTo>
                <a:lnTo>
                  <a:pt x="270250" y="621"/>
                </a:lnTo>
                <a:lnTo>
                  <a:pt x="270276" y="673"/>
                </a:lnTo>
                <a:cubicBezTo>
                  <a:pt x="271103" y="259"/>
                  <a:pt x="272009" y="0"/>
                  <a:pt x="27297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92232A-8606-49DF-8121-568064219514}"/>
              </a:ext>
            </a:extLst>
          </p:cNvPr>
          <p:cNvSpPr/>
          <p:nvPr userDrawn="1"/>
        </p:nvSpPr>
        <p:spPr>
          <a:xfrm>
            <a:off x="11144304" y="4561631"/>
            <a:ext cx="209496" cy="190451"/>
          </a:xfrm>
          <a:custGeom>
            <a:avLst/>
            <a:gdLst>
              <a:gd name="connsiteX0" fmla="*/ 101580 w 279328"/>
              <a:gd name="connsiteY0" fmla="*/ 76181 h 253935"/>
              <a:gd name="connsiteX1" fmla="*/ 12699 w 279328"/>
              <a:gd name="connsiteY1" fmla="*/ 149187 h 253935"/>
              <a:gd name="connsiteX2" fmla="*/ 39300 w 279328"/>
              <a:gd name="connsiteY2" fmla="*/ 201126 h 253935"/>
              <a:gd name="connsiteX3" fmla="*/ 43516 w 279328"/>
              <a:gd name="connsiteY3" fmla="*/ 214469 h 253935"/>
              <a:gd name="connsiteX4" fmla="*/ 38239 w 279328"/>
              <a:gd name="connsiteY4" fmla="*/ 232950 h 253935"/>
              <a:gd name="connsiteX5" fmla="*/ 71423 w 279328"/>
              <a:gd name="connsiteY5" fmla="*/ 220183 h 253935"/>
              <a:gd name="connsiteX6" fmla="*/ 75988 w 279328"/>
              <a:gd name="connsiteY6" fmla="*/ 219348 h 253935"/>
              <a:gd name="connsiteX7" fmla="*/ 78703 w 279328"/>
              <a:gd name="connsiteY7" fmla="*/ 219642 h 253935"/>
              <a:gd name="connsiteX8" fmla="*/ 101580 w 279328"/>
              <a:gd name="connsiteY8" fmla="*/ 222193 h 253935"/>
              <a:gd name="connsiteX9" fmla="*/ 190447 w 279328"/>
              <a:gd name="connsiteY9" fmla="*/ 149187 h 253935"/>
              <a:gd name="connsiteX10" fmla="*/ 101580 w 279328"/>
              <a:gd name="connsiteY10" fmla="*/ 76181 h 253935"/>
              <a:gd name="connsiteX11" fmla="*/ 101580 w 279328"/>
              <a:gd name="connsiteY11" fmla="*/ 63484 h 253935"/>
              <a:gd name="connsiteX12" fmla="*/ 203146 w 279328"/>
              <a:gd name="connsiteY12" fmla="*/ 149187 h 253935"/>
              <a:gd name="connsiteX13" fmla="*/ 101580 w 279328"/>
              <a:gd name="connsiteY13" fmla="*/ 234890 h 253935"/>
              <a:gd name="connsiteX14" fmla="*/ 75988 w 279328"/>
              <a:gd name="connsiteY14" fmla="*/ 232045 h 253935"/>
              <a:gd name="connsiteX15" fmla="*/ 19049 w 279328"/>
              <a:gd name="connsiteY15" fmla="*/ 253935 h 253935"/>
              <a:gd name="connsiteX16" fmla="*/ 31321 w 279328"/>
              <a:gd name="connsiteY16" fmla="*/ 210990 h 253935"/>
              <a:gd name="connsiteX17" fmla="*/ 0 w 279328"/>
              <a:gd name="connsiteY17" fmla="*/ 149187 h 253935"/>
              <a:gd name="connsiteX18" fmla="*/ 101580 w 279328"/>
              <a:gd name="connsiteY18" fmla="*/ 63484 h 253935"/>
              <a:gd name="connsiteX19" fmla="*/ 177748 w 279328"/>
              <a:gd name="connsiteY19" fmla="*/ 0 h 253935"/>
              <a:gd name="connsiteX20" fmla="*/ 279328 w 279328"/>
              <a:gd name="connsiteY20" fmla="*/ 85703 h 253935"/>
              <a:gd name="connsiteX21" fmla="*/ 248007 w 279328"/>
              <a:gd name="connsiteY21" fmla="*/ 147506 h 253935"/>
              <a:gd name="connsiteX22" fmla="*/ 260279 w 279328"/>
              <a:gd name="connsiteY22" fmla="*/ 190451 h 253935"/>
              <a:gd name="connsiteX23" fmla="*/ 212225 w 279328"/>
              <a:gd name="connsiteY23" fmla="*/ 171971 h 253935"/>
              <a:gd name="connsiteX24" fmla="*/ 214837 w 279328"/>
              <a:gd name="connsiteY24" fmla="*/ 159368 h 253935"/>
              <a:gd name="connsiteX25" fmla="*/ 241089 w 279328"/>
              <a:gd name="connsiteY25" fmla="*/ 169466 h 253935"/>
              <a:gd name="connsiteX26" fmla="*/ 235799 w 279328"/>
              <a:gd name="connsiteY26" fmla="*/ 150986 h 253935"/>
              <a:gd name="connsiteX27" fmla="*/ 240028 w 279328"/>
              <a:gd name="connsiteY27" fmla="*/ 137631 h 253935"/>
              <a:gd name="connsiteX28" fmla="*/ 266629 w 279328"/>
              <a:gd name="connsiteY28" fmla="*/ 85703 h 253935"/>
              <a:gd name="connsiteX29" fmla="*/ 177748 w 279328"/>
              <a:gd name="connsiteY29" fmla="*/ 12697 h 253935"/>
              <a:gd name="connsiteX30" fmla="*/ 99679 w 279328"/>
              <a:gd name="connsiteY30" fmla="*/ 50858 h 253935"/>
              <a:gd name="connsiteX31" fmla="*/ 84380 w 279328"/>
              <a:gd name="connsiteY31" fmla="*/ 51986 h 253935"/>
              <a:gd name="connsiteX32" fmla="*/ 177748 w 279328"/>
              <a:gd name="connsiteY32" fmla="*/ 0 h 2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9328" h="253935">
                <a:moveTo>
                  <a:pt x="101580" y="76181"/>
                </a:moveTo>
                <a:cubicBezTo>
                  <a:pt x="52568" y="76181"/>
                  <a:pt x="12699" y="108934"/>
                  <a:pt x="12699" y="149187"/>
                </a:cubicBezTo>
                <a:cubicBezTo>
                  <a:pt x="12699" y="168796"/>
                  <a:pt x="22139" y="187230"/>
                  <a:pt x="39300" y="201126"/>
                </a:cubicBezTo>
                <a:cubicBezTo>
                  <a:pt x="43257" y="204324"/>
                  <a:pt x="44925" y="209579"/>
                  <a:pt x="43516" y="214469"/>
                </a:cubicBezTo>
                <a:lnTo>
                  <a:pt x="38239" y="232950"/>
                </a:lnTo>
                <a:lnTo>
                  <a:pt x="71423" y="220183"/>
                </a:lnTo>
                <a:cubicBezTo>
                  <a:pt x="72884" y="219630"/>
                  <a:pt x="74436" y="219348"/>
                  <a:pt x="75988" y="219348"/>
                </a:cubicBezTo>
                <a:cubicBezTo>
                  <a:pt x="76893" y="219348"/>
                  <a:pt x="77811" y="219442"/>
                  <a:pt x="78703" y="219642"/>
                </a:cubicBezTo>
                <a:cubicBezTo>
                  <a:pt x="86437" y="221335"/>
                  <a:pt x="94131" y="222193"/>
                  <a:pt x="101580" y="222193"/>
                </a:cubicBezTo>
                <a:cubicBezTo>
                  <a:pt x="150578" y="222193"/>
                  <a:pt x="190447" y="189440"/>
                  <a:pt x="190447" y="149187"/>
                </a:cubicBezTo>
                <a:cubicBezTo>
                  <a:pt x="190447" y="108934"/>
                  <a:pt x="150578" y="76181"/>
                  <a:pt x="101580" y="76181"/>
                </a:cubicBezTo>
                <a:close/>
                <a:moveTo>
                  <a:pt x="101580" y="63484"/>
                </a:moveTo>
                <a:cubicBezTo>
                  <a:pt x="157665" y="63484"/>
                  <a:pt x="203146" y="101856"/>
                  <a:pt x="203146" y="149187"/>
                </a:cubicBezTo>
                <a:cubicBezTo>
                  <a:pt x="203146" y="196518"/>
                  <a:pt x="157665" y="234890"/>
                  <a:pt x="101580" y="234890"/>
                </a:cubicBezTo>
                <a:cubicBezTo>
                  <a:pt x="92708" y="234890"/>
                  <a:pt x="84173" y="233844"/>
                  <a:pt x="75988" y="232045"/>
                </a:cubicBezTo>
                <a:lnTo>
                  <a:pt x="19049" y="253935"/>
                </a:lnTo>
                <a:lnTo>
                  <a:pt x="31321" y="210990"/>
                </a:lnTo>
                <a:cubicBezTo>
                  <a:pt x="12052" y="195389"/>
                  <a:pt x="0" y="173499"/>
                  <a:pt x="0" y="149187"/>
                </a:cubicBezTo>
                <a:cubicBezTo>
                  <a:pt x="0" y="101856"/>
                  <a:pt x="45481" y="63484"/>
                  <a:pt x="101580" y="63484"/>
                </a:cubicBezTo>
                <a:close/>
                <a:moveTo>
                  <a:pt x="177748" y="0"/>
                </a:moveTo>
                <a:cubicBezTo>
                  <a:pt x="233860" y="0"/>
                  <a:pt x="279328" y="38373"/>
                  <a:pt x="279328" y="85703"/>
                </a:cubicBezTo>
                <a:cubicBezTo>
                  <a:pt x="279328" y="110015"/>
                  <a:pt x="267288" y="131905"/>
                  <a:pt x="248007" y="147506"/>
                </a:cubicBezTo>
                <a:lnTo>
                  <a:pt x="260279" y="190451"/>
                </a:lnTo>
                <a:lnTo>
                  <a:pt x="212225" y="171971"/>
                </a:lnTo>
                <a:cubicBezTo>
                  <a:pt x="213376" y="167856"/>
                  <a:pt x="214320" y="163671"/>
                  <a:pt x="214837" y="159368"/>
                </a:cubicBezTo>
                <a:lnTo>
                  <a:pt x="241089" y="169466"/>
                </a:lnTo>
                <a:lnTo>
                  <a:pt x="235799" y="150986"/>
                </a:lnTo>
                <a:cubicBezTo>
                  <a:pt x="234403" y="146107"/>
                  <a:pt x="236071" y="140840"/>
                  <a:pt x="240028" y="137631"/>
                </a:cubicBezTo>
                <a:cubicBezTo>
                  <a:pt x="257189" y="123746"/>
                  <a:pt x="266629" y="105313"/>
                  <a:pt x="266629" y="85703"/>
                </a:cubicBezTo>
                <a:cubicBezTo>
                  <a:pt x="266629" y="45450"/>
                  <a:pt x="226760" y="12697"/>
                  <a:pt x="177748" y="12697"/>
                </a:cubicBezTo>
                <a:cubicBezTo>
                  <a:pt x="144100" y="12697"/>
                  <a:pt x="114770" y="28145"/>
                  <a:pt x="99679" y="50858"/>
                </a:cubicBezTo>
                <a:cubicBezTo>
                  <a:pt x="94480" y="50928"/>
                  <a:pt x="89385" y="51340"/>
                  <a:pt x="84380" y="51986"/>
                </a:cubicBezTo>
                <a:cubicBezTo>
                  <a:pt x="99899" y="21408"/>
                  <a:pt x="135862" y="0"/>
                  <a:pt x="177748" y="0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3832688-8F75-4834-9C99-E323FBD456F8}"/>
              </a:ext>
            </a:extLst>
          </p:cNvPr>
          <p:cNvSpPr/>
          <p:nvPr userDrawn="1"/>
        </p:nvSpPr>
        <p:spPr>
          <a:xfrm>
            <a:off x="11172873" y="4897086"/>
            <a:ext cx="152360" cy="209475"/>
          </a:xfrm>
          <a:custGeom>
            <a:avLst/>
            <a:gdLst>
              <a:gd name="connsiteX0" fmla="*/ 199640 w 203146"/>
              <a:gd name="connsiteY0" fmla="*/ 631 h 279300"/>
              <a:gd name="connsiteX1" fmla="*/ 202474 w 203146"/>
              <a:gd name="connsiteY1" fmla="*/ 9154 h 279300"/>
              <a:gd name="connsiteX2" fmla="*/ 169535 w 203146"/>
              <a:gd name="connsiteY2" fmla="*/ 41601 h 279300"/>
              <a:gd name="connsiteX3" fmla="*/ 117778 w 203146"/>
              <a:gd name="connsiteY3" fmla="*/ 37398 h 279300"/>
              <a:gd name="connsiteX4" fmla="*/ 88305 w 203146"/>
              <a:gd name="connsiteY4" fmla="*/ 34972 h 279300"/>
              <a:gd name="connsiteX5" fmla="*/ 76950 w 203146"/>
              <a:gd name="connsiteY5" fmla="*/ 51123 h 279300"/>
              <a:gd name="connsiteX6" fmla="*/ 139665 w 203146"/>
              <a:gd name="connsiteY6" fmla="*/ 120583 h 279300"/>
              <a:gd name="connsiteX7" fmla="*/ 139665 w 203146"/>
              <a:gd name="connsiteY7" fmla="*/ 209464 h 279300"/>
              <a:gd name="connsiteX8" fmla="*/ 69837 w 203146"/>
              <a:gd name="connsiteY8" fmla="*/ 279300 h 279300"/>
              <a:gd name="connsiteX9" fmla="*/ 0 w 203146"/>
              <a:gd name="connsiteY9" fmla="*/ 209464 h 279300"/>
              <a:gd name="connsiteX10" fmla="*/ 0 w 203146"/>
              <a:gd name="connsiteY10" fmla="*/ 120583 h 279300"/>
              <a:gd name="connsiteX11" fmla="*/ 64028 w 203146"/>
              <a:gd name="connsiteY11" fmla="*/ 51059 h 279300"/>
              <a:gd name="connsiteX12" fmla="*/ 81636 w 203146"/>
              <a:gd name="connsiteY12" fmla="*/ 24165 h 279300"/>
              <a:gd name="connsiteX13" fmla="*/ 123455 w 203146"/>
              <a:gd name="connsiteY13" fmla="*/ 26033 h 279300"/>
              <a:gd name="connsiteX14" fmla="*/ 191120 w 203146"/>
              <a:gd name="connsiteY14" fmla="*/ 3485 h 279300"/>
              <a:gd name="connsiteX15" fmla="*/ 199640 w 203146"/>
              <a:gd name="connsiteY15" fmla="*/ 631 h 279300"/>
              <a:gd name="connsiteX16" fmla="*/ 63480 w 203146"/>
              <a:gd name="connsiteY16" fmla="*/ 63824 h 279300"/>
              <a:gd name="connsiteX17" fmla="*/ 12696 w 203146"/>
              <a:gd name="connsiteY17" fmla="*/ 120583 h 279300"/>
              <a:gd name="connsiteX18" fmla="*/ 12696 w 203146"/>
              <a:gd name="connsiteY18" fmla="*/ 126940 h 279300"/>
              <a:gd name="connsiteX19" fmla="*/ 63480 w 203146"/>
              <a:gd name="connsiteY19" fmla="*/ 126940 h 279300"/>
              <a:gd name="connsiteX20" fmla="*/ 63480 w 203146"/>
              <a:gd name="connsiteY20" fmla="*/ 63824 h 279300"/>
              <a:gd name="connsiteX21" fmla="*/ 76185 w 203146"/>
              <a:gd name="connsiteY21" fmla="*/ 63824 h 279300"/>
              <a:gd name="connsiteX22" fmla="*/ 76185 w 203146"/>
              <a:gd name="connsiteY22" fmla="*/ 126940 h 279300"/>
              <a:gd name="connsiteX23" fmla="*/ 126969 w 203146"/>
              <a:gd name="connsiteY23" fmla="*/ 126940 h 279300"/>
              <a:gd name="connsiteX24" fmla="*/ 126969 w 203146"/>
              <a:gd name="connsiteY24" fmla="*/ 120583 h 279300"/>
              <a:gd name="connsiteX25" fmla="*/ 76185 w 203146"/>
              <a:gd name="connsiteY25" fmla="*/ 63824 h 279300"/>
              <a:gd name="connsiteX26" fmla="*/ 12696 w 203146"/>
              <a:gd name="connsiteY26" fmla="*/ 139628 h 279300"/>
              <a:gd name="connsiteX27" fmla="*/ 12696 w 203146"/>
              <a:gd name="connsiteY27" fmla="*/ 209464 h 279300"/>
              <a:gd name="connsiteX28" fmla="*/ 69837 w 203146"/>
              <a:gd name="connsiteY28" fmla="*/ 266599 h 279300"/>
              <a:gd name="connsiteX29" fmla="*/ 126969 w 203146"/>
              <a:gd name="connsiteY29" fmla="*/ 209464 h 279300"/>
              <a:gd name="connsiteX30" fmla="*/ 126969 w 203146"/>
              <a:gd name="connsiteY30" fmla="*/ 139628 h 279300"/>
              <a:gd name="connsiteX31" fmla="*/ 12696 w 203146"/>
              <a:gd name="connsiteY31" fmla="*/ 139628 h 27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03146" h="279300">
                <a:moveTo>
                  <a:pt x="199640" y="631"/>
                </a:moveTo>
                <a:cubicBezTo>
                  <a:pt x="202777" y="2214"/>
                  <a:pt x="204042" y="6015"/>
                  <a:pt x="202474" y="9154"/>
                </a:cubicBezTo>
                <a:cubicBezTo>
                  <a:pt x="195068" y="23970"/>
                  <a:pt x="184451" y="35802"/>
                  <a:pt x="169535" y="41601"/>
                </a:cubicBezTo>
                <a:cubicBezTo>
                  <a:pt x="157349" y="46349"/>
                  <a:pt x="141904" y="49450"/>
                  <a:pt x="117778" y="37398"/>
                </a:cubicBezTo>
                <a:cubicBezTo>
                  <a:pt x="103400" y="30210"/>
                  <a:pt x="97374" y="29367"/>
                  <a:pt x="88305" y="34972"/>
                </a:cubicBezTo>
                <a:cubicBezTo>
                  <a:pt x="82089" y="38812"/>
                  <a:pt x="78415" y="45143"/>
                  <a:pt x="76950" y="51123"/>
                </a:cubicBezTo>
                <a:cubicBezTo>
                  <a:pt x="112176" y="54691"/>
                  <a:pt x="139665" y="84426"/>
                  <a:pt x="139665" y="120583"/>
                </a:cubicBezTo>
                <a:lnTo>
                  <a:pt x="139665" y="209464"/>
                </a:lnTo>
                <a:cubicBezTo>
                  <a:pt x="139665" y="248034"/>
                  <a:pt x="108398" y="279300"/>
                  <a:pt x="69837" y="279300"/>
                </a:cubicBezTo>
                <a:cubicBezTo>
                  <a:pt x="31268" y="279300"/>
                  <a:pt x="0" y="248034"/>
                  <a:pt x="0" y="209464"/>
                </a:cubicBezTo>
                <a:lnTo>
                  <a:pt x="0" y="120583"/>
                </a:lnTo>
                <a:cubicBezTo>
                  <a:pt x="0" y="83985"/>
                  <a:pt x="28188" y="54004"/>
                  <a:pt x="64028" y="51059"/>
                </a:cubicBezTo>
                <a:cubicBezTo>
                  <a:pt x="65832" y="40083"/>
                  <a:pt x="72312" y="29938"/>
                  <a:pt x="81636" y="24165"/>
                </a:cubicBezTo>
                <a:cubicBezTo>
                  <a:pt x="90714" y="18573"/>
                  <a:pt x="103844" y="14966"/>
                  <a:pt x="123455" y="26033"/>
                </a:cubicBezTo>
                <a:cubicBezTo>
                  <a:pt x="157906" y="45467"/>
                  <a:pt x="176865" y="25228"/>
                  <a:pt x="191120" y="3485"/>
                </a:cubicBezTo>
                <a:cubicBezTo>
                  <a:pt x="193047" y="540"/>
                  <a:pt x="196495" y="-926"/>
                  <a:pt x="199640" y="631"/>
                </a:cubicBezTo>
                <a:close/>
                <a:moveTo>
                  <a:pt x="63480" y="63824"/>
                </a:moveTo>
                <a:cubicBezTo>
                  <a:pt x="34914" y="66990"/>
                  <a:pt x="12696" y="91185"/>
                  <a:pt x="12696" y="120583"/>
                </a:cubicBezTo>
                <a:lnTo>
                  <a:pt x="12696" y="126940"/>
                </a:lnTo>
                <a:lnTo>
                  <a:pt x="63480" y="126940"/>
                </a:lnTo>
                <a:lnTo>
                  <a:pt x="63480" y="63824"/>
                </a:lnTo>
                <a:close/>
                <a:moveTo>
                  <a:pt x="76185" y="63824"/>
                </a:moveTo>
                <a:lnTo>
                  <a:pt x="76185" y="126940"/>
                </a:lnTo>
                <a:lnTo>
                  <a:pt x="126969" y="126940"/>
                </a:lnTo>
                <a:lnTo>
                  <a:pt x="126969" y="120583"/>
                </a:lnTo>
                <a:cubicBezTo>
                  <a:pt x="126969" y="91185"/>
                  <a:pt x="104751" y="66990"/>
                  <a:pt x="76185" y="63824"/>
                </a:cubicBezTo>
                <a:close/>
                <a:moveTo>
                  <a:pt x="12696" y="139628"/>
                </a:moveTo>
                <a:lnTo>
                  <a:pt x="12696" y="209464"/>
                </a:lnTo>
                <a:cubicBezTo>
                  <a:pt x="12696" y="241029"/>
                  <a:pt x="38277" y="266599"/>
                  <a:pt x="69837" y="266599"/>
                </a:cubicBezTo>
                <a:cubicBezTo>
                  <a:pt x="101388" y="266599"/>
                  <a:pt x="126969" y="241029"/>
                  <a:pt x="126969" y="209464"/>
                </a:cubicBezTo>
                <a:cubicBezTo>
                  <a:pt x="126969" y="209464"/>
                  <a:pt x="126969" y="139628"/>
                  <a:pt x="126969" y="139628"/>
                </a:cubicBezTo>
                <a:lnTo>
                  <a:pt x="12696" y="139628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66"/>
            <a:endParaRPr lang="en-US" sz="1013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B91B1E4-0B05-471B-8CB4-A52807CD6972}"/>
              </a:ext>
            </a:extLst>
          </p:cNvPr>
          <p:cNvSpPr txBox="1">
            <a:spLocks/>
          </p:cNvSpPr>
          <p:nvPr userDrawn="1"/>
        </p:nvSpPr>
        <p:spPr>
          <a:xfrm>
            <a:off x="8010472" y="4069033"/>
            <a:ext cx="3001417" cy="1037528"/>
          </a:xfrm>
          <a:prstGeom prst="rect">
            <a:avLst/>
          </a:prstGeom>
        </p:spPr>
        <p:txBody>
          <a:bodyPr vert="horz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India, Germany, Japan, USA &amp; China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+91 44 6666 9600</a:t>
            </a:r>
          </a:p>
          <a:p>
            <a:pPr marL="0" indent="0" algn="r" defTabSz="6858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100" b="1" u="sng" err="1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www,jasmin</a:t>
            </a:r>
            <a:r>
              <a:rPr lang="en-US" sz="1100" b="1" u="sng">
                <a:solidFill>
                  <a:schemeClr val="tx1"/>
                </a:solidFill>
                <a:latin typeface="Calibri Light" panose="020F0302020204030204"/>
                <a:ea typeface="Roboto" panose="02000000000000000000" pitchFamily="2" charset="0"/>
              </a:rPr>
              <a:t>-infotech.com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081058F-3133-4197-B807-FC6CB78CE2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660041" cy="456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E6B2BDD-7865-4F6F-B5D7-A4B5A52B7464}"/>
              </a:ext>
            </a:extLst>
          </p:cNvPr>
          <p:cNvSpPr/>
          <p:nvPr userDrawn="1"/>
        </p:nvSpPr>
        <p:spPr>
          <a:xfrm rot="5400000">
            <a:off x="-467508" y="4483021"/>
            <a:ext cx="1972910" cy="1037896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86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8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diagramData" Target="../diagrams/data1.xml"/><Relationship Id="rId5" Type="http://schemas.openxmlformats.org/officeDocument/2006/relationships/image" Target="../media/image10.jpeg"/><Relationship Id="rId10" Type="http://schemas.microsoft.com/office/2007/relationships/diagramDrawing" Target="../diagrams/drawing1.xml"/><Relationship Id="rId4" Type="http://schemas.openxmlformats.org/officeDocument/2006/relationships/image" Target="../media/image9.png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gif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jpeg"/><Relationship Id="rId7" Type="http://schemas.openxmlformats.org/officeDocument/2006/relationships/image" Target="../media/image43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9" Type="http://schemas.openxmlformats.org/officeDocument/2006/relationships/image" Target="../media/image4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gital_audio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7.gi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shared" TargetMode="Externa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E74804-7A65-49B5-A06B-DEC0F477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91F374-12C3-45EB-99A5-33CBA53EFC64}"/>
              </a:ext>
            </a:extLst>
          </p:cNvPr>
          <p:cNvSpPr/>
          <p:nvPr/>
        </p:nvSpPr>
        <p:spPr>
          <a:xfrm>
            <a:off x="2924961" y="3122790"/>
            <a:ext cx="6553200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400" b="1" i="1" u="sng" dirty="0" err="1">
                <a:solidFill>
                  <a:srgbClr val="000076"/>
                </a:solidFill>
              </a:rPr>
              <a:t>RootCause</a:t>
            </a:r>
            <a:r>
              <a:rPr lang="en-US" sz="2400" b="1" i="1" u="sng" dirty="0">
                <a:solidFill>
                  <a:srgbClr val="000076"/>
                </a:solidFill>
              </a:rPr>
              <a:t> Analysis(RCA)</a:t>
            </a:r>
            <a:endParaRPr lang="en-US" dirty="0"/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605B4161-4728-4117-8888-447E2A163A4B}"/>
              </a:ext>
            </a:extLst>
          </p:cNvPr>
          <p:cNvSpPr txBox="1">
            <a:spLocks/>
          </p:cNvSpPr>
          <p:nvPr/>
        </p:nvSpPr>
        <p:spPr>
          <a:xfrm>
            <a:off x="4985482" y="5038114"/>
            <a:ext cx="2320925" cy="69147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dirty="0">
                <a:solidFill>
                  <a:srgbClr val="000000"/>
                </a:solidFill>
                <a:cs typeface="Calibri"/>
              </a:rPr>
              <a:t> </a:t>
            </a:r>
          </a:p>
          <a:p>
            <a:pPr marL="342900" indent="-3429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11"/>
              </a:buClr>
            </a:pPr>
            <a:r>
              <a:rPr lang="en-US" sz="2000" dirty="0">
                <a:solidFill>
                  <a:srgbClr val="000000"/>
                </a:solidFill>
                <a:cs typeface="Calibri"/>
              </a:rPr>
              <a:t>Nov 2024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8993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Sheet music with treble and bass clef, and illegible notes">
            <a:extLst>
              <a:ext uri="{FF2B5EF4-FFF2-40B4-BE49-F238E27FC236}">
                <a16:creationId xmlns:a16="http://schemas.microsoft.com/office/drawing/2014/main" id="{48E4266D-FDE6-4813-BC9C-00F613B830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" t="194" r="33376" b="-194"/>
          <a:stretch/>
        </p:blipFill>
        <p:spPr>
          <a:xfrm>
            <a:off x="3486228" y="1477181"/>
            <a:ext cx="5251625" cy="5252066"/>
          </a:xfrm>
          <a:custGeom>
            <a:avLst/>
            <a:gdLst/>
            <a:ahLst/>
            <a:cxnLst/>
            <a:rect l="l" t="t" r="r" b="b"/>
            <a:pathLst>
              <a:path w="4627646" h="4627648">
                <a:moveTo>
                  <a:pt x="2313823" y="0"/>
                </a:moveTo>
                <a:cubicBezTo>
                  <a:pt x="3591712" y="0"/>
                  <a:pt x="4627646" y="1035934"/>
                  <a:pt x="4627646" y="2313824"/>
                </a:cubicBezTo>
                <a:cubicBezTo>
                  <a:pt x="4627646" y="3591714"/>
                  <a:pt x="3591712" y="4627648"/>
                  <a:pt x="2313823" y="4627648"/>
                </a:cubicBezTo>
                <a:cubicBezTo>
                  <a:pt x="1035934" y="4627648"/>
                  <a:pt x="0" y="3591714"/>
                  <a:pt x="0" y="2313824"/>
                </a:cubicBezTo>
                <a:cubicBezTo>
                  <a:pt x="0" y="1035934"/>
                  <a:pt x="1035934" y="0"/>
                  <a:pt x="2313823" y="0"/>
                </a:cubicBezTo>
                <a:close/>
              </a:path>
            </a:pathLst>
          </a:custGeom>
        </p:spPr>
      </p:pic>
      <p:pic>
        <p:nvPicPr>
          <p:cNvPr id="4" name="Picture 4" descr="Woman with baby using smartphone">
            <a:extLst>
              <a:ext uri="{FF2B5EF4-FFF2-40B4-BE49-F238E27FC236}">
                <a16:creationId xmlns:a16="http://schemas.microsoft.com/office/drawing/2014/main" id="{55AB2969-97A5-4CEC-9BC9-5E0915A2A0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55" r="23660" b="-3"/>
          <a:stretch/>
        </p:blipFill>
        <p:spPr>
          <a:xfrm>
            <a:off x="678262" y="2560040"/>
            <a:ext cx="2940335" cy="3321923"/>
          </a:xfrm>
          <a:custGeom>
            <a:avLst/>
            <a:gdLst/>
            <a:ahLst/>
            <a:cxnLst/>
            <a:rect l="l" t="t" r="r" b="b"/>
            <a:pathLst>
              <a:path w="2590737" h="2926956">
                <a:moveTo>
                  <a:pt x="1463478" y="0"/>
                </a:moveTo>
                <a:cubicBezTo>
                  <a:pt x="1867606" y="0"/>
                  <a:pt x="2233476" y="163805"/>
                  <a:pt x="2498313" y="428643"/>
                </a:cubicBezTo>
                <a:lnTo>
                  <a:pt x="2501029" y="431631"/>
                </a:lnTo>
                <a:lnTo>
                  <a:pt x="2445696" y="582811"/>
                </a:lnTo>
                <a:cubicBezTo>
                  <a:pt x="2374039" y="813196"/>
                  <a:pt x="2335437" y="1058145"/>
                  <a:pt x="2335437" y="1312109"/>
                </a:cubicBezTo>
                <a:cubicBezTo>
                  <a:pt x="2335437" y="1650728"/>
                  <a:pt x="2404063" y="1973319"/>
                  <a:pt x="2528166" y="2266732"/>
                </a:cubicBezTo>
                <a:lnTo>
                  <a:pt x="2590737" y="2396622"/>
                </a:lnTo>
                <a:lnTo>
                  <a:pt x="2498313" y="2498313"/>
                </a:lnTo>
                <a:cubicBezTo>
                  <a:pt x="2233476" y="2763151"/>
                  <a:pt x="1867606" y="2926956"/>
                  <a:pt x="1463478" y="2926956"/>
                </a:cubicBezTo>
                <a:cubicBezTo>
                  <a:pt x="655221" y="2926956"/>
                  <a:pt x="0" y="2271735"/>
                  <a:pt x="0" y="1463478"/>
                </a:cubicBezTo>
                <a:cubicBezTo>
                  <a:pt x="0" y="655221"/>
                  <a:pt x="655221" y="0"/>
                  <a:pt x="1463478" y="0"/>
                </a:cubicBezTo>
                <a:close/>
              </a:path>
            </a:pathLst>
          </a:custGeom>
        </p:spPr>
      </p:pic>
      <p:pic>
        <p:nvPicPr>
          <p:cNvPr id="5" name="Picture 6" descr="Woman in kayak on lake, holding and looking at camcorder, oar and backpack in front, trees on sloping hills behind">
            <a:extLst>
              <a:ext uri="{FF2B5EF4-FFF2-40B4-BE49-F238E27FC236}">
                <a16:creationId xmlns:a16="http://schemas.microsoft.com/office/drawing/2014/main" id="{1412EC22-05ED-4067-8A0D-993E30CE13D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42" r="15168" b="-3"/>
          <a:stretch/>
        </p:blipFill>
        <p:spPr>
          <a:xfrm>
            <a:off x="8598210" y="2654169"/>
            <a:ext cx="2915528" cy="3331895"/>
          </a:xfrm>
          <a:custGeom>
            <a:avLst/>
            <a:gdLst/>
            <a:ahLst/>
            <a:cxnLst/>
            <a:rect l="l" t="t" r="r" b="b"/>
            <a:pathLst>
              <a:path w="2577829" h="2926956">
                <a:moveTo>
                  <a:pt x="1114351" y="0"/>
                </a:moveTo>
                <a:cubicBezTo>
                  <a:pt x="1922608" y="0"/>
                  <a:pt x="2577829" y="655221"/>
                  <a:pt x="2577829" y="1463478"/>
                </a:cubicBezTo>
                <a:cubicBezTo>
                  <a:pt x="2577829" y="2271735"/>
                  <a:pt x="1922608" y="2926956"/>
                  <a:pt x="1114351" y="2926956"/>
                </a:cubicBezTo>
                <a:cubicBezTo>
                  <a:pt x="710223" y="2926956"/>
                  <a:pt x="344353" y="2763151"/>
                  <a:pt x="79516" y="2498313"/>
                </a:cubicBezTo>
                <a:lnTo>
                  <a:pt x="0" y="2410824"/>
                </a:lnTo>
                <a:lnTo>
                  <a:pt x="69413" y="2266732"/>
                </a:lnTo>
                <a:cubicBezTo>
                  <a:pt x="193516" y="1973319"/>
                  <a:pt x="262142" y="1650728"/>
                  <a:pt x="262142" y="1312109"/>
                </a:cubicBezTo>
                <a:cubicBezTo>
                  <a:pt x="262142" y="1058145"/>
                  <a:pt x="223540" y="813196"/>
                  <a:pt x="151883" y="582811"/>
                </a:cubicBezTo>
                <a:lnTo>
                  <a:pt x="91478" y="417771"/>
                </a:lnTo>
                <a:lnTo>
                  <a:pt x="183443" y="334187"/>
                </a:lnTo>
                <a:cubicBezTo>
                  <a:pt x="436418" y="125413"/>
                  <a:pt x="760739" y="0"/>
                  <a:pt x="1114351" y="0"/>
                </a:cubicBez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A653D26-FF11-430E-AFB9-DB3F0994A78C}"/>
              </a:ext>
            </a:extLst>
          </p:cNvPr>
          <p:cNvSpPr/>
          <p:nvPr/>
        </p:nvSpPr>
        <p:spPr>
          <a:xfrm>
            <a:off x="270369" y="1374900"/>
            <a:ext cx="39950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Our world is full of sounds. The wind, birds, traffic, buzz of voices, discussions, radio, music, sirens. 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596186-80B8-4E34-B04F-C071760CCF8F}"/>
              </a:ext>
            </a:extLst>
          </p:cNvPr>
          <p:cNvSpPr>
            <a:spLocks noGrp="1"/>
          </p:cNvSpPr>
          <p:nvPr/>
        </p:nvSpPr>
        <p:spPr>
          <a:xfrm>
            <a:off x="270711" y="108010"/>
            <a:ext cx="1515412" cy="83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Audio</a:t>
            </a:r>
          </a:p>
        </p:txBody>
      </p:sp>
    </p:spTree>
    <p:extLst>
      <p:ext uri="{BB962C8B-B14F-4D97-AF65-F5344CB8AC3E}">
        <p14:creationId xmlns:p14="http://schemas.microsoft.com/office/powerpoint/2010/main" val="187931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64" descr="Graphical user interface&#10;&#10;Description automatically generated">
            <a:extLst>
              <a:ext uri="{FF2B5EF4-FFF2-40B4-BE49-F238E27FC236}">
                <a16:creationId xmlns:a16="http://schemas.microsoft.com/office/drawing/2014/main" id="{CBAA6EC6-FD2E-4C38-84F0-2D202F7408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454"/>
          <a:stretch/>
        </p:blipFill>
        <p:spPr>
          <a:xfrm>
            <a:off x="3024234" y="1518116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4" name="Picture 972" descr="A picture containing cup&#10;&#10;Description automatically generated">
            <a:extLst>
              <a:ext uri="{FF2B5EF4-FFF2-40B4-BE49-F238E27FC236}">
                <a16:creationId xmlns:a16="http://schemas.microsoft.com/office/drawing/2014/main" id="{5065E2BE-65D3-4551-9C26-395E03BE61F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03" r="-5" b="-5"/>
          <a:stretch/>
        </p:blipFill>
        <p:spPr>
          <a:xfrm>
            <a:off x="6322298" y="1529888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5" name="Picture 62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710EBF2-1CF1-45D7-A79F-1A6C2D63A7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386" r="21599" b="-1"/>
          <a:stretch/>
        </p:blipFill>
        <p:spPr>
          <a:xfrm>
            <a:off x="9162609" y="1529888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pic>
        <p:nvPicPr>
          <p:cNvPr id="6" name="Picture 336" descr="Vintage yellow TV on top of a wood plank with blue background">
            <a:extLst>
              <a:ext uri="{FF2B5EF4-FFF2-40B4-BE49-F238E27FC236}">
                <a16:creationId xmlns:a16="http://schemas.microsoft.com/office/drawing/2014/main" id="{E89D7463-A81D-4D73-8A71-19EC68F3CA2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/>
        </p:blipFill>
        <p:spPr>
          <a:xfrm>
            <a:off x="285037" y="1415883"/>
            <a:ext cx="2282932" cy="2282932"/>
          </a:xfrm>
          <a:custGeom>
            <a:avLst/>
            <a:gdLst/>
            <a:ahLst/>
            <a:cxnLst/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</p:spPr>
      </p:pic>
      <p:graphicFrame>
        <p:nvGraphicFramePr>
          <p:cNvPr id="7" name="Diagram 8">
            <a:extLst>
              <a:ext uri="{FF2B5EF4-FFF2-40B4-BE49-F238E27FC236}">
                <a16:creationId xmlns:a16="http://schemas.microsoft.com/office/drawing/2014/main" id="{B01AB53D-7A50-4309-977F-962108586F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8316449"/>
              </p:ext>
            </p:extLst>
          </p:nvPr>
        </p:nvGraphicFramePr>
        <p:xfrm>
          <a:off x="769903" y="3702406"/>
          <a:ext cx="10392188" cy="3364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7" name="Title 1">
            <a:extLst>
              <a:ext uri="{FF2B5EF4-FFF2-40B4-BE49-F238E27FC236}">
                <a16:creationId xmlns:a16="http://schemas.microsoft.com/office/drawing/2014/main" id="{680F3D42-F672-9F53-79D8-F7D672229603}"/>
              </a:ext>
            </a:extLst>
          </p:cNvPr>
          <p:cNvSpPr>
            <a:spLocks noGrp="1"/>
          </p:cNvSpPr>
          <p:nvPr/>
        </p:nvSpPr>
        <p:spPr>
          <a:xfrm>
            <a:off x="0" y="78407"/>
            <a:ext cx="3903584" cy="83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Generation of Audio</a:t>
            </a:r>
          </a:p>
        </p:txBody>
      </p:sp>
    </p:spTree>
    <p:extLst>
      <p:ext uri="{BB962C8B-B14F-4D97-AF65-F5344CB8AC3E}">
        <p14:creationId xmlns:p14="http://schemas.microsoft.com/office/powerpoint/2010/main" val="420894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938448BC-7134-4508-AA2E-7DEF732520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668" r="1" b="16583"/>
          <a:stretch/>
        </p:blipFill>
        <p:spPr>
          <a:xfrm>
            <a:off x="1699195" y="1876284"/>
            <a:ext cx="7828979" cy="37271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3BFC0D6-3D7B-485E-B284-1B4A6C665D66}"/>
              </a:ext>
            </a:extLst>
          </p:cNvPr>
          <p:cNvSpPr>
            <a:spLocks noGrp="1"/>
          </p:cNvSpPr>
          <p:nvPr/>
        </p:nvSpPr>
        <p:spPr>
          <a:xfrm>
            <a:off x="85195" y="89523"/>
            <a:ext cx="3229911" cy="83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Components</a:t>
            </a:r>
          </a:p>
        </p:txBody>
      </p:sp>
    </p:spTree>
    <p:extLst>
      <p:ext uri="{BB962C8B-B14F-4D97-AF65-F5344CB8AC3E}">
        <p14:creationId xmlns:p14="http://schemas.microsoft.com/office/powerpoint/2010/main" val="198904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627087B0-DD00-413F-B022-0201C0C28C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734" r="-3" b="-3"/>
          <a:stretch/>
        </p:blipFill>
        <p:spPr>
          <a:xfrm>
            <a:off x="6229350" y="3674075"/>
            <a:ext cx="4923784" cy="2415002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78E25932-0F7F-431E-80AC-5A148C5573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" b="5297"/>
          <a:stretch/>
        </p:blipFill>
        <p:spPr>
          <a:xfrm>
            <a:off x="1832108" y="1355952"/>
            <a:ext cx="5870987" cy="2623756"/>
          </a:xfrm>
          <a:custGeom>
            <a:avLst/>
            <a:gdLst/>
            <a:ahLst/>
            <a:cxnLst/>
            <a:rect l="l" t="t" r="r" b="b"/>
            <a:pathLst>
              <a:path w="7279913" h="3895335">
                <a:moveTo>
                  <a:pt x="0" y="0"/>
                </a:moveTo>
                <a:lnTo>
                  <a:pt x="7279913" y="0"/>
                </a:lnTo>
                <a:lnTo>
                  <a:pt x="7279913" y="3116976"/>
                </a:lnTo>
                <a:lnTo>
                  <a:pt x="5011287" y="3116976"/>
                </a:lnTo>
                <a:lnTo>
                  <a:pt x="5011287" y="3895335"/>
                </a:lnTo>
                <a:lnTo>
                  <a:pt x="0" y="3895335"/>
                </a:lnTo>
                <a:close/>
              </a:path>
            </a:pathLst>
          </a:custGeom>
        </p:spPr>
      </p:pic>
      <p:pic>
        <p:nvPicPr>
          <p:cNvPr id="5" name="Picture 5" descr="A picture containing text, indoor&#10;&#10;Description automatically generated">
            <a:extLst>
              <a:ext uri="{FF2B5EF4-FFF2-40B4-BE49-F238E27FC236}">
                <a16:creationId xmlns:a16="http://schemas.microsoft.com/office/drawing/2014/main" id="{3C61A1BE-09AF-4237-8DA9-6CBC19E08A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01" r="2" b="2"/>
          <a:stretch/>
        </p:blipFill>
        <p:spPr>
          <a:xfrm>
            <a:off x="1525111" y="4474591"/>
            <a:ext cx="4033287" cy="188074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41097C4-5F13-4162-B7C4-3AB267C87325}"/>
              </a:ext>
            </a:extLst>
          </p:cNvPr>
          <p:cNvSpPr>
            <a:spLocks noGrp="1"/>
          </p:cNvSpPr>
          <p:nvPr/>
        </p:nvSpPr>
        <p:spPr>
          <a:xfrm>
            <a:off x="-165463" y="-713"/>
            <a:ext cx="3781358" cy="8967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Advancements</a:t>
            </a:r>
          </a:p>
        </p:txBody>
      </p:sp>
    </p:spTree>
    <p:extLst>
      <p:ext uri="{BB962C8B-B14F-4D97-AF65-F5344CB8AC3E}">
        <p14:creationId xmlns:p14="http://schemas.microsoft.com/office/powerpoint/2010/main" val="199407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9BCF6968-D001-4411-81F9-3E5BEFDA58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625" y="1983760"/>
            <a:ext cx="8077200" cy="363004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3696BD4-64FD-4D2D-AE87-65A90CBB93CE}"/>
              </a:ext>
            </a:extLst>
          </p:cNvPr>
          <p:cNvSpPr>
            <a:spLocks noGrp="1"/>
          </p:cNvSpPr>
          <p:nvPr/>
        </p:nvSpPr>
        <p:spPr>
          <a:xfrm>
            <a:off x="-421105" y="87229"/>
            <a:ext cx="2778727" cy="83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DSP</a:t>
            </a:r>
          </a:p>
        </p:txBody>
      </p:sp>
    </p:spTree>
    <p:extLst>
      <p:ext uri="{BB962C8B-B14F-4D97-AF65-F5344CB8AC3E}">
        <p14:creationId xmlns:p14="http://schemas.microsoft.com/office/powerpoint/2010/main" val="38792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5AE6372-3797-4314-BA4D-97FC5DE590E9}"/>
              </a:ext>
            </a:extLst>
          </p:cNvPr>
          <p:cNvGrpSpPr/>
          <p:nvPr/>
        </p:nvGrpSpPr>
        <p:grpSpPr>
          <a:xfrm>
            <a:off x="2205318" y="4033367"/>
            <a:ext cx="8471647" cy="2497622"/>
            <a:chOff x="129413" y="2797218"/>
            <a:chExt cx="12017762" cy="387838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2753477-1BA2-44DF-BC13-69060B83FC6C}"/>
                </a:ext>
              </a:extLst>
            </p:cNvPr>
            <p:cNvSpPr/>
            <p:nvPr/>
          </p:nvSpPr>
          <p:spPr>
            <a:xfrm>
              <a:off x="129413" y="2797218"/>
              <a:ext cx="11889153" cy="387838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22" descr="A picture containing text, lamp&#10;&#10;Description automatically generated">
              <a:extLst>
                <a:ext uri="{FF2B5EF4-FFF2-40B4-BE49-F238E27FC236}">
                  <a16:creationId xmlns:a16="http://schemas.microsoft.com/office/drawing/2014/main" id="{6F2DF83B-C065-4428-A4FA-153DA9ABE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891" y="3084678"/>
              <a:ext cx="1209661" cy="653591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1FCA5DA-5C0F-4532-832B-A7B9129FFB68}"/>
                </a:ext>
              </a:extLst>
            </p:cNvPr>
            <p:cNvCxnSpPr/>
            <p:nvPr/>
          </p:nvCxnSpPr>
          <p:spPr>
            <a:xfrm flipV="1">
              <a:off x="1565533" y="3298825"/>
              <a:ext cx="582247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FAA7AF5-2667-4A32-8A2F-B8E8711DAC6D}"/>
                </a:ext>
              </a:extLst>
            </p:cNvPr>
            <p:cNvSpPr/>
            <p:nvPr/>
          </p:nvSpPr>
          <p:spPr>
            <a:xfrm>
              <a:off x="2316802" y="3086271"/>
              <a:ext cx="975888" cy="42076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cs typeface="Calibri"/>
                </a:rPr>
                <a:t>ADC</a:t>
              </a:r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BCEAF71-7ECA-4F2E-BE47-C590910377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7545" y="3298825"/>
              <a:ext cx="582247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5" descr="Chart, histogram&#10;&#10;Description automatically generated">
              <a:extLst>
                <a:ext uri="{FF2B5EF4-FFF2-40B4-BE49-F238E27FC236}">
                  <a16:creationId xmlns:a16="http://schemas.microsoft.com/office/drawing/2014/main" id="{968BD086-3E7F-4C5A-90E0-F9016387E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96870" y="2956755"/>
              <a:ext cx="1604682" cy="693479"/>
            </a:xfrm>
            <a:prstGeom prst="rect">
              <a:avLst/>
            </a:prstGeom>
          </p:spPr>
        </p:pic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C9439DF7-CBBB-4D95-ABF0-483339402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9404" y="3298825"/>
              <a:ext cx="582247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0EAD05-D32C-44B8-BECA-A8CEAC2C14A9}"/>
                </a:ext>
              </a:extLst>
            </p:cNvPr>
            <p:cNvSpPr/>
            <p:nvPr/>
          </p:nvSpPr>
          <p:spPr>
            <a:xfrm>
              <a:off x="6499412" y="2949388"/>
              <a:ext cx="1147482" cy="699247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cs typeface="Calibri"/>
                </a:rPr>
                <a:t>DSP</a:t>
              </a:r>
              <a:endParaRPr lang="en-US"/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A34CC3CF-F1E9-4DB5-821B-8C6C71B172E2}"/>
                </a:ext>
              </a:extLst>
            </p:cNvPr>
            <p:cNvSpPr/>
            <p:nvPr/>
          </p:nvSpPr>
          <p:spPr>
            <a:xfrm>
              <a:off x="7002813" y="4021819"/>
              <a:ext cx="129413" cy="510529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51DD093-F25E-4A56-B66C-23AC4EC73C64}"/>
                </a:ext>
              </a:extLst>
            </p:cNvPr>
            <p:cNvSpPr/>
            <p:nvPr/>
          </p:nvSpPr>
          <p:spPr>
            <a:xfrm>
              <a:off x="4195483" y="4572000"/>
              <a:ext cx="5889811" cy="104887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271B71-0F88-49E3-A42C-6FDD4A5621E9}"/>
                </a:ext>
              </a:extLst>
            </p:cNvPr>
            <p:cNvSpPr/>
            <p:nvPr/>
          </p:nvSpPr>
          <p:spPr>
            <a:xfrm>
              <a:off x="4356846" y="4921622"/>
              <a:ext cx="806823" cy="3496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latin typeface="Times New Roman"/>
                  <a:cs typeface="Times New Roman"/>
                </a:rPr>
                <a:t>DAI</a:t>
              </a:r>
              <a:endParaRPr lang="en-US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2178B3-380B-4680-89BE-DB6A5D99FD51}"/>
                </a:ext>
              </a:extLst>
            </p:cNvPr>
            <p:cNvSpPr/>
            <p:nvPr/>
          </p:nvSpPr>
          <p:spPr>
            <a:xfrm>
              <a:off x="5522257" y="4833381"/>
              <a:ext cx="806822" cy="4468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 dirty="0">
                  <a:latin typeface="Times New Roman"/>
                  <a:cs typeface="Times New Roman"/>
                </a:rPr>
                <a:t>SPORT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4D9E50-070A-4D26-98A7-F223CD792526}"/>
                </a:ext>
              </a:extLst>
            </p:cNvPr>
            <p:cNvSpPr/>
            <p:nvPr/>
          </p:nvSpPr>
          <p:spPr>
            <a:xfrm>
              <a:off x="6732493" y="4921621"/>
              <a:ext cx="806823" cy="3496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latin typeface="Times New Roman"/>
                  <a:cs typeface="Times New Roman"/>
                </a:rPr>
                <a:t>DMA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7E1FA6-79EC-4709-9677-205C4D5A46AF}"/>
                </a:ext>
              </a:extLst>
            </p:cNvPr>
            <p:cNvSpPr/>
            <p:nvPr/>
          </p:nvSpPr>
          <p:spPr>
            <a:xfrm>
              <a:off x="9135033" y="4930586"/>
              <a:ext cx="806823" cy="34962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>
                  <a:latin typeface="Times New Roman"/>
                  <a:cs typeface="Times New Roman"/>
                </a:rPr>
                <a:t>DAI</a:t>
              </a:r>
              <a:endParaRPr lang="en-US" sz="12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D8B6EC-D4BB-4456-B78B-29A154E786E9}"/>
                </a:ext>
              </a:extLst>
            </p:cNvPr>
            <p:cNvSpPr/>
            <p:nvPr/>
          </p:nvSpPr>
          <p:spPr>
            <a:xfrm>
              <a:off x="7951693" y="4867872"/>
              <a:ext cx="806822" cy="40337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 dirty="0">
                  <a:latin typeface="Times New Roman"/>
                  <a:cs typeface="Times New Roman"/>
                </a:rPr>
                <a:t>SPORT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4E46D24-B978-41E9-A013-A6B8B80DF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6238" y="5109694"/>
              <a:ext cx="268482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51383EE-59AE-45D4-A172-474925A766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6473" y="5109694"/>
              <a:ext cx="268482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9E763B4-1CA3-42B8-9D7C-9186A700A3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8778" y="5109694"/>
              <a:ext cx="268482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FB3B629-7A10-44EE-B37D-D89C05728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7978" y="5109693"/>
              <a:ext cx="268482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ACE816F3-BA1C-4461-A76B-AFF2DAEDE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0603" y="3262966"/>
              <a:ext cx="582247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5" descr="Chart, histogram&#10;&#10;Description automatically generated">
              <a:extLst>
                <a:ext uri="{FF2B5EF4-FFF2-40B4-BE49-F238E27FC236}">
                  <a16:creationId xmlns:a16="http://schemas.microsoft.com/office/drawing/2014/main" id="{673F0B9E-AC3A-4DCC-A0C3-3AF421A0C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08893" y="2956755"/>
              <a:ext cx="1604682" cy="693479"/>
            </a:xfrm>
            <a:prstGeom prst="rect">
              <a:avLst/>
            </a:prstGeom>
          </p:spPr>
        </p:pic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9E220FC-8A47-402F-BDCE-F6E19BD7D4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6250" y="3254001"/>
              <a:ext cx="474671" cy="3907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79221908-842E-409D-AAC8-6A5D4E1F205F}"/>
                </a:ext>
              </a:extLst>
            </p:cNvPr>
            <p:cNvSpPr/>
            <p:nvPr/>
          </p:nvSpPr>
          <p:spPr>
            <a:xfrm>
              <a:off x="10806378" y="3095236"/>
              <a:ext cx="975888" cy="42076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cs typeface="Calibri"/>
                </a:rPr>
                <a:t>DAC</a:t>
              </a:r>
              <a:endParaRPr lang="en-US"/>
            </a:p>
          </p:txBody>
        </p:sp>
        <p:pic>
          <p:nvPicPr>
            <p:cNvPr id="27" name="Picture 22" descr="A picture containing text, lamp&#10;&#10;Description automatically generated">
              <a:extLst>
                <a:ext uri="{FF2B5EF4-FFF2-40B4-BE49-F238E27FC236}">
                  <a16:creationId xmlns:a16="http://schemas.microsoft.com/office/drawing/2014/main" id="{BB04C9B3-1940-4E8C-95AF-BA1648CA8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21337" y="4447313"/>
              <a:ext cx="1209661" cy="653591"/>
            </a:xfrm>
            <a:prstGeom prst="rect">
              <a:avLst/>
            </a:prstGeom>
          </p:spPr>
        </p:pic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428855-FED2-4DE0-B41A-F3942022F7F1}"/>
                </a:ext>
              </a:extLst>
            </p:cNvPr>
            <p:cNvCxnSpPr/>
            <p:nvPr/>
          </p:nvCxnSpPr>
          <p:spPr>
            <a:xfrm>
              <a:off x="11337552" y="4062693"/>
              <a:ext cx="1" cy="43030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BF2F3726-511C-430D-87C2-E62D2FA557A0}"/>
                </a:ext>
              </a:extLst>
            </p:cNvPr>
            <p:cNvCxnSpPr/>
            <p:nvPr/>
          </p:nvCxnSpPr>
          <p:spPr>
            <a:xfrm flipH="1">
              <a:off x="10494309" y="5720602"/>
              <a:ext cx="887506" cy="46616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37B256D-BAC0-46C0-AD05-55084669A90B}"/>
                </a:ext>
              </a:extLst>
            </p:cNvPr>
            <p:cNvCxnSpPr/>
            <p:nvPr/>
          </p:nvCxnSpPr>
          <p:spPr>
            <a:xfrm flipH="1">
              <a:off x="11381255" y="5280772"/>
              <a:ext cx="8964" cy="439271"/>
            </a:xfrm>
            <a:prstGeom prst="straightConnector1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10" descr="A picture containing indoor, black, dark, light&#10;&#10;Description automatically generated">
              <a:extLst>
                <a:ext uri="{FF2B5EF4-FFF2-40B4-BE49-F238E27FC236}">
                  <a16:creationId xmlns:a16="http://schemas.microsoft.com/office/drawing/2014/main" id="{E4F61225-6F85-4286-9396-9B04ABA26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9278471" y="5698162"/>
              <a:ext cx="1057835" cy="92118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FB686A5-CB7D-4D7D-B8C1-564B86B1ECEC}"/>
                </a:ext>
              </a:extLst>
            </p:cNvPr>
            <p:cNvSpPr txBox="1"/>
            <p:nvPr/>
          </p:nvSpPr>
          <p:spPr>
            <a:xfrm>
              <a:off x="448236" y="3648635"/>
              <a:ext cx="104887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Analog signal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74C7B2E-73AD-4A40-9D36-65E0C7ED4EF4}"/>
                </a:ext>
              </a:extLst>
            </p:cNvPr>
            <p:cNvSpPr txBox="1"/>
            <p:nvPr/>
          </p:nvSpPr>
          <p:spPr>
            <a:xfrm>
              <a:off x="1855693" y="3648634"/>
              <a:ext cx="2241175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Analog to digital converter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4F39CE3-CE76-44D2-9933-679A737C4CE0}"/>
                </a:ext>
              </a:extLst>
            </p:cNvPr>
            <p:cNvSpPr txBox="1"/>
            <p:nvPr/>
          </p:nvSpPr>
          <p:spPr>
            <a:xfrm>
              <a:off x="4392706" y="3684494"/>
              <a:ext cx="1739152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Digital Signal</a:t>
              </a:r>
              <a:endParaRPr lang="en-US" sz="1100" b="1">
                <a:latin typeface="Times New Roman"/>
                <a:cs typeface="Times New Roman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2DF6157-26CF-443F-AB8C-727AC60990FD}"/>
                </a:ext>
              </a:extLst>
            </p:cNvPr>
            <p:cNvSpPr txBox="1"/>
            <p:nvPr/>
          </p:nvSpPr>
          <p:spPr>
            <a:xfrm>
              <a:off x="8713693" y="3693458"/>
              <a:ext cx="1398494" cy="43088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Times New Roman"/>
                </a:rPr>
                <a:t>Digital Signal</a:t>
              </a:r>
              <a:endParaRPr lang="en-US" sz="1100">
                <a:ea typeface="+mn-lt"/>
                <a:cs typeface="+mn-lt"/>
              </a:endParaRPr>
            </a:p>
            <a:p>
              <a:pPr algn="l"/>
              <a:endParaRPr lang="en-US" sz="1100">
                <a:cs typeface="Calibri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021E734-A33C-4CB2-ACD8-5351F8908D5A}"/>
                </a:ext>
              </a:extLst>
            </p:cNvPr>
            <p:cNvSpPr txBox="1"/>
            <p:nvPr/>
          </p:nvSpPr>
          <p:spPr>
            <a:xfrm>
              <a:off x="6293223" y="3684494"/>
              <a:ext cx="2949388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Digital Signal Processing</a:t>
              </a:r>
              <a:endParaRPr lang="en-US" sz="1100" b="1">
                <a:latin typeface="Times New Roman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813DE01-59ED-41F4-9D3A-C03962614D23}"/>
                </a:ext>
              </a:extLst>
            </p:cNvPr>
            <p:cNvSpPr txBox="1"/>
            <p:nvPr/>
          </p:nvSpPr>
          <p:spPr>
            <a:xfrm>
              <a:off x="10255623" y="3648635"/>
              <a:ext cx="1891552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Digital to Analog converter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A7C3944-CEBF-4BFF-8F93-3F05E0AFF273}"/>
                </a:ext>
              </a:extLst>
            </p:cNvPr>
            <p:cNvSpPr txBox="1"/>
            <p:nvPr/>
          </p:nvSpPr>
          <p:spPr>
            <a:xfrm>
              <a:off x="10856258" y="4966447"/>
              <a:ext cx="1057835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100" b="1">
                  <a:latin typeface="Times New Roman"/>
                  <a:cs typeface="Calibri"/>
                </a:rPr>
                <a:t>Analog signal</a:t>
              </a:r>
              <a:endParaRPr lang="en-US" sz="1100" b="1">
                <a:latin typeface="Times New Roman"/>
                <a:cs typeface="Times New Roman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E82B881-5B63-4AF6-BE08-13B75374420C}"/>
              </a:ext>
            </a:extLst>
          </p:cNvPr>
          <p:cNvGrpSpPr/>
          <p:nvPr/>
        </p:nvGrpSpPr>
        <p:grpSpPr>
          <a:xfrm>
            <a:off x="712109" y="1344621"/>
            <a:ext cx="9515231" cy="2461847"/>
            <a:chOff x="1182077" y="78154"/>
            <a:chExt cx="9515231" cy="2461847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326B9D3-D416-40C9-8E29-740F7AF10F4F}"/>
                </a:ext>
              </a:extLst>
            </p:cNvPr>
            <p:cNvGrpSpPr/>
            <p:nvPr/>
          </p:nvGrpSpPr>
          <p:grpSpPr>
            <a:xfrm>
              <a:off x="1549397" y="331397"/>
              <a:ext cx="8819664" cy="2120566"/>
              <a:chOff x="1510320" y="302089"/>
              <a:chExt cx="8819664" cy="2120566"/>
            </a:xfrm>
          </p:grpSpPr>
          <p:pic>
            <p:nvPicPr>
              <p:cNvPr id="42" name="Picture 4">
                <a:extLst>
                  <a:ext uri="{FF2B5EF4-FFF2-40B4-BE49-F238E27FC236}">
                    <a16:creationId xmlns:a16="http://schemas.microsoft.com/office/drawing/2014/main" id="{A0ED3503-E5FB-47B9-88B9-B18B9CD6AC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0320" y="386859"/>
                <a:ext cx="1756509" cy="1697893"/>
              </a:xfrm>
              <a:prstGeom prst="rect">
                <a:avLst/>
              </a:prstGeom>
            </p:spPr>
          </p:pic>
          <p:pic>
            <p:nvPicPr>
              <p:cNvPr id="43" name="Picture 7">
                <a:extLst>
                  <a:ext uri="{FF2B5EF4-FFF2-40B4-BE49-F238E27FC236}">
                    <a16:creationId xmlns:a16="http://schemas.microsoft.com/office/drawing/2014/main" id="{1A1D4968-DC7F-434B-8D5B-F5CF5DD58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58324" y="302089"/>
                <a:ext cx="2821353" cy="1642743"/>
              </a:xfrm>
              <a:prstGeom prst="rect">
                <a:avLst/>
              </a:prstGeom>
            </p:spPr>
          </p:pic>
          <p:pic>
            <p:nvPicPr>
              <p:cNvPr id="44" name="Picture 10" descr="A picture containing electronics, loudspeaker, black, white&#10;&#10;Description automatically generated">
                <a:extLst>
                  <a:ext uri="{FF2B5EF4-FFF2-40B4-BE49-F238E27FC236}">
                    <a16:creationId xmlns:a16="http://schemas.microsoft.com/office/drawing/2014/main" id="{8E1F4768-0127-4581-9D3B-E1097FD65A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83245" y="367323"/>
                <a:ext cx="1746739" cy="1756508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2C89A5D-7A12-4624-A62C-75A178A02A0E}"/>
                  </a:ext>
                </a:extLst>
              </p:cNvPr>
              <p:cNvSpPr txBox="1"/>
              <p:nvPr/>
            </p:nvSpPr>
            <p:spPr>
              <a:xfrm>
                <a:off x="3331307" y="683846"/>
                <a:ext cx="840153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600" b="1">
                    <a:latin typeface="Times New Roman"/>
                    <a:cs typeface="Calibri"/>
                  </a:rPr>
                  <a:t>Input</a:t>
                </a:r>
                <a:endParaRPr lang="en-US" sz="1600" b="1">
                  <a:latin typeface="Times New Roman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A06AA3-6EEA-4029-A5B8-63FF2D818416}"/>
                  </a:ext>
                </a:extLst>
              </p:cNvPr>
              <p:cNvSpPr txBox="1"/>
              <p:nvPr/>
            </p:nvSpPr>
            <p:spPr>
              <a:xfrm>
                <a:off x="7620000" y="742461"/>
                <a:ext cx="1045307" cy="3385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600" b="1">
                    <a:latin typeface="Times New Roman"/>
                    <a:cs typeface="Calibri"/>
                  </a:rPr>
                  <a:t>Output</a:t>
                </a:r>
                <a:endParaRPr lang="en-US" sz="1600">
                  <a:latin typeface="Times New Roman"/>
                  <a:cs typeface="Times New Roman"/>
                </a:endParaRPr>
              </a:p>
            </p:txBody>
          </p:sp>
          <p:sp>
            <p:nvSpPr>
              <p:cNvPr id="47" name="Arrow: Down 46">
                <a:extLst>
                  <a:ext uri="{FF2B5EF4-FFF2-40B4-BE49-F238E27FC236}">
                    <a16:creationId xmlns:a16="http://schemas.microsoft.com/office/drawing/2014/main" id="{29B68074-32B5-44F7-B5A4-1FF1D80F8CC4}"/>
                  </a:ext>
                </a:extLst>
              </p:cNvPr>
              <p:cNvSpPr/>
              <p:nvPr/>
            </p:nvSpPr>
            <p:spPr>
              <a:xfrm>
                <a:off x="5568461" y="1655138"/>
                <a:ext cx="156307" cy="767517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Arrow: Right 47">
                <a:extLst>
                  <a:ext uri="{FF2B5EF4-FFF2-40B4-BE49-F238E27FC236}">
                    <a16:creationId xmlns:a16="http://schemas.microsoft.com/office/drawing/2014/main" id="{CD639260-BE04-4D6E-BF91-87E21B46E663}"/>
                  </a:ext>
                </a:extLst>
              </p:cNvPr>
              <p:cNvSpPr/>
              <p:nvPr/>
            </p:nvSpPr>
            <p:spPr>
              <a:xfrm>
                <a:off x="3194539" y="1006231"/>
                <a:ext cx="879230" cy="14653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Arrow: Right 48">
                <a:extLst>
                  <a:ext uri="{FF2B5EF4-FFF2-40B4-BE49-F238E27FC236}">
                    <a16:creationId xmlns:a16="http://schemas.microsoft.com/office/drawing/2014/main" id="{44BA3199-5899-4200-9EA4-E5AE604B88BB}"/>
                  </a:ext>
                </a:extLst>
              </p:cNvPr>
              <p:cNvSpPr/>
              <p:nvPr/>
            </p:nvSpPr>
            <p:spPr>
              <a:xfrm>
                <a:off x="7619999" y="1103922"/>
                <a:ext cx="879230" cy="14653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272B1BF-3E87-4A6F-979B-7127D5B43B33}"/>
                </a:ext>
              </a:extLst>
            </p:cNvPr>
            <p:cNvSpPr/>
            <p:nvPr/>
          </p:nvSpPr>
          <p:spPr>
            <a:xfrm>
              <a:off x="1182077" y="78154"/>
              <a:ext cx="9515231" cy="246184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" name="Title 1">
            <a:extLst>
              <a:ext uri="{FF2B5EF4-FFF2-40B4-BE49-F238E27FC236}">
                <a16:creationId xmlns:a16="http://schemas.microsoft.com/office/drawing/2014/main" id="{87333602-6C3E-684A-2D96-6C47760B5DFF}"/>
              </a:ext>
            </a:extLst>
          </p:cNvPr>
          <p:cNvSpPr txBox="1">
            <a:spLocks/>
          </p:cNvSpPr>
          <p:nvPr/>
        </p:nvSpPr>
        <p:spPr>
          <a:xfrm>
            <a:off x="435774" y="461609"/>
            <a:ext cx="12191999" cy="820058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Cont.</a:t>
            </a:r>
            <a:endParaRPr lang="en-US" sz="3200" dirty="0">
              <a:solidFill>
                <a:srgbClr val="000000"/>
              </a:solidFill>
            </a:endParaRPr>
          </a:p>
          <a:p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273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231056-A8F7-43F6-BBC5-985A6A508633}"/>
              </a:ext>
            </a:extLst>
          </p:cNvPr>
          <p:cNvSpPr/>
          <p:nvPr/>
        </p:nvSpPr>
        <p:spPr>
          <a:xfrm>
            <a:off x="2927775" y="1510740"/>
            <a:ext cx="6336449" cy="994179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4" name="Rectangle 3" descr="Scale">
            <a:extLst>
              <a:ext uri="{FF2B5EF4-FFF2-40B4-BE49-F238E27FC236}">
                <a16:creationId xmlns:a16="http://schemas.microsoft.com/office/drawing/2014/main" id="{EE44C4B1-3702-4E3B-B292-ADB7D3396D6F}"/>
              </a:ext>
            </a:extLst>
          </p:cNvPr>
          <p:cNvSpPr/>
          <p:nvPr/>
        </p:nvSpPr>
        <p:spPr>
          <a:xfrm>
            <a:off x="3228514" y="1734430"/>
            <a:ext cx="546798" cy="546798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8E14FB9-19C1-405E-97BB-BAD507BDBEF1}"/>
              </a:ext>
            </a:extLst>
          </p:cNvPr>
          <p:cNvGrpSpPr/>
          <p:nvPr/>
        </p:nvGrpSpPr>
        <p:grpSpPr>
          <a:xfrm>
            <a:off x="4076052" y="1510740"/>
            <a:ext cx="5188172" cy="994179"/>
            <a:chOff x="1148277" y="1961"/>
            <a:chExt cx="5188172" cy="994179"/>
          </a:xfrm>
          <a:solidFill>
            <a:schemeClr val="tx2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20627E2-F6CD-491B-9BA1-D93FB50EE7C2}"/>
                </a:ext>
              </a:extLst>
            </p:cNvPr>
            <p:cNvSpPr/>
            <p:nvPr/>
          </p:nvSpPr>
          <p:spPr>
            <a:xfrm>
              <a:off x="1148277" y="1961"/>
              <a:ext cx="5188172" cy="994179"/>
            </a:xfrm>
            <a:prstGeom prst="rect">
              <a:avLst/>
            </a:prstGeom>
            <a:grp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42E34E-F678-4AD2-AB1D-1DA11F04DC36}"/>
                </a:ext>
              </a:extLst>
            </p:cNvPr>
            <p:cNvSpPr txBox="1"/>
            <p:nvPr/>
          </p:nvSpPr>
          <p:spPr>
            <a:xfrm>
              <a:off x="1148277" y="1961"/>
              <a:ext cx="5188172" cy="99417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217" tIns="105217" rIns="105217" bIns="10521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solidFill>
                    <a:schemeClr val="bg1"/>
                  </a:solidFill>
                </a:rPr>
                <a:t>Size is reduced. </a:t>
              </a:r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E35E93-C7F1-4C99-9F35-3A33EBFAE869}"/>
              </a:ext>
            </a:extLst>
          </p:cNvPr>
          <p:cNvSpPr/>
          <p:nvPr/>
        </p:nvSpPr>
        <p:spPr>
          <a:xfrm>
            <a:off x="2927775" y="2753465"/>
            <a:ext cx="6336449" cy="994179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7" name="Rectangle 6" descr="Disk">
            <a:extLst>
              <a:ext uri="{FF2B5EF4-FFF2-40B4-BE49-F238E27FC236}">
                <a16:creationId xmlns:a16="http://schemas.microsoft.com/office/drawing/2014/main" id="{1C1C838B-8495-4866-8435-B3F7EC784CC9}"/>
              </a:ext>
            </a:extLst>
          </p:cNvPr>
          <p:cNvSpPr/>
          <p:nvPr/>
        </p:nvSpPr>
        <p:spPr>
          <a:xfrm>
            <a:off x="3100389" y="2886076"/>
            <a:ext cx="674924" cy="637878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A37513-D7C5-4510-B428-E89FA96A6870}"/>
              </a:ext>
            </a:extLst>
          </p:cNvPr>
          <p:cNvGrpSpPr/>
          <p:nvPr/>
        </p:nvGrpSpPr>
        <p:grpSpPr>
          <a:xfrm>
            <a:off x="4076052" y="2753465"/>
            <a:ext cx="5188172" cy="994179"/>
            <a:chOff x="1148277" y="1244686"/>
            <a:chExt cx="5188172" cy="994179"/>
          </a:xfrm>
          <a:solidFill>
            <a:schemeClr val="tx2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22AB2D3-7115-44A3-B057-9A6C1AE7811B}"/>
                </a:ext>
              </a:extLst>
            </p:cNvPr>
            <p:cNvSpPr/>
            <p:nvPr/>
          </p:nvSpPr>
          <p:spPr>
            <a:xfrm>
              <a:off x="1148277" y="1244686"/>
              <a:ext cx="5188172" cy="994179"/>
            </a:xfrm>
            <a:prstGeom prst="rect">
              <a:avLst/>
            </a:prstGeom>
            <a:grp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4EF78BC-EFE8-440A-802F-403A277970BF}"/>
                </a:ext>
              </a:extLst>
            </p:cNvPr>
            <p:cNvSpPr txBox="1"/>
            <p:nvPr/>
          </p:nvSpPr>
          <p:spPr>
            <a:xfrm>
              <a:off x="1148277" y="1244686"/>
              <a:ext cx="5188172" cy="99417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217" tIns="105217" rIns="105217" bIns="10521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solidFill>
                    <a:schemeClr val="bg1"/>
                  </a:solidFill>
                </a:rPr>
                <a:t>Removing data so that the resulting compressed file is smaller. </a:t>
              </a:r>
            </a:p>
          </p:txBody>
        </p:sp>
      </p:grp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52005-C943-47C9-8735-04C89B0851BE}"/>
              </a:ext>
            </a:extLst>
          </p:cNvPr>
          <p:cNvSpPr/>
          <p:nvPr/>
        </p:nvSpPr>
        <p:spPr>
          <a:xfrm>
            <a:off x="2927775" y="3996189"/>
            <a:ext cx="6336449" cy="994179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Rectangle 9" descr="Computer">
            <a:extLst>
              <a:ext uri="{FF2B5EF4-FFF2-40B4-BE49-F238E27FC236}">
                <a16:creationId xmlns:a16="http://schemas.microsoft.com/office/drawing/2014/main" id="{49C737E9-5E6D-4D94-AEC1-5824DA847CFE}"/>
              </a:ext>
            </a:extLst>
          </p:cNvPr>
          <p:cNvSpPr/>
          <p:nvPr/>
        </p:nvSpPr>
        <p:spPr>
          <a:xfrm>
            <a:off x="3228514" y="4219879"/>
            <a:ext cx="546798" cy="546798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37C338-B127-4F6F-A1AC-B2F8A9D87B76}"/>
              </a:ext>
            </a:extLst>
          </p:cNvPr>
          <p:cNvGrpSpPr/>
          <p:nvPr/>
        </p:nvGrpSpPr>
        <p:grpSpPr>
          <a:xfrm>
            <a:off x="4076052" y="3996189"/>
            <a:ext cx="5188172" cy="994179"/>
            <a:chOff x="1148277" y="2487410"/>
            <a:chExt cx="5188172" cy="994179"/>
          </a:xfrm>
          <a:solidFill>
            <a:schemeClr val="tx2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82DD06-4972-4A62-82AF-AEA769C19095}"/>
                </a:ext>
              </a:extLst>
            </p:cNvPr>
            <p:cNvSpPr/>
            <p:nvPr/>
          </p:nvSpPr>
          <p:spPr>
            <a:xfrm>
              <a:off x="1148277" y="2487410"/>
              <a:ext cx="5188172" cy="994179"/>
            </a:xfrm>
            <a:prstGeom prst="rect">
              <a:avLst/>
            </a:prstGeom>
            <a:grp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61158EC-EF03-4B93-95CC-762C0DBBFDB0}"/>
                </a:ext>
              </a:extLst>
            </p:cNvPr>
            <p:cNvSpPr txBox="1"/>
            <p:nvPr/>
          </p:nvSpPr>
          <p:spPr>
            <a:xfrm>
              <a:off x="1148277" y="2487410"/>
              <a:ext cx="5188172" cy="99417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217" tIns="105217" rIns="105217" bIns="10521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solidFill>
                    <a:schemeClr val="bg1"/>
                  </a:solidFill>
                </a:rPr>
                <a:t>MP3s are typically between 128 kbps and 320 kbps, whilst an uncompressed file is 1,411 kbps.</a:t>
              </a: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9C2087-6BE4-4913-9257-7F4CD1141E95}"/>
              </a:ext>
            </a:extLst>
          </p:cNvPr>
          <p:cNvSpPr/>
          <p:nvPr/>
        </p:nvSpPr>
        <p:spPr>
          <a:xfrm>
            <a:off x="2927775" y="5238913"/>
            <a:ext cx="6336449" cy="994179"/>
          </a:xfrm>
          <a:prstGeom prst="roundRect">
            <a:avLst>
              <a:gd name="adj" fmla="val 10000"/>
            </a:avLst>
          </a:prstGeom>
          <a:solidFill>
            <a:schemeClr val="tx2"/>
          </a:solidFill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" name="Rectangle 12" descr="Disconnected">
            <a:extLst>
              <a:ext uri="{FF2B5EF4-FFF2-40B4-BE49-F238E27FC236}">
                <a16:creationId xmlns:a16="http://schemas.microsoft.com/office/drawing/2014/main" id="{D20A71E4-97BA-4B6D-BFD9-1D2690A97F05}"/>
              </a:ext>
            </a:extLst>
          </p:cNvPr>
          <p:cNvSpPr/>
          <p:nvPr/>
        </p:nvSpPr>
        <p:spPr>
          <a:xfrm>
            <a:off x="3228514" y="5462604"/>
            <a:ext cx="546798" cy="546798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A707B9-CBB8-44A6-8AD6-9846F020CF73}"/>
              </a:ext>
            </a:extLst>
          </p:cNvPr>
          <p:cNvGrpSpPr/>
          <p:nvPr/>
        </p:nvGrpSpPr>
        <p:grpSpPr>
          <a:xfrm>
            <a:off x="4076052" y="5238913"/>
            <a:ext cx="5188172" cy="994179"/>
            <a:chOff x="1148277" y="3730134"/>
            <a:chExt cx="5188172" cy="994179"/>
          </a:xfrm>
          <a:solidFill>
            <a:schemeClr val="tx2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A27E86B-05B2-4DEB-BDF6-9F3168C9EB1E}"/>
                </a:ext>
              </a:extLst>
            </p:cNvPr>
            <p:cNvSpPr/>
            <p:nvPr/>
          </p:nvSpPr>
          <p:spPr>
            <a:xfrm>
              <a:off x="1148277" y="3730134"/>
              <a:ext cx="5188172" cy="994179"/>
            </a:xfrm>
            <a:prstGeom prst="rect">
              <a:avLst/>
            </a:prstGeom>
            <a:grpFill/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0188D3-8706-4AF0-96D8-54789353D14E}"/>
                </a:ext>
              </a:extLst>
            </p:cNvPr>
            <p:cNvSpPr txBox="1"/>
            <p:nvPr/>
          </p:nvSpPr>
          <p:spPr>
            <a:xfrm>
              <a:off x="1148277" y="3730134"/>
              <a:ext cx="5188172" cy="99417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5217" tIns="105217" rIns="105217" bIns="105217" numCol="1" spcCol="1270" anchor="ctr" anchorCtr="0">
              <a:noAutofit/>
            </a:bodyPr>
            <a:lstStyle/>
            <a:p>
              <a:pPr marL="0" lvl="0" indent="0" algn="l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>
                  <a:solidFill>
                    <a:schemeClr val="bg1"/>
                  </a:solidFill>
                </a:rPr>
                <a:t>Compression can be </a:t>
              </a:r>
              <a:r>
                <a:rPr lang="en-US" sz="2000" i="1" kern="1200">
                  <a:solidFill>
                    <a:schemeClr val="bg1"/>
                  </a:solidFill>
                </a:rPr>
                <a:t>lossy </a:t>
              </a:r>
              <a:r>
                <a:rPr lang="en-US" sz="2000" kern="1200">
                  <a:solidFill>
                    <a:schemeClr val="bg1"/>
                  </a:solidFill>
                </a:rPr>
                <a:t>or </a:t>
              </a:r>
              <a:r>
                <a:rPr lang="en-US" sz="2000" i="1" kern="1200">
                  <a:solidFill>
                    <a:schemeClr val="bg1"/>
                  </a:solidFill>
                </a:rPr>
                <a:t>lossless. </a:t>
              </a:r>
              <a:endParaRPr lang="en-US" sz="2000" kern="1200">
                <a:solidFill>
                  <a:schemeClr val="bg1"/>
                </a:solidFill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C0CC77E0-5313-40BD-A7F6-469A2B177421}"/>
              </a:ext>
            </a:extLst>
          </p:cNvPr>
          <p:cNvSpPr>
            <a:spLocks noGrp="1"/>
          </p:cNvSpPr>
          <p:nvPr/>
        </p:nvSpPr>
        <p:spPr>
          <a:xfrm>
            <a:off x="60978" y="68611"/>
            <a:ext cx="3320148" cy="8366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Compression</a:t>
            </a:r>
          </a:p>
        </p:txBody>
      </p:sp>
    </p:spTree>
    <p:extLst>
      <p:ext uri="{BB962C8B-B14F-4D97-AF65-F5344CB8AC3E}">
        <p14:creationId xmlns:p14="http://schemas.microsoft.com/office/powerpoint/2010/main" val="277282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A0B44D-DB55-C7CC-D3EC-E10E394F0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9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A7080B-B416-EAE5-B3A5-3EBA7F18A2AF}"/>
              </a:ext>
            </a:extLst>
          </p:cNvPr>
          <p:cNvSpPr txBox="1">
            <a:spLocks/>
          </p:cNvSpPr>
          <p:nvPr/>
        </p:nvSpPr>
        <p:spPr>
          <a:xfrm>
            <a:off x="432193" y="215249"/>
            <a:ext cx="7776206" cy="681846"/>
          </a:xfrm>
          <a:prstGeom prst="rect">
            <a:avLst/>
          </a:prstGeom>
        </p:spPr>
        <p:txBody>
          <a:bodyPr lIns="91440" tIns="45720" rIns="91440" bIns="4572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 err="1">
                <a:solidFill>
                  <a:srgbClr val="010086"/>
                </a:solidFill>
              </a:rPr>
              <a:t>Digtal</a:t>
            </a:r>
            <a:r>
              <a:rPr lang="en-US" sz="3200" dirty="0">
                <a:solidFill>
                  <a:srgbClr val="010086"/>
                </a:solidFill>
              </a:rPr>
              <a:t> &amp; Analog Audio Inputs &amp; Outputs</a:t>
            </a:r>
          </a:p>
        </p:txBody>
      </p:sp>
      <p:pic>
        <p:nvPicPr>
          <p:cNvPr id="9" name="Content Placeholder 8" descr="A close up of a cable&#10;&#10;Description automatically generated">
            <a:extLst>
              <a:ext uri="{FF2B5EF4-FFF2-40B4-BE49-F238E27FC236}">
                <a16:creationId xmlns:a16="http://schemas.microsoft.com/office/drawing/2014/main" id="{F582D4EA-88DA-3B13-022D-D0F87F3FF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781" y="2032804"/>
            <a:ext cx="2143125" cy="1695450"/>
          </a:xfrm>
        </p:spPr>
      </p:pic>
      <p:pic>
        <p:nvPicPr>
          <p:cNvPr id="10" name="Picture 9" descr="A close up of a cable&#10;&#10;Description automatically generated">
            <a:extLst>
              <a:ext uri="{FF2B5EF4-FFF2-40B4-BE49-F238E27FC236}">
                <a16:creationId xmlns:a16="http://schemas.microsoft.com/office/drawing/2014/main" id="{F728E7FA-F4F6-1DF2-D3BE-D6EFF5C32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67" y="2130652"/>
            <a:ext cx="2600325" cy="1762125"/>
          </a:xfrm>
          <a:prstGeom prst="rect">
            <a:avLst/>
          </a:prstGeom>
        </p:spPr>
      </p:pic>
      <p:pic>
        <p:nvPicPr>
          <p:cNvPr id="11" name="Picture 10" descr="A close-up of a black and gold audio cable&#10;&#10;Description automatically generated">
            <a:extLst>
              <a:ext uri="{FF2B5EF4-FFF2-40B4-BE49-F238E27FC236}">
                <a16:creationId xmlns:a16="http://schemas.microsoft.com/office/drawing/2014/main" id="{087F913F-329A-C97B-2E8D-59FA9136C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454" y="4979534"/>
            <a:ext cx="2619375" cy="1743075"/>
          </a:xfrm>
          <a:prstGeom prst="rect">
            <a:avLst/>
          </a:prstGeom>
        </p:spPr>
      </p:pic>
      <p:pic>
        <p:nvPicPr>
          <p:cNvPr id="12" name="Picture 11" descr="A close up of a cable&#10;&#10;Description automatically generated">
            <a:extLst>
              <a:ext uri="{FF2B5EF4-FFF2-40B4-BE49-F238E27FC236}">
                <a16:creationId xmlns:a16="http://schemas.microsoft.com/office/drawing/2014/main" id="{75DCF7F1-AFC7-E434-5B82-AF44E4F793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5482" y="1267958"/>
            <a:ext cx="2298247" cy="1609726"/>
          </a:xfrm>
          <a:prstGeom prst="rect">
            <a:avLst/>
          </a:prstGeom>
        </p:spPr>
      </p:pic>
      <p:pic>
        <p:nvPicPr>
          <p:cNvPr id="14" name="Picture 13" descr="The back of a computer&#10;&#10;Description automatically generated">
            <a:extLst>
              <a:ext uri="{FF2B5EF4-FFF2-40B4-BE49-F238E27FC236}">
                <a16:creationId xmlns:a16="http://schemas.microsoft.com/office/drawing/2014/main" id="{F85957CF-E298-E7E0-0C04-98E6002C2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2269" y="3086098"/>
            <a:ext cx="2277466" cy="1611088"/>
          </a:xfrm>
          <a:prstGeom prst="rect">
            <a:avLst/>
          </a:prstGeom>
        </p:spPr>
      </p:pic>
      <p:pic>
        <p:nvPicPr>
          <p:cNvPr id="15" name="Picture 14" descr="A blue circuit board with black and gold connectors&#10;&#10;Description automatically generated">
            <a:extLst>
              <a:ext uri="{FF2B5EF4-FFF2-40B4-BE49-F238E27FC236}">
                <a16:creationId xmlns:a16="http://schemas.microsoft.com/office/drawing/2014/main" id="{2675CAE1-EE8F-CBD9-6186-8A80BD4B15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4457" y="1271814"/>
            <a:ext cx="2364015" cy="15929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63CF11-3D4F-D468-AE91-17BD67CAA6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1509" y="3019652"/>
            <a:ext cx="2288267" cy="174398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8A6A9A-AC51-1802-8F5D-D3DB88464AEC}"/>
              </a:ext>
            </a:extLst>
          </p:cNvPr>
          <p:cNvCxnSpPr/>
          <p:nvPr/>
        </p:nvCxnSpPr>
        <p:spPr>
          <a:xfrm flipV="1">
            <a:off x="2672443" y="2307770"/>
            <a:ext cx="351971" cy="328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B2AD44-25B8-2B41-7D88-E355A88D316B}"/>
              </a:ext>
            </a:extLst>
          </p:cNvPr>
          <p:cNvCxnSpPr>
            <a:cxnSpLocks/>
          </p:cNvCxnSpPr>
          <p:nvPr/>
        </p:nvCxnSpPr>
        <p:spPr>
          <a:xfrm>
            <a:off x="2663372" y="3053440"/>
            <a:ext cx="379184" cy="170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673833-507F-44D9-0478-896959DE94B5}"/>
              </a:ext>
            </a:extLst>
          </p:cNvPr>
          <p:cNvCxnSpPr>
            <a:cxnSpLocks/>
          </p:cNvCxnSpPr>
          <p:nvPr/>
        </p:nvCxnSpPr>
        <p:spPr>
          <a:xfrm flipV="1">
            <a:off x="8940799" y="2162626"/>
            <a:ext cx="351971" cy="3283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4DE40C-9CBA-D684-5090-078CA5FD7103}"/>
              </a:ext>
            </a:extLst>
          </p:cNvPr>
          <p:cNvCxnSpPr>
            <a:cxnSpLocks/>
          </p:cNvCxnSpPr>
          <p:nvPr/>
        </p:nvCxnSpPr>
        <p:spPr>
          <a:xfrm>
            <a:off x="8968014" y="3470725"/>
            <a:ext cx="379184" cy="170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1" name="Picture 20" descr="A black cable with red and white plugs&#10;&#10;Description automatically generated">
            <a:extLst>
              <a:ext uri="{FF2B5EF4-FFF2-40B4-BE49-F238E27FC236}">
                <a16:creationId xmlns:a16="http://schemas.microsoft.com/office/drawing/2014/main" id="{C708CD0A-0381-231B-54B7-9D7E6C8C8C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42401" y="4835751"/>
            <a:ext cx="2714625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8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52B728-0DB2-42E9-94D2-BBD67A0B7603}"/>
              </a:ext>
            </a:extLst>
          </p:cNvPr>
          <p:cNvSpPr txBox="1"/>
          <p:nvPr/>
        </p:nvSpPr>
        <p:spPr>
          <a:xfrm>
            <a:off x="378987" y="873434"/>
            <a:ext cx="6201427" cy="36415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Wingdings"/>
              <a:buChar char="q"/>
            </a:pPr>
            <a:r>
              <a:rPr lang="en-US" sz="2000" dirty="0"/>
              <a:t>Audio Codec is a device or program that compress and decompress digital audio data.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lnSpc>
                <a:spcPct val="90000"/>
              </a:lnSpc>
              <a:spcAft>
                <a:spcPts val="600"/>
              </a:spcAft>
              <a:buFont typeface="Wingdings"/>
              <a:buChar char="q"/>
            </a:pPr>
            <a:r>
              <a:rPr lang="en-US" sz="2000" dirty="0"/>
              <a:t>The term codec is a combination of coder-decoder.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Non-compression formats </a:t>
            </a:r>
            <a:endParaRPr lang="en-US" sz="2000" dirty="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Lossless data compression </a:t>
            </a:r>
            <a:endParaRPr lang="en-US" sz="2000" dirty="0"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Lossy data compression </a:t>
            </a:r>
            <a:endParaRPr lang="en-US" sz="2000" dirty="0">
              <a:cs typeface="Calibri"/>
            </a:endParaRPr>
          </a:p>
          <a:p>
            <a:pPr marL="22860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FC4DADCE-9449-405D-8F80-E093A42DA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59241" y="1217518"/>
            <a:ext cx="3441564" cy="2581173"/>
          </a:xfrm>
          <a:prstGeom prst="rect">
            <a:avLst/>
          </a:prstGeom>
        </p:spPr>
      </p:pic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22CB3072-AAD6-4B62-87AF-3512E8C046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409" y="3798691"/>
            <a:ext cx="4129876" cy="258117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5FA66CB-19F2-47AC-86E8-D0E124933DAE}"/>
              </a:ext>
            </a:extLst>
          </p:cNvPr>
          <p:cNvSpPr txBox="1">
            <a:spLocks/>
          </p:cNvSpPr>
          <p:nvPr/>
        </p:nvSpPr>
        <p:spPr>
          <a:xfrm>
            <a:off x="449587" y="285786"/>
            <a:ext cx="5941391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Codec</a:t>
            </a:r>
          </a:p>
        </p:txBody>
      </p:sp>
    </p:spTree>
    <p:extLst>
      <p:ext uri="{BB962C8B-B14F-4D97-AF65-F5344CB8AC3E}">
        <p14:creationId xmlns:p14="http://schemas.microsoft.com/office/powerpoint/2010/main" val="3584950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83E00-C9C4-673C-74A6-2480B0C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11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D5E43A-F584-3116-7441-2743B30B341D}"/>
              </a:ext>
            </a:extLst>
          </p:cNvPr>
          <p:cNvSpPr>
            <a:spLocks noGrp="1"/>
          </p:cNvSpPr>
          <p:nvPr/>
        </p:nvSpPr>
        <p:spPr>
          <a:xfrm>
            <a:off x="682298" y="1664685"/>
            <a:ext cx="5929422" cy="35197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Single core on a chip performs single operation at a time.</a:t>
            </a:r>
          </a:p>
          <a:p>
            <a:r>
              <a:rPr lang="en-US" sz="2000" dirty="0"/>
              <a:t>Receive and process the </a:t>
            </a:r>
            <a:r>
              <a:rPr lang="en-US" sz="2000" dirty="0">
                <a:latin typeface="Aptos"/>
              </a:rPr>
              <a:t>inputs</a:t>
            </a:r>
            <a:r>
              <a:rPr lang="en-US" sz="2000" dirty="0"/>
              <a:t> and provide the output</a:t>
            </a:r>
          </a:p>
        </p:txBody>
      </p:sp>
      <p:pic>
        <p:nvPicPr>
          <p:cNvPr id="6" name="Picture 5" descr="A close-up of a computer chip&#10;&#10;Description automatically generated">
            <a:extLst>
              <a:ext uri="{FF2B5EF4-FFF2-40B4-BE49-F238E27FC236}">
                <a16:creationId xmlns:a16="http://schemas.microsoft.com/office/drawing/2014/main" id="{B07FD7EC-7F68-3938-BE4E-2C51A8D02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78" y="1803640"/>
            <a:ext cx="3765176" cy="259885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EADFC34-7827-A44B-89B7-4EDC2A509B27}"/>
              </a:ext>
            </a:extLst>
          </p:cNvPr>
          <p:cNvSpPr>
            <a:spLocks noGrp="1"/>
          </p:cNvSpPr>
          <p:nvPr/>
        </p:nvSpPr>
        <p:spPr>
          <a:xfrm>
            <a:off x="451216" y="227253"/>
            <a:ext cx="5929422" cy="769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10086"/>
                </a:solidFill>
                <a:latin typeface="Aptos Display"/>
              </a:rPr>
              <a:t>Single Core</a:t>
            </a:r>
            <a:endParaRPr lang="en-US" sz="3200" dirty="0">
              <a:solidFill>
                <a:srgbClr val="010086"/>
              </a:solidFill>
              <a:latin typeface="Aptos Display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657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483E00-C9C4-673C-74A6-2480B0C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12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ADFC34-7827-A44B-89B7-4EDC2A509B27}"/>
              </a:ext>
            </a:extLst>
          </p:cNvPr>
          <p:cNvSpPr>
            <a:spLocks noGrp="1"/>
          </p:cNvSpPr>
          <p:nvPr/>
        </p:nvSpPr>
        <p:spPr>
          <a:xfrm>
            <a:off x="451216" y="227253"/>
            <a:ext cx="5929422" cy="769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rgbClr val="010086"/>
                </a:solidFill>
                <a:latin typeface="Aptos Display"/>
              </a:rPr>
              <a:t>Multi Core</a:t>
            </a:r>
            <a:endParaRPr lang="en-US" sz="3200" dirty="0">
              <a:solidFill>
                <a:srgbClr val="010086"/>
              </a:solidFill>
              <a:latin typeface="Aptos Display"/>
              <a:cs typeface="Calibri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F17F2BC-832E-831E-446D-F7BC2BFB432F}"/>
              </a:ext>
            </a:extLst>
          </p:cNvPr>
          <p:cNvSpPr>
            <a:spLocks noGrp="1"/>
          </p:cNvSpPr>
          <p:nvPr/>
        </p:nvSpPr>
        <p:spPr>
          <a:xfrm>
            <a:off x="283138" y="1544108"/>
            <a:ext cx="6684974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A multi-core processor is an integrated circuit that combines two or more processors to execute numerous tasks at once, </a:t>
            </a:r>
            <a:r>
              <a:rPr lang="en-US" sz="2000" dirty="0" err="1">
                <a:ea typeface="+mn-lt"/>
                <a:cs typeface="+mn-lt"/>
              </a:rPr>
              <a:t>minimise</a:t>
            </a:r>
            <a:r>
              <a:rPr lang="en-US" sz="2000" dirty="0">
                <a:ea typeface="+mn-lt"/>
                <a:cs typeface="+mn-lt"/>
              </a:rPr>
              <a:t> power consumption, and boost performance.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The operating system treats each core as a separate processor, and each core can work independently.</a:t>
            </a:r>
            <a:endParaRPr lang="en-US" sz="2000">
              <a:cs typeface="Calibri" panose="020F0502020204030204"/>
            </a:endParaRPr>
          </a:p>
        </p:txBody>
      </p:sp>
      <p:pic>
        <p:nvPicPr>
          <p:cNvPr id="4" name="Picture 3" descr="A diagram of multi-access memory&#10;&#10;Description automatically generated">
            <a:extLst>
              <a:ext uri="{FF2B5EF4-FFF2-40B4-BE49-F238E27FC236}">
                <a16:creationId xmlns:a16="http://schemas.microsoft.com/office/drawing/2014/main" id="{4141954A-CBD9-5E0D-47B3-750C1ED2D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771612"/>
            <a:ext cx="4170530" cy="28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684AC-A5F4-C976-3DB8-130E6579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13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CF4502-A68C-0AEC-B4E6-A1CD90EA9AE9}"/>
              </a:ext>
            </a:extLst>
          </p:cNvPr>
          <p:cNvSpPr txBox="1">
            <a:spLocks/>
          </p:cNvSpPr>
          <p:nvPr/>
        </p:nvSpPr>
        <p:spPr>
          <a:xfrm>
            <a:off x="450336" y="260606"/>
            <a:ext cx="6902963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  <a:latin typeface="Aptos Display"/>
                <a:cs typeface="Calibri"/>
              </a:rPr>
              <a:t>Audio Flow (Passthrough)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D2E31-1271-4C70-B57C-3A4166DE1449}"/>
              </a:ext>
            </a:extLst>
          </p:cNvPr>
          <p:cNvSpPr/>
          <p:nvPr/>
        </p:nvSpPr>
        <p:spPr>
          <a:xfrm>
            <a:off x="2429329" y="2115457"/>
            <a:ext cx="13716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HDMI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291E6-364B-B42F-0BB2-E8BB4985A72E}"/>
              </a:ext>
            </a:extLst>
          </p:cNvPr>
          <p:cNvSpPr/>
          <p:nvPr/>
        </p:nvSpPr>
        <p:spPr>
          <a:xfrm>
            <a:off x="4410529" y="21154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8711A-2E36-55B6-98FA-30ACDFDC3786}"/>
              </a:ext>
            </a:extLst>
          </p:cNvPr>
          <p:cNvSpPr/>
          <p:nvPr/>
        </p:nvSpPr>
        <p:spPr>
          <a:xfrm>
            <a:off x="6239329" y="2115457"/>
            <a:ext cx="14478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FCA09-1AF8-9E7D-E791-630417B67A51}"/>
              </a:ext>
            </a:extLst>
          </p:cNvPr>
          <p:cNvSpPr/>
          <p:nvPr/>
        </p:nvSpPr>
        <p:spPr>
          <a:xfrm>
            <a:off x="8220529" y="2115457"/>
            <a:ext cx="1295400" cy="533400"/>
          </a:xfrm>
          <a:prstGeom prst="rect">
            <a:avLst/>
          </a:prstGeom>
          <a:solidFill>
            <a:srgbClr val="92D050"/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Pack Buffer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BFC9D-8A2A-B588-2E1C-66D1F08E68AF}"/>
              </a:ext>
            </a:extLst>
          </p:cNvPr>
          <p:cNvSpPr/>
          <p:nvPr/>
        </p:nvSpPr>
        <p:spPr>
          <a:xfrm>
            <a:off x="8224157" y="3178629"/>
            <a:ext cx="1304471" cy="609600"/>
          </a:xfrm>
          <a:prstGeom prst="rect">
            <a:avLst/>
          </a:prstGeom>
          <a:solidFill>
            <a:srgbClr val="92D050"/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Customer</a:t>
            </a:r>
          </a:p>
          <a:p>
            <a:pPr algn="ctr"/>
            <a:r>
              <a:rPr lang="en-US" b="1" dirty="0"/>
              <a:t>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CAF57-FCA3-EBBE-172F-41114BA2DD37}"/>
              </a:ext>
            </a:extLst>
          </p:cNvPr>
          <p:cNvSpPr/>
          <p:nvPr/>
        </p:nvSpPr>
        <p:spPr>
          <a:xfrm>
            <a:off x="6397171" y="3178628"/>
            <a:ext cx="1289958" cy="609600"/>
          </a:xfrm>
          <a:prstGeom prst="rect">
            <a:avLst/>
          </a:prstGeom>
          <a:solidFill>
            <a:srgbClr val="92D050"/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Predac Buffer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74F2E-4197-E917-464B-FD04E022C353}"/>
              </a:ext>
            </a:extLst>
          </p:cNvPr>
          <p:cNvSpPr/>
          <p:nvPr/>
        </p:nvSpPr>
        <p:spPr>
          <a:xfrm>
            <a:off x="4406901" y="3200400"/>
            <a:ext cx="13716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7D984-D883-8505-90B0-991DCFB1BEB3}"/>
              </a:ext>
            </a:extLst>
          </p:cNvPr>
          <p:cNvSpPr/>
          <p:nvPr/>
        </p:nvSpPr>
        <p:spPr>
          <a:xfrm>
            <a:off x="2465615" y="3200399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89AB08-7237-0EA2-3804-6A7FF5ACABAD}"/>
              </a:ext>
            </a:extLst>
          </p:cNvPr>
          <p:cNvSpPr/>
          <p:nvPr/>
        </p:nvSpPr>
        <p:spPr>
          <a:xfrm>
            <a:off x="2465615" y="43252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CODEC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70CAF3-230E-EA6C-4466-95F78D8BF614}"/>
              </a:ext>
            </a:extLst>
          </p:cNvPr>
          <p:cNvCxnSpPr>
            <a:cxnSpLocks/>
          </p:cNvCxnSpPr>
          <p:nvPr/>
        </p:nvCxnSpPr>
        <p:spPr>
          <a:xfrm>
            <a:off x="3800929" y="23440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5F2F52-CCAD-F521-3E27-B006DD088952}"/>
              </a:ext>
            </a:extLst>
          </p:cNvPr>
          <p:cNvCxnSpPr/>
          <p:nvPr/>
        </p:nvCxnSpPr>
        <p:spPr>
          <a:xfrm>
            <a:off x="76871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A797FD-992A-EC05-2137-F93FAD458046}"/>
              </a:ext>
            </a:extLst>
          </p:cNvPr>
          <p:cNvCxnSpPr>
            <a:cxnSpLocks/>
          </p:cNvCxnSpPr>
          <p:nvPr/>
        </p:nvCxnSpPr>
        <p:spPr>
          <a:xfrm>
            <a:off x="57059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067C5F-CB6D-4B2B-8C17-B4F827DF119D}"/>
              </a:ext>
            </a:extLst>
          </p:cNvPr>
          <p:cNvCxnSpPr>
            <a:cxnSpLocks/>
          </p:cNvCxnSpPr>
          <p:nvPr/>
        </p:nvCxnSpPr>
        <p:spPr>
          <a:xfrm rot="10800000">
            <a:off x="7687129" y="34108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502959-DE09-3949-6E5D-9FE4607A4EB6}"/>
              </a:ext>
            </a:extLst>
          </p:cNvPr>
          <p:cNvCxnSpPr/>
          <p:nvPr/>
        </p:nvCxnSpPr>
        <p:spPr>
          <a:xfrm rot="10800000">
            <a:off x="5782129" y="3410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8AF27B-1DDD-A5AB-A2C8-829BFFE980A4}"/>
              </a:ext>
            </a:extLst>
          </p:cNvPr>
          <p:cNvCxnSpPr/>
          <p:nvPr/>
        </p:nvCxnSpPr>
        <p:spPr>
          <a:xfrm rot="5400000">
            <a:off x="2811123" y="3984171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9EA66F-62C5-2B00-9345-A09CDC003EB0}"/>
              </a:ext>
            </a:extLst>
          </p:cNvPr>
          <p:cNvCxnSpPr/>
          <p:nvPr/>
        </p:nvCxnSpPr>
        <p:spPr>
          <a:xfrm rot="10800000">
            <a:off x="3782786" y="3410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66B854-2615-63E3-48A1-20215B54F650}"/>
              </a:ext>
            </a:extLst>
          </p:cNvPr>
          <p:cNvCxnSpPr>
            <a:cxnSpLocks/>
          </p:cNvCxnSpPr>
          <p:nvPr/>
        </p:nvCxnSpPr>
        <p:spPr>
          <a:xfrm rot="5400000">
            <a:off x="8571479" y="2950027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3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684AC-A5F4-C976-3DB8-130E6579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14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CF4502-A68C-0AEC-B4E6-A1CD90EA9AE9}"/>
              </a:ext>
            </a:extLst>
          </p:cNvPr>
          <p:cNvSpPr txBox="1">
            <a:spLocks/>
          </p:cNvSpPr>
          <p:nvPr/>
        </p:nvSpPr>
        <p:spPr>
          <a:xfrm>
            <a:off x="450336" y="260606"/>
            <a:ext cx="6222606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Audio Flow ( Decoder)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D2E31-1271-4C70-B57C-3A4166DE1449}"/>
              </a:ext>
            </a:extLst>
          </p:cNvPr>
          <p:cNvSpPr/>
          <p:nvPr/>
        </p:nvSpPr>
        <p:spPr>
          <a:xfrm>
            <a:off x="2429329" y="2115457"/>
            <a:ext cx="13716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HDMI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291E6-364B-B42F-0BB2-E8BB4985A72E}"/>
              </a:ext>
            </a:extLst>
          </p:cNvPr>
          <p:cNvSpPr/>
          <p:nvPr/>
        </p:nvSpPr>
        <p:spPr>
          <a:xfrm>
            <a:off x="4410529" y="21154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8711A-2E36-55B6-98FA-30ACDFDC3786}"/>
              </a:ext>
            </a:extLst>
          </p:cNvPr>
          <p:cNvSpPr/>
          <p:nvPr/>
        </p:nvSpPr>
        <p:spPr>
          <a:xfrm>
            <a:off x="6239329" y="2115457"/>
            <a:ext cx="14478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FCA09-1AF8-9E7D-E791-630417B67A51}"/>
              </a:ext>
            </a:extLst>
          </p:cNvPr>
          <p:cNvSpPr/>
          <p:nvPr/>
        </p:nvSpPr>
        <p:spPr>
          <a:xfrm>
            <a:off x="8220529" y="2115457"/>
            <a:ext cx="1295400" cy="533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Pack 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2E403-F15A-3DCF-58DE-83071200E3CA}"/>
              </a:ext>
            </a:extLst>
          </p:cNvPr>
          <p:cNvSpPr/>
          <p:nvPr/>
        </p:nvSpPr>
        <p:spPr>
          <a:xfrm>
            <a:off x="8220529" y="3254828"/>
            <a:ext cx="1295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Decoder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BFC9D-8A2A-B588-2E1C-66D1F08E68AF}"/>
              </a:ext>
            </a:extLst>
          </p:cNvPr>
          <p:cNvSpPr/>
          <p:nvPr/>
        </p:nvSpPr>
        <p:spPr>
          <a:xfrm>
            <a:off x="6400800" y="3124200"/>
            <a:ext cx="12954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Customer</a:t>
            </a:r>
          </a:p>
          <a:p>
            <a:pPr algn="ctr"/>
            <a:r>
              <a:rPr lang="en-US" b="1" dirty="0"/>
              <a:t>PP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CAF57-FCA3-EBBE-172F-41114BA2DD37}"/>
              </a:ext>
            </a:extLst>
          </p:cNvPr>
          <p:cNvSpPr/>
          <p:nvPr/>
        </p:nvSpPr>
        <p:spPr>
          <a:xfrm>
            <a:off x="4410529" y="3106057"/>
            <a:ext cx="13716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Predac Buffer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74F2E-4197-E917-464B-FD04E022C353}"/>
              </a:ext>
            </a:extLst>
          </p:cNvPr>
          <p:cNvSpPr/>
          <p:nvPr/>
        </p:nvSpPr>
        <p:spPr>
          <a:xfrm>
            <a:off x="2429329" y="3182257"/>
            <a:ext cx="13716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7D984-D883-8505-90B0-991DCFB1BEB3}"/>
              </a:ext>
            </a:extLst>
          </p:cNvPr>
          <p:cNvSpPr/>
          <p:nvPr/>
        </p:nvSpPr>
        <p:spPr>
          <a:xfrm>
            <a:off x="2429329" y="43252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89AB08-7237-0EA2-3804-6A7FF5ACABAD}"/>
              </a:ext>
            </a:extLst>
          </p:cNvPr>
          <p:cNvSpPr/>
          <p:nvPr/>
        </p:nvSpPr>
        <p:spPr>
          <a:xfrm>
            <a:off x="4334329" y="43252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CODEC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70CAF3-230E-EA6C-4466-95F78D8BF614}"/>
              </a:ext>
            </a:extLst>
          </p:cNvPr>
          <p:cNvCxnSpPr>
            <a:cxnSpLocks/>
          </p:cNvCxnSpPr>
          <p:nvPr/>
        </p:nvCxnSpPr>
        <p:spPr>
          <a:xfrm>
            <a:off x="3800929" y="23440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89C8E6-35F7-7BC3-91CC-363A35C12792}"/>
              </a:ext>
            </a:extLst>
          </p:cNvPr>
          <p:cNvCxnSpPr/>
          <p:nvPr/>
        </p:nvCxnSpPr>
        <p:spPr>
          <a:xfrm>
            <a:off x="3724729" y="4553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5F2F52-CCAD-F521-3E27-B006DD088952}"/>
              </a:ext>
            </a:extLst>
          </p:cNvPr>
          <p:cNvCxnSpPr/>
          <p:nvPr/>
        </p:nvCxnSpPr>
        <p:spPr>
          <a:xfrm>
            <a:off x="76871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A797FD-992A-EC05-2137-F93FAD458046}"/>
              </a:ext>
            </a:extLst>
          </p:cNvPr>
          <p:cNvCxnSpPr>
            <a:cxnSpLocks/>
          </p:cNvCxnSpPr>
          <p:nvPr/>
        </p:nvCxnSpPr>
        <p:spPr>
          <a:xfrm>
            <a:off x="57059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067C5F-CB6D-4B2B-8C17-B4F827DF119D}"/>
              </a:ext>
            </a:extLst>
          </p:cNvPr>
          <p:cNvCxnSpPr>
            <a:cxnSpLocks/>
          </p:cNvCxnSpPr>
          <p:nvPr/>
        </p:nvCxnSpPr>
        <p:spPr>
          <a:xfrm rot="10800000">
            <a:off x="7687129" y="34108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502959-DE09-3949-6E5D-9FE4607A4EB6}"/>
              </a:ext>
            </a:extLst>
          </p:cNvPr>
          <p:cNvCxnSpPr/>
          <p:nvPr/>
        </p:nvCxnSpPr>
        <p:spPr>
          <a:xfrm rot="10800000">
            <a:off x="5782129" y="3410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8AF27B-1DDD-A5AB-A2C8-829BFFE980A4}"/>
              </a:ext>
            </a:extLst>
          </p:cNvPr>
          <p:cNvCxnSpPr/>
          <p:nvPr/>
        </p:nvCxnSpPr>
        <p:spPr>
          <a:xfrm rot="5400000">
            <a:off x="2811123" y="3984171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9EA66F-62C5-2B00-9345-A09CDC003EB0}"/>
              </a:ext>
            </a:extLst>
          </p:cNvPr>
          <p:cNvCxnSpPr/>
          <p:nvPr/>
        </p:nvCxnSpPr>
        <p:spPr>
          <a:xfrm rot="10800000">
            <a:off x="3800929" y="3410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66B854-2615-63E3-48A1-20215B54F650}"/>
              </a:ext>
            </a:extLst>
          </p:cNvPr>
          <p:cNvCxnSpPr>
            <a:cxnSpLocks/>
          </p:cNvCxnSpPr>
          <p:nvPr/>
        </p:nvCxnSpPr>
        <p:spPr>
          <a:xfrm rot="5400000">
            <a:off x="8571479" y="2950027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763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C684AC-A5F4-C976-3DB8-130E6579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15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8CF4502-A68C-0AEC-B4E6-A1CD90EA9AE9}"/>
              </a:ext>
            </a:extLst>
          </p:cNvPr>
          <p:cNvSpPr txBox="1">
            <a:spLocks/>
          </p:cNvSpPr>
          <p:nvPr/>
        </p:nvSpPr>
        <p:spPr>
          <a:xfrm>
            <a:off x="450336" y="260606"/>
            <a:ext cx="6222606" cy="681846"/>
          </a:xfrm>
          <a:prstGeom prst="rect">
            <a:avLst/>
          </a:prstGeom>
        </p:spPr>
        <p:txBody>
          <a:bodyPr lIns="91440" tIns="45720" rIns="91440" bIns="4572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>
                <a:solidFill>
                  <a:srgbClr val="010086"/>
                </a:solidFill>
              </a:rPr>
              <a:t>Audio Flow ( </a:t>
            </a:r>
            <a:r>
              <a:rPr lang="en-US" dirty="0" err="1">
                <a:solidFill>
                  <a:srgbClr val="010086"/>
                </a:solidFill>
              </a:rPr>
              <a:t>PostProcessing</a:t>
            </a:r>
            <a:r>
              <a:rPr lang="en-US" dirty="0">
                <a:solidFill>
                  <a:srgbClr val="010086"/>
                </a:solidFill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2D2E31-1271-4C70-B57C-3A4166DE1449}"/>
              </a:ext>
            </a:extLst>
          </p:cNvPr>
          <p:cNvSpPr/>
          <p:nvPr/>
        </p:nvSpPr>
        <p:spPr>
          <a:xfrm>
            <a:off x="2429329" y="2115457"/>
            <a:ext cx="13716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HDMI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C291E6-364B-B42F-0BB2-E8BB4985A72E}"/>
              </a:ext>
            </a:extLst>
          </p:cNvPr>
          <p:cNvSpPr/>
          <p:nvPr/>
        </p:nvSpPr>
        <p:spPr>
          <a:xfrm>
            <a:off x="4410529" y="21154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8711A-2E36-55B6-98FA-30ACDFDC3786}"/>
              </a:ext>
            </a:extLst>
          </p:cNvPr>
          <p:cNvSpPr/>
          <p:nvPr/>
        </p:nvSpPr>
        <p:spPr>
          <a:xfrm>
            <a:off x="6239329" y="2115457"/>
            <a:ext cx="14478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0FCA09-1AF8-9E7D-E791-630417B67A51}"/>
              </a:ext>
            </a:extLst>
          </p:cNvPr>
          <p:cNvSpPr/>
          <p:nvPr/>
        </p:nvSpPr>
        <p:spPr>
          <a:xfrm>
            <a:off x="8220529" y="2115457"/>
            <a:ext cx="1295400" cy="533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Pack Buffer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42E403-F15A-3DCF-58DE-83071200E3CA}"/>
              </a:ext>
            </a:extLst>
          </p:cNvPr>
          <p:cNvSpPr/>
          <p:nvPr/>
        </p:nvSpPr>
        <p:spPr>
          <a:xfrm>
            <a:off x="8220529" y="3254828"/>
            <a:ext cx="12954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Decoder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BFC9D-8A2A-B588-2E1C-66D1F08E68AF}"/>
              </a:ext>
            </a:extLst>
          </p:cNvPr>
          <p:cNvSpPr/>
          <p:nvPr/>
        </p:nvSpPr>
        <p:spPr>
          <a:xfrm>
            <a:off x="6319158" y="3106058"/>
            <a:ext cx="1377042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PostProcessing</a:t>
            </a:r>
            <a:endParaRPr lang="en-US" b="1" dirty="0" err="1"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ACAF57-FCA3-EBBE-172F-41114BA2DD37}"/>
              </a:ext>
            </a:extLst>
          </p:cNvPr>
          <p:cNvSpPr/>
          <p:nvPr/>
        </p:nvSpPr>
        <p:spPr>
          <a:xfrm>
            <a:off x="4410529" y="3106057"/>
            <a:ext cx="1371600" cy="6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Customer</a:t>
            </a:r>
            <a:endParaRPr lang="en-US" dirty="0"/>
          </a:p>
          <a:p>
            <a:pPr algn="ctr"/>
            <a:r>
              <a:rPr lang="en-US" b="1" dirty="0"/>
              <a:t>PP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C74F2E-4197-E917-464B-FD04E022C353}"/>
              </a:ext>
            </a:extLst>
          </p:cNvPr>
          <p:cNvSpPr/>
          <p:nvPr/>
        </p:nvSpPr>
        <p:spPr>
          <a:xfrm>
            <a:off x="2429329" y="3182257"/>
            <a:ext cx="1371600" cy="4572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 err="1"/>
              <a:t>Predac</a:t>
            </a:r>
            <a:r>
              <a:rPr lang="en-US" b="1" dirty="0"/>
              <a:t> Buffer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7D984-D883-8505-90B0-991DCFB1BEB3}"/>
              </a:ext>
            </a:extLst>
          </p:cNvPr>
          <p:cNvSpPr/>
          <p:nvPr/>
        </p:nvSpPr>
        <p:spPr>
          <a:xfrm>
            <a:off x="2429329" y="43252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SPORT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89AB08-7237-0EA2-3804-6A7FF5ACABAD}"/>
              </a:ext>
            </a:extLst>
          </p:cNvPr>
          <p:cNvSpPr/>
          <p:nvPr/>
        </p:nvSpPr>
        <p:spPr>
          <a:xfrm>
            <a:off x="4334329" y="4325257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DAI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70CAF3-230E-EA6C-4466-95F78D8BF614}"/>
              </a:ext>
            </a:extLst>
          </p:cNvPr>
          <p:cNvCxnSpPr>
            <a:cxnSpLocks/>
          </p:cNvCxnSpPr>
          <p:nvPr/>
        </p:nvCxnSpPr>
        <p:spPr>
          <a:xfrm>
            <a:off x="3800929" y="23440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89C8E6-35F7-7BC3-91CC-363A35C12792}"/>
              </a:ext>
            </a:extLst>
          </p:cNvPr>
          <p:cNvCxnSpPr/>
          <p:nvPr/>
        </p:nvCxnSpPr>
        <p:spPr>
          <a:xfrm>
            <a:off x="3724729" y="4553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5F2F52-CCAD-F521-3E27-B006DD088952}"/>
              </a:ext>
            </a:extLst>
          </p:cNvPr>
          <p:cNvCxnSpPr/>
          <p:nvPr/>
        </p:nvCxnSpPr>
        <p:spPr>
          <a:xfrm>
            <a:off x="76871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A797FD-992A-EC05-2137-F93FAD458046}"/>
              </a:ext>
            </a:extLst>
          </p:cNvPr>
          <p:cNvCxnSpPr>
            <a:cxnSpLocks/>
          </p:cNvCxnSpPr>
          <p:nvPr/>
        </p:nvCxnSpPr>
        <p:spPr>
          <a:xfrm>
            <a:off x="5705929" y="23440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067C5F-CB6D-4B2B-8C17-B4F827DF119D}"/>
              </a:ext>
            </a:extLst>
          </p:cNvPr>
          <p:cNvCxnSpPr>
            <a:cxnSpLocks/>
          </p:cNvCxnSpPr>
          <p:nvPr/>
        </p:nvCxnSpPr>
        <p:spPr>
          <a:xfrm rot="10800000">
            <a:off x="7687129" y="3410857"/>
            <a:ext cx="5334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502959-DE09-3949-6E5D-9FE4607A4EB6}"/>
              </a:ext>
            </a:extLst>
          </p:cNvPr>
          <p:cNvCxnSpPr/>
          <p:nvPr/>
        </p:nvCxnSpPr>
        <p:spPr>
          <a:xfrm flipH="1" flipV="1">
            <a:off x="5773057" y="3410858"/>
            <a:ext cx="582387" cy="1586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8AF27B-1DDD-A5AB-A2C8-829BFFE980A4}"/>
              </a:ext>
            </a:extLst>
          </p:cNvPr>
          <p:cNvCxnSpPr/>
          <p:nvPr/>
        </p:nvCxnSpPr>
        <p:spPr>
          <a:xfrm rot="5400000">
            <a:off x="2811123" y="3984171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39EA66F-62C5-2B00-9345-A09CDC003EB0}"/>
              </a:ext>
            </a:extLst>
          </p:cNvPr>
          <p:cNvCxnSpPr/>
          <p:nvPr/>
        </p:nvCxnSpPr>
        <p:spPr>
          <a:xfrm rot="10800000">
            <a:off x="3800929" y="3410857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266B854-2615-63E3-48A1-20215B54F650}"/>
              </a:ext>
            </a:extLst>
          </p:cNvPr>
          <p:cNvCxnSpPr>
            <a:cxnSpLocks/>
          </p:cNvCxnSpPr>
          <p:nvPr/>
        </p:nvCxnSpPr>
        <p:spPr>
          <a:xfrm rot="5400000">
            <a:off x="8571479" y="2950027"/>
            <a:ext cx="608806" cy="794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4A52591-2BC1-EDC2-D5B7-2496528BE23B}"/>
              </a:ext>
            </a:extLst>
          </p:cNvPr>
          <p:cNvSpPr/>
          <p:nvPr/>
        </p:nvSpPr>
        <p:spPr>
          <a:xfrm>
            <a:off x="6239329" y="4325256"/>
            <a:ext cx="1295400" cy="457200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/>
              <a:t>CODEC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74F6C7-2176-003F-5590-9455D6D12A3D}"/>
              </a:ext>
            </a:extLst>
          </p:cNvPr>
          <p:cNvCxnSpPr>
            <a:cxnSpLocks/>
          </p:cNvCxnSpPr>
          <p:nvPr/>
        </p:nvCxnSpPr>
        <p:spPr>
          <a:xfrm>
            <a:off x="5629728" y="4553856"/>
            <a:ext cx="609600" cy="1588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663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FE677C-91E2-854F-53E5-777E6527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16</a:t>
            </a:fld>
            <a:endParaRPr lang="en-IN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82E0AC-E59E-7CCD-BA9E-5E69228C1A80}"/>
              </a:ext>
            </a:extLst>
          </p:cNvPr>
          <p:cNvSpPr txBox="1">
            <a:spLocks/>
          </p:cNvSpPr>
          <p:nvPr/>
        </p:nvSpPr>
        <p:spPr>
          <a:xfrm>
            <a:off x="368693" y="315034"/>
            <a:ext cx="3981963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Decoders &amp; PP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5FDED22-B7A9-4472-8B10-F31FBF41CF65}"/>
              </a:ext>
            </a:extLst>
          </p:cNvPr>
          <p:cNvSpPr/>
          <p:nvPr/>
        </p:nvSpPr>
        <p:spPr>
          <a:xfrm>
            <a:off x="7119994" y="2872488"/>
            <a:ext cx="706834" cy="706834"/>
          </a:xfrm>
          <a:prstGeom prst="ellipse">
            <a:avLst/>
          </a:prstGeom>
          <a:solidFill>
            <a:schemeClr val="bg1"/>
          </a:soli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3106FD-9701-BE53-C73E-E132292435C8}"/>
              </a:ext>
            </a:extLst>
          </p:cNvPr>
          <p:cNvSpPr txBox="1"/>
          <p:nvPr/>
        </p:nvSpPr>
        <p:spPr>
          <a:xfrm>
            <a:off x="3047332" y="2304810"/>
            <a:ext cx="1800154" cy="258532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PCM</a:t>
            </a:r>
          </a:p>
          <a:p>
            <a:pPr algn="ctr"/>
            <a:r>
              <a:rPr lang="en-US" b="1" dirty="0"/>
              <a:t>MCPCM</a:t>
            </a:r>
          </a:p>
          <a:p>
            <a:pPr algn="ctr"/>
            <a:r>
              <a:rPr lang="en-US" b="1" dirty="0"/>
              <a:t>AAC</a:t>
            </a:r>
          </a:p>
          <a:p>
            <a:pPr algn="ctr"/>
            <a:r>
              <a:rPr lang="en-US" b="1" dirty="0"/>
              <a:t>DD</a:t>
            </a:r>
          </a:p>
          <a:p>
            <a:pPr algn="ctr"/>
            <a:r>
              <a:rPr lang="en-US" b="1" dirty="0"/>
              <a:t>DDP</a:t>
            </a:r>
          </a:p>
          <a:p>
            <a:pPr algn="ctr"/>
            <a:r>
              <a:rPr lang="en-US" b="1" err="1"/>
              <a:t>TrueHD</a:t>
            </a:r>
            <a:endParaRPr lang="en-US" b="1"/>
          </a:p>
          <a:p>
            <a:pPr algn="ctr"/>
            <a:r>
              <a:rPr lang="en-US" b="1" dirty="0"/>
              <a:t>MAT</a:t>
            </a:r>
          </a:p>
          <a:p>
            <a:pPr algn="ctr"/>
            <a:r>
              <a:rPr lang="en-US" b="1" dirty="0"/>
              <a:t>DTSX</a:t>
            </a:r>
          </a:p>
          <a:p>
            <a:pPr algn="ctr"/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B38AB-D79C-44F3-6EBE-6B929B8A8997}"/>
              </a:ext>
            </a:extLst>
          </p:cNvPr>
          <p:cNvSpPr txBox="1"/>
          <p:nvPr/>
        </p:nvSpPr>
        <p:spPr>
          <a:xfrm>
            <a:off x="6975259" y="2876310"/>
            <a:ext cx="1183297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00206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DAP</a:t>
            </a:r>
            <a:endParaRPr lang="en-US" dirty="0"/>
          </a:p>
          <a:p>
            <a:pPr algn="ctr"/>
            <a:r>
              <a:rPr lang="en-US" b="1"/>
              <a:t>NeuralX</a:t>
            </a:r>
            <a:endParaRPr lang="en-US" b="1" dirty="0"/>
          </a:p>
          <a:p>
            <a:pPr algn="ctr"/>
            <a:r>
              <a:rPr lang="en-US" b="1" dirty="0"/>
              <a:t>Auro3D</a:t>
            </a:r>
          </a:p>
          <a:p>
            <a:pPr algn="ctr"/>
            <a:endParaRPr lang="en-US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11E00DC-9DAB-836A-6B83-EC04076970CC}"/>
              </a:ext>
            </a:extLst>
          </p:cNvPr>
          <p:cNvCxnSpPr/>
          <p:nvPr/>
        </p:nvCxnSpPr>
        <p:spPr>
          <a:xfrm>
            <a:off x="4856391" y="2570387"/>
            <a:ext cx="2111826" cy="488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5A9AB9-453B-E354-A056-9D9111C596EF}"/>
              </a:ext>
            </a:extLst>
          </p:cNvPr>
          <p:cNvCxnSpPr>
            <a:cxnSpLocks/>
          </p:cNvCxnSpPr>
          <p:nvPr/>
        </p:nvCxnSpPr>
        <p:spPr>
          <a:xfrm>
            <a:off x="4856390" y="2769957"/>
            <a:ext cx="2111826" cy="4064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9B9EBB-7D11-2F2C-E2D0-1AC46A9FB9BF}"/>
              </a:ext>
            </a:extLst>
          </p:cNvPr>
          <p:cNvCxnSpPr>
            <a:cxnSpLocks/>
          </p:cNvCxnSpPr>
          <p:nvPr/>
        </p:nvCxnSpPr>
        <p:spPr>
          <a:xfrm>
            <a:off x="4847319" y="2996744"/>
            <a:ext cx="2120897" cy="315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0AB49-1FE8-4DAD-F00F-CF5C15FCA213}"/>
              </a:ext>
            </a:extLst>
          </p:cNvPr>
          <p:cNvCxnSpPr>
            <a:cxnSpLocks/>
          </p:cNvCxnSpPr>
          <p:nvPr/>
        </p:nvCxnSpPr>
        <p:spPr>
          <a:xfrm>
            <a:off x="4847320" y="3513815"/>
            <a:ext cx="2129968" cy="107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4BCD776-8E35-742A-CE43-47308620C8B1}"/>
              </a:ext>
            </a:extLst>
          </p:cNvPr>
          <p:cNvCxnSpPr>
            <a:cxnSpLocks/>
          </p:cNvCxnSpPr>
          <p:nvPr/>
        </p:nvCxnSpPr>
        <p:spPr>
          <a:xfrm>
            <a:off x="4847320" y="3332387"/>
            <a:ext cx="2120897" cy="206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E5A503C-A88C-0E63-297F-8BC30F3AB27F}"/>
              </a:ext>
            </a:extLst>
          </p:cNvPr>
          <p:cNvCxnSpPr>
            <a:cxnSpLocks/>
          </p:cNvCxnSpPr>
          <p:nvPr/>
        </p:nvCxnSpPr>
        <p:spPr>
          <a:xfrm flipV="1">
            <a:off x="4847319" y="3684360"/>
            <a:ext cx="2129968" cy="1741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66E5F0-1A6E-35FB-555A-1212ADC8AA78}"/>
              </a:ext>
            </a:extLst>
          </p:cNvPr>
          <p:cNvCxnSpPr>
            <a:cxnSpLocks/>
          </p:cNvCxnSpPr>
          <p:nvPr/>
        </p:nvCxnSpPr>
        <p:spPr>
          <a:xfrm flipV="1">
            <a:off x="4856391" y="3911145"/>
            <a:ext cx="2111826" cy="464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9D4E7E-A251-57F1-76CF-2D5902F8B029}"/>
              </a:ext>
            </a:extLst>
          </p:cNvPr>
          <p:cNvCxnSpPr>
            <a:cxnSpLocks/>
          </p:cNvCxnSpPr>
          <p:nvPr/>
        </p:nvCxnSpPr>
        <p:spPr>
          <a:xfrm flipV="1">
            <a:off x="4856390" y="3811361"/>
            <a:ext cx="2120897" cy="310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488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D05E1D-743A-4948-A01E-81EC7D00CC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37"/>
          <a:stretch/>
        </p:blipFill>
        <p:spPr>
          <a:xfrm>
            <a:off x="431814" y="1375304"/>
            <a:ext cx="7058306" cy="4107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FDD008-EA70-482E-B612-27321C9A40BE}"/>
              </a:ext>
            </a:extLst>
          </p:cNvPr>
          <p:cNvSpPr txBox="1"/>
          <p:nvPr/>
        </p:nvSpPr>
        <p:spPr>
          <a:xfrm>
            <a:off x="7972169" y="1432075"/>
            <a:ext cx="3424739" cy="485236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Faster time to market due to user interface (UI) programming features such as</a:t>
            </a:r>
            <a:br>
              <a:rPr lang="en-US" sz="1700" dirty="0"/>
            </a:br>
            <a:r>
              <a:rPr lang="en-US" sz="1700" dirty="0"/>
              <a:t>– Optimized algorithms (in excess of 100 in existence)</a:t>
            </a:r>
            <a:br>
              <a:rPr lang="en-US" sz="1700" dirty="0"/>
            </a:br>
            <a:r>
              <a:rPr lang="en-US" sz="1700" dirty="0"/>
              <a:t>– Block and sample processing.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Spectral Domain Processing, FFT/IFFT(standard DFT), Short-Time FFT/</a:t>
            </a:r>
            <a:r>
              <a:rPr lang="en-US" sz="1700" dirty="0" err="1"/>
              <a:t>iFFT</a:t>
            </a:r>
            <a:r>
              <a:rPr lang="en-US" sz="1700" dirty="0"/>
              <a:t> (DFT with Windowing and overlap).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FIR and IIR filters.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Delay modules.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Signal Generators.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Reverberation Effect.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Bit-stream detector for feeding audio bit-stream decoders.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C8CF31-C6BA-442B-5F28-A295C11BF67A}"/>
              </a:ext>
            </a:extLst>
          </p:cNvPr>
          <p:cNvSpPr txBox="1">
            <a:spLocks/>
          </p:cNvSpPr>
          <p:nvPr/>
        </p:nvSpPr>
        <p:spPr>
          <a:xfrm>
            <a:off x="432194" y="260606"/>
            <a:ext cx="8417891" cy="681846"/>
          </a:xfrm>
          <a:prstGeom prst="rect">
            <a:avLst/>
          </a:prstGeom>
        </p:spPr>
        <p:txBody>
          <a:bodyPr lIns="91440" tIns="45720" rIns="91440" bIns="4572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Rapid Audio DSP Project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113668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77A0D9-D350-974A-D428-39E640DD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18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6ADD58-B5DD-2070-8505-1776D0365327}"/>
              </a:ext>
            </a:extLst>
          </p:cNvPr>
          <p:cNvSpPr txBox="1">
            <a:spLocks/>
          </p:cNvSpPr>
          <p:nvPr/>
        </p:nvSpPr>
        <p:spPr>
          <a:xfrm>
            <a:off x="450336" y="260606"/>
            <a:ext cx="4181535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Noise Generator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6A8CE7-982B-84DD-EF6F-06B8CA205F59}"/>
              </a:ext>
            </a:extLst>
          </p:cNvPr>
          <p:cNvSpPr txBox="1"/>
          <p:nvPr/>
        </p:nvSpPr>
        <p:spPr>
          <a:xfrm>
            <a:off x="624114" y="1531257"/>
            <a:ext cx="842191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040C28"/>
                </a:solidFill>
                <a:latin typeface="Calibri"/>
                <a:cs typeface="Calibri"/>
              </a:rPr>
              <a:t>To test signals for measuring noise figure, frequency response, and other parameters</a:t>
            </a:r>
            <a:endParaRPr lang="en-US" b="1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501DE-7518-B3BB-E442-F8C058894D82}"/>
              </a:ext>
            </a:extLst>
          </p:cNvPr>
          <p:cNvSpPr txBox="1"/>
          <p:nvPr/>
        </p:nvSpPr>
        <p:spPr>
          <a:xfrm>
            <a:off x="7672615" y="2783114"/>
            <a:ext cx="3559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40C28"/>
                </a:solidFill>
                <a:latin typeface="Google Sans"/>
              </a:rPr>
              <a:t>More power at lower frequencies and less at higher frequencies</a:t>
            </a:r>
            <a:endParaRPr lang="en-US" dirty="0"/>
          </a:p>
        </p:txBody>
      </p:sp>
      <p:pic>
        <p:nvPicPr>
          <p:cNvPr id="10" name="Picture 9" descr="A graph showing a pink line&#10;&#10;Description automatically generated">
            <a:extLst>
              <a:ext uri="{FF2B5EF4-FFF2-40B4-BE49-F238E27FC236}">
                <a16:creationId xmlns:a16="http://schemas.microsoft.com/office/drawing/2014/main" id="{F7A669E3-F758-8B23-8B84-764924B5F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429" y="3828142"/>
            <a:ext cx="3556000" cy="23041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C22379-3AEB-909F-9105-806592D8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43" y="2276929"/>
            <a:ext cx="4426858" cy="230581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3683DD-C1D0-6A2A-BE9A-2A74EDDF69D9}"/>
              </a:ext>
            </a:extLst>
          </p:cNvPr>
          <p:cNvSpPr txBox="1"/>
          <p:nvPr/>
        </p:nvSpPr>
        <p:spPr>
          <a:xfrm>
            <a:off x="986971" y="4824186"/>
            <a:ext cx="45393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40C28"/>
                </a:solidFill>
                <a:latin typeface="Google Sans"/>
              </a:rPr>
              <a:t>white noise contains all frequencies </a:t>
            </a:r>
            <a:endParaRPr lang="en-US" dirty="0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rgbClr val="040C28"/>
                </a:solidFill>
                <a:latin typeface="Google Sans"/>
              </a:rPr>
              <a:t>with equal distribution</a:t>
            </a:r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574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0716308-1FD6-DFD2-7FBB-16F0716E5608}"/>
              </a:ext>
            </a:extLst>
          </p:cNvPr>
          <p:cNvSpPr txBox="1">
            <a:spLocks/>
          </p:cNvSpPr>
          <p:nvPr/>
        </p:nvSpPr>
        <p:spPr>
          <a:xfrm>
            <a:off x="386836" y="260606"/>
            <a:ext cx="3455821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What is RCA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0F425A29-49BB-5493-636D-A6911486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8836" y="2814691"/>
            <a:ext cx="3455821" cy="1560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Focuses on asking why a problem happened and then repeating “Why?” four more times until you find the main cause.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8D1E47-1FE2-7403-07F1-C72E4AD9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3735547-B499-4273-BF07-F756EAEC2F73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0CCC80-E5B0-1914-E7D1-78EB04B73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052864"/>
            <a:ext cx="4798785" cy="330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95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DDE14-171A-B995-49AC-4BDDD84A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20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B9F4E8E-B96A-2A46-4D77-E62D52F32202}"/>
              </a:ext>
            </a:extLst>
          </p:cNvPr>
          <p:cNvSpPr txBox="1">
            <a:spLocks/>
          </p:cNvSpPr>
          <p:nvPr/>
        </p:nvSpPr>
        <p:spPr>
          <a:xfrm>
            <a:off x="386836" y="260606"/>
            <a:ext cx="3455821" cy="681846"/>
          </a:xfrm>
          <a:prstGeom prst="rect">
            <a:avLst/>
          </a:prstGeom>
        </p:spPr>
        <p:txBody>
          <a:bodyPr lIns="91440" tIns="45720" rIns="91440" bIns="4572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200" dirty="0">
                <a:solidFill>
                  <a:srgbClr val="010086"/>
                </a:solidFill>
              </a:rPr>
              <a:t>Cont.</a:t>
            </a:r>
          </a:p>
        </p:txBody>
      </p:sp>
      <p:pic>
        <p:nvPicPr>
          <p:cNvPr id="7" name="Picture 6" descr="A computer screen with a green mug and a red x&#10;&#10;Description automatically generated">
            <a:extLst>
              <a:ext uri="{FF2B5EF4-FFF2-40B4-BE49-F238E27FC236}">
                <a16:creationId xmlns:a16="http://schemas.microsoft.com/office/drawing/2014/main" id="{384EC22D-396A-858E-1452-FAC3734D9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8" y="2315711"/>
            <a:ext cx="4285795" cy="2417080"/>
          </a:xfrm>
          <a:prstGeom prst="rect">
            <a:avLst/>
          </a:prstGeom>
        </p:spPr>
      </p:pic>
      <p:pic>
        <p:nvPicPr>
          <p:cNvPr id="8" name="Picture 7" descr="A hand holding a computer error&#10;&#10;Description automatically generated">
            <a:extLst>
              <a:ext uri="{FF2B5EF4-FFF2-40B4-BE49-F238E27FC236}">
                <a16:creationId xmlns:a16="http://schemas.microsoft.com/office/drawing/2014/main" id="{7398BB8D-ADF6-9C67-9D54-5801968D7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526" y="1274763"/>
            <a:ext cx="3155949" cy="1786617"/>
          </a:xfrm>
          <a:prstGeom prst="rect">
            <a:avLst/>
          </a:prstGeom>
        </p:spPr>
      </p:pic>
      <p:pic>
        <p:nvPicPr>
          <p:cNvPr id="2" name="Picture 1" descr="A test sheet with a red circle and black circles&#10;&#10;Description automatically generated">
            <a:extLst>
              <a:ext uri="{FF2B5EF4-FFF2-40B4-BE49-F238E27FC236}">
                <a16:creationId xmlns:a16="http://schemas.microsoft.com/office/drawing/2014/main" id="{4206A498-0F4D-2F84-A645-518953ED4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670" y="3827462"/>
            <a:ext cx="3363231" cy="2015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3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F40AC-8750-C468-799B-F2F32C58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21</a:t>
            </a:fld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DD363D-DC71-8146-1089-CE5B5EE96A65}"/>
              </a:ext>
            </a:extLst>
          </p:cNvPr>
          <p:cNvSpPr txBox="1">
            <a:spLocks/>
          </p:cNvSpPr>
          <p:nvPr/>
        </p:nvSpPr>
        <p:spPr>
          <a:xfrm>
            <a:off x="462988" y="135038"/>
            <a:ext cx="12191999" cy="10287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RCA Example</a:t>
            </a:r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45BB2-1CFA-50BB-6054-F81A16630064}"/>
              </a:ext>
            </a:extLst>
          </p:cNvPr>
          <p:cNvSpPr txBox="1"/>
          <p:nvPr/>
        </p:nvSpPr>
        <p:spPr>
          <a:xfrm>
            <a:off x="846508" y="1605165"/>
            <a:ext cx="662681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[</a:t>
            </a:r>
            <a:r>
              <a:rPr lang="en-US" b="1" err="1">
                <a:latin typeface="Times New Roman"/>
                <a:cs typeface="Times New Roman"/>
              </a:rPr>
              <a:t>NoiseGenerator</a:t>
            </a:r>
            <a:r>
              <a:rPr lang="en-US" b="1" dirty="0">
                <a:latin typeface="Times New Roman"/>
                <a:cs typeface="Times New Roman"/>
              </a:rPr>
              <a:t>] Noise does not output from L &amp; R channels.</a:t>
            </a:r>
            <a:endParaRPr lang="en-US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22957E1-9AD9-2B13-8251-13163545A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516070"/>
              </p:ext>
            </p:extLst>
          </p:nvPr>
        </p:nvGraphicFramePr>
        <p:xfrm>
          <a:off x="843642" y="2948214"/>
          <a:ext cx="9938077" cy="16658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713871">
                  <a:extLst>
                    <a:ext uri="{9D8B030D-6E8A-4147-A177-3AD203B41FA5}">
                      <a16:colId xmlns:a16="http://schemas.microsoft.com/office/drawing/2014/main" val="630710908"/>
                    </a:ext>
                  </a:extLst>
                </a:gridCol>
                <a:gridCol w="1548063">
                  <a:extLst>
                    <a:ext uri="{9D8B030D-6E8A-4147-A177-3AD203B41FA5}">
                      <a16:colId xmlns:a16="http://schemas.microsoft.com/office/drawing/2014/main" val="305828175"/>
                    </a:ext>
                  </a:extLst>
                </a:gridCol>
                <a:gridCol w="1548063">
                  <a:extLst>
                    <a:ext uri="{9D8B030D-6E8A-4147-A177-3AD203B41FA5}">
                      <a16:colId xmlns:a16="http://schemas.microsoft.com/office/drawing/2014/main" val="2387714635"/>
                    </a:ext>
                  </a:extLst>
                </a:gridCol>
                <a:gridCol w="1483893">
                  <a:extLst>
                    <a:ext uri="{9D8B030D-6E8A-4147-A177-3AD203B41FA5}">
                      <a16:colId xmlns:a16="http://schemas.microsoft.com/office/drawing/2014/main" val="3405488782"/>
                    </a:ext>
                  </a:extLst>
                </a:gridCol>
                <a:gridCol w="1427747">
                  <a:extLst>
                    <a:ext uri="{9D8B030D-6E8A-4147-A177-3AD203B41FA5}">
                      <a16:colId xmlns:a16="http://schemas.microsoft.com/office/drawing/2014/main" val="2638198693"/>
                    </a:ext>
                  </a:extLst>
                </a:gridCol>
                <a:gridCol w="1572125">
                  <a:extLst>
                    <a:ext uri="{9D8B030D-6E8A-4147-A177-3AD203B41FA5}">
                      <a16:colId xmlns:a16="http://schemas.microsoft.com/office/drawing/2014/main" val="1519676025"/>
                    </a:ext>
                  </a:extLst>
                </a:gridCol>
                <a:gridCol w="1644315">
                  <a:extLst>
                    <a:ext uri="{9D8B030D-6E8A-4147-A177-3AD203B41FA5}">
                      <a16:colId xmlns:a16="http://schemas.microsoft.com/office/drawing/2014/main" val="3791633562"/>
                    </a:ext>
                  </a:extLst>
                </a:gridCol>
              </a:tblGrid>
              <a:tr h="51334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err="1">
                          <a:effectLst/>
                          <a:latin typeface="Times New Roman"/>
                        </a:rPr>
                        <a:t>S.No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Problem Description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1st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2nd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3rd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4th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5th level Root Cause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763864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 [</a:t>
                      </a:r>
                      <a:r>
                        <a:rPr lang="en-US" sz="1200" err="1">
                          <a:effectLst/>
                          <a:latin typeface="Times New Roman"/>
                        </a:rPr>
                        <a:t>NoiseGenerator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] Noise does not output from L &amp; R channels.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Data format changes in run time 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Floating point operations happens for the fixed output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Data format variable update is not handled properly.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The data format based dB level multiplication is done only for L&amp;R channel  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This issue occurs only in L and R channels and not in other channels since the </a:t>
                      </a:r>
                      <a:r>
                        <a:rPr lang="en-US" sz="1200" err="1">
                          <a:effectLst/>
                          <a:latin typeface="Times New Roman"/>
                        </a:rPr>
                        <a:t>db</a:t>
                      </a:r>
                      <a:r>
                        <a:rPr lang="en-US" sz="1200" dirty="0">
                          <a:effectLst/>
                          <a:latin typeface="Times New Roman"/>
                        </a:rPr>
                        <a:t> level multiplication is not done in other channels.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1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1694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F40AC-8750-C468-799B-F2F32C58B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22</a:t>
            </a:fld>
            <a:endParaRPr lang="en-IN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5DD363D-DC71-8146-1089-CE5B5EE96A65}"/>
              </a:ext>
            </a:extLst>
          </p:cNvPr>
          <p:cNvSpPr txBox="1">
            <a:spLocks/>
          </p:cNvSpPr>
          <p:nvPr/>
        </p:nvSpPr>
        <p:spPr>
          <a:xfrm>
            <a:off x="462988" y="135038"/>
            <a:ext cx="12191999" cy="10287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Cont.</a:t>
            </a:r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45BB2-1CFA-50BB-6054-F81A16630064}"/>
              </a:ext>
            </a:extLst>
          </p:cNvPr>
          <p:cNvSpPr txBox="1"/>
          <p:nvPr/>
        </p:nvSpPr>
        <p:spPr>
          <a:xfrm>
            <a:off x="846508" y="1605165"/>
            <a:ext cx="102372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[Auro3D] Auro3D Engine doesn't expand the output channels during DTS-HD MA 1.0 stream even though Listening mode is "Auro3D"</a:t>
            </a:r>
            <a:endParaRPr lang="en-US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E605B8-9A5C-87A2-C461-46DB29DF7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48749"/>
              </p:ext>
            </p:extLst>
          </p:nvPr>
        </p:nvGraphicFramePr>
        <p:xfrm>
          <a:off x="580571" y="3002642"/>
          <a:ext cx="10571727" cy="17460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42209">
                  <a:extLst>
                    <a:ext uri="{9D8B030D-6E8A-4147-A177-3AD203B41FA5}">
                      <a16:colId xmlns:a16="http://schemas.microsoft.com/office/drawing/2014/main" val="3442136568"/>
                    </a:ext>
                  </a:extLst>
                </a:gridCol>
                <a:gridCol w="1507957">
                  <a:extLst>
                    <a:ext uri="{9D8B030D-6E8A-4147-A177-3AD203B41FA5}">
                      <a16:colId xmlns:a16="http://schemas.microsoft.com/office/drawing/2014/main" val="1389681508"/>
                    </a:ext>
                  </a:extLst>
                </a:gridCol>
                <a:gridCol w="1780673">
                  <a:extLst>
                    <a:ext uri="{9D8B030D-6E8A-4147-A177-3AD203B41FA5}">
                      <a16:colId xmlns:a16="http://schemas.microsoft.com/office/drawing/2014/main" val="3084948218"/>
                    </a:ext>
                  </a:extLst>
                </a:gridCol>
                <a:gridCol w="1596188">
                  <a:extLst>
                    <a:ext uri="{9D8B030D-6E8A-4147-A177-3AD203B41FA5}">
                      <a16:colId xmlns:a16="http://schemas.microsoft.com/office/drawing/2014/main" val="1380651151"/>
                    </a:ext>
                  </a:extLst>
                </a:gridCol>
                <a:gridCol w="1588163">
                  <a:extLst>
                    <a:ext uri="{9D8B030D-6E8A-4147-A177-3AD203B41FA5}">
                      <a16:colId xmlns:a16="http://schemas.microsoft.com/office/drawing/2014/main" val="390808056"/>
                    </a:ext>
                  </a:extLst>
                </a:gridCol>
                <a:gridCol w="1467848">
                  <a:extLst>
                    <a:ext uri="{9D8B030D-6E8A-4147-A177-3AD203B41FA5}">
                      <a16:colId xmlns:a16="http://schemas.microsoft.com/office/drawing/2014/main" val="3652691135"/>
                    </a:ext>
                  </a:extLst>
                </a:gridCol>
                <a:gridCol w="1788689">
                  <a:extLst>
                    <a:ext uri="{9D8B030D-6E8A-4147-A177-3AD203B41FA5}">
                      <a16:colId xmlns:a16="http://schemas.microsoft.com/office/drawing/2014/main" val="12206991"/>
                    </a:ext>
                  </a:extLst>
                </a:gridCol>
              </a:tblGrid>
              <a:tr h="59355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 err="1">
                          <a:effectLst/>
                          <a:latin typeface="Times New Roman"/>
                        </a:rPr>
                        <a:t>S.No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Problem Description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1st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2nd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3rd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4th level Root Cause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effectLst/>
                          <a:latin typeface="Times New Roman"/>
                        </a:rPr>
                        <a:t>5th level Root Cause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28829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dirty="0"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anchor="ctr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Auro3D Engine doesn't expand the output channels during DTS-HD MA 1.0 stream even though Listening mode is "Auro3D"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In DTSX case, If Auro is enabled, DTS commands will be updated based on Auro requirement. This update is not handled properly in the DTS kernel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In 1.0 stream case, Input configuration for Auro is updated unexpectedly from DTSX Decoder as 5.1 but the actual content is 1.0.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The wrong input channel configuration for Auro processing  causes improper output channels.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DTS command update for Default case and Auro case was not handled properly.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dirty="0">
                          <a:effectLst/>
                          <a:latin typeface="Times New Roman"/>
                        </a:rPr>
                        <a:t>For DTS command update, command initialization was not correct.</a:t>
                      </a:r>
                    </a:p>
                  </a:txBody>
                  <a:tcPr marL="9525" marR="9525" marT="9525">
                    <a:lnL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20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8594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F87BF2-E9BF-F08D-1EF0-146B19F33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789" y="1454853"/>
            <a:ext cx="11316966" cy="4020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Bell sound not observed for tuning tool enabled cases</a:t>
            </a:r>
            <a:endParaRPr lang="en-US" sz="1800" b="1" dirty="0">
              <a:latin typeface="Times New Roman"/>
              <a:cs typeface="Times New Roman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6D245A-52C7-D5E8-6BB7-06B6DEAA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23</a:t>
            </a:fld>
            <a:endParaRPr lang="en-IN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4C5BC7-58EE-258B-BE92-3D1FA773D1AC}"/>
              </a:ext>
            </a:extLst>
          </p:cNvPr>
          <p:cNvSpPr txBox="1">
            <a:spLocks/>
          </p:cNvSpPr>
          <p:nvPr/>
        </p:nvSpPr>
        <p:spPr>
          <a:xfrm>
            <a:off x="435774" y="461609"/>
            <a:ext cx="12191999" cy="820058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Cont.</a:t>
            </a:r>
            <a:endParaRPr lang="en-US" sz="3200" dirty="0">
              <a:solidFill>
                <a:srgbClr val="000000"/>
              </a:solidFill>
            </a:endParaRPr>
          </a:p>
          <a:p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9AE9B50-0558-D892-DB10-112E6667A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43981"/>
              </p:ext>
            </p:extLst>
          </p:nvPr>
        </p:nvGraphicFramePr>
        <p:xfrm>
          <a:off x="435429" y="2673787"/>
          <a:ext cx="11650955" cy="21278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97830">
                  <a:extLst>
                    <a:ext uri="{9D8B030D-6E8A-4147-A177-3AD203B41FA5}">
                      <a16:colId xmlns:a16="http://schemas.microsoft.com/office/drawing/2014/main" val="720098290"/>
                    </a:ext>
                  </a:extLst>
                </a:gridCol>
                <a:gridCol w="1435765">
                  <a:extLst>
                    <a:ext uri="{9D8B030D-6E8A-4147-A177-3AD203B41FA5}">
                      <a16:colId xmlns:a16="http://schemas.microsoft.com/office/drawing/2014/main" val="2888463342"/>
                    </a:ext>
                  </a:extLst>
                </a:gridCol>
                <a:gridCol w="1748589">
                  <a:extLst>
                    <a:ext uri="{9D8B030D-6E8A-4147-A177-3AD203B41FA5}">
                      <a16:colId xmlns:a16="http://schemas.microsoft.com/office/drawing/2014/main" val="2493359828"/>
                    </a:ext>
                  </a:extLst>
                </a:gridCol>
                <a:gridCol w="2069431">
                  <a:extLst>
                    <a:ext uri="{9D8B030D-6E8A-4147-A177-3AD203B41FA5}">
                      <a16:colId xmlns:a16="http://schemas.microsoft.com/office/drawing/2014/main" val="2148246504"/>
                    </a:ext>
                  </a:extLst>
                </a:gridCol>
                <a:gridCol w="2037347">
                  <a:extLst>
                    <a:ext uri="{9D8B030D-6E8A-4147-A177-3AD203B41FA5}">
                      <a16:colId xmlns:a16="http://schemas.microsoft.com/office/drawing/2014/main" val="223909701"/>
                    </a:ext>
                  </a:extLst>
                </a:gridCol>
                <a:gridCol w="1909005">
                  <a:extLst>
                    <a:ext uri="{9D8B030D-6E8A-4147-A177-3AD203B41FA5}">
                      <a16:colId xmlns:a16="http://schemas.microsoft.com/office/drawing/2014/main" val="1773910116"/>
                    </a:ext>
                  </a:extLst>
                </a:gridCol>
                <a:gridCol w="1752988">
                  <a:extLst>
                    <a:ext uri="{9D8B030D-6E8A-4147-A177-3AD203B41FA5}">
                      <a16:colId xmlns:a16="http://schemas.microsoft.com/office/drawing/2014/main" val="298776264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S.No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Problem Description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1st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2nd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3rd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4th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5th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748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sng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Bell sound not observed for tuning tool enabled cases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For 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/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mcpcm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+ tuning config enabled and 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dolby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decoders + tuning config enabled cases, bell sound is not observed.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For 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/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mcpcm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+ tuning config enabled and 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dolby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decoders + tuning config enabled cases, it was restricted from channel reorder so 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customer_pp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and timer functions will be skipped. So, bell sound is not observed.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Handling should be done by copying the DAP output to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customer_pp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buffer and postprocessing routine &amp; timer functions should take place for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/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mcpcm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+ tuning config enabled and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dolby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decoders + tuning config enabled cases.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256bit key design document need to </a:t>
                      </a:r>
                      <a:r>
                        <a:rPr lang="en-US" sz="1200" b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strenthen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97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3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EC66E-5CC2-E372-CDA5-45575CE6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5CED5-7605-4081-DDB6-94DA93BE2BC6}"/>
              </a:ext>
            </a:extLst>
          </p:cNvPr>
          <p:cNvSpPr txBox="1"/>
          <p:nvPr/>
        </p:nvSpPr>
        <p:spPr>
          <a:xfrm>
            <a:off x="796472" y="1485900"/>
            <a:ext cx="39224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Legacy_Mode_enable_issue</a:t>
            </a:r>
            <a:endParaRPr lang="en-US" b="1" err="1">
              <a:latin typeface="Times New Roman"/>
              <a:cs typeface="Times New Roman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9D51E7-54F4-CF9D-7DDC-7FF1140B27B4}"/>
              </a:ext>
            </a:extLst>
          </p:cNvPr>
          <p:cNvSpPr txBox="1">
            <a:spLocks/>
          </p:cNvSpPr>
          <p:nvPr/>
        </p:nvSpPr>
        <p:spPr>
          <a:xfrm>
            <a:off x="462988" y="135038"/>
            <a:ext cx="12191999" cy="10287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Cont.</a:t>
            </a:r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00AB167-281D-2F63-BEAE-414951019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153259"/>
              </p:ext>
            </p:extLst>
          </p:nvPr>
        </p:nvGraphicFramePr>
        <p:xfrm>
          <a:off x="961571" y="2739571"/>
          <a:ext cx="10642661" cy="157924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1578">
                  <a:extLst>
                    <a:ext uri="{9D8B030D-6E8A-4147-A177-3AD203B41FA5}">
                      <a16:colId xmlns:a16="http://schemas.microsoft.com/office/drawing/2014/main" val="1424217255"/>
                    </a:ext>
                  </a:extLst>
                </a:gridCol>
                <a:gridCol w="1620252">
                  <a:extLst>
                    <a:ext uri="{9D8B030D-6E8A-4147-A177-3AD203B41FA5}">
                      <a16:colId xmlns:a16="http://schemas.microsoft.com/office/drawing/2014/main" val="2360905420"/>
                    </a:ext>
                  </a:extLst>
                </a:gridCol>
                <a:gridCol w="1764164">
                  <a:extLst>
                    <a:ext uri="{9D8B030D-6E8A-4147-A177-3AD203B41FA5}">
                      <a16:colId xmlns:a16="http://schemas.microsoft.com/office/drawing/2014/main" val="811740242"/>
                    </a:ext>
                  </a:extLst>
                </a:gridCol>
                <a:gridCol w="1490137">
                  <a:extLst>
                    <a:ext uri="{9D8B030D-6E8A-4147-A177-3AD203B41FA5}">
                      <a16:colId xmlns:a16="http://schemas.microsoft.com/office/drawing/2014/main" val="1541925418"/>
                    </a:ext>
                  </a:extLst>
                </a:gridCol>
                <a:gridCol w="1686183">
                  <a:extLst>
                    <a:ext uri="{9D8B030D-6E8A-4147-A177-3AD203B41FA5}">
                      <a16:colId xmlns:a16="http://schemas.microsoft.com/office/drawing/2014/main" val="211828383"/>
                    </a:ext>
                  </a:extLst>
                </a:gridCol>
                <a:gridCol w="1747802">
                  <a:extLst>
                    <a:ext uri="{9D8B030D-6E8A-4147-A177-3AD203B41FA5}">
                      <a16:colId xmlns:a16="http://schemas.microsoft.com/office/drawing/2014/main" val="470047846"/>
                    </a:ext>
                  </a:extLst>
                </a:gridCol>
                <a:gridCol w="1732545">
                  <a:extLst>
                    <a:ext uri="{9D8B030D-6E8A-4147-A177-3AD203B41FA5}">
                      <a16:colId xmlns:a16="http://schemas.microsoft.com/office/drawing/2014/main" val="108553004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S.No</a:t>
                      </a:r>
                      <a:endParaRPr lang="en-US" sz="1200" b="1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Problem Description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1st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2nd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3rd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4th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5th level Root Cause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643137"/>
                  </a:ext>
                </a:extLst>
              </a:tr>
              <a:tr h="8101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sng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1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Legacy_Mode_enable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_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issue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While enabling legacy in TTL,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Legacy_mode_enable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is enabled/set as 1 in core1 but not enabling in core2.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The legacy value is not updated properly for core2.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Shared variable handling for </a:t>
                      </a:r>
                      <a:r>
                        <a:rPr lang="en-US" sz="1200" err="1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Legacy_mode_enable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 variable should be done in core1 and core2.</a:t>
                      </a:r>
                    </a:p>
                  </a:txBody>
                  <a:tcPr marL="9525" marR="9525" marT="9525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Shared memory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Times New Roman"/>
                        </a:rPr>
                        <a:t> handling is not done properly</a:t>
                      </a:r>
                    </a:p>
                  </a:txBody>
                  <a:tcPr marL="9525" marR="9525" marT="95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9525" marR="9525" marT="95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042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8535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0EC66E-5CC2-E372-CDA5-45575CE6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5547-B499-4273-BF07-F756EAEC2F73}" type="slidenum">
              <a:rPr lang="en-IN" smtClean="0"/>
              <a:t>25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25CED5-7605-4081-DDB6-94DA93BE2BC6}"/>
              </a:ext>
            </a:extLst>
          </p:cNvPr>
          <p:cNvSpPr txBox="1"/>
          <p:nvPr/>
        </p:nvSpPr>
        <p:spPr>
          <a:xfrm>
            <a:off x="1259114" y="1921329"/>
            <a:ext cx="2561771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err="1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Elementool</a:t>
            </a:r>
            <a:endParaRPr lang="en-US" sz="2400" b="1">
              <a:solidFill>
                <a:srgbClr val="333333"/>
              </a:solidFill>
              <a:latin typeface="Times New Roman"/>
              <a:ea typeface="Verdana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Issue </a:t>
            </a:r>
            <a:endParaRPr lang="en-US">
              <a:solidFill>
                <a:srgbClr val="000000"/>
              </a:solidFill>
              <a:latin typeface="Aptos" panose="020B0004020202020204"/>
              <a:ea typeface="Verdana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Query</a:t>
            </a:r>
            <a:endParaRPr lang="en-US" dirty="0">
              <a:solidFill>
                <a:srgbClr val="000000"/>
              </a:solidFill>
              <a:latin typeface="Aptos" panose="020B0004020202020204"/>
              <a:ea typeface="Verdana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333333"/>
                </a:solidFill>
                <a:latin typeface="Times New Roman"/>
                <a:ea typeface="Verdana"/>
                <a:cs typeface="Times New Roman"/>
              </a:rPr>
              <a:t>Requirement 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9D51E7-54F4-CF9D-7DDC-7FF1140B27B4}"/>
              </a:ext>
            </a:extLst>
          </p:cNvPr>
          <p:cNvSpPr txBox="1">
            <a:spLocks/>
          </p:cNvSpPr>
          <p:nvPr/>
        </p:nvSpPr>
        <p:spPr>
          <a:xfrm>
            <a:off x="462988" y="135038"/>
            <a:ext cx="12191999" cy="10287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Cont.</a:t>
            </a:r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1505E18-127D-9F4E-99EF-5F572A59E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022" y="1333499"/>
            <a:ext cx="7320027" cy="487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50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CEFDF-0A8E-43CC-92B1-4A58256DC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717" y="1218996"/>
            <a:ext cx="11316966" cy="801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latin typeface="Times New Roman"/>
                <a:cs typeface="Times New Roman"/>
              </a:rPr>
              <a:t>Simulate an ELT from </a:t>
            </a:r>
            <a:r>
              <a:rPr lang="en-US" sz="1800" err="1">
                <a:latin typeface="Times New Roman"/>
                <a:cs typeface="Times New Roman"/>
              </a:rPr>
              <a:t>elementool</a:t>
            </a:r>
            <a:endParaRPr lang="en-US" sz="1800" dirty="0">
              <a:latin typeface="Times New Roman"/>
              <a:cs typeface="Times New Roman"/>
            </a:endParaRPr>
          </a:p>
          <a:p>
            <a:r>
              <a:rPr lang="en-US" sz="1800" dirty="0">
                <a:latin typeface="Times New Roman"/>
                <a:cs typeface="Times New Roman"/>
              </a:rPr>
              <a:t>Pareto chart design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793EEB-DC58-7177-071F-84FE3275F144}"/>
              </a:ext>
            </a:extLst>
          </p:cNvPr>
          <p:cNvSpPr txBox="1">
            <a:spLocks/>
          </p:cNvSpPr>
          <p:nvPr/>
        </p:nvSpPr>
        <p:spPr>
          <a:xfrm>
            <a:off x="462988" y="135038"/>
            <a:ext cx="12191999" cy="1028700"/>
          </a:xfrm>
          <a:prstGeom prst="rect">
            <a:avLst/>
          </a:prstGeom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10086"/>
                </a:solidFill>
              </a:rPr>
              <a:t>Task</a:t>
            </a:r>
            <a:endParaRPr lang="en-US" sz="3200" dirty="0">
              <a:solidFill>
                <a:srgbClr val="01008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199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ED1CEE6-8BBE-4393-857A-BEE0A5C48EE0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3" name="Picture 2" descr="A close-up of a chat&#10;&#10;Description automatically generated">
            <a:extLst>
              <a:ext uri="{FF2B5EF4-FFF2-40B4-BE49-F238E27FC236}">
                <a16:creationId xmlns:a16="http://schemas.microsoft.com/office/drawing/2014/main" id="{0F90654B-C9B4-96CC-73AB-00F0B5141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571" y="1461655"/>
            <a:ext cx="6096000" cy="393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615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41FD01-C0A5-41E2-8477-6E48932A11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3735547-B499-4273-BF07-F756EAEC2F73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97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1196</Words>
  <Application>Microsoft Office PowerPoint</Application>
  <PresentationFormat>Widescreen</PresentationFormat>
  <Paragraphs>182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Nagaraj Selvaraj</cp:lastModifiedBy>
  <cp:revision>325</cp:revision>
  <dcterms:created xsi:type="dcterms:W3CDTF">2013-07-15T20:26:40Z</dcterms:created>
  <dcterms:modified xsi:type="dcterms:W3CDTF">2024-11-05T05:23:20Z</dcterms:modified>
</cp:coreProperties>
</file>