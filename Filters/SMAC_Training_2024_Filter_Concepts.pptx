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4"/>
  </p:sldMasterIdLst>
  <p:notesMasterIdLst>
    <p:notesMasterId r:id="rId23"/>
  </p:notesMasterIdLst>
  <p:sldIdLst>
    <p:sldId id="256" r:id="rId5"/>
    <p:sldId id="287" r:id="rId6"/>
    <p:sldId id="299" r:id="rId7"/>
    <p:sldId id="272" r:id="rId8"/>
    <p:sldId id="280" r:id="rId9"/>
    <p:sldId id="275" r:id="rId10"/>
    <p:sldId id="288" r:id="rId11"/>
    <p:sldId id="289" r:id="rId12"/>
    <p:sldId id="290" r:id="rId13"/>
    <p:sldId id="291" r:id="rId14"/>
    <p:sldId id="298" r:id="rId15"/>
    <p:sldId id="296" r:id="rId16"/>
    <p:sldId id="297" r:id="rId17"/>
    <p:sldId id="282" r:id="rId18"/>
    <p:sldId id="283" r:id="rId19"/>
    <p:sldId id="284" r:id="rId20"/>
    <p:sldId id="285" r:id="rId21"/>
    <p:sldId id="269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CC4FF162-B20D-0E9F-FF77-55307C7322A1}" name="Vishnuchandran.Ravi" initials="Vi" userId="S::vishnuchandran.ravi@jasmin-infotech.com::b7ca43b6-59a4-4780-8f6c-4c292c33d98e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008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A502863-248F-7AAB-E87B-989FE8A59DC6}" v="192" dt="2024-10-06T16:41:47.344"/>
    <p1510:client id="{4A0B22EE-4621-580F-010E-E7C7A328ED76}" v="930" dt="2024-10-07T17:11:54.765"/>
    <p1510:client id="{795D9E50-303D-B45E-4214-507016E2317D}" v="185" dt="2024-10-08T01:55:19.440"/>
    <p1510:client id="{BACB232F-B281-3169-AF1D-79FD9256ACBC}" v="96" dt="2024-10-06T14:56:54.327"/>
    <p1510:client id="{F09583F9-2836-AC39-47C0-5AA6B5BAA847}" v="5" dt="2024-10-07T14:08:44.33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notesMaster" Target="notesMasters/notesMaster1.xml"/><Relationship Id="rId28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E6F84F-415A-4DAA-9779-B90E19A84FF0}" type="datetimeFigureOut">
              <a:rPr lang="en-IN" smtClean="0"/>
              <a:t>07-10-2024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4E07B7-A532-4025-953D-57EC5826ED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04521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jpe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Box 16">
            <a:extLst>
              <a:ext uri="{FF2B5EF4-FFF2-40B4-BE49-F238E27FC236}">
                <a16:creationId xmlns:a16="http://schemas.microsoft.com/office/drawing/2014/main" id="{4124788B-26D4-40D5-ADB7-E3EFDD03A2B4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5337897" y="6411954"/>
            <a:ext cx="1676400" cy="25391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sz="1050" b="0" u="sng">
                <a:solidFill>
                  <a:srgbClr val="000099"/>
                </a:solidFill>
                <a:latin typeface="+mn-lt"/>
              </a:rPr>
              <a:t>www.jasmin-infotech.com</a:t>
            </a:r>
            <a:endParaRPr lang="en-US" sz="1400" b="0" i="1">
              <a:solidFill>
                <a:srgbClr val="C14916"/>
              </a:solidFill>
              <a:latin typeface="+mn-lt"/>
            </a:endParaRPr>
          </a:p>
        </p:txBody>
      </p:sp>
      <p:sp>
        <p:nvSpPr>
          <p:cNvPr id="11" name="Slide Number Placeholder 12">
            <a:extLst>
              <a:ext uri="{FF2B5EF4-FFF2-40B4-BE49-F238E27FC236}">
                <a16:creationId xmlns:a16="http://schemas.microsoft.com/office/drawing/2014/main" id="{31D66A2A-A548-48C9-922B-D62471CE87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134600" y="6422754"/>
            <a:ext cx="1219199" cy="298721"/>
          </a:xfrm>
          <a:prstGeom prst="rect">
            <a:avLst/>
          </a:prstGeom>
        </p:spPr>
        <p:txBody>
          <a:bodyPr/>
          <a:lstStyle/>
          <a:p>
            <a:fld id="{83735547-B499-4273-BF07-F756EAEC2F73}" type="slidenum">
              <a:rPr lang="en-IN" smtClean="0"/>
              <a:t>‹#›</a:t>
            </a:fld>
            <a:endParaRPr lang="en-IN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D138D3F-CC47-0FF9-D4CB-EC6B2E5ACB8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225129" y="2298963"/>
            <a:ext cx="3741742" cy="120032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3E40779-73A9-914E-2480-9A29EBF05473}"/>
              </a:ext>
            </a:extLst>
          </p:cNvPr>
          <p:cNvSpPr txBox="1"/>
          <p:nvPr userDrawn="1"/>
        </p:nvSpPr>
        <p:spPr>
          <a:xfrm>
            <a:off x="4963435" y="3499292"/>
            <a:ext cx="242532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i="1">
                <a:solidFill>
                  <a:srgbClr val="000000"/>
                </a:solidFill>
                <a:effectLst/>
              </a:rPr>
              <a:t>Helping you innovate</a:t>
            </a:r>
            <a:endParaRPr lang="en-IN" sz="2000" b="1" i="1"/>
          </a:p>
        </p:txBody>
      </p:sp>
      <p:pic>
        <p:nvPicPr>
          <p:cNvPr id="4" name="Picture 3" descr="A picture containing text, font, logo, graphics&#10;&#10;Description automatically generated">
            <a:extLst>
              <a:ext uri="{FF2B5EF4-FFF2-40B4-BE49-F238E27FC236}">
                <a16:creationId xmlns:a16="http://schemas.microsoft.com/office/drawing/2014/main" id="{FE7E01E8-D30E-15CC-EEBD-2C36403598B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97054" y="247217"/>
            <a:ext cx="2197891" cy="17747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02865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F6EA4D-61F7-48C2-AF6D-1188E40D24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8575" y="1268088"/>
            <a:ext cx="11335108" cy="508826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0DA613D-B314-4766-868E-E2A78364DF0B}"/>
              </a:ext>
            </a:extLst>
          </p:cNvPr>
          <p:cNvCxnSpPr/>
          <p:nvPr userDrawn="1"/>
        </p:nvCxnSpPr>
        <p:spPr>
          <a:xfrm>
            <a:off x="2057400" y="6629400"/>
            <a:ext cx="0" cy="228600"/>
          </a:xfrm>
          <a:prstGeom prst="line">
            <a:avLst/>
          </a:prstGeom>
          <a:ln w="63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Slide Number Placeholder 12">
            <a:extLst>
              <a:ext uri="{FF2B5EF4-FFF2-40B4-BE49-F238E27FC236}">
                <a16:creationId xmlns:a16="http://schemas.microsoft.com/office/drawing/2014/main" id="{BB4F4F2C-6052-4C5E-8666-50B26C3430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134600" y="6422754"/>
            <a:ext cx="1219199" cy="298721"/>
          </a:xfrm>
          <a:prstGeom prst="rect">
            <a:avLst/>
          </a:prstGeom>
        </p:spPr>
        <p:txBody>
          <a:bodyPr/>
          <a:lstStyle/>
          <a:p>
            <a:fld id="{83735547-B499-4273-BF07-F756EAEC2F73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8026290-33FD-442D-B8F4-AA106F7AFECA}"/>
              </a:ext>
            </a:extLst>
          </p:cNvPr>
          <p:cNvCxnSpPr>
            <a:cxnSpLocks/>
          </p:cNvCxnSpPr>
          <p:nvPr userDrawn="1"/>
        </p:nvCxnSpPr>
        <p:spPr>
          <a:xfrm>
            <a:off x="448575" y="1064707"/>
            <a:ext cx="11335108" cy="0"/>
          </a:xfrm>
          <a:prstGeom prst="line">
            <a:avLst/>
          </a:prstGeom>
          <a:ln w="19050">
            <a:solidFill>
              <a:srgbClr val="00008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Picture 14">
            <a:extLst>
              <a:ext uri="{FF2B5EF4-FFF2-40B4-BE49-F238E27FC236}">
                <a16:creationId xmlns:a16="http://schemas.microsoft.com/office/drawing/2014/main" id="{AD7D019D-615E-477C-9081-4003E46BBA3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78951" y="209850"/>
            <a:ext cx="674848" cy="719818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6B8B8F03-C00E-48FD-AE30-ACE3CA0240CF}"/>
              </a:ext>
            </a:extLst>
          </p:cNvPr>
          <p:cNvSpPr txBox="1"/>
          <p:nvPr userDrawn="1"/>
        </p:nvSpPr>
        <p:spPr>
          <a:xfrm>
            <a:off x="448575" y="387200"/>
            <a:ext cx="10230376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2800">
                <a:solidFill>
                  <a:srgbClr val="010086"/>
                </a:solidFill>
                <a:latin typeface="Century Gothic" panose="020B0502020202020204" pitchFamily="34" charset="0"/>
              </a:rPr>
              <a:t>Document history</a:t>
            </a:r>
            <a:endParaRPr lang="en-IN" sz="280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85468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B4D500-044D-4F8A-9311-1D19A1E0D6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9"/>
            <a:ext cx="10515600" cy="1719262"/>
          </a:xfrm>
        </p:spPr>
        <p:txBody>
          <a:bodyPr anchor="b">
            <a:normAutofit/>
          </a:bodyPr>
          <a:lstStyle>
            <a:lvl1pPr>
              <a:defRPr sz="2800">
                <a:latin typeface="Century Gothic" panose="020B0502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A8A540-5472-4C45-9471-5968D6BC44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3839370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  <a:latin typeface="Century Gothic" panose="020B0502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 hidden="1">
            <a:extLst>
              <a:ext uri="{FF2B5EF4-FFF2-40B4-BE49-F238E27FC236}">
                <a16:creationId xmlns:a16="http://schemas.microsoft.com/office/drawing/2014/main" id="{470DE521-D3F7-4AC9-95DC-EFEFD3DE859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5" name="Footer Placeholder 4" hidden="1">
            <a:extLst>
              <a:ext uri="{FF2B5EF4-FFF2-40B4-BE49-F238E27FC236}">
                <a16:creationId xmlns:a16="http://schemas.microsoft.com/office/drawing/2014/main" id="{4B1DF27C-CA9A-40E8-A56A-2B7A4035CD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CONFIDENTIAL I Shared under NDA</a:t>
            </a:r>
            <a:endParaRPr lang="en-IN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1B7E32C-6A60-4344-8FB2-6251996B6247}"/>
              </a:ext>
            </a:extLst>
          </p:cNvPr>
          <p:cNvCxnSpPr>
            <a:cxnSpLocks/>
          </p:cNvCxnSpPr>
          <p:nvPr userDrawn="1"/>
        </p:nvCxnSpPr>
        <p:spPr>
          <a:xfrm>
            <a:off x="838200" y="3455687"/>
            <a:ext cx="11353800" cy="0"/>
          </a:xfrm>
          <a:prstGeom prst="line">
            <a:avLst/>
          </a:prstGeom>
          <a:ln w="38100">
            <a:solidFill>
              <a:srgbClr val="00008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39106E4-29D0-496D-9A43-CB891643C286}"/>
              </a:ext>
            </a:extLst>
          </p:cNvPr>
          <p:cNvCxnSpPr/>
          <p:nvPr userDrawn="1"/>
        </p:nvCxnSpPr>
        <p:spPr>
          <a:xfrm>
            <a:off x="2057400" y="6629400"/>
            <a:ext cx="0" cy="228600"/>
          </a:xfrm>
          <a:prstGeom prst="line">
            <a:avLst/>
          </a:prstGeom>
          <a:ln w="63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Slide Number Placeholder 12">
            <a:extLst>
              <a:ext uri="{FF2B5EF4-FFF2-40B4-BE49-F238E27FC236}">
                <a16:creationId xmlns:a16="http://schemas.microsoft.com/office/drawing/2014/main" id="{A42DA796-DA88-4A79-99C5-26352F6730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134600" y="6422754"/>
            <a:ext cx="1219199" cy="298721"/>
          </a:xfrm>
          <a:prstGeom prst="rect">
            <a:avLst/>
          </a:prstGeom>
        </p:spPr>
        <p:txBody>
          <a:bodyPr/>
          <a:lstStyle/>
          <a:p>
            <a:fld id="{83735547-B499-4273-BF07-F756EAEC2F73}" type="slidenum">
              <a:rPr lang="en-IN" smtClean="0"/>
              <a:t>‹#›</a:t>
            </a:fld>
            <a:endParaRPr lang="en-IN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B906B2E-F395-462F-BCAA-5B24E2A4169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78951" y="209850"/>
            <a:ext cx="674848" cy="719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34040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F6EA4D-61F7-48C2-AF6D-1188E40D24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8575" y="1218996"/>
            <a:ext cx="11335108" cy="5137352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0DA613D-B314-4766-868E-E2A78364DF0B}"/>
              </a:ext>
            </a:extLst>
          </p:cNvPr>
          <p:cNvCxnSpPr/>
          <p:nvPr userDrawn="1"/>
        </p:nvCxnSpPr>
        <p:spPr>
          <a:xfrm>
            <a:off x="2057400" y="6629400"/>
            <a:ext cx="0" cy="228600"/>
          </a:xfrm>
          <a:prstGeom prst="line">
            <a:avLst/>
          </a:prstGeom>
          <a:ln w="63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86C6A39-B8E4-4532-96D5-5915685A7FB5}"/>
              </a:ext>
            </a:extLst>
          </p:cNvPr>
          <p:cNvCxnSpPr>
            <a:cxnSpLocks/>
          </p:cNvCxnSpPr>
          <p:nvPr userDrawn="1"/>
        </p:nvCxnSpPr>
        <p:spPr>
          <a:xfrm>
            <a:off x="448575" y="1064707"/>
            <a:ext cx="11335108" cy="0"/>
          </a:xfrm>
          <a:prstGeom prst="line">
            <a:avLst/>
          </a:prstGeom>
          <a:ln w="19050">
            <a:solidFill>
              <a:srgbClr val="00008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Slide Number Placeholder 12">
            <a:extLst>
              <a:ext uri="{FF2B5EF4-FFF2-40B4-BE49-F238E27FC236}">
                <a16:creationId xmlns:a16="http://schemas.microsoft.com/office/drawing/2014/main" id="{3EE4CF6D-F48F-4791-83CA-3DB99D72A2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134600" y="6422754"/>
            <a:ext cx="1219199" cy="298721"/>
          </a:xfrm>
          <a:prstGeom prst="rect">
            <a:avLst/>
          </a:prstGeom>
        </p:spPr>
        <p:txBody>
          <a:bodyPr/>
          <a:lstStyle/>
          <a:p>
            <a:fld id="{83735547-B499-4273-BF07-F756EAEC2F73}" type="slidenum">
              <a:rPr lang="en-IN" smtClean="0"/>
              <a:t>‹#›</a:t>
            </a:fld>
            <a:endParaRPr lang="en-IN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89C2C37E-1BD9-4EA1-880A-134343D0CA9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78951" y="209850"/>
            <a:ext cx="674848" cy="719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33568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l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F6EA4D-61F7-48C2-AF6D-1188E40D24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8576" y="1310522"/>
            <a:ext cx="5647424" cy="5045825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0DA613D-B314-4766-868E-E2A78364DF0B}"/>
              </a:ext>
            </a:extLst>
          </p:cNvPr>
          <p:cNvCxnSpPr/>
          <p:nvPr userDrawn="1"/>
        </p:nvCxnSpPr>
        <p:spPr>
          <a:xfrm>
            <a:off x="2057400" y="6629400"/>
            <a:ext cx="0" cy="228600"/>
          </a:xfrm>
          <a:prstGeom prst="line">
            <a:avLst/>
          </a:prstGeom>
          <a:ln w="63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DC49C9CF-5B99-4CA1-BA59-9B7CCDC6B8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134600" y="6422754"/>
            <a:ext cx="1219199" cy="298721"/>
          </a:xfrm>
          <a:prstGeom prst="rect">
            <a:avLst/>
          </a:prstGeom>
        </p:spPr>
        <p:txBody>
          <a:bodyPr/>
          <a:lstStyle/>
          <a:p>
            <a:fld id="{83735547-B499-4273-BF07-F756EAEC2F73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3733A8E9-BBE7-4DE2-90F0-B2F1E9E74246}"/>
              </a:ext>
            </a:extLst>
          </p:cNvPr>
          <p:cNvCxnSpPr>
            <a:cxnSpLocks/>
          </p:cNvCxnSpPr>
          <p:nvPr userDrawn="1"/>
        </p:nvCxnSpPr>
        <p:spPr>
          <a:xfrm>
            <a:off x="448575" y="1064707"/>
            <a:ext cx="11335108" cy="0"/>
          </a:xfrm>
          <a:prstGeom prst="line">
            <a:avLst/>
          </a:prstGeom>
          <a:ln w="19050">
            <a:solidFill>
              <a:srgbClr val="00008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Picture 14">
            <a:extLst>
              <a:ext uri="{FF2B5EF4-FFF2-40B4-BE49-F238E27FC236}">
                <a16:creationId xmlns:a16="http://schemas.microsoft.com/office/drawing/2014/main" id="{AA85F8C5-0F17-4B54-966D-E64505CB7F6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78951" y="209850"/>
            <a:ext cx="674848" cy="719818"/>
          </a:xfrm>
          <a:prstGeom prst="rect">
            <a:avLst/>
          </a:prstGeom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B0671208-5BEA-40D8-A25A-CD1E84DC4EEE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096000" y="1310522"/>
            <a:ext cx="5647424" cy="5045825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63791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ubtitle 2">
            <a:extLst>
              <a:ext uri="{FF2B5EF4-FFF2-40B4-BE49-F238E27FC236}">
                <a16:creationId xmlns:a16="http://schemas.microsoft.com/office/drawing/2014/main" id="{35B1BB6A-62CB-411F-8E6F-CE29E323FDD6}"/>
              </a:ext>
            </a:extLst>
          </p:cNvPr>
          <p:cNvSpPr txBox="1">
            <a:spLocks/>
          </p:cNvSpPr>
          <p:nvPr userDrawn="1"/>
        </p:nvSpPr>
        <p:spPr>
          <a:xfrm>
            <a:off x="4917287" y="5337469"/>
            <a:ext cx="6094602" cy="8853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4050">
                <a:solidFill>
                  <a:schemeClr val="accent2"/>
                </a:solidFill>
              </a:rPr>
              <a:t>THANK YOU!</a:t>
            </a:r>
            <a:endParaRPr lang="en-IN" sz="4050">
              <a:solidFill>
                <a:schemeClr val="accent2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D780C04-86F0-48AA-880D-9780441582D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617128" y="2485236"/>
            <a:ext cx="3467080" cy="1112219"/>
          </a:xfrm>
          <a:prstGeom prst="rect">
            <a:avLst/>
          </a:prstGeom>
        </p:spPr>
      </p:pic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2F3AA549-D622-4A21-9ECE-DB969E0703AF}"/>
              </a:ext>
            </a:extLst>
          </p:cNvPr>
          <p:cNvSpPr/>
          <p:nvPr userDrawn="1"/>
        </p:nvSpPr>
        <p:spPr>
          <a:xfrm>
            <a:off x="11144304" y="4221882"/>
            <a:ext cx="209496" cy="209496"/>
          </a:xfrm>
          <a:custGeom>
            <a:avLst/>
            <a:gdLst>
              <a:gd name="connsiteX0" fmla="*/ 101580 w 279328"/>
              <a:gd name="connsiteY0" fmla="*/ 209496 h 279328"/>
              <a:gd name="connsiteX1" fmla="*/ 107916 w 279328"/>
              <a:gd name="connsiteY1" fmla="*/ 215846 h 279328"/>
              <a:gd name="connsiteX2" fmla="*/ 106067 w 279328"/>
              <a:gd name="connsiteY2" fmla="*/ 220333 h 279328"/>
              <a:gd name="connsiteX3" fmla="*/ 87018 w 279328"/>
              <a:gd name="connsiteY3" fmla="*/ 239382 h 279328"/>
              <a:gd name="connsiteX4" fmla="*/ 82531 w 279328"/>
              <a:gd name="connsiteY4" fmla="*/ 241244 h 279328"/>
              <a:gd name="connsiteX5" fmla="*/ 76182 w 279328"/>
              <a:gd name="connsiteY5" fmla="*/ 234894 h 279328"/>
              <a:gd name="connsiteX6" fmla="*/ 78044 w 279328"/>
              <a:gd name="connsiteY6" fmla="*/ 230407 h 279328"/>
              <a:gd name="connsiteX7" fmla="*/ 97079 w 279328"/>
              <a:gd name="connsiteY7" fmla="*/ 211358 h 279328"/>
              <a:gd name="connsiteX8" fmla="*/ 101580 w 279328"/>
              <a:gd name="connsiteY8" fmla="*/ 209496 h 279328"/>
              <a:gd name="connsiteX9" fmla="*/ 95230 w 279328"/>
              <a:gd name="connsiteY9" fmla="*/ 177748 h 279328"/>
              <a:gd name="connsiteX10" fmla="*/ 101580 w 279328"/>
              <a:gd name="connsiteY10" fmla="*/ 184111 h 279328"/>
              <a:gd name="connsiteX11" fmla="*/ 99718 w 279328"/>
              <a:gd name="connsiteY11" fmla="*/ 188585 h 279328"/>
              <a:gd name="connsiteX12" fmla="*/ 36235 w 279328"/>
              <a:gd name="connsiteY12" fmla="*/ 252081 h 279328"/>
              <a:gd name="connsiteX13" fmla="*/ 31748 w 279328"/>
              <a:gd name="connsiteY13" fmla="*/ 253930 h 279328"/>
              <a:gd name="connsiteX14" fmla="*/ 25398 w 279328"/>
              <a:gd name="connsiteY14" fmla="*/ 247580 h 279328"/>
              <a:gd name="connsiteX15" fmla="*/ 27247 w 279328"/>
              <a:gd name="connsiteY15" fmla="*/ 243093 h 279328"/>
              <a:gd name="connsiteX16" fmla="*/ 90743 w 279328"/>
              <a:gd name="connsiteY16" fmla="*/ 179611 h 279328"/>
              <a:gd name="connsiteX17" fmla="*/ 95230 w 279328"/>
              <a:gd name="connsiteY17" fmla="*/ 177748 h 279328"/>
              <a:gd name="connsiteX18" fmla="*/ 63483 w 279328"/>
              <a:gd name="connsiteY18" fmla="*/ 171412 h 279328"/>
              <a:gd name="connsiteX19" fmla="*/ 69833 w 279328"/>
              <a:gd name="connsiteY19" fmla="*/ 177748 h 279328"/>
              <a:gd name="connsiteX20" fmla="*/ 67971 w 279328"/>
              <a:gd name="connsiteY20" fmla="*/ 182249 h 279328"/>
              <a:gd name="connsiteX21" fmla="*/ 61621 w 279328"/>
              <a:gd name="connsiteY21" fmla="*/ 188585 h 279328"/>
              <a:gd name="connsiteX22" fmla="*/ 57134 w 279328"/>
              <a:gd name="connsiteY22" fmla="*/ 190448 h 279328"/>
              <a:gd name="connsiteX23" fmla="*/ 50784 w 279328"/>
              <a:gd name="connsiteY23" fmla="*/ 184111 h 279328"/>
              <a:gd name="connsiteX24" fmla="*/ 52647 w 279328"/>
              <a:gd name="connsiteY24" fmla="*/ 179611 h 279328"/>
              <a:gd name="connsiteX25" fmla="*/ 58996 w 279328"/>
              <a:gd name="connsiteY25" fmla="*/ 173261 h 279328"/>
              <a:gd name="connsiteX26" fmla="*/ 63483 w 279328"/>
              <a:gd name="connsiteY26" fmla="*/ 171412 h 279328"/>
              <a:gd name="connsiteX27" fmla="*/ 254176 w 279328"/>
              <a:gd name="connsiteY27" fmla="*/ 34140 h 279328"/>
              <a:gd name="connsiteX28" fmla="*/ 121728 w 279328"/>
              <a:gd name="connsiteY28" fmla="*/ 166588 h 279328"/>
              <a:gd name="connsiteX29" fmla="*/ 158816 w 279328"/>
              <a:gd name="connsiteY29" fmla="*/ 256646 h 279328"/>
              <a:gd name="connsiteX30" fmla="*/ 254176 w 279328"/>
              <a:gd name="connsiteY30" fmla="*/ 34140 h 279328"/>
              <a:gd name="connsiteX31" fmla="*/ 245188 w 279328"/>
              <a:gd name="connsiteY31" fmla="*/ 25153 h 279328"/>
              <a:gd name="connsiteX32" fmla="*/ 22695 w 279328"/>
              <a:gd name="connsiteY32" fmla="*/ 120525 h 279328"/>
              <a:gd name="connsiteX33" fmla="*/ 112753 w 279328"/>
              <a:gd name="connsiteY33" fmla="*/ 157601 h 279328"/>
              <a:gd name="connsiteX34" fmla="*/ 272978 w 279328"/>
              <a:gd name="connsiteY34" fmla="*/ 0 h 279328"/>
              <a:gd name="connsiteX35" fmla="*/ 279328 w 279328"/>
              <a:gd name="connsiteY35" fmla="*/ 6350 h 279328"/>
              <a:gd name="connsiteX36" fmla="*/ 278643 w 279328"/>
              <a:gd name="connsiteY36" fmla="*/ 9039 h 279328"/>
              <a:gd name="connsiteX37" fmla="*/ 278720 w 279328"/>
              <a:gd name="connsiteY37" fmla="*/ 9078 h 279328"/>
              <a:gd name="connsiteX38" fmla="*/ 164558 w 279328"/>
              <a:gd name="connsiteY38" fmla="*/ 275423 h 279328"/>
              <a:gd name="connsiteX39" fmla="*/ 164532 w 279328"/>
              <a:gd name="connsiteY39" fmla="*/ 275487 h 279328"/>
              <a:gd name="connsiteX40" fmla="*/ 164441 w 279328"/>
              <a:gd name="connsiteY40" fmla="*/ 275707 h 279328"/>
              <a:gd name="connsiteX41" fmla="*/ 164403 w 279328"/>
              <a:gd name="connsiteY41" fmla="*/ 275694 h 279328"/>
              <a:gd name="connsiteX42" fmla="*/ 158713 w 279328"/>
              <a:gd name="connsiteY42" fmla="*/ 279328 h 279328"/>
              <a:gd name="connsiteX43" fmla="*/ 152712 w 279328"/>
              <a:gd name="connsiteY43" fmla="*/ 274737 h 279328"/>
              <a:gd name="connsiteX44" fmla="*/ 152609 w 279328"/>
              <a:gd name="connsiteY44" fmla="*/ 274776 h 279328"/>
              <a:gd name="connsiteX45" fmla="*/ 109429 w 279328"/>
              <a:gd name="connsiteY45" fmla="*/ 169899 h 279328"/>
              <a:gd name="connsiteX46" fmla="*/ 4565 w 279328"/>
              <a:gd name="connsiteY46" fmla="*/ 126719 h 279328"/>
              <a:gd name="connsiteX47" fmla="*/ 4591 w 279328"/>
              <a:gd name="connsiteY47" fmla="*/ 126616 h 279328"/>
              <a:gd name="connsiteX48" fmla="*/ 0 w 279328"/>
              <a:gd name="connsiteY48" fmla="*/ 120615 h 279328"/>
              <a:gd name="connsiteX49" fmla="*/ 3634 w 279328"/>
              <a:gd name="connsiteY49" fmla="*/ 114925 h 279328"/>
              <a:gd name="connsiteX50" fmla="*/ 3621 w 279328"/>
              <a:gd name="connsiteY50" fmla="*/ 114900 h 279328"/>
              <a:gd name="connsiteX51" fmla="*/ 3841 w 279328"/>
              <a:gd name="connsiteY51" fmla="*/ 114796 h 279328"/>
              <a:gd name="connsiteX52" fmla="*/ 3905 w 279328"/>
              <a:gd name="connsiteY52" fmla="*/ 114770 h 279328"/>
              <a:gd name="connsiteX53" fmla="*/ 270250 w 279328"/>
              <a:gd name="connsiteY53" fmla="*/ 621 h 279328"/>
              <a:gd name="connsiteX54" fmla="*/ 270276 w 279328"/>
              <a:gd name="connsiteY54" fmla="*/ 673 h 279328"/>
              <a:gd name="connsiteX55" fmla="*/ 272978 w 279328"/>
              <a:gd name="connsiteY55" fmla="*/ 0 h 2793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279328" h="279328">
                <a:moveTo>
                  <a:pt x="101580" y="209496"/>
                </a:moveTo>
                <a:cubicBezTo>
                  <a:pt x="105084" y="209496"/>
                  <a:pt x="107916" y="212341"/>
                  <a:pt x="107916" y="215846"/>
                </a:cubicBezTo>
                <a:cubicBezTo>
                  <a:pt x="107916" y="217604"/>
                  <a:pt x="107218" y="219195"/>
                  <a:pt x="106067" y="220333"/>
                </a:cubicBezTo>
                <a:lnTo>
                  <a:pt x="87018" y="239382"/>
                </a:lnTo>
                <a:cubicBezTo>
                  <a:pt x="85867" y="240533"/>
                  <a:pt x="84277" y="241244"/>
                  <a:pt x="82531" y="241244"/>
                </a:cubicBezTo>
                <a:cubicBezTo>
                  <a:pt x="79027" y="241244"/>
                  <a:pt x="76182" y="238399"/>
                  <a:pt x="76182" y="234894"/>
                </a:cubicBezTo>
                <a:cubicBezTo>
                  <a:pt x="76182" y="233148"/>
                  <a:pt x="76893" y="231545"/>
                  <a:pt x="78044" y="230407"/>
                </a:cubicBezTo>
                <a:lnTo>
                  <a:pt x="97079" y="211358"/>
                </a:lnTo>
                <a:cubicBezTo>
                  <a:pt x="98230" y="210207"/>
                  <a:pt x="99821" y="209496"/>
                  <a:pt x="101580" y="209496"/>
                </a:cubicBezTo>
                <a:close/>
                <a:moveTo>
                  <a:pt x="95230" y="177748"/>
                </a:moveTo>
                <a:cubicBezTo>
                  <a:pt x="98735" y="177748"/>
                  <a:pt x="101580" y="180606"/>
                  <a:pt x="101580" y="184111"/>
                </a:cubicBezTo>
                <a:cubicBezTo>
                  <a:pt x="101580" y="185857"/>
                  <a:pt x="100868" y="187447"/>
                  <a:pt x="99718" y="188585"/>
                </a:cubicBezTo>
                <a:lnTo>
                  <a:pt x="36235" y="252081"/>
                </a:lnTo>
                <a:cubicBezTo>
                  <a:pt x="35084" y="253232"/>
                  <a:pt x="33493" y="253930"/>
                  <a:pt x="31748" y="253930"/>
                </a:cubicBezTo>
                <a:cubicBezTo>
                  <a:pt x="28243" y="253930"/>
                  <a:pt x="25398" y="251098"/>
                  <a:pt x="25398" y="247580"/>
                </a:cubicBezTo>
                <a:cubicBezTo>
                  <a:pt x="25398" y="245848"/>
                  <a:pt x="26109" y="244257"/>
                  <a:pt x="27247" y="243093"/>
                </a:cubicBezTo>
                <a:lnTo>
                  <a:pt x="90743" y="179611"/>
                </a:lnTo>
                <a:cubicBezTo>
                  <a:pt x="91881" y="178473"/>
                  <a:pt x="93471" y="177748"/>
                  <a:pt x="95230" y="177748"/>
                </a:cubicBezTo>
                <a:close/>
                <a:moveTo>
                  <a:pt x="63483" y="171412"/>
                </a:moveTo>
                <a:cubicBezTo>
                  <a:pt x="66988" y="171412"/>
                  <a:pt x="69833" y="174257"/>
                  <a:pt x="69833" y="177748"/>
                </a:cubicBezTo>
                <a:cubicBezTo>
                  <a:pt x="69833" y="179507"/>
                  <a:pt x="69122" y="181098"/>
                  <a:pt x="67971" y="182249"/>
                </a:cubicBezTo>
                <a:lnTo>
                  <a:pt x="61621" y="188585"/>
                </a:lnTo>
                <a:cubicBezTo>
                  <a:pt x="60470" y="189749"/>
                  <a:pt x="58893" y="190448"/>
                  <a:pt x="57134" y="190448"/>
                </a:cubicBezTo>
                <a:cubicBezTo>
                  <a:pt x="53629" y="190448"/>
                  <a:pt x="50784" y="187603"/>
                  <a:pt x="50784" y="184111"/>
                </a:cubicBezTo>
                <a:cubicBezTo>
                  <a:pt x="50784" y="182352"/>
                  <a:pt x="51496" y="180774"/>
                  <a:pt x="52647" y="179611"/>
                </a:cubicBezTo>
                <a:lnTo>
                  <a:pt x="58996" y="173261"/>
                </a:lnTo>
                <a:cubicBezTo>
                  <a:pt x="60147" y="172123"/>
                  <a:pt x="61738" y="171412"/>
                  <a:pt x="63483" y="171412"/>
                </a:cubicBezTo>
                <a:close/>
                <a:moveTo>
                  <a:pt x="254176" y="34140"/>
                </a:moveTo>
                <a:lnTo>
                  <a:pt x="121728" y="166588"/>
                </a:lnTo>
                <a:lnTo>
                  <a:pt x="158816" y="256646"/>
                </a:lnTo>
                <a:cubicBezTo>
                  <a:pt x="158816" y="256646"/>
                  <a:pt x="254176" y="34140"/>
                  <a:pt x="254176" y="34140"/>
                </a:cubicBezTo>
                <a:close/>
                <a:moveTo>
                  <a:pt x="245188" y="25153"/>
                </a:moveTo>
                <a:lnTo>
                  <a:pt x="22695" y="120525"/>
                </a:lnTo>
                <a:cubicBezTo>
                  <a:pt x="22695" y="120525"/>
                  <a:pt x="112753" y="157601"/>
                  <a:pt x="112753" y="157601"/>
                </a:cubicBezTo>
                <a:close/>
                <a:moveTo>
                  <a:pt x="272978" y="0"/>
                </a:moveTo>
                <a:cubicBezTo>
                  <a:pt x="276483" y="0"/>
                  <a:pt x="279328" y="2845"/>
                  <a:pt x="279328" y="6350"/>
                </a:cubicBezTo>
                <a:cubicBezTo>
                  <a:pt x="279328" y="7332"/>
                  <a:pt x="279043" y="8225"/>
                  <a:pt x="278643" y="9039"/>
                </a:cubicBezTo>
                <a:lnTo>
                  <a:pt x="278720" y="9078"/>
                </a:lnTo>
                <a:lnTo>
                  <a:pt x="164558" y="275423"/>
                </a:lnTo>
                <a:cubicBezTo>
                  <a:pt x="164558" y="275449"/>
                  <a:pt x="164545" y="275462"/>
                  <a:pt x="164532" y="275487"/>
                </a:cubicBezTo>
                <a:lnTo>
                  <a:pt x="164441" y="275707"/>
                </a:lnTo>
                <a:lnTo>
                  <a:pt x="164403" y="275694"/>
                </a:lnTo>
                <a:cubicBezTo>
                  <a:pt x="163381" y="277828"/>
                  <a:pt x="161234" y="279328"/>
                  <a:pt x="158713" y="279328"/>
                </a:cubicBezTo>
                <a:cubicBezTo>
                  <a:pt x="155829" y="279328"/>
                  <a:pt x="153488" y="277375"/>
                  <a:pt x="152712" y="274737"/>
                </a:cubicBezTo>
                <a:lnTo>
                  <a:pt x="152609" y="274776"/>
                </a:lnTo>
                <a:lnTo>
                  <a:pt x="109429" y="169899"/>
                </a:lnTo>
                <a:lnTo>
                  <a:pt x="4565" y="126719"/>
                </a:lnTo>
                <a:lnTo>
                  <a:pt x="4591" y="126616"/>
                </a:lnTo>
                <a:cubicBezTo>
                  <a:pt x="1953" y="125840"/>
                  <a:pt x="0" y="123499"/>
                  <a:pt x="0" y="120615"/>
                </a:cubicBezTo>
                <a:cubicBezTo>
                  <a:pt x="0" y="118094"/>
                  <a:pt x="1500" y="115960"/>
                  <a:pt x="3634" y="114925"/>
                </a:cubicBezTo>
                <a:lnTo>
                  <a:pt x="3621" y="114900"/>
                </a:lnTo>
                <a:lnTo>
                  <a:pt x="3841" y="114796"/>
                </a:lnTo>
                <a:cubicBezTo>
                  <a:pt x="3867" y="114783"/>
                  <a:pt x="3892" y="114770"/>
                  <a:pt x="3905" y="114770"/>
                </a:cubicBezTo>
                <a:lnTo>
                  <a:pt x="270250" y="621"/>
                </a:lnTo>
                <a:lnTo>
                  <a:pt x="270276" y="673"/>
                </a:lnTo>
                <a:cubicBezTo>
                  <a:pt x="271103" y="259"/>
                  <a:pt x="272009" y="0"/>
                  <a:pt x="272978" y="0"/>
                </a:cubicBezTo>
                <a:close/>
              </a:path>
            </a:pathLst>
          </a:cu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766"/>
            <a:endParaRPr lang="en-US" sz="1013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9A92232A-8606-49DF-8121-568064219514}"/>
              </a:ext>
            </a:extLst>
          </p:cNvPr>
          <p:cNvSpPr/>
          <p:nvPr userDrawn="1"/>
        </p:nvSpPr>
        <p:spPr>
          <a:xfrm>
            <a:off x="11144304" y="4561631"/>
            <a:ext cx="209496" cy="190451"/>
          </a:xfrm>
          <a:custGeom>
            <a:avLst/>
            <a:gdLst>
              <a:gd name="connsiteX0" fmla="*/ 101580 w 279328"/>
              <a:gd name="connsiteY0" fmla="*/ 76181 h 253935"/>
              <a:gd name="connsiteX1" fmla="*/ 12699 w 279328"/>
              <a:gd name="connsiteY1" fmla="*/ 149187 h 253935"/>
              <a:gd name="connsiteX2" fmla="*/ 39300 w 279328"/>
              <a:gd name="connsiteY2" fmla="*/ 201126 h 253935"/>
              <a:gd name="connsiteX3" fmla="*/ 43516 w 279328"/>
              <a:gd name="connsiteY3" fmla="*/ 214469 h 253935"/>
              <a:gd name="connsiteX4" fmla="*/ 38239 w 279328"/>
              <a:gd name="connsiteY4" fmla="*/ 232950 h 253935"/>
              <a:gd name="connsiteX5" fmla="*/ 71423 w 279328"/>
              <a:gd name="connsiteY5" fmla="*/ 220183 h 253935"/>
              <a:gd name="connsiteX6" fmla="*/ 75988 w 279328"/>
              <a:gd name="connsiteY6" fmla="*/ 219348 h 253935"/>
              <a:gd name="connsiteX7" fmla="*/ 78703 w 279328"/>
              <a:gd name="connsiteY7" fmla="*/ 219642 h 253935"/>
              <a:gd name="connsiteX8" fmla="*/ 101580 w 279328"/>
              <a:gd name="connsiteY8" fmla="*/ 222193 h 253935"/>
              <a:gd name="connsiteX9" fmla="*/ 190447 w 279328"/>
              <a:gd name="connsiteY9" fmla="*/ 149187 h 253935"/>
              <a:gd name="connsiteX10" fmla="*/ 101580 w 279328"/>
              <a:gd name="connsiteY10" fmla="*/ 76181 h 253935"/>
              <a:gd name="connsiteX11" fmla="*/ 101580 w 279328"/>
              <a:gd name="connsiteY11" fmla="*/ 63484 h 253935"/>
              <a:gd name="connsiteX12" fmla="*/ 203146 w 279328"/>
              <a:gd name="connsiteY12" fmla="*/ 149187 h 253935"/>
              <a:gd name="connsiteX13" fmla="*/ 101580 w 279328"/>
              <a:gd name="connsiteY13" fmla="*/ 234890 h 253935"/>
              <a:gd name="connsiteX14" fmla="*/ 75988 w 279328"/>
              <a:gd name="connsiteY14" fmla="*/ 232045 h 253935"/>
              <a:gd name="connsiteX15" fmla="*/ 19049 w 279328"/>
              <a:gd name="connsiteY15" fmla="*/ 253935 h 253935"/>
              <a:gd name="connsiteX16" fmla="*/ 31321 w 279328"/>
              <a:gd name="connsiteY16" fmla="*/ 210990 h 253935"/>
              <a:gd name="connsiteX17" fmla="*/ 0 w 279328"/>
              <a:gd name="connsiteY17" fmla="*/ 149187 h 253935"/>
              <a:gd name="connsiteX18" fmla="*/ 101580 w 279328"/>
              <a:gd name="connsiteY18" fmla="*/ 63484 h 253935"/>
              <a:gd name="connsiteX19" fmla="*/ 177748 w 279328"/>
              <a:gd name="connsiteY19" fmla="*/ 0 h 253935"/>
              <a:gd name="connsiteX20" fmla="*/ 279328 w 279328"/>
              <a:gd name="connsiteY20" fmla="*/ 85703 h 253935"/>
              <a:gd name="connsiteX21" fmla="*/ 248007 w 279328"/>
              <a:gd name="connsiteY21" fmla="*/ 147506 h 253935"/>
              <a:gd name="connsiteX22" fmla="*/ 260279 w 279328"/>
              <a:gd name="connsiteY22" fmla="*/ 190451 h 253935"/>
              <a:gd name="connsiteX23" fmla="*/ 212225 w 279328"/>
              <a:gd name="connsiteY23" fmla="*/ 171971 h 253935"/>
              <a:gd name="connsiteX24" fmla="*/ 214837 w 279328"/>
              <a:gd name="connsiteY24" fmla="*/ 159368 h 253935"/>
              <a:gd name="connsiteX25" fmla="*/ 241089 w 279328"/>
              <a:gd name="connsiteY25" fmla="*/ 169466 h 253935"/>
              <a:gd name="connsiteX26" fmla="*/ 235799 w 279328"/>
              <a:gd name="connsiteY26" fmla="*/ 150986 h 253935"/>
              <a:gd name="connsiteX27" fmla="*/ 240028 w 279328"/>
              <a:gd name="connsiteY27" fmla="*/ 137631 h 253935"/>
              <a:gd name="connsiteX28" fmla="*/ 266629 w 279328"/>
              <a:gd name="connsiteY28" fmla="*/ 85703 h 253935"/>
              <a:gd name="connsiteX29" fmla="*/ 177748 w 279328"/>
              <a:gd name="connsiteY29" fmla="*/ 12697 h 253935"/>
              <a:gd name="connsiteX30" fmla="*/ 99679 w 279328"/>
              <a:gd name="connsiteY30" fmla="*/ 50858 h 253935"/>
              <a:gd name="connsiteX31" fmla="*/ 84380 w 279328"/>
              <a:gd name="connsiteY31" fmla="*/ 51986 h 253935"/>
              <a:gd name="connsiteX32" fmla="*/ 177748 w 279328"/>
              <a:gd name="connsiteY32" fmla="*/ 0 h 2539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279328" h="253935">
                <a:moveTo>
                  <a:pt x="101580" y="76181"/>
                </a:moveTo>
                <a:cubicBezTo>
                  <a:pt x="52568" y="76181"/>
                  <a:pt x="12699" y="108934"/>
                  <a:pt x="12699" y="149187"/>
                </a:cubicBezTo>
                <a:cubicBezTo>
                  <a:pt x="12699" y="168796"/>
                  <a:pt x="22139" y="187230"/>
                  <a:pt x="39300" y="201126"/>
                </a:cubicBezTo>
                <a:cubicBezTo>
                  <a:pt x="43257" y="204324"/>
                  <a:pt x="44925" y="209579"/>
                  <a:pt x="43516" y="214469"/>
                </a:cubicBezTo>
                <a:lnTo>
                  <a:pt x="38239" y="232950"/>
                </a:lnTo>
                <a:lnTo>
                  <a:pt x="71423" y="220183"/>
                </a:lnTo>
                <a:cubicBezTo>
                  <a:pt x="72884" y="219630"/>
                  <a:pt x="74436" y="219348"/>
                  <a:pt x="75988" y="219348"/>
                </a:cubicBezTo>
                <a:cubicBezTo>
                  <a:pt x="76893" y="219348"/>
                  <a:pt x="77811" y="219442"/>
                  <a:pt x="78703" y="219642"/>
                </a:cubicBezTo>
                <a:cubicBezTo>
                  <a:pt x="86437" y="221335"/>
                  <a:pt x="94131" y="222193"/>
                  <a:pt x="101580" y="222193"/>
                </a:cubicBezTo>
                <a:cubicBezTo>
                  <a:pt x="150578" y="222193"/>
                  <a:pt x="190447" y="189440"/>
                  <a:pt x="190447" y="149187"/>
                </a:cubicBezTo>
                <a:cubicBezTo>
                  <a:pt x="190447" y="108934"/>
                  <a:pt x="150578" y="76181"/>
                  <a:pt x="101580" y="76181"/>
                </a:cubicBezTo>
                <a:close/>
                <a:moveTo>
                  <a:pt x="101580" y="63484"/>
                </a:moveTo>
                <a:cubicBezTo>
                  <a:pt x="157665" y="63484"/>
                  <a:pt x="203146" y="101856"/>
                  <a:pt x="203146" y="149187"/>
                </a:cubicBezTo>
                <a:cubicBezTo>
                  <a:pt x="203146" y="196518"/>
                  <a:pt x="157665" y="234890"/>
                  <a:pt x="101580" y="234890"/>
                </a:cubicBezTo>
                <a:cubicBezTo>
                  <a:pt x="92708" y="234890"/>
                  <a:pt x="84173" y="233844"/>
                  <a:pt x="75988" y="232045"/>
                </a:cubicBezTo>
                <a:lnTo>
                  <a:pt x="19049" y="253935"/>
                </a:lnTo>
                <a:lnTo>
                  <a:pt x="31321" y="210990"/>
                </a:lnTo>
                <a:cubicBezTo>
                  <a:pt x="12052" y="195389"/>
                  <a:pt x="0" y="173499"/>
                  <a:pt x="0" y="149187"/>
                </a:cubicBezTo>
                <a:cubicBezTo>
                  <a:pt x="0" y="101856"/>
                  <a:pt x="45481" y="63484"/>
                  <a:pt x="101580" y="63484"/>
                </a:cubicBezTo>
                <a:close/>
                <a:moveTo>
                  <a:pt x="177748" y="0"/>
                </a:moveTo>
                <a:cubicBezTo>
                  <a:pt x="233860" y="0"/>
                  <a:pt x="279328" y="38373"/>
                  <a:pt x="279328" y="85703"/>
                </a:cubicBezTo>
                <a:cubicBezTo>
                  <a:pt x="279328" y="110015"/>
                  <a:pt x="267288" y="131905"/>
                  <a:pt x="248007" y="147506"/>
                </a:cubicBezTo>
                <a:lnTo>
                  <a:pt x="260279" y="190451"/>
                </a:lnTo>
                <a:lnTo>
                  <a:pt x="212225" y="171971"/>
                </a:lnTo>
                <a:cubicBezTo>
                  <a:pt x="213376" y="167856"/>
                  <a:pt x="214320" y="163671"/>
                  <a:pt x="214837" y="159368"/>
                </a:cubicBezTo>
                <a:lnTo>
                  <a:pt x="241089" y="169466"/>
                </a:lnTo>
                <a:lnTo>
                  <a:pt x="235799" y="150986"/>
                </a:lnTo>
                <a:cubicBezTo>
                  <a:pt x="234403" y="146107"/>
                  <a:pt x="236071" y="140840"/>
                  <a:pt x="240028" y="137631"/>
                </a:cubicBezTo>
                <a:cubicBezTo>
                  <a:pt x="257189" y="123746"/>
                  <a:pt x="266629" y="105313"/>
                  <a:pt x="266629" y="85703"/>
                </a:cubicBezTo>
                <a:cubicBezTo>
                  <a:pt x="266629" y="45450"/>
                  <a:pt x="226760" y="12697"/>
                  <a:pt x="177748" y="12697"/>
                </a:cubicBezTo>
                <a:cubicBezTo>
                  <a:pt x="144100" y="12697"/>
                  <a:pt x="114770" y="28145"/>
                  <a:pt x="99679" y="50858"/>
                </a:cubicBezTo>
                <a:cubicBezTo>
                  <a:pt x="94480" y="50928"/>
                  <a:pt x="89385" y="51340"/>
                  <a:pt x="84380" y="51986"/>
                </a:cubicBezTo>
                <a:cubicBezTo>
                  <a:pt x="99899" y="21408"/>
                  <a:pt x="135862" y="0"/>
                  <a:pt x="177748" y="0"/>
                </a:cubicBezTo>
                <a:close/>
              </a:path>
            </a:pathLst>
          </a:cu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766"/>
            <a:endParaRPr lang="en-US" sz="1013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D3832688-8F75-4834-9C99-E323FBD456F8}"/>
              </a:ext>
            </a:extLst>
          </p:cNvPr>
          <p:cNvSpPr/>
          <p:nvPr userDrawn="1"/>
        </p:nvSpPr>
        <p:spPr>
          <a:xfrm>
            <a:off x="11172873" y="4897086"/>
            <a:ext cx="152360" cy="209475"/>
          </a:xfrm>
          <a:custGeom>
            <a:avLst/>
            <a:gdLst>
              <a:gd name="connsiteX0" fmla="*/ 199640 w 203146"/>
              <a:gd name="connsiteY0" fmla="*/ 631 h 279300"/>
              <a:gd name="connsiteX1" fmla="*/ 202474 w 203146"/>
              <a:gd name="connsiteY1" fmla="*/ 9154 h 279300"/>
              <a:gd name="connsiteX2" fmla="*/ 169535 w 203146"/>
              <a:gd name="connsiteY2" fmla="*/ 41601 h 279300"/>
              <a:gd name="connsiteX3" fmla="*/ 117778 w 203146"/>
              <a:gd name="connsiteY3" fmla="*/ 37398 h 279300"/>
              <a:gd name="connsiteX4" fmla="*/ 88305 w 203146"/>
              <a:gd name="connsiteY4" fmla="*/ 34972 h 279300"/>
              <a:gd name="connsiteX5" fmla="*/ 76950 w 203146"/>
              <a:gd name="connsiteY5" fmla="*/ 51123 h 279300"/>
              <a:gd name="connsiteX6" fmla="*/ 139665 w 203146"/>
              <a:gd name="connsiteY6" fmla="*/ 120583 h 279300"/>
              <a:gd name="connsiteX7" fmla="*/ 139665 w 203146"/>
              <a:gd name="connsiteY7" fmla="*/ 209464 h 279300"/>
              <a:gd name="connsiteX8" fmla="*/ 69837 w 203146"/>
              <a:gd name="connsiteY8" fmla="*/ 279300 h 279300"/>
              <a:gd name="connsiteX9" fmla="*/ 0 w 203146"/>
              <a:gd name="connsiteY9" fmla="*/ 209464 h 279300"/>
              <a:gd name="connsiteX10" fmla="*/ 0 w 203146"/>
              <a:gd name="connsiteY10" fmla="*/ 120583 h 279300"/>
              <a:gd name="connsiteX11" fmla="*/ 64028 w 203146"/>
              <a:gd name="connsiteY11" fmla="*/ 51059 h 279300"/>
              <a:gd name="connsiteX12" fmla="*/ 81636 w 203146"/>
              <a:gd name="connsiteY12" fmla="*/ 24165 h 279300"/>
              <a:gd name="connsiteX13" fmla="*/ 123455 w 203146"/>
              <a:gd name="connsiteY13" fmla="*/ 26033 h 279300"/>
              <a:gd name="connsiteX14" fmla="*/ 191120 w 203146"/>
              <a:gd name="connsiteY14" fmla="*/ 3485 h 279300"/>
              <a:gd name="connsiteX15" fmla="*/ 199640 w 203146"/>
              <a:gd name="connsiteY15" fmla="*/ 631 h 279300"/>
              <a:gd name="connsiteX16" fmla="*/ 63480 w 203146"/>
              <a:gd name="connsiteY16" fmla="*/ 63824 h 279300"/>
              <a:gd name="connsiteX17" fmla="*/ 12696 w 203146"/>
              <a:gd name="connsiteY17" fmla="*/ 120583 h 279300"/>
              <a:gd name="connsiteX18" fmla="*/ 12696 w 203146"/>
              <a:gd name="connsiteY18" fmla="*/ 126940 h 279300"/>
              <a:gd name="connsiteX19" fmla="*/ 63480 w 203146"/>
              <a:gd name="connsiteY19" fmla="*/ 126940 h 279300"/>
              <a:gd name="connsiteX20" fmla="*/ 63480 w 203146"/>
              <a:gd name="connsiteY20" fmla="*/ 63824 h 279300"/>
              <a:gd name="connsiteX21" fmla="*/ 76185 w 203146"/>
              <a:gd name="connsiteY21" fmla="*/ 63824 h 279300"/>
              <a:gd name="connsiteX22" fmla="*/ 76185 w 203146"/>
              <a:gd name="connsiteY22" fmla="*/ 126940 h 279300"/>
              <a:gd name="connsiteX23" fmla="*/ 126969 w 203146"/>
              <a:gd name="connsiteY23" fmla="*/ 126940 h 279300"/>
              <a:gd name="connsiteX24" fmla="*/ 126969 w 203146"/>
              <a:gd name="connsiteY24" fmla="*/ 120583 h 279300"/>
              <a:gd name="connsiteX25" fmla="*/ 76185 w 203146"/>
              <a:gd name="connsiteY25" fmla="*/ 63824 h 279300"/>
              <a:gd name="connsiteX26" fmla="*/ 12696 w 203146"/>
              <a:gd name="connsiteY26" fmla="*/ 139628 h 279300"/>
              <a:gd name="connsiteX27" fmla="*/ 12696 w 203146"/>
              <a:gd name="connsiteY27" fmla="*/ 209464 h 279300"/>
              <a:gd name="connsiteX28" fmla="*/ 69837 w 203146"/>
              <a:gd name="connsiteY28" fmla="*/ 266599 h 279300"/>
              <a:gd name="connsiteX29" fmla="*/ 126969 w 203146"/>
              <a:gd name="connsiteY29" fmla="*/ 209464 h 279300"/>
              <a:gd name="connsiteX30" fmla="*/ 126969 w 203146"/>
              <a:gd name="connsiteY30" fmla="*/ 139628 h 279300"/>
              <a:gd name="connsiteX31" fmla="*/ 12696 w 203146"/>
              <a:gd name="connsiteY31" fmla="*/ 139628 h 279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203146" h="279300">
                <a:moveTo>
                  <a:pt x="199640" y="631"/>
                </a:moveTo>
                <a:cubicBezTo>
                  <a:pt x="202777" y="2214"/>
                  <a:pt x="204042" y="6015"/>
                  <a:pt x="202474" y="9154"/>
                </a:cubicBezTo>
                <a:cubicBezTo>
                  <a:pt x="195068" y="23970"/>
                  <a:pt x="184451" y="35802"/>
                  <a:pt x="169535" y="41601"/>
                </a:cubicBezTo>
                <a:cubicBezTo>
                  <a:pt x="157349" y="46349"/>
                  <a:pt x="141904" y="49450"/>
                  <a:pt x="117778" y="37398"/>
                </a:cubicBezTo>
                <a:cubicBezTo>
                  <a:pt x="103400" y="30210"/>
                  <a:pt x="97374" y="29367"/>
                  <a:pt x="88305" y="34972"/>
                </a:cubicBezTo>
                <a:cubicBezTo>
                  <a:pt x="82089" y="38812"/>
                  <a:pt x="78415" y="45143"/>
                  <a:pt x="76950" y="51123"/>
                </a:cubicBezTo>
                <a:cubicBezTo>
                  <a:pt x="112176" y="54691"/>
                  <a:pt x="139665" y="84426"/>
                  <a:pt x="139665" y="120583"/>
                </a:cubicBezTo>
                <a:lnTo>
                  <a:pt x="139665" y="209464"/>
                </a:lnTo>
                <a:cubicBezTo>
                  <a:pt x="139665" y="248034"/>
                  <a:pt x="108398" y="279300"/>
                  <a:pt x="69837" y="279300"/>
                </a:cubicBezTo>
                <a:cubicBezTo>
                  <a:pt x="31268" y="279300"/>
                  <a:pt x="0" y="248034"/>
                  <a:pt x="0" y="209464"/>
                </a:cubicBezTo>
                <a:lnTo>
                  <a:pt x="0" y="120583"/>
                </a:lnTo>
                <a:cubicBezTo>
                  <a:pt x="0" y="83985"/>
                  <a:pt x="28188" y="54004"/>
                  <a:pt x="64028" y="51059"/>
                </a:cubicBezTo>
                <a:cubicBezTo>
                  <a:pt x="65832" y="40083"/>
                  <a:pt x="72312" y="29938"/>
                  <a:pt x="81636" y="24165"/>
                </a:cubicBezTo>
                <a:cubicBezTo>
                  <a:pt x="90714" y="18573"/>
                  <a:pt x="103844" y="14966"/>
                  <a:pt x="123455" y="26033"/>
                </a:cubicBezTo>
                <a:cubicBezTo>
                  <a:pt x="157906" y="45467"/>
                  <a:pt x="176865" y="25228"/>
                  <a:pt x="191120" y="3485"/>
                </a:cubicBezTo>
                <a:cubicBezTo>
                  <a:pt x="193047" y="540"/>
                  <a:pt x="196495" y="-926"/>
                  <a:pt x="199640" y="631"/>
                </a:cubicBezTo>
                <a:close/>
                <a:moveTo>
                  <a:pt x="63480" y="63824"/>
                </a:moveTo>
                <a:cubicBezTo>
                  <a:pt x="34914" y="66990"/>
                  <a:pt x="12696" y="91185"/>
                  <a:pt x="12696" y="120583"/>
                </a:cubicBezTo>
                <a:lnTo>
                  <a:pt x="12696" y="126940"/>
                </a:lnTo>
                <a:lnTo>
                  <a:pt x="63480" y="126940"/>
                </a:lnTo>
                <a:lnTo>
                  <a:pt x="63480" y="63824"/>
                </a:lnTo>
                <a:close/>
                <a:moveTo>
                  <a:pt x="76185" y="63824"/>
                </a:moveTo>
                <a:lnTo>
                  <a:pt x="76185" y="126940"/>
                </a:lnTo>
                <a:lnTo>
                  <a:pt x="126969" y="126940"/>
                </a:lnTo>
                <a:lnTo>
                  <a:pt x="126969" y="120583"/>
                </a:lnTo>
                <a:cubicBezTo>
                  <a:pt x="126969" y="91185"/>
                  <a:pt x="104751" y="66990"/>
                  <a:pt x="76185" y="63824"/>
                </a:cubicBezTo>
                <a:close/>
                <a:moveTo>
                  <a:pt x="12696" y="139628"/>
                </a:moveTo>
                <a:lnTo>
                  <a:pt x="12696" y="209464"/>
                </a:lnTo>
                <a:cubicBezTo>
                  <a:pt x="12696" y="241029"/>
                  <a:pt x="38277" y="266599"/>
                  <a:pt x="69837" y="266599"/>
                </a:cubicBezTo>
                <a:cubicBezTo>
                  <a:pt x="101388" y="266599"/>
                  <a:pt x="126969" y="241029"/>
                  <a:pt x="126969" y="209464"/>
                </a:cubicBezTo>
                <a:cubicBezTo>
                  <a:pt x="126969" y="209464"/>
                  <a:pt x="126969" y="139628"/>
                  <a:pt x="126969" y="139628"/>
                </a:cubicBezTo>
                <a:lnTo>
                  <a:pt x="12696" y="139628"/>
                </a:lnTo>
                <a:close/>
              </a:path>
            </a:pathLst>
          </a:cu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766"/>
            <a:endParaRPr lang="en-US" sz="1013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0B91B1E4-0B05-471B-8CB4-A52807CD6972}"/>
              </a:ext>
            </a:extLst>
          </p:cNvPr>
          <p:cNvSpPr txBox="1">
            <a:spLocks/>
          </p:cNvSpPr>
          <p:nvPr userDrawn="1"/>
        </p:nvSpPr>
        <p:spPr>
          <a:xfrm>
            <a:off x="8010472" y="4069033"/>
            <a:ext cx="3001417" cy="1037528"/>
          </a:xfrm>
          <a:prstGeom prst="rect">
            <a:avLst/>
          </a:prstGeom>
        </p:spPr>
        <p:txBody>
          <a:bodyPr vert="horz" lIns="68580" tIns="34290" rIns="68580" bIns="3429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 defTabSz="685800">
              <a:lnSpc>
                <a:spcPct val="200000"/>
              </a:lnSpc>
              <a:spcBef>
                <a:spcPts val="0"/>
              </a:spcBef>
              <a:buNone/>
            </a:pPr>
            <a:r>
              <a:rPr lang="en-US" sz="1100" b="1">
                <a:solidFill>
                  <a:schemeClr val="tx1"/>
                </a:solidFill>
                <a:latin typeface="Calibri Light" panose="020F0302020204030204"/>
                <a:ea typeface="Roboto" panose="02000000000000000000" pitchFamily="2" charset="0"/>
              </a:rPr>
              <a:t>India, Germany, Japan, USA &amp; China</a:t>
            </a:r>
          </a:p>
          <a:p>
            <a:pPr marL="0" indent="0" algn="r" defTabSz="685800">
              <a:lnSpc>
                <a:spcPct val="200000"/>
              </a:lnSpc>
              <a:spcBef>
                <a:spcPts val="0"/>
              </a:spcBef>
              <a:buNone/>
            </a:pPr>
            <a:r>
              <a:rPr lang="en-US" sz="1100" b="1">
                <a:solidFill>
                  <a:schemeClr val="tx1"/>
                </a:solidFill>
                <a:latin typeface="Calibri Light" panose="020F0302020204030204"/>
                <a:ea typeface="Roboto" panose="02000000000000000000" pitchFamily="2" charset="0"/>
              </a:rPr>
              <a:t>+91 44 6666 9600</a:t>
            </a:r>
          </a:p>
          <a:p>
            <a:pPr marL="0" indent="0" algn="r" defTabSz="685800">
              <a:lnSpc>
                <a:spcPct val="200000"/>
              </a:lnSpc>
              <a:spcBef>
                <a:spcPts val="0"/>
              </a:spcBef>
              <a:buNone/>
            </a:pPr>
            <a:r>
              <a:rPr lang="en-US" sz="1100" b="1" u="sng">
                <a:solidFill>
                  <a:schemeClr val="tx1"/>
                </a:solidFill>
                <a:latin typeface="Calibri Light" panose="020F0302020204030204"/>
                <a:ea typeface="Roboto" panose="02000000000000000000" pitchFamily="2" charset="0"/>
              </a:rPr>
              <a:t>www.jasmin-infotech.com</a:t>
            </a:r>
          </a:p>
        </p:txBody>
      </p:sp>
      <p:pic>
        <p:nvPicPr>
          <p:cNvPr id="17" name="Picture 2">
            <a:extLst>
              <a:ext uri="{FF2B5EF4-FFF2-40B4-BE49-F238E27FC236}">
                <a16:creationId xmlns:a16="http://schemas.microsoft.com/office/drawing/2014/main" id="{A081058F-3133-4197-B807-FC6CB78CE2B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0"/>
            <a:ext cx="5660041" cy="45616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3E6B2BDD-7865-4F6F-B5D7-A4B5A52B7464}"/>
              </a:ext>
            </a:extLst>
          </p:cNvPr>
          <p:cNvSpPr/>
          <p:nvPr userDrawn="1"/>
        </p:nvSpPr>
        <p:spPr>
          <a:xfrm rot="5400000">
            <a:off x="-467508" y="4483021"/>
            <a:ext cx="1972910" cy="1037896"/>
          </a:xfrm>
          <a:prstGeom prst="triangl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2" name="Picture 1" descr="A picture containing text, font, logo, graphics&#10;&#10;Description automatically generated">
            <a:extLst>
              <a:ext uri="{FF2B5EF4-FFF2-40B4-BE49-F238E27FC236}">
                <a16:creationId xmlns:a16="http://schemas.microsoft.com/office/drawing/2014/main" id="{F8BB3D50-38BC-132C-82A7-E5447A2A645E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69253" y="195459"/>
            <a:ext cx="1855980" cy="1498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09947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6904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6904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1A1D1BC-3BF8-4FCC-BF21-07D616F2B3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D11023-BBB9-4E1B-95EF-F874370A7F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BAD75D-4AC3-4D94-8260-13C2633BD6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735547-B499-4273-BF07-F756EAEC2F73}" type="slidenum">
              <a:rPr lang="en-IN" smtClean="0"/>
              <a:t>‹#›</a:t>
            </a:fld>
            <a:endParaRPr lang="en-IN"/>
          </a:p>
        </p:txBody>
      </p:sp>
      <p:sp>
        <p:nvSpPr>
          <p:cNvPr id="10" name="TextBox 3">
            <a:extLst>
              <a:ext uri="{FF2B5EF4-FFF2-40B4-BE49-F238E27FC236}">
                <a16:creationId xmlns:a16="http://schemas.microsoft.com/office/drawing/2014/main" id="{22C2E77A-5381-4121-9A7B-139FB8F4E5F7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905000" y="6650257"/>
            <a:ext cx="236220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algn="ctr"/>
            <a:r>
              <a:rPr lang="en-US" sz="700" b="1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CONFIDENTIAL : JI Internal Use Only</a:t>
            </a:r>
          </a:p>
        </p:txBody>
      </p:sp>
      <p:sp>
        <p:nvSpPr>
          <p:cNvPr id="11" name="TextBox 3">
            <a:extLst>
              <a:ext uri="{FF2B5EF4-FFF2-40B4-BE49-F238E27FC236}">
                <a16:creationId xmlns:a16="http://schemas.microsoft.com/office/drawing/2014/main" id="{E25A6030-3380-4898-819C-D2BD1C737462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0" y="6650257"/>
            <a:ext cx="205740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algn="ctr"/>
            <a:r>
              <a:rPr lang="en-US" sz="700" b="1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©2023 Jasmin Infotech</a:t>
            </a:r>
            <a:r>
              <a:rPr lang="en-US" sz="700" b="1" baseline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 Private Limited</a:t>
            </a:r>
            <a:endParaRPr lang="en-US" sz="700" b="1">
              <a:solidFill>
                <a:schemeClr val="tx1">
                  <a:lumMod val="65000"/>
                  <a:lumOff val="35000"/>
                </a:schemeClr>
              </a:solidFill>
              <a:latin typeface="+mj-lt"/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C95BBBE-8BDA-46C2-B17F-5F1D256C0269}"/>
              </a:ext>
            </a:extLst>
          </p:cNvPr>
          <p:cNvCxnSpPr/>
          <p:nvPr userDrawn="1"/>
        </p:nvCxnSpPr>
        <p:spPr>
          <a:xfrm>
            <a:off x="2057400" y="6629400"/>
            <a:ext cx="0" cy="228600"/>
          </a:xfrm>
          <a:prstGeom prst="line">
            <a:avLst/>
          </a:prstGeom>
          <a:ln w="63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690462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91" r:id="rId2"/>
    <p:sldLayoutId id="2147483678" r:id="rId3"/>
    <p:sldLayoutId id="2147483692" r:id="rId4"/>
    <p:sldLayoutId id="2147483674" r:id="rId5"/>
    <p:sldLayoutId id="2147483690" r:id="rId6"/>
    <p:sldLayoutId id="2147483693" r:id="rId7"/>
    <p:sldLayoutId id="2147483694" r:id="rId8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gif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gif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gif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FE74804-7A65-49B5-A06B-DEC0F47703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35547-B499-4273-BF07-F756EAEC2F73}" type="slidenum">
              <a:rPr lang="en-IN" smtClean="0"/>
              <a:t>1</a:t>
            </a:fld>
            <a:endParaRPr lang="en-IN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A91F374-12C3-45EB-99A5-33CBA53EFC64}"/>
              </a:ext>
            </a:extLst>
          </p:cNvPr>
          <p:cNvSpPr/>
          <p:nvPr/>
        </p:nvSpPr>
        <p:spPr>
          <a:xfrm>
            <a:off x="2516979" y="4050147"/>
            <a:ext cx="7500595" cy="1477328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2400" b="1" i="1" u="sng" dirty="0">
                <a:solidFill>
                  <a:srgbClr val="000076"/>
                </a:solidFill>
              </a:rPr>
              <a:t>FIR ,IIR and Delay function in sample Audio Pass through code – Design and Programs</a:t>
            </a:r>
            <a:br>
              <a:rPr lang="en-US" sz="2400" b="1" i="1" u="sng" dirty="0"/>
            </a:br>
            <a:r>
              <a:rPr lang="en-US" sz="2400" b="1" i="1" dirty="0">
                <a:solidFill>
                  <a:srgbClr val="000076"/>
                </a:solidFill>
                <a:cs typeface="Calibri"/>
              </a:rPr>
              <a:t>19</a:t>
            </a:r>
            <a:r>
              <a:rPr lang="en-US" sz="2400" b="1" i="1" dirty="0">
                <a:solidFill>
                  <a:srgbClr val="000076"/>
                </a:solidFill>
                <a:ea typeface="Calibri"/>
                <a:cs typeface="Calibri"/>
              </a:rPr>
              <a:t> Sept 2024</a:t>
            </a:r>
            <a:endParaRPr lang="en-US" sz="2400" b="1" i="1" u="sng" dirty="0">
              <a:solidFill>
                <a:srgbClr val="000076"/>
              </a:solidFill>
              <a:ea typeface="Calibri"/>
              <a:cs typeface="Calibri"/>
            </a:endParaRPr>
          </a:p>
          <a:p>
            <a:pPr algn="ctr"/>
            <a:endParaRPr lang="en-US" sz="1800" b="1" i="1" u="none">
              <a:solidFill>
                <a:srgbClr val="000076"/>
              </a:solidFill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 descr="A screen shot of a device&#10;&#10;Description automatically generated">
            <a:extLst>
              <a:ext uri="{FF2B5EF4-FFF2-40B4-BE49-F238E27FC236}">
                <a16:creationId xmlns:a16="http://schemas.microsoft.com/office/drawing/2014/main" id="{B479051D-0FD4-98E0-0979-38E3BFCDC10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39728" y="1632795"/>
            <a:ext cx="6818415" cy="1974273"/>
          </a:xfr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057A471-5FED-5362-46C3-06F8761AB9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35547-B499-4273-BF07-F756EAEC2F73}" type="slidenum">
              <a:rPr lang="en-IN" smtClean="0"/>
              <a:t>2</a:t>
            </a:fld>
            <a:endParaRPr lang="en-IN"/>
          </a:p>
        </p:txBody>
      </p:sp>
      <p:sp>
        <p:nvSpPr>
          <p:cNvPr id="5" name="TextBox 10">
            <a:extLst>
              <a:ext uri="{FF2B5EF4-FFF2-40B4-BE49-F238E27FC236}">
                <a16:creationId xmlns:a16="http://schemas.microsoft.com/office/drawing/2014/main" id="{71175747-2E9D-F892-3171-050194A5BBF2}"/>
              </a:ext>
            </a:extLst>
          </p:cNvPr>
          <p:cNvSpPr txBox="1"/>
          <p:nvPr/>
        </p:nvSpPr>
        <p:spPr>
          <a:xfrm>
            <a:off x="429885" y="352521"/>
            <a:ext cx="10230376" cy="584775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b="1" dirty="0">
                <a:solidFill>
                  <a:srgbClr val="010086"/>
                </a:solidFill>
                <a:latin typeface="Times New Roman"/>
                <a:cs typeface="Times New Roman"/>
              </a:rPr>
              <a:t>What is DSP ?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AE39400-3482-457B-D552-F4E44CB61323}"/>
              </a:ext>
            </a:extLst>
          </p:cNvPr>
          <p:cNvSpPr txBox="1"/>
          <p:nvPr/>
        </p:nvSpPr>
        <p:spPr>
          <a:xfrm>
            <a:off x="1207706" y="4308395"/>
            <a:ext cx="10632536" cy="1477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 algn="just">
              <a:buFont typeface="Wingdings"/>
              <a:buChar char="Ø"/>
            </a:pPr>
            <a:r>
              <a:rPr lang="en-US" dirty="0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Digital Signal Processors (DSP) take real-world signals like voice, audio, video, temperature, pressure, or position that have been digitized and then mathematically manipulate them. </a:t>
            </a:r>
            <a:endParaRPr lang="en-US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285750" indent="-285750" algn="just">
              <a:buFont typeface="Wingdings"/>
              <a:buChar char="Ø"/>
            </a:pPr>
            <a:endParaRPr lang="en-US" dirty="0">
              <a:solidFill>
                <a:srgbClr val="333333"/>
              </a:solidFill>
              <a:latin typeface="Calibri"/>
              <a:ea typeface="Calibri"/>
              <a:cs typeface="Calibri"/>
            </a:endParaRPr>
          </a:p>
          <a:p>
            <a:pPr marL="285750" indent="-285750" algn="just">
              <a:buFont typeface="Wingdings"/>
              <a:buChar char="Ø"/>
            </a:pPr>
            <a:r>
              <a:rPr lang="en-US" dirty="0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A DSP is designed for performing mathematical functions like "add", "subtract", "multiply" and "divide" very quickly.</a:t>
            </a:r>
            <a:endParaRPr lang="en-US"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2362569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E7E99B8-8D3A-13F5-1FD0-CCD5E0E7F9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35547-B499-4273-BF07-F756EAEC2F73}" type="slidenum">
              <a:rPr lang="en-IN" smtClean="0"/>
              <a:t>3</a:t>
            </a:fld>
            <a:endParaRPr lang="en-IN"/>
          </a:p>
        </p:txBody>
      </p:sp>
      <p:sp>
        <p:nvSpPr>
          <p:cNvPr id="5" name="TextBox 10">
            <a:extLst>
              <a:ext uri="{FF2B5EF4-FFF2-40B4-BE49-F238E27FC236}">
                <a16:creationId xmlns:a16="http://schemas.microsoft.com/office/drawing/2014/main" id="{EEFB36E7-5DEC-023C-7431-893502FC1637}"/>
              </a:ext>
            </a:extLst>
          </p:cNvPr>
          <p:cNvSpPr txBox="1"/>
          <p:nvPr/>
        </p:nvSpPr>
        <p:spPr>
          <a:xfrm>
            <a:off x="429885" y="352521"/>
            <a:ext cx="10230376" cy="584775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b="1" dirty="0">
                <a:solidFill>
                  <a:srgbClr val="010086"/>
                </a:solidFill>
                <a:latin typeface="Times New Roman"/>
                <a:cs typeface="Times New Roman"/>
              </a:rPr>
              <a:t>Inside DSP</a:t>
            </a:r>
          </a:p>
        </p:txBody>
      </p:sp>
      <p:pic>
        <p:nvPicPr>
          <p:cNvPr id="7" name="Picture 6" descr="A diagram of a computer hardware&#10;&#10;Description automatically generated">
            <a:extLst>
              <a:ext uri="{FF2B5EF4-FFF2-40B4-BE49-F238E27FC236}">
                <a16:creationId xmlns:a16="http://schemas.microsoft.com/office/drawing/2014/main" id="{CF1E58BF-89DC-34B7-9874-702842AF40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9243" y="1212299"/>
            <a:ext cx="4989274" cy="273276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17E69F4-BED0-F668-7F62-F36C6468BE04}"/>
              </a:ext>
            </a:extLst>
          </p:cNvPr>
          <p:cNvSpPr txBox="1"/>
          <p:nvPr/>
        </p:nvSpPr>
        <p:spPr>
          <a:xfrm>
            <a:off x="916660" y="3989718"/>
            <a:ext cx="9754332" cy="258532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Wingdings"/>
              <a:buChar char="Ø"/>
            </a:pPr>
            <a:r>
              <a:rPr lang="en-US" b="1" dirty="0">
                <a:latin typeface="Calibri"/>
                <a:ea typeface="Calibri"/>
                <a:cs typeface="Calibri"/>
              </a:rPr>
              <a:t>Program Memory</a:t>
            </a:r>
            <a:r>
              <a:rPr lang="en-US" dirty="0">
                <a:latin typeface="Calibri"/>
                <a:ea typeface="Calibri"/>
                <a:cs typeface="Calibri"/>
              </a:rPr>
              <a:t> - This is where the instructions or programs that the DSP will execute are stored.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pPr marL="285750" indent="-285750">
              <a:buFont typeface="Wingdings"/>
              <a:buChar char="Ø"/>
            </a:pPr>
            <a:endParaRPr lang="en-US" dirty="0">
              <a:latin typeface="Calibri"/>
              <a:ea typeface="Calibri"/>
              <a:cs typeface="Calibri"/>
            </a:endParaRPr>
          </a:p>
          <a:p>
            <a:pPr marL="285750" indent="-285750">
              <a:buFont typeface="Wingdings"/>
              <a:buChar char="Ø"/>
            </a:pPr>
            <a:r>
              <a:rPr lang="en-US" b="1" dirty="0">
                <a:latin typeface="Calibri"/>
                <a:ea typeface="Calibri"/>
                <a:cs typeface="Calibri"/>
              </a:rPr>
              <a:t>Data Memory </a:t>
            </a:r>
            <a:r>
              <a:rPr lang="en-US" dirty="0">
                <a:latin typeface="Calibri"/>
                <a:ea typeface="Calibri"/>
                <a:cs typeface="Calibri"/>
              </a:rPr>
              <a:t>- Data memory is where the information to be processed is stored.</a:t>
            </a:r>
          </a:p>
          <a:p>
            <a:pPr marL="285750" indent="-285750">
              <a:buFont typeface="Wingdings"/>
              <a:buChar char="Ø"/>
            </a:pPr>
            <a:endParaRPr lang="en-US" dirty="0">
              <a:latin typeface="Calibri"/>
              <a:ea typeface="Calibri"/>
              <a:cs typeface="Calibri"/>
            </a:endParaRPr>
          </a:p>
          <a:p>
            <a:pPr marL="285750" indent="-285750">
              <a:buFont typeface="Wingdings"/>
              <a:buChar char="Ø"/>
            </a:pPr>
            <a:r>
              <a:rPr lang="en-US" b="1" dirty="0">
                <a:latin typeface="Calibri"/>
                <a:ea typeface="Calibri"/>
                <a:cs typeface="Calibri"/>
              </a:rPr>
              <a:t>Compute Engine</a:t>
            </a:r>
            <a:r>
              <a:rPr lang="en-US" dirty="0">
                <a:latin typeface="Calibri"/>
                <a:ea typeface="Calibri"/>
                <a:cs typeface="Calibri"/>
              </a:rPr>
              <a:t> - The compute engine is the heart of the DSP. It’s used for executing the instructions from the program memory on the data stored in the data memory.</a:t>
            </a:r>
          </a:p>
          <a:p>
            <a:pPr marL="285750" indent="-285750">
              <a:buFont typeface="Wingdings"/>
              <a:buChar char="Ø"/>
            </a:pPr>
            <a:endParaRPr lang="en-US" dirty="0">
              <a:latin typeface="Calibri"/>
              <a:ea typeface="Calibri"/>
              <a:cs typeface="Calibri"/>
            </a:endParaRPr>
          </a:p>
          <a:p>
            <a:pPr marL="285750" indent="-285750">
              <a:buFont typeface="Wingdings"/>
              <a:buChar char="Ø"/>
            </a:pPr>
            <a:r>
              <a:rPr lang="en-US" b="1" dirty="0">
                <a:latin typeface="Calibri"/>
                <a:ea typeface="Calibri"/>
                <a:cs typeface="Calibri"/>
              </a:rPr>
              <a:t>Input/Output</a:t>
            </a:r>
            <a:endParaRPr lang="en-US" dirty="0">
              <a:latin typeface="Calibri"/>
              <a:ea typeface="Calibri"/>
              <a:cs typeface="Calibri"/>
            </a:endParaRPr>
          </a:p>
          <a:p>
            <a:pPr marL="285750" indent="-285750">
              <a:buFont typeface="Wingdings"/>
              <a:buChar char="Ø"/>
            </a:pPr>
            <a:endParaRPr lang="en-US" dirty="0">
              <a:latin typeface="Calibri"/>
              <a:ea typeface="Calibri"/>
              <a:cs typeface="Calibri"/>
            </a:endParaRPr>
          </a:p>
        </p:txBody>
      </p:sp>
      <p:pic>
        <p:nvPicPr>
          <p:cNvPr id="10" name="Picture 9" descr="A yellow face with a finger pointing to it&#10;&#10;Description automatically generated">
            <a:extLst>
              <a:ext uri="{FF2B5EF4-FFF2-40B4-BE49-F238E27FC236}">
                <a16:creationId xmlns:a16="http://schemas.microsoft.com/office/drawing/2014/main" id="{741CB595-6040-7ACC-830D-3E330C8C12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8532" y="89083"/>
            <a:ext cx="895767" cy="848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04494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2F07570-2EBA-792C-C55F-F51EA3E1CF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35547-B499-4273-BF07-F756EAEC2F73}" type="slidenum">
              <a:rPr lang="en-IN" smtClean="0"/>
              <a:t>4</a:t>
            </a:fld>
            <a:endParaRPr lang="en-IN"/>
          </a:p>
        </p:txBody>
      </p:sp>
      <p:sp>
        <p:nvSpPr>
          <p:cNvPr id="7" name="TextBox 10">
            <a:extLst>
              <a:ext uri="{FF2B5EF4-FFF2-40B4-BE49-F238E27FC236}">
                <a16:creationId xmlns:a16="http://schemas.microsoft.com/office/drawing/2014/main" id="{16423D94-6BDB-0D9F-87DA-F95D92FFC133}"/>
              </a:ext>
            </a:extLst>
          </p:cNvPr>
          <p:cNvSpPr txBox="1"/>
          <p:nvPr/>
        </p:nvSpPr>
        <p:spPr>
          <a:xfrm>
            <a:off x="429885" y="352521"/>
            <a:ext cx="10230376" cy="584775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b="1" dirty="0">
                <a:solidFill>
                  <a:srgbClr val="010086"/>
                </a:solidFill>
                <a:latin typeface="Times New Roman"/>
                <a:cs typeface="Times New Roman"/>
              </a:rPr>
              <a:t>Introduction - Filter 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89464A16-054B-B54E-1ED5-F85A9EEB8B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12280" y="2059437"/>
            <a:ext cx="8264697" cy="1372176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just"/>
            <a:r>
              <a:rPr lang="en-US" sz="2000" dirty="0">
                <a:latin typeface="Times New Roman"/>
                <a:cs typeface="Calibri"/>
              </a:rPr>
              <a:t>In Signal Processing , the function of a filter is to remove unwanted parts of the signal, such as random noise, or to extract useful parts of the signal, such as the components lying within  a certain frequency range.</a:t>
            </a:r>
            <a:endParaRPr lang="en-US">
              <a:cs typeface="Calibri" panose="020F0502020204030204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E1F98DAC-D798-1822-048E-F8D72C56B1CF}"/>
              </a:ext>
            </a:extLst>
          </p:cNvPr>
          <p:cNvSpPr/>
          <p:nvPr/>
        </p:nvSpPr>
        <p:spPr>
          <a:xfrm>
            <a:off x="5247420" y="4037443"/>
            <a:ext cx="2108297" cy="116550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cs typeface="Calibri"/>
              </a:rPr>
              <a:t>FILTER</a:t>
            </a:r>
            <a:endParaRPr lang="en-US" sz="2400" dirty="0"/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FF09E219-EE27-926F-86DA-3354AE7E17EC}"/>
              </a:ext>
            </a:extLst>
          </p:cNvPr>
          <p:cNvSpPr/>
          <p:nvPr/>
        </p:nvSpPr>
        <p:spPr>
          <a:xfrm>
            <a:off x="4420441" y="4476279"/>
            <a:ext cx="824017" cy="27467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9FCAB4BD-760E-80DF-6530-4D8D7F392404}"/>
              </a:ext>
            </a:extLst>
          </p:cNvPr>
          <p:cNvSpPr/>
          <p:nvPr/>
        </p:nvSpPr>
        <p:spPr>
          <a:xfrm>
            <a:off x="7356383" y="4476279"/>
            <a:ext cx="824017" cy="27467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9F27B55-CD9C-1EBB-4CEF-9233767EEFCC}"/>
              </a:ext>
            </a:extLst>
          </p:cNvPr>
          <p:cNvSpPr txBox="1"/>
          <p:nvPr/>
        </p:nvSpPr>
        <p:spPr>
          <a:xfrm>
            <a:off x="2935724" y="4038007"/>
            <a:ext cx="132882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>
                <a:cs typeface="Calibri"/>
              </a:rPr>
              <a:t>Raw Signal</a:t>
            </a:r>
            <a:endParaRPr lang="en-US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EE9463D-16D1-792A-91D8-33F80318830C}"/>
              </a:ext>
            </a:extLst>
          </p:cNvPr>
          <p:cNvSpPr txBox="1"/>
          <p:nvPr/>
        </p:nvSpPr>
        <p:spPr>
          <a:xfrm>
            <a:off x="8415399" y="4038005"/>
            <a:ext cx="183308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>
                <a:cs typeface="Calibri"/>
              </a:rPr>
              <a:t>Filtered Signal</a:t>
            </a:r>
            <a:endParaRPr lang="en-US" b="1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F61A7C04-CB0A-CAF0-18B5-AA7C907C70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8094" y="4349577"/>
            <a:ext cx="1402977" cy="763121"/>
          </a:xfrm>
          <a:prstGeom prst="rect">
            <a:avLst/>
          </a:prstGeom>
        </p:spPr>
      </p:pic>
      <p:pic>
        <p:nvPicPr>
          <p:cNvPr id="16" name="Picture 15" descr="A red line on a white background&#10;&#10;Description automatically generated">
            <a:extLst>
              <a:ext uri="{FF2B5EF4-FFF2-40B4-BE49-F238E27FC236}">
                <a16:creationId xmlns:a16="http://schemas.microsoft.com/office/drawing/2014/main" id="{6CF57A65-B93B-1979-6BFB-4CB77E36BB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6738" y="4349283"/>
            <a:ext cx="1420907" cy="994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71434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DCED331-D815-AB7B-1ECB-C70FAB40C0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35547-B499-4273-BF07-F756EAEC2F73}" type="slidenum">
              <a:rPr lang="en-IN" smtClean="0"/>
              <a:t>5</a:t>
            </a:fld>
            <a:endParaRPr lang="en-IN"/>
          </a:p>
        </p:txBody>
      </p:sp>
      <p:sp>
        <p:nvSpPr>
          <p:cNvPr id="5" name="TextBox 10">
            <a:extLst>
              <a:ext uri="{FF2B5EF4-FFF2-40B4-BE49-F238E27FC236}">
                <a16:creationId xmlns:a16="http://schemas.microsoft.com/office/drawing/2014/main" id="{ED9060AD-FF26-7E6E-56AB-1A486A197E6E}"/>
              </a:ext>
            </a:extLst>
          </p:cNvPr>
          <p:cNvSpPr txBox="1"/>
          <p:nvPr/>
        </p:nvSpPr>
        <p:spPr>
          <a:xfrm>
            <a:off x="429885" y="352521"/>
            <a:ext cx="10230376" cy="584775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b="1" dirty="0">
                <a:solidFill>
                  <a:srgbClr val="010086"/>
                </a:solidFill>
                <a:latin typeface="Times New Roman"/>
                <a:cs typeface="Times New Roman"/>
              </a:rPr>
              <a:t>Types of Filter </a:t>
            </a:r>
          </a:p>
        </p:txBody>
      </p:sp>
      <p:graphicFrame>
        <p:nvGraphicFramePr>
          <p:cNvPr id="7" name="Content Placeholder 3">
            <a:extLst>
              <a:ext uri="{FF2B5EF4-FFF2-40B4-BE49-F238E27FC236}">
                <a16:creationId xmlns:a16="http://schemas.microsoft.com/office/drawing/2014/main" id="{943C9F33-C2F1-51CE-A60D-9558E823B26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62095925"/>
              </p:ext>
            </p:extLst>
          </p:nvPr>
        </p:nvGraphicFramePr>
        <p:xfrm>
          <a:off x="426851" y="1532965"/>
          <a:ext cx="11334750" cy="41555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67375">
                  <a:extLst>
                    <a:ext uri="{9D8B030D-6E8A-4147-A177-3AD203B41FA5}">
                      <a16:colId xmlns:a16="http://schemas.microsoft.com/office/drawing/2014/main" val="4063497392"/>
                    </a:ext>
                  </a:extLst>
                </a:gridCol>
                <a:gridCol w="5667375">
                  <a:extLst>
                    <a:ext uri="{9D8B030D-6E8A-4147-A177-3AD203B41FA5}">
                      <a16:colId xmlns:a16="http://schemas.microsoft.com/office/drawing/2014/main" val="851665830"/>
                    </a:ext>
                  </a:extLst>
                </a:gridCol>
              </a:tblGrid>
              <a:tr h="50221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Digital  Filter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Analog Filter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8853544"/>
                  </a:ext>
                </a:extLst>
              </a:tr>
              <a:tr h="502216">
                <a:tc>
                  <a:txBody>
                    <a:bodyPr/>
                    <a:lstStyle/>
                    <a:p>
                      <a:r>
                        <a:rPr lang="en-US" dirty="0"/>
                        <a:t>High 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</a:rPr>
                        <a:t>Less Accuracy –Component Tolerance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6667397"/>
                  </a:ext>
                </a:extLst>
              </a:tr>
              <a:tr h="502216">
                <a:tc>
                  <a:txBody>
                    <a:bodyPr/>
                    <a:lstStyle/>
                    <a:p>
                      <a:r>
                        <a:rPr lang="en-US" dirty="0"/>
                        <a:t>Linear Phase( FIR filter)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Non - Linear Phase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059444"/>
                  </a:ext>
                </a:extLst>
              </a:tr>
              <a:tr h="502216">
                <a:tc>
                  <a:txBody>
                    <a:bodyPr/>
                    <a:lstStyle/>
                    <a:p>
                      <a:r>
                        <a:rPr lang="en-US" dirty="0"/>
                        <a:t>No Drift Due to component variations.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</a:rPr>
                        <a:t>Drift Due to component variations.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49379"/>
                  </a:ext>
                </a:extLst>
              </a:tr>
              <a:tr h="502216">
                <a:tc>
                  <a:txBody>
                    <a:bodyPr/>
                    <a:lstStyle/>
                    <a:p>
                      <a:r>
                        <a:rPr lang="en-US" dirty="0"/>
                        <a:t>Easy to simulate and design.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Difficult to simulate and design.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8335852"/>
                  </a:ext>
                </a:extLst>
              </a:tr>
              <a:tr h="502216">
                <a:tc>
                  <a:txBody>
                    <a:bodyPr/>
                    <a:lstStyle/>
                    <a:p>
                      <a:r>
                        <a:rPr lang="en-US" dirty="0"/>
                        <a:t>Computation Must be completed in sampling Period – Limits in Real time operation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Analog Filter required at High frequencies and for Anti –Aliasing Filter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884264"/>
                  </a:ext>
                </a:extLst>
              </a:tr>
              <a:tr h="502216">
                <a:tc>
                  <a:txBody>
                    <a:bodyPr/>
                    <a:lstStyle/>
                    <a:p>
                      <a:r>
                        <a:rPr lang="en-US" dirty="0"/>
                        <a:t>Required High Performance ADC,DAC &amp; DSP.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 ADC, DAC or DSP required.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8839498"/>
                  </a:ext>
                </a:extLst>
              </a:tr>
              <a:tr h="502216">
                <a:tc>
                  <a:txBody>
                    <a:bodyPr/>
                    <a:lstStyle/>
                    <a:p>
                      <a:r>
                        <a:rPr lang="en-US" dirty="0"/>
                        <a:t>Flexible ,Adaptive Filtering Possible</a:t>
                      </a:r>
                      <a:endParaRPr lang="en-US" dirty="0" err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</a:rPr>
                        <a:t>Adaptive Filters Difficult.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46677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654846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C33CEEC-E188-E198-7DB7-16FFC3D094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35547-B499-4273-BF07-F756EAEC2F73}" type="slidenum">
              <a:rPr lang="en-IN" smtClean="0"/>
              <a:t>6</a:t>
            </a:fld>
            <a:endParaRPr lang="en-IN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A0ECE27-5C1A-35F3-D2D0-B51472AE2D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0644" y="2196149"/>
            <a:ext cx="6691392" cy="2465870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just"/>
            <a:r>
              <a:rPr lang="en-US" sz="2400" dirty="0">
                <a:latin typeface="Times New Roman"/>
                <a:ea typeface="Verdana"/>
                <a:cs typeface="Times New Roman"/>
              </a:rPr>
              <a:t>Ideal Low-Pass Filter (LPF)</a:t>
            </a:r>
            <a:endParaRPr lang="en-US" sz="3200" dirty="0">
              <a:latin typeface="Times New Roman"/>
              <a:ea typeface="Calibri" panose="020F0502020204030204"/>
              <a:cs typeface="Times New Roman"/>
            </a:endParaRPr>
          </a:p>
          <a:p>
            <a:pPr algn="just"/>
            <a:r>
              <a:rPr lang="en-US" sz="2400" dirty="0">
                <a:latin typeface="Times New Roman"/>
                <a:ea typeface="Verdana"/>
                <a:cs typeface="Times New Roman"/>
              </a:rPr>
              <a:t>Ideal High-Pass Filter (HPF)</a:t>
            </a:r>
            <a:endParaRPr lang="en-US" sz="3200" dirty="0">
              <a:latin typeface="Times New Roman"/>
              <a:cs typeface="Times New Roman"/>
            </a:endParaRPr>
          </a:p>
          <a:p>
            <a:pPr algn="just"/>
            <a:r>
              <a:rPr lang="en-US" sz="2400" dirty="0">
                <a:latin typeface="Times New Roman"/>
                <a:ea typeface="Verdana"/>
                <a:cs typeface="Times New Roman"/>
              </a:rPr>
              <a:t>Ideal Band-Pass Filter (BPF)</a:t>
            </a:r>
            <a:endParaRPr lang="en-US" sz="3200" dirty="0">
              <a:latin typeface="Times New Roman"/>
              <a:cs typeface="Times New Roman"/>
            </a:endParaRPr>
          </a:p>
          <a:p>
            <a:pPr algn="just"/>
            <a:r>
              <a:rPr lang="en-US" sz="2400" dirty="0">
                <a:latin typeface="Times New Roman"/>
                <a:ea typeface="Verdana"/>
                <a:cs typeface="Times New Roman"/>
              </a:rPr>
              <a:t>Ideal Band-Reject Filter (BRF)</a:t>
            </a:r>
            <a:endParaRPr lang="en-US" sz="3200" dirty="0">
              <a:latin typeface="Times New Roman"/>
              <a:cs typeface="Times New Roman"/>
            </a:endParaRPr>
          </a:p>
        </p:txBody>
      </p:sp>
      <p:sp>
        <p:nvSpPr>
          <p:cNvPr id="7" name="TextBox 10">
            <a:extLst>
              <a:ext uri="{FF2B5EF4-FFF2-40B4-BE49-F238E27FC236}">
                <a16:creationId xmlns:a16="http://schemas.microsoft.com/office/drawing/2014/main" id="{B601AB5E-18F6-9D48-0884-70E5AF86AD05}"/>
              </a:ext>
            </a:extLst>
          </p:cNvPr>
          <p:cNvSpPr txBox="1"/>
          <p:nvPr/>
        </p:nvSpPr>
        <p:spPr>
          <a:xfrm>
            <a:off x="429885" y="352521"/>
            <a:ext cx="10230376" cy="584775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b="1" dirty="0">
                <a:solidFill>
                  <a:srgbClr val="010086"/>
                </a:solidFill>
                <a:latin typeface="Times New Roman"/>
                <a:cs typeface="Times New Roman"/>
              </a:rPr>
              <a:t>What is an Ideal Filter ? </a:t>
            </a:r>
          </a:p>
        </p:txBody>
      </p:sp>
    </p:spTree>
    <p:extLst>
      <p:ext uri="{BB962C8B-B14F-4D97-AF65-F5344CB8AC3E}">
        <p14:creationId xmlns:p14="http://schemas.microsoft.com/office/powerpoint/2010/main" val="12749506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CEF413F-423C-B604-892A-1C0EF565E3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35547-B499-4273-BF07-F756EAEC2F73}" type="slidenum">
              <a:rPr lang="en-IN" smtClean="0"/>
              <a:t>7</a:t>
            </a:fld>
            <a:endParaRPr lang="en-IN"/>
          </a:p>
        </p:txBody>
      </p:sp>
      <p:sp>
        <p:nvSpPr>
          <p:cNvPr id="5" name="TextBox 10">
            <a:extLst>
              <a:ext uri="{FF2B5EF4-FFF2-40B4-BE49-F238E27FC236}">
                <a16:creationId xmlns:a16="http://schemas.microsoft.com/office/drawing/2014/main" id="{378DD733-04B9-C577-F424-FD963DAB81ED}"/>
              </a:ext>
            </a:extLst>
          </p:cNvPr>
          <p:cNvSpPr txBox="1"/>
          <p:nvPr/>
        </p:nvSpPr>
        <p:spPr>
          <a:xfrm>
            <a:off x="429885" y="352521"/>
            <a:ext cx="10230376" cy="584775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b="1" dirty="0">
                <a:solidFill>
                  <a:srgbClr val="010086"/>
                </a:solidFill>
                <a:latin typeface="Times New Roman"/>
                <a:cs typeface="Times New Roman"/>
              </a:rPr>
              <a:t> Ideal Filter LPF </a:t>
            </a:r>
          </a:p>
        </p:txBody>
      </p:sp>
      <p:pic>
        <p:nvPicPr>
          <p:cNvPr id="11" name="Content Placeholder 10" descr="A graph of a line and a line&#10;&#10;Description automatically generated">
            <a:extLst>
              <a:ext uri="{FF2B5EF4-FFF2-40B4-BE49-F238E27FC236}">
                <a16:creationId xmlns:a16="http://schemas.microsoft.com/office/drawing/2014/main" id="{42EFBEFA-54C3-467C-BDE2-73A5B7D6275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76736" y="2351141"/>
            <a:ext cx="6781800" cy="2466975"/>
          </a:xfrm>
        </p:spPr>
      </p:pic>
      <p:pic>
        <p:nvPicPr>
          <p:cNvPr id="12" name="Picture 11" descr="A close up of a text&#10;&#10;Description automatically generated">
            <a:extLst>
              <a:ext uri="{FF2B5EF4-FFF2-40B4-BE49-F238E27FC236}">
                <a16:creationId xmlns:a16="http://schemas.microsoft.com/office/drawing/2014/main" id="{28D6E51A-5BC2-DA76-F31F-9F158F3235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5146" y="5188141"/>
            <a:ext cx="8239125" cy="108585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6F9D738-5D1D-AAAC-4FA9-DDB6E8CD4EB2}"/>
              </a:ext>
            </a:extLst>
          </p:cNvPr>
          <p:cNvSpPr txBox="1"/>
          <p:nvPr/>
        </p:nvSpPr>
        <p:spPr>
          <a:xfrm>
            <a:off x="1034143" y="1333499"/>
            <a:ext cx="1081767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ea typeface="Calibri"/>
                <a:cs typeface="Calibri"/>
              </a:rPr>
              <a:t>It Passes all frequency below a particular cut off frequency, and reject or attenuate other frequency</a:t>
            </a:r>
          </a:p>
        </p:txBody>
      </p:sp>
    </p:spTree>
    <p:extLst>
      <p:ext uri="{BB962C8B-B14F-4D97-AF65-F5344CB8AC3E}">
        <p14:creationId xmlns:p14="http://schemas.microsoft.com/office/powerpoint/2010/main" val="29987148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A graph of a function&#10;&#10;Description automatically generated">
            <a:extLst>
              <a:ext uri="{FF2B5EF4-FFF2-40B4-BE49-F238E27FC236}">
                <a16:creationId xmlns:a16="http://schemas.microsoft.com/office/drawing/2014/main" id="{02159D87-CA90-F6A6-34E3-E6207FD2B77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07076" y="1908645"/>
            <a:ext cx="7496175" cy="2600325"/>
          </a:xfr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C16F9DF-6B13-840C-BEC9-A9F7AB36C1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35547-B499-4273-BF07-F756EAEC2F73}" type="slidenum">
              <a:rPr lang="en-IN" smtClean="0"/>
              <a:t>8</a:t>
            </a:fld>
            <a:endParaRPr lang="en-IN"/>
          </a:p>
        </p:txBody>
      </p:sp>
      <p:sp>
        <p:nvSpPr>
          <p:cNvPr id="5" name="TextBox 10">
            <a:extLst>
              <a:ext uri="{FF2B5EF4-FFF2-40B4-BE49-F238E27FC236}">
                <a16:creationId xmlns:a16="http://schemas.microsoft.com/office/drawing/2014/main" id="{5E090755-A3DE-B360-1BB1-49AEDF377DA7}"/>
              </a:ext>
            </a:extLst>
          </p:cNvPr>
          <p:cNvSpPr txBox="1"/>
          <p:nvPr/>
        </p:nvSpPr>
        <p:spPr>
          <a:xfrm>
            <a:off x="429885" y="352521"/>
            <a:ext cx="10230376" cy="584775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b="1" dirty="0">
                <a:solidFill>
                  <a:srgbClr val="010086"/>
                </a:solidFill>
                <a:latin typeface="Times New Roman"/>
                <a:cs typeface="Times New Roman"/>
              </a:rPr>
              <a:t> Ideal Filter HPF  </a:t>
            </a:r>
          </a:p>
        </p:txBody>
      </p:sp>
      <p:pic>
        <p:nvPicPr>
          <p:cNvPr id="6" name="Picture 5" descr="A black text on a white background&#10;&#10;Description automatically generated">
            <a:extLst>
              <a:ext uri="{FF2B5EF4-FFF2-40B4-BE49-F238E27FC236}">
                <a16:creationId xmlns:a16="http://schemas.microsoft.com/office/drawing/2014/main" id="{C8D68231-F228-6CC3-21A3-D76C8504FA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3378" y="4689943"/>
            <a:ext cx="7324725" cy="117157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5B6AC63-9AED-707C-8AC7-AC09BBC807F9}"/>
              </a:ext>
            </a:extLst>
          </p:cNvPr>
          <p:cNvSpPr txBox="1"/>
          <p:nvPr/>
        </p:nvSpPr>
        <p:spPr>
          <a:xfrm>
            <a:off x="1034143" y="1333499"/>
            <a:ext cx="1081767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ea typeface="Calibri"/>
                <a:cs typeface="Calibri"/>
              </a:rPr>
              <a:t>It Passes all frequency above particular cut off frequency, and reject or attenuate other frequency</a:t>
            </a:r>
          </a:p>
        </p:txBody>
      </p:sp>
    </p:spTree>
    <p:extLst>
      <p:ext uri="{BB962C8B-B14F-4D97-AF65-F5344CB8AC3E}">
        <p14:creationId xmlns:p14="http://schemas.microsoft.com/office/powerpoint/2010/main" val="24967755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 descr="A graph of a line and a line&#10;&#10;Description automatically generated">
            <a:extLst>
              <a:ext uri="{FF2B5EF4-FFF2-40B4-BE49-F238E27FC236}">
                <a16:creationId xmlns:a16="http://schemas.microsoft.com/office/drawing/2014/main" id="{A600C174-33A2-2A90-487A-83644554BEF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10841" y="2168421"/>
            <a:ext cx="5667375" cy="2355476"/>
          </a:xfr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3BCB9E1-B214-F1A7-DECC-C928D161F7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35547-B499-4273-BF07-F756EAEC2F73}" type="slidenum">
              <a:rPr lang="en-IN" smtClean="0"/>
              <a:t>9</a:t>
            </a:fld>
            <a:endParaRPr lang="en-IN"/>
          </a:p>
        </p:txBody>
      </p:sp>
      <p:sp>
        <p:nvSpPr>
          <p:cNvPr id="5" name="TextBox 10">
            <a:extLst>
              <a:ext uri="{FF2B5EF4-FFF2-40B4-BE49-F238E27FC236}">
                <a16:creationId xmlns:a16="http://schemas.microsoft.com/office/drawing/2014/main" id="{BEB8E18A-79EA-5325-C261-44338A71CD07}"/>
              </a:ext>
            </a:extLst>
          </p:cNvPr>
          <p:cNvSpPr txBox="1"/>
          <p:nvPr/>
        </p:nvSpPr>
        <p:spPr>
          <a:xfrm>
            <a:off x="429885" y="352521"/>
            <a:ext cx="10230376" cy="584775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b="1" dirty="0">
                <a:solidFill>
                  <a:srgbClr val="010086"/>
                </a:solidFill>
                <a:latin typeface="Times New Roman"/>
                <a:cs typeface="Times New Roman"/>
              </a:rPr>
              <a:t> Ideal Filter BPF </a:t>
            </a:r>
          </a:p>
        </p:txBody>
      </p:sp>
      <p:pic>
        <p:nvPicPr>
          <p:cNvPr id="7" name="Picture 6" descr="A black text on a white background&#10;&#10;Description automatically generated">
            <a:extLst>
              <a:ext uri="{FF2B5EF4-FFF2-40B4-BE49-F238E27FC236}">
                <a16:creationId xmlns:a16="http://schemas.microsoft.com/office/drawing/2014/main" id="{7C23D86D-824E-2DB7-713C-6F64F16837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9966" y="4519893"/>
            <a:ext cx="7324725" cy="131445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2250745-AE1C-1489-E583-7E068304CC97}"/>
              </a:ext>
            </a:extLst>
          </p:cNvPr>
          <p:cNvSpPr txBox="1"/>
          <p:nvPr/>
        </p:nvSpPr>
        <p:spPr>
          <a:xfrm>
            <a:off x="1034143" y="1333499"/>
            <a:ext cx="1081767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ea typeface="Calibri"/>
                <a:cs typeface="Calibri"/>
              </a:rPr>
              <a:t>It Passes all frequency in a particular band , and reject or attenuate other frequency</a:t>
            </a:r>
          </a:p>
        </p:txBody>
      </p:sp>
    </p:spTree>
    <p:extLst>
      <p:ext uri="{BB962C8B-B14F-4D97-AF65-F5344CB8AC3E}">
        <p14:creationId xmlns:p14="http://schemas.microsoft.com/office/powerpoint/2010/main" val="19515099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671B6931-819E-369E-021A-97F98655717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80435" y="2165180"/>
            <a:ext cx="6753225" cy="2238375"/>
          </a:xfr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DBB01A2-ADF6-6ADC-BDCD-A57D90AE9B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35547-B499-4273-BF07-F756EAEC2F73}" type="slidenum">
              <a:rPr lang="en-IN" smtClean="0"/>
              <a:t>10</a:t>
            </a:fld>
            <a:endParaRPr lang="en-IN"/>
          </a:p>
        </p:txBody>
      </p:sp>
      <p:sp>
        <p:nvSpPr>
          <p:cNvPr id="5" name="TextBox 10">
            <a:extLst>
              <a:ext uri="{FF2B5EF4-FFF2-40B4-BE49-F238E27FC236}">
                <a16:creationId xmlns:a16="http://schemas.microsoft.com/office/drawing/2014/main" id="{D29E8FA3-BA68-C604-9472-070713332063}"/>
              </a:ext>
            </a:extLst>
          </p:cNvPr>
          <p:cNvSpPr txBox="1"/>
          <p:nvPr/>
        </p:nvSpPr>
        <p:spPr>
          <a:xfrm>
            <a:off x="429885" y="352521"/>
            <a:ext cx="10230376" cy="584775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b="1" dirty="0">
                <a:solidFill>
                  <a:srgbClr val="010086"/>
                </a:solidFill>
                <a:latin typeface="Times New Roman"/>
                <a:cs typeface="Times New Roman"/>
              </a:rPr>
              <a:t> Ideal Filter BRF </a:t>
            </a:r>
          </a:p>
        </p:txBody>
      </p:sp>
      <p:pic>
        <p:nvPicPr>
          <p:cNvPr id="7" name="Picture 6" descr="A white background with black text&#10;&#10;Description automatically generated">
            <a:extLst>
              <a:ext uri="{FF2B5EF4-FFF2-40B4-BE49-F238E27FC236}">
                <a16:creationId xmlns:a16="http://schemas.microsoft.com/office/drawing/2014/main" id="{682D4EE0-3D07-EEF9-6029-6DF4844164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0086" y="4792810"/>
            <a:ext cx="6753225" cy="12954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A6365AE-5DAC-99E1-9A8B-5E2C79335089}"/>
              </a:ext>
            </a:extLst>
          </p:cNvPr>
          <p:cNvSpPr txBox="1"/>
          <p:nvPr/>
        </p:nvSpPr>
        <p:spPr>
          <a:xfrm>
            <a:off x="1034143" y="1333499"/>
            <a:ext cx="1081767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ea typeface="Calibri"/>
                <a:cs typeface="Calibri"/>
              </a:rPr>
              <a:t>It  reject or attenuate all frequency in a particular band , passes all other frequencies</a:t>
            </a:r>
          </a:p>
        </p:txBody>
      </p:sp>
    </p:spTree>
    <p:extLst>
      <p:ext uri="{BB962C8B-B14F-4D97-AF65-F5344CB8AC3E}">
        <p14:creationId xmlns:p14="http://schemas.microsoft.com/office/powerpoint/2010/main" val="37690975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14B9613-A256-1C00-1409-D5F9C59A78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35547-B499-4273-BF07-F756EAEC2F73}" type="slidenum">
              <a:rPr lang="en-IN" smtClean="0"/>
              <a:t>11</a:t>
            </a:fld>
            <a:endParaRPr lang="en-IN"/>
          </a:p>
        </p:txBody>
      </p:sp>
      <p:pic>
        <p:nvPicPr>
          <p:cNvPr id="4" name="Picture 3" descr="A person holding two plates with pills&#10;&#10;Description automatically generated">
            <a:extLst>
              <a:ext uri="{FF2B5EF4-FFF2-40B4-BE49-F238E27FC236}">
                <a16:creationId xmlns:a16="http://schemas.microsoft.com/office/drawing/2014/main" id="{F9FB7F6B-2BBE-5ED8-C27B-678077B241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1741" y="1573305"/>
            <a:ext cx="4937312" cy="371138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2B77174-0CD5-FB46-F68E-A3190F69FEB5}"/>
              </a:ext>
            </a:extLst>
          </p:cNvPr>
          <p:cNvSpPr txBox="1"/>
          <p:nvPr/>
        </p:nvSpPr>
        <p:spPr>
          <a:xfrm>
            <a:off x="1523999" y="3046399"/>
            <a:ext cx="1211035" cy="10156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6000" b="1" dirty="0">
                <a:ea typeface="Calibri"/>
                <a:cs typeface="Calibri"/>
              </a:rPr>
              <a:t>FIR</a:t>
            </a:r>
            <a:endParaRPr lang="en-US" sz="60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81DC69D-4F2A-0416-F9FC-3D8D00B9BE56}"/>
              </a:ext>
            </a:extLst>
          </p:cNvPr>
          <p:cNvSpPr txBox="1"/>
          <p:nvPr/>
        </p:nvSpPr>
        <p:spPr>
          <a:xfrm>
            <a:off x="8796615" y="2945546"/>
            <a:ext cx="1771330" cy="110799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6600" b="1" dirty="0">
                <a:ea typeface="Calibri"/>
                <a:cs typeface="Calibri"/>
              </a:rPr>
              <a:t>IIR</a:t>
            </a:r>
            <a:endParaRPr lang="en-US" sz="6600" b="1" dirty="0"/>
          </a:p>
        </p:txBody>
      </p:sp>
    </p:spTree>
    <p:extLst>
      <p:ext uri="{BB962C8B-B14F-4D97-AF65-F5344CB8AC3E}">
        <p14:creationId xmlns:p14="http://schemas.microsoft.com/office/powerpoint/2010/main" val="6440982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AE365B3-9AC6-C7C5-B3FB-7F0FECFD78C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28126422"/>
              </p:ext>
            </p:extLst>
          </p:nvPr>
        </p:nvGraphicFramePr>
        <p:xfrm>
          <a:off x="449263" y="1219200"/>
          <a:ext cx="11334750" cy="50039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67375">
                  <a:extLst>
                    <a:ext uri="{9D8B030D-6E8A-4147-A177-3AD203B41FA5}">
                      <a16:colId xmlns:a16="http://schemas.microsoft.com/office/drawing/2014/main" val="4063497392"/>
                    </a:ext>
                  </a:extLst>
                </a:gridCol>
                <a:gridCol w="5667375">
                  <a:extLst>
                    <a:ext uri="{9D8B030D-6E8A-4147-A177-3AD203B41FA5}">
                      <a16:colId xmlns:a16="http://schemas.microsoft.com/office/drawing/2014/main" val="851665830"/>
                    </a:ext>
                  </a:extLst>
                </a:gridCol>
              </a:tblGrid>
              <a:tr h="502216">
                <a:tc>
                  <a:txBody>
                    <a:bodyPr/>
                    <a:lstStyle/>
                    <a:p>
                      <a:r>
                        <a:rPr lang="en-US" dirty="0"/>
                        <a:t>FIR Filter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IIR Filter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8853544"/>
                  </a:ext>
                </a:extLst>
              </a:tr>
              <a:tr h="502216">
                <a:tc>
                  <a:txBody>
                    <a:bodyPr/>
                    <a:lstStyle/>
                    <a:p>
                      <a:r>
                        <a:rPr lang="en-US" dirty="0"/>
                        <a:t>Finite Impulse Response Filter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Infinite Impulse Response Filter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6667397"/>
                  </a:ext>
                </a:extLst>
              </a:tr>
              <a:tr h="502216">
                <a:tc>
                  <a:txBody>
                    <a:bodyPr/>
                    <a:lstStyle/>
                    <a:p>
                      <a:r>
                        <a:rPr lang="en-US" dirty="0"/>
                        <a:t>The Impulse response h(n) is finite in duration.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The impulse response h(n) is infinite in duration.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059444"/>
                  </a:ext>
                </a:extLst>
              </a:tr>
              <a:tr h="1578428">
                <a:tc>
                  <a:txBody>
                    <a:bodyPr/>
                    <a:lstStyle/>
                    <a:p>
                      <a:r>
                        <a:rPr lang="en-US" dirty="0"/>
                        <a:t>Transfer function</a:t>
                      </a:r>
                    </a:p>
                    <a:p>
                      <a:pPr lvl="0">
                        <a:buNone/>
                      </a:pPr>
                      <a:endParaRPr lang="en-US" dirty="0"/>
                    </a:p>
                    <a:p>
                      <a:pPr lvl="0">
                        <a:buNone/>
                      </a:pPr>
                      <a:endParaRPr lang="en-US" dirty="0"/>
                    </a:p>
                    <a:p>
                      <a:pPr lvl="0">
                        <a:buNone/>
                      </a:pP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Transfer function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49379"/>
                  </a:ext>
                </a:extLst>
              </a:tr>
              <a:tr h="502216">
                <a:tc>
                  <a:txBody>
                    <a:bodyPr/>
                    <a:lstStyle/>
                    <a:p>
                      <a:r>
                        <a:rPr lang="en-US" dirty="0"/>
                        <a:t>Poles and Zeros;</a:t>
                      </a:r>
                    </a:p>
                    <a:p>
                      <a:pPr lvl="0">
                        <a:buNone/>
                      </a:pPr>
                      <a:r>
                        <a:rPr lang="en-US" dirty="0"/>
                        <a:t>All – Zero filters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Poles and Zeros:</a:t>
                      </a:r>
                    </a:p>
                    <a:p>
                      <a:pPr lvl="0">
                        <a:buNone/>
                      </a:pPr>
                      <a:r>
                        <a:rPr lang="en-US" dirty="0"/>
                        <a:t>All pole filter</a:t>
                      </a:r>
                    </a:p>
                    <a:p>
                      <a:pPr lvl="0">
                        <a:buNone/>
                      </a:pPr>
                      <a:r>
                        <a:rPr lang="en-US" dirty="0"/>
                        <a:t>Poles as well as zeros are present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8335852"/>
                  </a:ext>
                </a:extLst>
              </a:tr>
              <a:tr h="502216">
                <a:tc>
                  <a:txBody>
                    <a:bodyPr/>
                    <a:lstStyle/>
                    <a:p>
                      <a:r>
                        <a:rPr lang="en-US" dirty="0"/>
                        <a:t>Linear phase response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Non – Linear phase response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884264"/>
                  </a:ext>
                </a:extLst>
              </a:tr>
              <a:tr h="502216">
                <a:tc>
                  <a:txBody>
                    <a:bodyPr/>
                    <a:lstStyle/>
                    <a:p>
                      <a:r>
                        <a:rPr lang="en-US" dirty="0"/>
                        <a:t>It can be realized recursively and non - recursively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Recursive filter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8839498"/>
                  </a:ext>
                </a:extLst>
              </a:tr>
            </a:tbl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216109D-3288-19F6-0044-01589B12A2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35547-B499-4273-BF07-F756EAEC2F73}" type="slidenum">
              <a:rPr lang="en-IN" smtClean="0"/>
              <a:t>12</a:t>
            </a:fld>
            <a:endParaRPr lang="en-IN"/>
          </a:p>
        </p:txBody>
      </p:sp>
      <p:pic>
        <p:nvPicPr>
          <p:cNvPr id="5" name="Picture 4" descr="A close up of a paper&#10;&#10;Description automatically generated">
            <a:extLst>
              <a:ext uri="{FF2B5EF4-FFF2-40B4-BE49-F238E27FC236}">
                <a16:creationId xmlns:a16="http://schemas.microsoft.com/office/drawing/2014/main" id="{ABF78A62-6211-97DC-0912-1EDA1E9E93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3238" y="3108524"/>
            <a:ext cx="4922763" cy="991714"/>
          </a:xfrm>
          <a:prstGeom prst="rect">
            <a:avLst/>
          </a:prstGeom>
        </p:spPr>
      </p:pic>
      <p:pic>
        <p:nvPicPr>
          <p:cNvPr id="6" name="Picture 5" descr="A close up of a math formula&#10;&#10;Description automatically generated">
            <a:extLst>
              <a:ext uri="{FF2B5EF4-FFF2-40B4-BE49-F238E27FC236}">
                <a16:creationId xmlns:a16="http://schemas.microsoft.com/office/drawing/2014/main" id="{2E9A8F7A-BB21-585D-D65B-E1CD0A2855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8477" y="3111552"/>
            <a:ext cx="3822097" cy="1058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16199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031CC25-8DE4-2927-B969-3464B4F2EC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1A17BA0-FDE8-DD06-D262-4A5825BCC1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35547-B499-4273-BF07-F756EAEC2F73}" type="slidenum">
              <a:rPr lang="en-IN" smtClean="0"/>
              <a:t>13</a:t>
            </a:fld>
            <a:endParaRPr lang="en-IN"/>
          </a:p>
        </p:txBody>
      </p:sp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6679BE47-0751-9152-1732-6C4B35CED2A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4628495"/>
              </p:ext>
            </p:extLst>
          </p:nvPr>
        </p:nvGraphicFramePr>
        <p:xfrm>
          <a:off x="449263" y="1219200"/>
          <a:ext cx="11334750" cy="49321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67375">
                  <a:extLst>
                    <a:ext uri="{9D8B030D-6E8A-4147-A177-3AD203B41FA5}">
                      <a16:colId xmlns:a16="http://schemas.microsoft.com/office/drawing/2014/main" val="4063497392"/>
                    </a:ext>
                  </a:extLst>
                </a:gridCol>
                <a:gridCol w="5667375">
                  <a:extLst>
                    <a:ext uri="{9D8B030D-6E8A-4147-A177-3AD203B41FA5}">
                      <a16:colId xmlns:a16="http://schemas.microsoft.com/office/drawing/2014/main" val="851665830"/>
                    </a:ext>
                  </a:extLst>
                </a:gridCol>
              </a:tblGrid>
              <a:tr h="502216">
                <a:tc>
                  <a:txBody>
                    <a:bodyPr/>
                    <a:lstStyle/>
                    <a:p>
                      <a:r>
                        <a:rPr lang="en-US" dirty="0"/>
                        <a:t>FIR Filter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IIR Filter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8853544"/>
                  </a:ext>
                </a:extLst>
              </a:tr>
              <a:tr h="502216">
                <a:tc>
                  <a:txBody>
                    <a:bodyPr/>
                    <a:lstStyle/>
                    <a:p>
                      <a:r>
                        <a:rPr lang="en-US" dirty="0"/>
                        <a:t>Feedback is not required.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</a:rPr>
                        <a:t>Feedback is required.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6667397"/>
                  </a:ext>
                </a:extLst>
              </a:tr>
              <a:tr h="502216">
                <a:tc>
                  <a:txBody>
                    <a:bodyPr/>
                    <a:lstStyle/>
                    <a:p>
                      <a:r>
                        <a:rPr lang="en-US" dirty="0"/>
                        <a:t>Less memory requirement.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More Memory.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059444"/>
                  </a:ext>
                </a:extLst>
              </a:tr>
              <a:tr h="502216">
                <a:tc>
                  <a:txBody>
                    <a:bodyPr/>
                    <a:lstStyle/>
                    <a:p>
                      <a:r>
                        <a:rPr lang="en-US" dirty="0"/>
                        <a:t>FIR filters are always stable.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</a:rPr>
                        <a:t>IIR filters are not stable.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49379"/>
                  </a:ext>
                </a:extLst>
              </a:tr>
              <a:tr h="502216">
                <a:tc>
                  <a:txBody>
                    <a:bodyPr/>
                    <a:lstStyle/>
                    <a:p>
                      <a:r>
                        <a:rPr lang="en-US" dirty="0"/>
                        <a:t>Closed loop equations do not exist for designing FIR filters.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It can be designed using closed from equations.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8335852"/>
                  </a:ext>
                </a:extLst>
              </a:tr>
              <a:tr h="502216">
                <a:tc>
                  <a:txBody>
                    <a:bodyPr/>
                    <a:lstStyle/>
                    <a:p>
                      <a:r>
                        <a:rPr lang="en-US" dirty="0"/>
                        <a:t>Poles are fixed at the origin.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Poles are placed anywhere inside the unit circle.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884264"/>
                  </a:ext>
                </a:extLst>
              </a:tr>
              <a:tr h="502216">
                <a:tc>
                  <a:txBody>
                    <a:bodyPr/>
                    <a:lstStyle/>
                    <a:p>
                      <a:r>
                        <a:rPr lang="en-US" dirty="0"/>
                        <a:t>More computations [More Multiplications]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Less computations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8839498"/>
                  </a:ext>
                </a:extLst>
              </a:tr>
              <a:tr h="502216">
                <a:tc>
                  <a:txBody>
                    <a:bodyPr/>
                    <a:lstStyle/>
                    <a:p>
                      <a:r>
                        <a:rPr lang="en-US" dirty="0"/>
                        <a:t>Less complicated in design procedure</a:t>
                      </a:r>
                      <a:endParaRPr lang="en-US" dirty="0" err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</a:rPr>
                        <a:t>More Complexity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4667707"/>
                  </a:ext>
                </a:extLst>
              </a:tr>
              <a:tr h="502215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Applications :</a:t>
                      </a:r>
                    </a:p>
                    <a:p>
                      <a:pPr lvl="0">
                        <a:buNone/>
                      </a:pPr>
                      <a:r>
                        <a:rPr lang="en-US" dirty="0"/>
                        <a:t>Used where linear phase characteristics are required.</a:t>
                      </a:r>
                    </a:p>
                    <a:p>
                      <a:pPr lvl="0">
                        <a:buNone/>
                      </a:pP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</a:rPr>
                        <a:t>Applications :</a:t>
                      </a:r>
                    </a:p>
                    <a:p>
                      <a:pPr lvl="0">
                        <a:buNone/>
                      </a:pPr>
                      <a:r>
                        <a:rPr lang="en-US" sz="18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</a:rPr>
                        <a:t>Used where sharp cut-off characteristics are required.</a:t>
                      </a:r>
                    </a:p>
                    <a:p>
                      <a:pPr lvl="0">
                        <a:buNone/>
                      </a:pPr>
                      <a:endParaRPr lang="en-US" sz="1800" b="0" i="0" u="none" strike="noStrike" noProof="0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89297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02658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9502561A-99F4-24F4-8D4A-0D777F395F2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11799" y="1192016"/>
            <a:ext cx="6096000" cy="2806700"/>
          </a:xfr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64029AC-E734-9136-F079-A65C0F13BC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35547-B499-4273-BF07-F756EAEC2F73}" type="slidenum">
              <a:rPr lang="en-IN" smtClean="0"/>
              <a:t>14</a:t>
            </a:fld>
            <a:endParaRPr lang="en-IN"/>
          </a:p>
        </p:txBody>
      </p:sp>
      <p:sp>
        <p:nvSpPr>
          <p:cNvPr id="5" name="TextBox 10">
            <a:extLst>
              <a:ext uri="{FF2B5EF4-FFF2-40B4-BE49-F238E27FC236}">
                <a16:creationId xmlns:a16="http://schemas.microsoft.com/office/drawing/2014/main" id="{5150AA90-759C-61FF-E0BB-6E830144A2C9}"/>
              </a:ext>
            </a:extLst>
          </p:cNvPr>
          <p:cNvSpPr txBox="1"/>
          <p:nvPr/>
        </p:nvSpPr>
        <p:spPr>
          <a:xfrm>
            <a:off x="429885" y="352521"/>
            <a:ext cx="10230376" cy="584775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b="1" dirty="0">
                <a:solidFill>
                  <a:srgbClr val="010086"/>
                </a:solidFill>
                <a:latin typeface="Times New Roman"/>
                <a:cs typeface="Times New Roman"/>
              </a:rPr>
              <a:t>FIR Filter</a:t>
            </a:r>
            <a:endParaRPr lang="en-US" sz="3200" dirty="0">
              <a:solidFill>
                <a:srgbClr val="010086"/>
              </a:solidFill>
              <a:ea typeface="+mn-lt"/>
              <a:cs typeface="+mn-lt"/>
            </a:endParaRPr>
          </a:p>
        </p:txBody>
      </p:sp>
      <p:pic>
        <p:nvPicPr>
          <p:cNvPr id="7" name="Picture 6" descr="A math equations on a white background&#10;&#10;Description automatically generated">
            <a:extLst>
              <a:ext uri="{FF2B5EF4-FFF2-40B4-BE49-F238E27FC236}">
                <a16:creationId xmlns:a16="http://schemas.microsoft.com/office/drawing/2014/main" id="{0B5BB331-475E-A0F6-7321-671159F6F8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9308" y="4367772"/>
            <a:ext cx="4709834" cy="1233208"/>
          </a:xfrm>
          <a:prstGeom prst="rect">
            <a:avLst/>
          </a:prstGeom>
        </p:spPr>
      </p:pic>
      <p:pic>
        <p:nvPicPr>
          <p:cNvPr id="8" name="Picture 7" descr="A math equations on a white background&#10;&#10;Description automatically generated">
            <a:extLst>
              <a:ext uri="{FF2B5EF4-FFF2-40B4-BE49-F238E27FC236}">
                <a16:creationId xmlns:a16="http://schemas.microsoft.com/office/drawing/2014/main" id="{687706CE-98F8-B4C0-76F5-DA149A3D19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53064" y="4261876"/>
            <a:ext cx="6359899" cy="144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07007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diagram of a circuit&#10;&#10;Description automatically generated">
            <a:extLst>
              <a:ext uri="{FF2B5EF4-FFF2-40B4-BE49-F238E27FC236}">
                <a16:creationId xmlns:a16="http://schemas.microsoft.com/office/drawing/2014/main" id="{7468F4FB-AF1C-873A-70BE-39B06A4C7F9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6950" y="1085653"/>
            <a:ext cx="7771840" cy="3324225"/>
          </a:xfr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98D746C-2158-240A-E66E-B92EA0DA6F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35547-B499-4273-BF07-F756EAEC2F73}" type="slidenum">
              <a:rPr lang="en-IN" smtClean="0"/>
              <a:t>15</a:t>
            </a:fld>
            <a:endParaRPr lang="en-IN"/>
          </a:p>
        </p:txBody>
      </p:sp>
      <p:sp>
        <p:nvSpPr>
          <p:cNvPr id="4" name="TextBox 10">
            <a:extLst>
              <a:ext uri="{FF2B5EF4-FFF2-40B4-BE49-F238E27FC236}">
                <a16:creationId xmlns:a16="http://schemas.microsoft.com/office/drawing/2014/main" id="{5150AA90-759C-61FF-E0BB-6E830144A2C9}"/>
              </a:ext>
            </a:extLst>
          </p:cNvPr>
          <p:cNvSpPr txBox="1"/>
          <p:nvPr/>
        </p:nvSpPr>
        <p:spPr>
          <a:xfrm>
            <a:off x="429885" y="352521"/>
            <a:ext cx="10230376" cy="584775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b="1" dirty="0">
                <a:solidFill>
                  <a:srgbClr val="010086"/>
                </a:solidFill>
                <a:latin typeface="Times New Roman"/>
                <a:cs typeface="Times New Roman"/>
              </a:rPr>
              <a:t>IIR Filter  - Direct From – I (2nd Order Digital Filter) </a:t>
            </a:r>
            <a:endParaRPr lang="en-US" sz="3200" dirty="0">
              <a:solidFill>
                <a:srgbClr val="010086"/>
              </a:solidFill>
              <a:ea typeface="+mn-lt"/>
              <a:cs typeface="+mn-lt"/>
            </a:endParaRPr>
          </a:p>
        </p:txBody>
      </p:sp>
      <p:pic>
        <p:nvPicPr>
          <p:cNvPr id="7" name="Picture 6" descr="A group of mathematical equations&#10;&#10;Description automatically generated">
            <a:extLst>
              <a:ext uri="{FF2B5EF4-FFF2-40B4-BE49-F238E27FC236}">
                <a16:creationId xmlns:a16="http://schemas.microsoft.com/office/drawing/2014/main" id="{676CEF6D-C56C-7FDC-FB37-7AF428D36A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3026" y="4497200"/>
            <a:ext cx="5047690" cy="1709458"/>
          </a:xfrm>
          <a:prstGeom prst="rect">
            <a:avLst/>
          </a:prstGeom>
        </p:spPr>
      </p:pic>
      <p:pic>
        <p:nvPicPr>
          <p:cNvPr id="9" name="Picture 8" descr="A purple line with numbers and symbols on it&#10;&#10;Description automatically generated">
            <a:extLst>
              <a:ext uri="{FF2B5EF4-FFF2-40B4-BE49-F238E27FC236}">
                <a16:creationId xmlns:a16="http://schemas.microsoft.com/office/drawing/2014/main" id="{C3B70B65-B74D-6093-1AB9-0C1AC1C9B2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55653" y="3136247"/>
            <a:ext cx="3542740" cy="94409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C0EC9DC-3F90-2DEA-8DAE-F49F1CB481ED}"/>
              </a:ext>
            </a:extLst>
          </p:cNvPr>
          <p:cNvSpPr txBox="1"/>
          <p:nvPr/>
        </p:nvSpPr>
        <p:spPr>
          <a:xfrm>
            <a:off x="8255025" y="2602746"/>
            <a:ext cx="3544281" cy="53218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b="1" dirty="0">
                <a:ea typeface="Calibri"/>
                <a:cs typeface="Calibri"/>
              </a:rPr>
              <a:t>Exercise :</a:t>
            </a:r>
            <a:endParaRPr lang="en-US" dirty="0"/>
          </a:p>
          <a:p>
            <a:r>
              <a:rPr lang="en-US" sz="1400" b="1" dirty="0">
                <a:ea typeface="Calibri"/>
                <a:cs typeface="Calibri"/>
              </a:rPr>
              <a:t>Draw the Direct form – I Structure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82247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 descr="A diagram of a circuit&#10;&#10;Description automatically generated">
            <a:extLst>
              <a:ext uri="{FF2B5EF4-FFF2-40B4-BE49-F238E27FC236}">
                <a16:creationId xmlns:a16="http://schemas.microsoft.com/office/drawing/2014/main" id="{2F2B877B-C033-7437-69CC-A3A41099C65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56660" y="1408663"/>
            <a:ext cx="5872443" cy="2866465"/>
          </a:xfr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F39FBDD-351C-F71B-9CFA-485E286B84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35547-B499-4273-BF07-F756EAEC2F73}" type="slidenum">
              <a:rPr lang="en-IN" smtClean="0"/>
              <a:t>16</a:t>
            </a:fld>
            <a:endParaRPr lang="en-IN"/>
          </a:p>
        </p:txBody>
      </p:sp>
      <p:sp>
        <p:nvSpPr>
          <p:cNvPr id="5" name="TextBox 10">
            <a:extLst>
              <a:ext uri="{FF2B5EF4-FFF2-40B4-BE49-F238E27FC236}">
                <a16:creationId xmlns:a16="http://schemas.microsoft.com/office/drawing/2014/main" id="{B1324500-616D-849D-6A67-E807F0743A7F}"/>
              </a:ext>
            </a:extLst>
          </p:cNvPr>
          <p:cNvSpPr txBox="1"/>
          <p:nvPr/>
        </p:nvSpPr>
        <p:spPr>
          <a:xfrm>
            <a:off x="429885" y="352521"/>
            <a:ext cx="10230376" cy="584775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b="1" dirty="0">
                <a:solidFill>
                  <a:srgbClr val="010086"/>
                </a:solidFill>
                <a:latin typeface="Times New Roman"/>
                <a:cs typeface="Times New Roman"/>
              </a:rPr>
              <a:t>IIR Filter  - Direct From – II (2nd Order Digital Filter) </a:t>
            </a:r>
            <a:endParaRPr lang="en-US" sz="3200" dirty="0">
              <a:solidFill>
                <a:srgbClr val="010086"/>
              </a:solidFill>
              <a:ea typeface="+mn-lt"/>
              <a:cs typeface="+mn-lt"/>
            </a:endParaRPr>
          </a:p>
        </p:txBody>
      </p:sp>
      <p:pic>
        <p:nvPicPr>
          <p:cNvPr id="7" name="Picture 6" descr="A close-up of math symbols&#10;&#10;Description automatically generated">
            <a:extLst>
              <a:ext uri="{FF2B5EF4-FFF2-40B4-BE49-F238E27FC236}">
                <a16:creationId xmlns:a16="http://schemas.microsoft.com/office/drawing/2014/main" id="{73C6C0D0-15F3-04E2-EA4A-68EB618CF6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9503" y="4679576"/>
            <a:ext cx="5871322" cy="1066800"/>
          </a:xfrm>
          <a:prstGeom prst="rect">
            <a:avLst/>
          </a:prstGeom>
        </p:spPr>
      </p:pic>
      <p:pic>
        <p:nvPicPr>
          <p:cNvPr id="9" name="Picture 8" descr="A purple line with numbers and symbols on it&#10;&#10;Description automatically generated">
            <a:extLst>
              <a:ext uri="{FF2B5EF4-FFF2-40B4-BE49-F238E27FC236}">
                <a16:creationId xmlns:a16="http://schemas.microsoft.com/office/drawing/2014/main" id="{B812AE3A-C0CA-5B1D-1215-8FA96667A7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55653" y="3136247"/>
            <a:ext cx="3542740" cy="94409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9D20777-563D-295B-833B-2B8065AD0BEF}"/>
              </a:ext>
            </a:extLst>
          </p:cNvPr>
          <p:cNvSpPr txBox="1"/>
          <p:nvPr/>
        </p:nvSpPr>
        <p:spPr>
          <a:xfrm>
            <a:off x="8255025" y="2602746"/>
            <a:ext cx="3544281" cy="53218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b="1" dirty="0">
                <a:ea typeface="Calibri"/>
                <a:cs typeface="Calibri"/>
              </a:rPr>
              <a:t>Exercise :</a:t>
            </a:r>
            <a:endParaRPr lang="en-US" dirty="0"/>
          </a:p>
          <a:p>
            <a:r>
              <a:rPr lang="en-US" sz="1400" b="1" dirty="0">
                <a:ea typeface="Calibri"/>
                <a:cs typeface="Calibri"/>
              </a:rPr>
              <a:t>Draw the Direct form – II Structure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357606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1EDE4E50-A9F1-0151-42B7-EBBD3B1EF52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41825" y="1632220"/>
            <a:ext cx="5953125" cy="3181350"/>
          </a:xfr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175DFFA-C032-FD9A-E648-B4C9AB03A4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35547-B499-4273-BF07-F756EAEC2F73}" type="slidenum">
              <a:rPr lang="en-IN" smtClean="0"/>
              <a:t>17</a:t>
            </a:fld>
            <a:endParaRPr lang="en-IN"/>
          </a:p>
        </p:txBody>
      </p:sp>
      <p:sp>
        <p:nvSpPr>
          <p:cNvPr id="5" name="TextBox 10">
            <a:extLst>
              <a:ext uri="{FF2B5EF4-FFF2-40B4-BE49-F238E27FC236}">
                <a16:creationId xmlns:a16="http://schemas.microsoft.com/office/drawing/2014/main" id="{04375E68-392B-A020-06D3-7575A181E6F3}"/>
              </a:ext>
            </a:extLst>
          </p:cNvPr>
          <p:cNvSpPr txBox="1"/>
          <p:nvPr/>
        </p:nvSpPr>
        <p:spPr>
          <a:xfrm>
            <a:off x="429885" y="106300"/>
            <a:ext cx="10230376" cy="1077218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b="1" dirty="0">
                <a:solidFill>
                  <a:srgbClr val="010086"/>
                </a:solidFill>
                <a:latin typeface="Times New Roman"/>
                <a:cs typeface="Times New Roman"/>
              </a:rPr>
              <a:t>IIR Filter  - Transpose Direct From – II (2nd Order Digital Filter) </a:t>
            </a:r>
            <a:endParaRPr lang="en-US" sz="3200" dirty="0">
              <a:solidFill>
                <a:srgbClr val="010086"/>
              </a:solidFill>
              <a:ea typeface="+mn-lt"/>
              <a:cs typeface="+mn-lt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60EBCC0-4AE3-C2EA-4D46-265ECCD751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6142" y="4802001"/>
            <a:ext cx="6353175" cy="1628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486370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041FD01-C0A5-41E2-8477-6E48932A110B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3735547-B499-4273-BF07-F756EAEC2F73}" type="slidenum">
              <a:rPr lang="en-IN" smtClean="0"/>
              <a:t>18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8974890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T_1017_JI_PPT_InternalUse_Template" id="{B47D5DC5-F6BE-47A9-A848-42F88D8058FA}" vid="{4A31C64C-6422-46B5-B0E6-C4CA52FADB5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7CD33652BA1EC4AA3AB9DE1879285AC" ma:contentTypeVersion="5" ma:contentTypeDescription="Create a new document." ma:contentTypeScope="" ma:versionID="5bca5fe49313e4fe83c9eb59cedd1456">
  <xsd:schema xmlns:xsd="http://www.w3.org/2001/XMLSchema" xmlns:xs="http://www.w3.org/2001/XMLSchema" xmlns:p="http://schemas.microsoft.com/office/2006/metadata/properties" xmlns:ns2="060a8a9f-d048-4cae-94ae-42ad8fd36d05" xmlns:ns3="c683474e-3566-459e-a8fa-b9191d46e53e" targetNamespace="http://schemas.microsoft.com/office/2006/metadata/properties" ma:root="true" ma:fieldsID="9e621353ac25fe9b19fe1d83cda1a4ac" ns2:_="" ns3:_="">
    <xsd:import namespace="060a8a9f-d048-4cae-94ae-42ad8fd36d05"/>
    <xsd:import namespace="c683474e-3566-459e-a8fa-b9191d46e53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60a8a9f-d048-4cae-94ae-42ad8fd36d0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683474e-3566-459e-a8fa-b9191d46e53e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03B76E6-81F0-4EF7-BC2D-CE77F0178AD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3187D3E-E3C9-48EC-BAD4-E06D13CA9AE4}">
  <ds:schemaRefs>
    <ds:schemaRef ds:uri="060a8a9f-d048-4cae-94ae-42ad8fd36d05"/>
    <ds:schemaRef ds:uri="c683474e-3566-459e-a8fa-b9191d46e53e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E745B0B0-FE97-4451-B830-7323F42E9F3C}">
  <ds:schemaRefs>
    <ds:schemaRef ds:uri="060a8a9f-d048-4cae-94ae-42ad8fd36d05"/>
    <ds:schemaRef ds:uri="c683474e-3566-459e-a8fa-b9191d46e53e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SMAC_Traning</Template>
  <Application>Microsoft Office PowerPoint</Application>
  <PresentationFormat>Widescreen</PresentationFormat>
  <Slides>18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19" baseType="lpstr"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JIHPMA</dc:creator>
  <cp:revision>1223</cp:revision>
  <dcterms:created xsi:type="dcterms:W3CDTF">2024-09-16T06:38:22Z</dcterms:created>
  <dcterms:modified xsi:type="dcterms:W3CDTF">2024-10-08T06:55:51Z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0x01010077CD33652BA1EC4AA3AB9DE1879285AC</vt:lpwstr>
  </property>
</Properties>
</file>