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48" r:id="rId5"/>
  </p:sldMasterIdLst>
  <p:notesMasterIdLst>
    <p:notesMasterId r:id="rId28"/>
  </p:notesMasterIdLst>
  <p:sldIdLst>
    <p:sldId id="256" r:id="rId6"/>
    <p:sldId id="367" r:id="rId7"/>
    <p:sldId id="329" r:id="rId8"/>
    <p:sldId id="353" r:id="rId9"/>
    <p:sldId id="354" r:id="rId10"/>
    <p:sldId id="332" r:id="rId11"/>
    <p:sldId id="334" r:id="rId12"/>
    <p:sldId id="337" r:id="rId13"/>
    <p:sldId id="340" r:id="rId14"/>
    <p:sldId id="342" r:id="rId15"/>
    <p:sldId id="368" r:id="rId16"/>
    <p:sldId id="356" r:id="rId17"/>
    <p:sldId id="357" r:id="rId18"/>
    <p:sldId id="358" r:id="rId19"/>
    <p:sldId id="361" r:id="rId20"/>
    <p:sldId id="359" r:id="rId21"/>
    <p:sldId id="360" r:id="rId22"/>
    <p:sldId id="362" r:id="rId23"/>
    <p:sldId id="363" r:id="rId24"/>
    <p:sldId id="364" r:id="rId25"/>
    <p:sldId id="369" r:id="rId26"/>
    <p:sldId id="2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FF162-B20D-0E9F-FF77-55307C7322A1}" name="Vishnuchandran.Ravi" initials="Vi" userId="S::vishnuchandran.ravi@jasmin-infotech.com::b7ca43b6-59a4-4780-8f6c-4c292c33d9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  <a:srgbClr val="010086"/>
    <a:srgbClr val="074C59"/>
    <a:srgbClr val="D9D9D9"/>
    <a:srgbClr val="07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AA043-AD09-4323-594F-5443ED85457F}" v="110" dt="2025-02-21T04:12:39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6F84F-415A-4DAA-9779-B90E19A84FF0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E07B7-A532-4025-953D-57EC5826E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E07B7-A532-4025-953D-57EC5826ED7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50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7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6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1" y="6422755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4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©2023 Jasmin Infotech</a:t>
            </a:r>
            <a:r>
              <a:rPr lang="en-US" sz="7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  <p:sldLayoutId id="2147483693" r:id="rId7"/>
    <p:sldLayoutId id="214748369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jpe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116688" y="4140233"/>
            <a:ext cx="11724513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i="1" u="sng" dirty="0">
                <a:solidFill>
                  <a:srgbClr val="000076"/>
                </a:solidFill>
                <a:cs typeface="Calibri" panose="020F0502020204030204"/>
              </a:rPr>
              <a:t>Title : </a:t>
            </a:r>
            <a:r>
              <a:rPr lang="en-US" sz="2400" b="1" i="1" u="sng" dirty="0">
                <a:solidFill>
                  <a:srgbClr val="000076"/>
                </a:solidFill>
                <a:ea typeface="+mn-lt"/>
                <a:cs typeface="+mn-lt"/>
              </a:rPr>
              <a:t>SHARC Hardware Introduction &amp; Connection,  About BSP of ADSP21593 hardware</a:t>
            </a:r>
            <a:endParaRPr lang="en-US" b="1" i="1" u="sng" dirty="0">
              <a:solidFill>
                <a:srgbClr val="000000"/>
              </a:solidFill>
              <a:cs typeface="Calibri" panose="020F0502020204030204"/>
            </a:endParaRPr>
          </a:p>
          <a:p>
            <a:pPr algn="ctr"/>
            <a:endParaRPr lang="en-US" sz="2400" b="1" i="1" u="sng">
              <a:solidFill>
                <a:srgbClr val="000076"/>
              </a:solidFill>
              <a:ea typeface="Calibri"/>
              <a:cs typeface="Calibri"/>
            </a:endParaRPr>
          </a:p>
          <a:p>
            <a:pPr algn="ctr"/>
            <a:r>
              <a:rPr lang="en-US" sz="2400" b="1" i="1">
                <a:solidFill>
                  <a:srgbClr val="000076"/>
                </a:solidFill>
                <a:ea typeface="Calibri"/>
                <a:cs typeface="Calibri"/>
              </a:rPr>
              <a:t>20 Feb 2025</a:t>
            </a:r>
            <a:endParaRPr lang="en-US" sz="2400" b="1" i="1" u="sng" dirty="0">
              <a:solidFill>
                <a:srgbClr val="00007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F087FE-87B6-0878-D8AF-362C718D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>
              <a:buFont typeface="Wingdings,Sans-Serif" panose="020B0604020202020204" pitchFamily="34" charset="0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Hardware connections 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800" dirty="0">
                <a:latin typeface="Calibri"/>
                <a:ea typeface="Calibri"/>
                <a:cs typeface="Calibri"/>
              </a:rPr>
              <a:t>MELODY-9 hardware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800" dirty="0">
                <a:latin typeface="Calibri"/>
                <a:ea typeface="Calibri"/>
                <a:cs typeface="Calibri"/>
              </a:rPr>
              <a:t>MELODY-8 hardware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800" dirty="0">
                <a:latin typeface="Calibri"/>
                <a:ea typeface="Calibri"/>
                <a:cs typeface="Calibri"/>
              </a:rPr>
              <a:t>EV-SOMCRR-EZKIT hardware</a:t>
            </a:r>
            <a:endParaRPr lang="en-US" dirty="0"/>
          </a:p>
          <a:p>
            <a:pPr>
              <a:buFont typeface="Wingdings" panose="020B0604020202020204" pitchFamily="34" charset="0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Introduction about BSP(Board Support Package) for ADSP-21593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Blackfin, FPGA, GUI Communication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Loading Procedures 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Flashing Procedures 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000" dirty="0">
                <a:latin typeface="Calibri"/>
                <a:ea typeface="Calibri"/>
                <a:cs typeface="Calibri"/>
              </a:rPr>
              <a:t>Symbols Loading</a:t>
            </a:r>
          </a:p>
          <a:p>
            <a:pPr>
              <a:buFont typeface="Wingdings" panose="020B0604020202020204" pitchFamily="34" charset="0"/>
              <a:buChar char="§"/>
            </a:pPr>
            <a:endParaRPr lang="en-US" sz="2000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397F5-5560-9E7B-0C47-3C7CCF44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14037-ACAE-F422-2E1A-BB5000583F34}"/>
              </a:ext>
            </a:extLst>
          </p:cNvPr>
          <p:cNvSpPr txBox="1"/>
          <p:nvPr/>
        </p:nvSpPr>
        <p:spPr>
          <a:xfrm>
            <a:off x="506113" y="406639"/>
            <a:ext cx="85118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+mn-lt"/>
                <a:cs typeface="+mn-lt"/>
              </a:rPr>
              <a:t>AGENDA</a:t>
            </a:r>
            <a:endParaRPr lang="en-US" sz="3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69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FE0D5-8454-6572-6152-0DFA1D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B373A-94C1-FFBB-7412-0A45A55B8310}"/>
              </a:ext>
            </a:extLst>
          </p:cNvPr>
          <p:cNvSpPr txBox="1"/>
          <p:nvPr/>
        </p:nvSpPr>
        <p:spPr>
          <a:xfrm>
            <a:off x="506113" y="406639"/>
            <a:ext cx="85118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ADSP-21593(Eval Melody-9)</a:t>
            </a:r>
            <a:r>
              <a:rPr lang="en-US" sz="2800" dirty="0">
                <a:ea typeface="+mn-lt"/>
                <a:cs typeface="+mn-lt"/>
              </a:rPr>
              <a:t> Hardware &amp;  Connections</a:t>
            </a:r>
            <a:endParaRPr lang="en-US" sz="2800" dirty="0" err="1">
              <a:ea typeface="Calibri"/>
              <a:cs typeface="Calibri"/>
            </a:endParaRPr>
          </a:p>
        </p:txBody>
      </p:sp>
      <p:pic>
        <p:nvPicPr>
          <p:cNvPr id="9" name="Picture 8" descr="A close-up of a circuit board&#10;&#10;Description automatically generated">
            <a:extLst>
              <a:ext uri="{FF2B5EF4-FFF2-40B4-BE49-F238E27FC236}">
                <a16:creationId xmlns:a16="http://schemas.microsoft.com/office/drawing/2014/main" id="{3A44028B-B3AF-F5D4-7735-65D3B2F8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283" y="2186749"/>
            <a:ext cx="6953384" cy="42336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D8FCAC-4AAC-0BD9-C5BB-8AC7E3F7BAC2}"/>
              </a:ext>
            </a:extLst>
          </p:cNvPr>
          <p:cNvSpPr txBox="1"/>
          <p:nvPr/>
        </p:nvSpPr>
        <p:spPr>
          <a:xfrm>
            <a:off x="576805" y="1271286"/>
            <a:ext cx="1118307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>
                <a:cs typeface="Arial"/>
              </a:rPr>
              <a:t>A carrier board also known as base board provides the necessary connectors, interfaces and power routing to support </a:t>
            </a:r>
            <a:r>
              <a:rPr lang="en-US">
                <a:cs typeface="Arial"/>
              </a:rPr>
              <a:t>SOM.​</a:t>
            </a:r>
            <a:endParaRPr lang="en-US">
              <a:ea typeface="Calibri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>
                <a:cs typeface="Arial"/>
              </a:rPr>
              <a:t>Carrier board acts as the primary interface and connection platform for the </a:t>
            </a:r>
            <a:r>
              <a:rPr lang="en-US">
                <a:cs typeface="Arial"/>
              </a:rPr>
              <a:t>SOM</a:t>
            </a:r>
            <a:r>
              <a:rPr lang="en-US" dirty="0">
                <a:cs typeface="Arial"/>
              </a:rPr>
              <a:t> board.</a:t>
            </a:r>
            <a:endParaRPr lang="en-US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155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E46B76-C8C0-36C6-4B76-5A6810C28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Calibri"/>
                <a:cs typeface="Calibri"/>
              </a:rPr>
              <a:t>Melody-8 hardware has carrier board with all required peripherals, external memory DDR and flashing chip in a single board.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B6EF7-30BF-89B6-D786-685163A9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CFA45-83D3-0B1B-719D-832752E3994B}"/>
              </a:ext>
            </a:extLst>
          </p:cNvPr>
          <p:cNvSpPr txBox="1"/>
          <p:nvPr/>
        </p:nvSpPr>
        <p:spPr>
          <a:xfrm>
            <a:off x="448240" y="406639"/>
            <a:ext cx="91581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ADSP-21569(Eval Melody-8)</a:t>
            </a:r>
            <a:r>
              <a:rPr lang="en-US" sz="2800" dirty="0">
                <a:ea typeface="+mn-lt"/>
                <a:cs typeface="+mn-lt"/>
              </a:rPr>
              <a:t> Hardware  &amp;  Connections</a:t>
            </a:r>
            <a:endParaRPr lang="en-US" dirty="0"/>
          </a:p>
        </p:txBody>
      </p:sp>
      <p:pic>
        <p:nvPicPr>
          <p:cNvPr id="7" name="Picture 6" descr="A close-up of a circuit board&#10;&#10;Description automatically generated">
            <a:extLst>
              <a:ext uri="{FF2B5EF4-FFF2-40B4-BE49-F238E27FC236}">
                <a16:creationId xmlns:a16="http://schemas.microsoft.com/office/drawing/2014/main" id="{1546B910-85D9-6C6D-17E1-D3535828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858" y="1889661"/>
            <a:ext cx="7390593" cy="446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3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F5961D-5CC4-0128-84C2-85AE01347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ea typeface="Calibri"/>
                <a:cs typeface="Calibri"/>
              </a:rPr>
              <a:t>SOM Board : Flash chip is a non-volatile memory that stores and retains data even when power is turned off and when power-up, DSP can quickly load and execute stored code.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1800" dirty="0">
                <a:ea typeface="Calibri"/>
                <a:cs typeface="Calibri"/>
              </a:rPr>
              <a:t>Dual SHARC+ </a:t>
            </a:r>
            <a:r>
              <a:rPr lang="en-US" sz="1800">
                <a:ea typeface="Calibri"/>
                <a:cs typeface="Calibri"/>
              </a:rPr>
              <a:t>Cores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ea typeface="Calibri"/>
                <a:cs typeface="Calibri"/>
              </a:rPr>
              <a:t>Provides 12 DAC channels.</a:t>
            </a:r>
          </a:p>
          <a:p>
            <a:endParaRPr lang="en-US" sz="2000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8EE17-0FA3-DF83-AE24-A4F070C5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6660B-975D-A6B3-E5DF-D3793C5E3875}"/>
              </a:ext>
            </a:extLst>
          </p:cNvPr>
          <p:cNvSpPr txBox="1"/>
          <p:nvPr/>
        </p:nvSpPr>
        <p:spPr>
          <a:xfrm>
            <a:off x="448240" y="406639"/>
            <a:ext cx="895559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EV-SOMCRR-EZKIT(ADSP-21593)</a:t>
            </a:r>
            <a:r>
              <a:rPr lang="en-US" sz="2800" dirty="0">
                <a:ea typeface="+mn-lt"/>
                <a:cs typeface="+mn-lt"/>
              </a:rPr>
              <a:t> Hardware &amp; Connections</a:t>
            </a:r>
          </a:p>
          <a:p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7" name="Content Placeholder 3" descr="A blue circuit board with many ports&#10;&#10;Description automatically generated">
            <a:extLst>
              <a:ext uri="{FF2B5EF4-FFF2-40B4-BE49-F238E27FC236}">
                <a16:creationId xmlns:a16="http://schemas.microsoft.com/office/drawing/2014/main" id="{09D111D9-676C-884D-EAF9-F05C13BE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95" y="1218997"/>
            <a:ext cx="4472221" cy="5349554"/>
          </a:xfrm>
          <a:prstGeom prst="rect">
            <a:avLst/>
          </a:prstGeom>
        </p:spPr>
      </p:pic>
      <p:pic>
        <p:nvPicPr>
          <p:cNvPr id="9" name="Picture 8" descr="A blue circuit board with many small chips&#10;&#10;Description automatically generated">
            <a:extLst>
              <a:ext uri="{FF2B5EF4-FFF2-40B4-BE49-F238E27FC236}">
                <a16:creationId xmlns:a16="http://schemas.microsoft.com/office/drawing/2014/main" id="{175B2ECF-2478-54F1-BE22-0F9FE4B82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84" y="3015240"/>
            <a:ext cx="6096000" cy="33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6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26ACB2-06A8-A9A7-F8B9-AA7679D2C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85" y="1416275"/>
            <a:ext cx="10744182" cy="47060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A Board Support Package(BSP) is a collection of drivers, configuration files and documentation that are in support of the hardware platform.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The EV-SC59x EZ-KIT BSP provides comprehensive software support for the EV-SC59x EZKIT(ADSP-21593, ADSP-SC594, ADSP-SC598)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In BSP, various examples are provided to demonstrate the on-chip drivers and services.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Initialization and configuration of peripherals like GPIO, SPI, I2C, UART, ADC/DAC are provided in the package.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Detailed guides and references for getting started with the BSP on specific hardware is available.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33CD6A-C778-0041-15F0-DA7959E4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92201-53C8-5C1A-92C7-EC5B5A6A0297}"/>
              </a:ext>
            </a:extLst>
          </p:cNvPr>
          <p:cNvSpPr txBox="1"/>
          <p:nvPr/>
        </p:nvSpPr>
        <p:spPr>
          <a:xfrm>
            <a:off x="504286" y="329936"/>
            <a:ext cx="73640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BSP for ADSP21593</a:t>
            </a:r>
          </a:p>
        </p:txBody>
      </p:sp>
    </p:spTree>
    <p:extLst>
      <p:ext uri="{BB962C8B-B14F-4D97-AF65-F5344CB8AC3E}">
        <p14:creationId xmlns:p14="http://schemas.microsoft.com/office/powerpoint/2010/main" val="41799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479389CB-19B3-51A6-A260-E339DD3FC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09" b="11446"/>
          <a:stretch/>
        </p:blipFill>
        <p:spPr>
          <a:xfrm>
            <a:off x="2259671" y="1648052"/>
            <a:ext cx="6332459" cy="210885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890132-302D-E665-0D0F-52F1CED9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7</a:t>
            </a:fld>
            <a:endParaRPr lang="en-IN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9C8293-AFBA-42CE-917F-6B7BC5800BA5}"/>
              </a:ext>
            </a:extLst>
          </p:cNvPr>
          <p:cNvSpPr txBox="1">
            <a:spLocks/>
          </p:cNvSpPr>
          <p:nvPr/>
        </p:nvSpPr>
        <p:spPr>
          <a:xfrm>
            <a:off x="520461" y="1218996"/>
            <a:ext cx="11263222" cy="47060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+mn-lt"/>
                <a:cs typeface="+mn-lt"/>
              </a:rPr>
              <a:t>After installation of EV-SC59x EZ-KIT BSP package, it is available in Analog Devices folder in installation path.</a:t>
            </a:r>
          </a:p>
          <a:p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In Docs folder, release notes provides information on the processors applicable and </a:t>
            </a:r>
            <a:r>
              <a:rPr lang="en-US" sz="2000">
                <a:ea typeface="+mn-lt"/>
                <a:cs typeface="+mn-lt"/>
              </a:rPr>
              <a:t>CrossCore Embedded Studio(cces) version</a:t>
            </a:r>
            <a:r>
              <a:rPr lang="en-US" sz="2000">
                <a:ea typeface="Calibri"/>
                <a:cs typeface="Calibri"/>
              </a:rPr>
              <a:t> to be used.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4098B-53BC-923D-6482-EC5D8A58DAF5}"/>
              </a:ext>
            </a:extLst>
          </p:cNvPr>
          <p:cNvSpPr txBox="1"/>
          <p:nvPr/>
        </p:nvSpPr>
        <p:spPr>
          <a:xfrm>
            <a:off x="504286" y="329936"/>
            <a:ext cx="73640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BSP for ADSP21593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9C85DB9-F0C9-77A0-E07F-8CB705D7C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97" y="4509189"/>
            <a:ext cx="44005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6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207226E4-AE0A-B6EF-58A3-E892D919A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167" y="3744442"/>
            <a:ext cx="7755687" cy="236099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2B8CB-49D3-DAC4-BB10-7743F29E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769F9-0C9F-0465-AE6C-EE681AFC19EB}"/>
              </a:ext>
            </a:extLst>
          </p:cNvPr>
          <p:cNvSpPr txBox="1"/>
          <p:nvPr/>
        </p:nvSpPr>
        <p:spPr>
          <a:xfrm>
            <a:off x="504286" y="329936"/>
            <a:ext cx="73640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BSP for ADSP21593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3884112-1662-0F47-1B1E-9D07326F7540}"/>
              </a:ext>
            </a:extLst>
          </p:cNvPr>
          <p:cNvSpPr txBox="1">
            <a:spLocks/>
          </p:cNvSpPr>
          <p:nvPr/>
        </p:nvSpPr>
        <p:spPr>
          <a:xfrm>
            <a:off x="506084" y="1218996"/>
            <a:ext cx="11277599" cy="2642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Calibri"/>
                <a:cs typeface="Calibri"/>
              </a:rPr>
              <a:t>In EV-SC59x EZ-KIT Examples folder, </a:t>
            </a:r>
            <a:r>
              <a:rPr lang="en-US" sz="2000" err="1">
                <a:ea typeface="+mn-lt"/>
                <a:cs typeface="+mn-lt"/>
              </a:rPr>
              <a:t>Power_On_Self_Test</a:t>
            </a:r>
            <a:r>
              <a:rPr lang="en-US" sz="2000">
                <a:ea typeface="+mn-lt"/>
                <a:cs typeface="+mn-lt"/>
              </a:rPr>
              <a:t> example allows the user to test many peripherals. Readme is provided in the POST example to understand how these tests are run.</a:t>
            </a:r>
          </a:p>
          <a:p>
            <a:r>
              <a:rPr lang="en-US" sz="2000">
                <a:ea typeface="+mn-lt"/>
                <a:cs typeface="+mn-lt"/>
              </a:rPr>
              <a:t>Various device driver and system service examples are provided in drivers and services folder.</a:t>
            </a:r>
          </a:p>
          <a:p>
            <a:r>
              <a:rPr lang="en-US" sz="2000">
                <a:ea typeface="+mn-lt"/>
                <a:cs typeface="+mn-lt"/>
              </a:rPr>
              <a:t>Multi-Core examples are provided to demonstrates inter-core handshake using system software interrupts and TRU interrupts.</a:t>
            </a:r>
          </a:p>
          <a:p>
            <a:r>
              <a:rPr lang="en-US" sz="2000" err="1">
                <a:ea typeface="+mn-lt"/>
                <a:cs typeface="+mn-lt"/>
              </a:rPr>
              <a:t>Device_Programmer</a:t>
            </a:r>
            <a:r>
              <a:rPr lang="en-US" sz="2000">
                <a:ea typeface="+mn-lt"/>
                <a:cs typeface="+mn-lt"/>
              </a:rPr>
              <a:t> example allows the user to program the flash device on the EV-SC59x EZ-KIT in conjunction with the "Command-Line Device Programmer (</a:t>
            </a:r>
            <a:r>
              <a:rPr lang="en-US" sz="2000" err="1">
                <a:ea typeface="+mn-lt"/>
                <a:cs typeface="+mn-lt"/>
              </a:rPr>
              <a:t>cldp</a:t>
            </a:r>
            <a:r>
              <a:rPr lang="en-US" sz="2000">
                <a:ea typeface="+mn-lt"/>
                <a:cs typeface="+mn-lt"/>
              </a:rPr>
              <a:t>)".</a:t>
            </a:r>
          </a:p>
          <a:p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604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49DCE3-8AC9-3A75-46FF-EB979E82A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85" y="1218996"/>
            <a:ext cx="10814248" cy="166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BF524 is a Blackfin DSP </a:t>
            </a:r>
            <a:r>
              <a:rPr lang="en-US" sz="2000">
                <a:ea typeface="+mn-lt"/>
                <a:cs typeface="+mn-lt"/>
              </a:rPr>
              <a:t>processor,</a:t>
            </a:r>
            <a:r>
              <a:rPr lang="en-US" sz="2000" dirty="0">
                <a:ea typeface="+mn-lt"/>
                <a:cs typeface="+mn-lt"/>
              </a:rPr>
              <a:t> and it is used as host controller in EVAL-MELODY9. </a:t>
            </a:r>
          </a:p>
          <a:p>
            <a:r>
              <a:rPr lang="en-US" sz="2000" dirty="0">
                <a:ea typeface="+mn-lt"/>
                <a:cs typeface="+mn-lt"/>
              </a:rPr>
              <a:t>The BF524 processor configures the ADSP-21593 DSP with default configuration </a:t>
            </a:r>
            <a:r>
              <a:rPr lang="en-US" sz="2000">
                <a:ea typeface="+mn-lt"/>
                <a:cs typeface="+mn-lt"/>
              </a:rPr>
              <a:t>parameters,</a:t>
            </a:r>
            <a:r>
              <a:rPr lang="en-US" sz="2000" dirty="0">
                <a:ea typeface="+mn-lt"/>
                <a:cs typeface="+mn-lt"/>
              </a:rPr>
              <a:t> and it also provides an interface to PC through the serial port through which users can send command to ADSP-21593 DSP and receive the status from the ADSP-21593 DSP.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FBC17-6BA3-09FE-D48B-2ED2D13C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876B8-1719-2907-090E-68C783DCE3EA}"/>
              </a:ext>
            </a:extLst>
          </p:cNvPr>
          <p:cNvSpPr txBox="1"/>
          <p:nvPr/>
        </p:nvSpPr>
        <p:spPr>
          <a:xfrm>
            <a:off x="534688" y="412921"/>
            <a:ext cx="20620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Blackfin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4C726-4C59-B3B2-ED3E-7E5E57206954}"/>
              </a:ext>
            </a:extLst>
          </p:cNvPr>
          <p:cNvSpPr txBox="1"/>
          <p:nvPr/>
        </p:nvSpPr>
        <p:spPr>
          <a:xfrm>
            <a:off x="717953" y="4329022"/>
            <a:ext cx="20620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FPGA</a:t>
            </a:r>
            <a:endParaRPr lang="en-US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264300F5-731A-37D4-39EF-13A44C1C91A5}"/>
              </a:ext>
            </a:extLst>
          </p:cNvPr>
          <p:cNvSpPr txBox="1">
            <a:spLocks/>
          </p:cNvSpPr>
          <p:nvPr/>
        </p:nvSpPr>
        <p:spPr>
          <a:xfrm>
            <a:off x="533456" y="5007776"/>
            <a:ext cx="10814248" cy="7679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+mn-lt"/>
                <a:cs typeface="+mn-lt"/>
              </a:rPr>
              <a:t>FPGA on EVAL-MELODY-9 provides a flexible interface between DAI pins of the ADSP-21593 DSP.</a:t>
            </a: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C0EE6-8790-3A76-54D3-D64F4CBE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70" r="51268" b="313"/>
          <a:stretch/>
        </p:blipFill>
        <p:spPr>
          <a:xfrm>
            <a:off x="4421799" y="2673654"/>
            <a:ext cx="1671044" cy="15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9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1F2BE-F710-0CF5-592F-E41663FB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94A52-2BFC-0EFE-AC37-E44990897BFB}"/>
              </a:ext>
            </a:extLst>
          </p:cNvPr>
          <p:cNvSpPr txBox="1"/>
          <p:nvPr/>
        </p:nvSpPr>
        <p:spPr>
          <a:xfrm>
            <a:off x="515637" y="412679"/>
            <a:ext cx="37763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GUI Communication</a:t>
            </a:r>
            <a:endParaRPr lang="en-US"/>
          </a:p>
        </p:txBody>
      </p:sp>
      <p:pic>
        <p:nvPicPr>
          <p:cNvPr id="8" name="Picture 7" descr="A close up of a circuit board&#10;&#10;Description automatically generated">
            <a:extLst>
              <a:ext uri="{FF2B5EF4-FFF2-40B4-BE49-F238E27FC236}">
                <a16:creationId xmlns:a16="http://schemas.microsoft.com/office/drawing/2014/main" id="{586DD4F3-67B8-6201-7E88-8E987570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34" y="2876550"/>
            <a:ext cx="2747902" cy="1278520"/>
          </a:xfrm>
          <a:prstGeom prst="rect">
            <a:avLst/>
          </a:prstGeom>
        </p:spPr>
      </p:pic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C6D6338C-E59D-765C-AD47-9CBE8F659389}"/>
              </a:ext>
            </a:extLst>
          </p:cNvPr>
          <p:cNvSpPr txBox="1">
            <a:spLocks/>
          </p:cNvSpPr>
          <p:nvPr/>
        </p:nvSpPr>
        <p:spPr>
          <a:xfrm>
            <a:off x="657883" y="1341253"/>
            <a:ext cx="10153835" cy="16360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Calibri"/>
                <a:cs typeface="Calibri"/>
              </a:rPr>
              <a:t>A Graphical User Interface(GUI) is a user interface that allows to interact with devices through graphical elements like icons, buttons, menus and text-based commands.</a:t>
            </a:r>
          </a:p>
          <a:p>
            <a:r>
              <a:rPr lang="en-US" sz="2000">
                <a:ea typeface="+mn-lt"/>
                <a:cs typeface="+mn-lt"/>
              </a:rPr>
              <a:t>UART cable is connected to ‘J12’ of EVAL-MELODY-9 board and run GUI for sending commands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9C0D6DDA-D23D-F599-9A1D-89E74DAB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5" r="-181" b="272"/>
          <a:stretch/>
        </p:blipFill>
        <p:spPr>
          <a:xfrm>
            <a:off x="5646878" y="2621182"/>
            <a:ext cx="5335210" cy="346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7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904F6D-CEE2-1C3C-DC3C-6E84D46A4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20" y="1884541"/>
            <a:ext cx="10553817" cy="2735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800" b="1" dirty="0">
              <a:ea typeface="Calibri"/>
              <a:cs typeface="Calibri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ea typeface="Calibri"/>
                <a:cs typeface="Calibri"/>
              </a:rPr>
              <a:t>                </a:t>
            </a:r>
            <a:r>
              <a:rPr lang="en-US" sz="4000" b="1">
                <a:ea typeface="Calibri"/>
                <a:cs typeface="Calibri"/>
              </a:rPr>
              <a:t>   LOADING  &amp;  FLASHING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800" b="1">
                <a:ea typeface="Calibri"/>
                <a:cs typeface="Calibri"/>
              </a:rPr>
              <a:t>                                          Procedures through emulator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A26167-7356-B75C-8A32-759849FA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194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64B4EC-9574-F802-7F95-338224B13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ea typeface="Calibri"/>
                <a:cs typeface="Calibri"/>
              </a:rPr>
              <a:t>The file directory structure will be as shown below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r>
              <a:rPr lang="en-IN" sz="1800">
                <a:ea typeface="Calibri"/>
                <a:cs typeface="Calibri"/>
              </a:rPr>
              <a:t>Lunch in CCES 2.9.1</a:t>
            </a:r>
          </a:p>
          <a:p>
            <a:r>
              <a:rPr lang="en-IN" sz="1800">
                <a:ea typeface="Calibri"/>
                <a:cs typeface="Calibri"/>
              </a:rPr>
              <a:t>From the main menu, follow File -&gt; Import -&gt; General -&gt; Existing Projects into Workspace -&gt; Next -&gt; Select Root Directory -&gt; Finish. The picture shown below is the screen after projects are imported successful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7C2ED7-0C47-5D08-B73E-BE0873DD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CA810-9B1A-2F5A-20C2-EDDAD24A8D70}"/>
              </a:ext>
            </a:extLst>
          </p:cNvPr>
          <p:cNvSpPr txBox="1"/>
          <p:nvPr/>
        </p:nvSpPr>
        <p:spPr>
          <a:xfrm>
            <a:off x="457764" y="412679"/>
            <a:ext cx="75381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ADSP-21569(Melody-8) hardware - </a:t>
            </a:r>
            <a:r>
              <a:rPr lang="en-US" sz="3200" b="1">
                <a:solidFill>
                  <a:srgbClr val="0070C0"/>
                </a:solidFill>
                <a:ea typeface="+mn-lt"/>
                <a:cs typeface="+mn-lt"/>
              </a:rPr>
              <a:t>Loading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D482BE-902F-5D36-138F-CF968818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671" y="3431368"/>
            <a:ext cx="6117406" cy="2995435"/>
          </a:xfrm>
          <a:prstGeom prst="rect">
            <a:avLst/>
          </a:prstGeom>
        </p:spPr>
      </p:pic>
      <p:pic>
        <p:nvPicPr>
          <p:cNvPr id="9" name="Picture 8" descr="A white background with black numbers&#10;&#10;AI-generated content may be incorrect.">
            <a:extLst>
              <a:ext uri="{FF2B5EF4-FFF2-40B4-BE49-F238E27FC236}">
                <a16:creationId xmlns:a16="http://schemas.microsoft.com/office/drawing/2014/main" id="{34A49470-F1F7-ED44-0733-5E7E34BA2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33" y="1585912"/>
            <a:ext cx="46482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8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5BD924-13FD-4D46-1D3F-270E239B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ea typeface="Calibri"/>
                <a:cs typeface="Calibri"/>
              </a:rPr>
              <a:t>select Project -&gt; Build All (or right click on each project and select build option to build each project if the change is localized to a specific project) and wait until the build is completed.</a:t>
            </a:r>
          </a:p>
          <a:p>
            <a:r>
              <a:rPr lang="en-IN" sz="1800">
                <a:ea typeface="Calibri"/>
                <a:cs typeface="Calibri"/>
              </a:rPr>
              <a:t>Connect ICE-2000 emulator</a:t>
            </a: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r>
              <a:rPr lang="en-IN" sz="1800">
                <a:ea typeface="Calibri"/>
                <a:cs typeface="Calibri"/>
              </a:rPr>
              <a:t>Run -&gt; Debug Configurations -&gt; Right click on Application with Cross Core Debugger -&gt; New -&gt; SHARC, ADSP-21569 -&gt; Next -&gt; Emulator -&gt; ADSP21569 via ICE-2000 -&gt; Finish.</a:t>
            </a:r>
            <a:endParaRPr lang="en-IN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11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A0C687-F94C-9A39-58F4-6F07FBD7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3" descr="A close up of a device&#10;&#10;AI-generated content may be incorrect.">
            <a:extLst>
              <a:ext uri="{FF2B5EF4-FFF2-40B4-BE49-F238E27FC236}">
                <a16:creationId xmlns:a16="http://schemas.microsoft.com/office/drawing/2014/main" id="{26C9B290-FB6A-E048-B5E1-98B7A41F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740" y="2191141"/>
            <a:ext cx="2481589" cy="18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8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9FA8650-F73D-5E68-A3B4-6A16D7C37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441" y="1546418"/>
            <a:ext cx="7335544" cy="420794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492C7-F327-5A23-10E0-EC686CD9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FEC54-5CFB-ABB7-5F95-2994739FC786}"/>
              </a:ext>
            </a:extLst>
          </p:cNvPr>
          <p:cNvSpPr txBox="1"/>
          <p:nvPr/>
        </p:nvSpPr>
        <p:spPr>
          <a:xfrm>
            <a:off x="702197" y="1144440"/>
            <a:ext cx="90996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>
                <a:ea typeface="Calibri"/>
                <a:cs typeface="Calibri"/>
              </a:rPr>
              <a:t>The picture shown below is the screen after Debug Configuration is created successfully.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FA6CD-4C5D-1C52-B620-1C112B65AA04}"/>
              </a:ext>
            </a:extLst>
          </p:cNvPr>
          <p:cNvSpPr txBox="1"/>
          <p:nvPr/>
        </p:nvSpPr>
        <p:spPr>
          <a:xfrm>
            <a:off x="945715" y="5862181"/>
            <a:ext cx="95594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>
                <a:ea typeface="Calibri"/>
                <a:cs typeface="Calibri"/>
              </a:rPr>
              <a:t>Remove the default Preloader and add “21569_preload.dxe” from 21569_preload source folder.</a:t>
            </a:r>
            <a:r>
              <a:rPr lang="en-US" dirty="0">
                <a:ea typeface="Calibri"/>
                <a:cs typeface="Calibri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30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CDBC-6E14-9BA3-40DE-EE1B583C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453E7-E364-BF71-BC24-EE9CC0AE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ea typeface="Calibri"/>
                <a:cs typeface="Calibri"/>
              </a:rPr>
              <a:t>Add one more file using the same method.,  File: 21569SDK07\21569SDK07\Debug\ 21569SDK07.dxe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59B1D-8474-03F1-8F88-9FF28F59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15</a:t>
            </a:fld>
            <a:endParaRPr lang="en-IN"/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C705C5D-3F7D-75B6-97BD-02C2B60A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029" y="1638300"/>
            <a:ext cx="7395259" cy="424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99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663FA7-73D4-2619-E0F0-DFDF91B0A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ea typeface="Calibri"/>
                <a:cs typeface="Calibri"/>
              </a:rPr>
              <a:t>Click the Apply button to save the settings.</a:t>
            </a:r>
            <a:endParaRPr lang="en-US">
              <a:ea typeface="Calibri"/>
              <a:cs typeface="Calibri"/>
            </a:endParaRPr>
          </a:p>
          <a:p>
            <a:r>
              <a:rPr lang="en-IN" sz="1800">
                <a:ea typeface="Calibri"/>
                <a:cs typeface="Calibri"/>
              </a:rPr>
              <a:t>From the main menu, select Window -&gt; Preference -&gt; Run/Debug -&gt; Uncheck “Build (if required) before launching) if you don’t want to build the code again. </a:t>
            </a:r>
            <a:endParaRPr lang="en-US">
              <a:ea typeface="Calibri"/>
              <a:cs typeface="Calibri"/>
            </a:endParaRPr>
          </a:p>
          <a:p>
            <a:r>
              <a:rPr lang="en-IN" sz="1800">
                <a:ea typeface="Calibri"/>
                <a:cs typeface="Calibri"/>
              </a:rPr>
              <a:t>Hit the Resume button as shown below to start.</a:t>
            </a:r>
          </a:p>
          <a:p>
            <a:r>
              <a:rPr lang="en-IN" sz="1800">
                <a:ea typeface="Calibri"/>
                <a:cs typeface="Calibri"/>
              </a:rPr>
              <a:t>Hit the Debug button.</a:t>
            </a: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EBEF21-5788-39C6-F63A-E1209CA0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16</a:t>
            </a:fld>
            <a:endParaRPr lang="en-IN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1671E6E-A139-092E-49D3-928743A257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" r="710" b="4405"/>
          <a:stretch/>
        </p:blipFill>
        <p:spPr>
          <a:xfrm>
            <a:off x="6116602" y="3081725"/>
            <a:ext cx="5626486" cy="226494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FB3137-6C1A-3100-A8E4-CCE04A030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99" y="3521314"/>
            <a:ext cx="5215003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52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990DBC-46EC-4766-270F-C9E371820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IN" sz="1800">
                <a:ea typeface="Calibri"/>
                <a:cs typeface="Calibri"/>
              </a:rPr>
              <a:t>The file directory structure will be as shown below</a:t>
            </a:r>
            <a:endParaRPr lang="en-IE" sz="1800">
              <a:ea typeface="Calibri"/>
              <a:cs typeface="Calibri"/>
            </a:endParaRPr>
          </a:p>
          <a:p>
            <a:pPr marL="285750" indent="-285750"/>
            <a:endParaRPr lang="en-IN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pPr marL="285750" indent="-285750"/>
            <a:r>
              <a:rPr lang="en-IE" sz="1800">
                <a:ea typeface="Calibri"/>
                <a:cs typeface="Calibri"/>
              </a:rPr>
              <a:t>Copy the Loader file from the Flashables folder to FLASH_Programmer_Core project “src” folder</a:t>
            </a:r>
            <a:endParaRPr lang="en-IN" sz="1800" dirty="0">
              <a:ea typeface="Calibri"/>
              <a:cs typeface="Calibri"/>
            </a:endParaRPr>
          </a:p>
          <a:p>
            <a:endParaRPr lang="en-IE" sz="1800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BC153-B795-4115-28DD-95CEA1CD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C0E4A-4CA6-DC68-C64F-7DA238EA3CA7}"/>
              </a:ext>
            </a:extLst>
          </p:cNvPr>
          <p:cNvSpPr txBox="1"/>
          <p:nvPr/>
        </p:nvSpPr>
        <p:spPr>
          <a:xfrm>
            <a:off x="457764" y="412679"/>
            <a:ext cx="75381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ADSP-21569(Melody-8) hardware - </a:t>
            </a:r>
            <a:r>
              <a:rPr lang="en-US" sz="3200" b="1">
                <a:solidFill>
                  <a:srgbClr val="7030A0"/>
                </a:solidFill>
                <a:ea typeface="+mn-lt"/>
                <a:cs typeface="+mn-lt"/>
              </a:rPr>
              <a:t>Flashing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6" name="Picture 5" descr="A number and date on a white background&#10;&#10;AI-generated content may be incorrect.">
            <a:extLst>
              <a:ext uri="{FF2B5EF4-FFF2-40B4-BE49-F238E27FC236}">
                <a16:creationId xmlns:a16="http://schemas.microsoft.com/office/drawing/2014/main" id="{65B378E9-2DD6-6145-0986-FD3A7C03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38" y="1638783"/>
            <a:ext cx="5753100" cy="6096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C846EB-B452-9C3D-94B2-AAEECA4F4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608" y="2870401"/>
            <a:ext cx="5934075" cy="1657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34860E-9ED8-772C-31F1-F389BF37C7DF}"/>
              </a:ext>
            </a:extLst>
          </p:cNvPr>
          <p:cNvSpPr txBox="1"/>
          <p:nvPr/>
        </p:nvSpPr>
        <p:spPr>
          <a:xfrm>
            <a:off x="461058" y="4608653"/>
            <a:ext cx="1006418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Import “FLASH_Programmer_Core” project to the CCES workspace (CCESv2.9.1 build w1909051) and build the project.</a:t>
            </a: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ea typeface="Calibri"/>
                <a:cs typeface="Calibri"/>
              </a:rPr>
              <a:t>Load the code using the “debug Configuration” option. 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457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5AAD03-957E-2B91-5C40-2DC993B5A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ea typeface="Calibri"/>
                <a:cs typeface="Calibri"/>
              </a:rPr>
              <a:t>Select the processor as “</a:t>
            </a:r>
            <a:r>
              <a:rPr lang="en-IN" sz="1800">
                <a:latin typeface="Calibri"/>
                <a:ea typeface="Calibri"/>
                <a:cs typeface="Calibri"/>
              </a:rPr>
              <a:t>ADSP21569</a:t>
            </a:r>
            <a:r>
              <a:rPr lang="en-IN" sz="1800">
                <a:ea typeface="Calibri"/>
                <a:cs typeface="Calibri"/>
              </a:rPr>
              <a:t>” and ICE2000.</a:t>
            </a:r>
          </a:p>
          <a:p>
            <a:r>
              <a:rPr lang="en-IN" sz="1800">
                <a:ea typeface="Calibri"/>
                <a:cs typeface="Calibri"/>
              </a:rPr>
              <a:t>Select the executables “</a:t>
            </a:r>
            <a:r>
              <a:rPr lang="en-IN" sz="1800">
                <a:latin typeface="Times New Roman"/>
                <a:ea typeface="Calibri"/>
                <a:cs typeface="Times New Roman"/>
              </a:rPr>
              <a:t>21569_preload</a:t>
            </a:r>
            <a:r>
              <a:rPr lang="en-IN" sz="1800">
                <a:ea typeface="Calibri"/>
                <a:cs typeface="Calibri"/>
              </a:rPr>
              <a:t>.dxe” &amp; </a:t>
            </a:r>
            <a:r>
              <a:rPr lang="en-IN" sz="1800">
                <a:ea typeface="+mn-lt"/>
                <a:cs typeface="+mn-lt"/>
              </a:rPr>
              <a:t>“FLASH_Programmer_Core.dxe” from the respective folder.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5AB9DF-F60B-F65C-4DC5-7C7ED7E74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18</a:t>
            </a:fld>
            <a:endParaRPr lang="en-IN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D32902E-4AD8-06EC-9A2D-ED6CAC660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618" y="2077885"/>
            <a:ext cx="7250875" cy="427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5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8801F5-4BF5-F15F-85F8-077F1C78A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083298"/>
            <a:ext cx="11335108" cy="53461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ea typeface="Calibri"/>
                <a:cs typeface="Calibri"/>
              </a:rPr>
              <a:t>Select Apply and Debug.,  Select “Yes” for code loading message and debug message</a:t>
            </a:r>
          </a:p>
          <a:p>
            <a:r>
              <a:rPr lang="en-IN" sz="1800">
                <a:ea typeface="Calibri"/>
                <a:cs typeface="Calibri"/>
              </a:rPr>
              <a:t>After the Load complete, “RESUME” the CCES and check the output window for the Flash writing progress</a:t>
            </a:r>
          </a:p>
          <a:p>
            <a:r>
              <a:rPr lang="en-IE" sz="1800">
                <a:ea typeface="Calibri"/>
                <a:cs typeface="Calibri"/>
              </a:rPr>
              <a:t>Make sure the flashing done successfully by the message printed in console window.</a:t>
            </a:r>
            <a:endParaRPr lang="en-IN" sz="180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52083-0C7C-E15E-216A-6C7B15A2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19</a:t>
            </a:fld>
            <a:endParaRPr lang="en-IN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FE6E1F-D11A-3E7C-B514-046EF292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76" r="9468" b="1855"/>
          <a:stretch/>
        </p:blipFill>
        <p:spPr>
          <a:xfrm>
            <a:off x="1520022" y="2275561"/>
            <a:ext cx="7283727" cy="4015236"/>
          </a:xfrm>
          <a:prstGeom prst="rect">
            <a:avLst/>
          </a:prstGeom>
        </p:spPr>
      </p:pic>
      <p:pic>
        <p:nvPicPr>
          <p:cNvPr id="5" name="Picture 4" descr="Shape">
            <a:extLst>
              <a:ext uri="{FF2B5EF4-FFF2-40B4-BE49-F238E27FC236}">
                <a16:creationId xmlns:a16="http://schemas.microsoft.com/office/drawing/2014/main" id="{2D4B0275-1B1A-78B4-0CFA-80FA94342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502" y="5788394"/>
            <a:ext cx="2433050" cy="32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5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BC6893-C2B5-482E-2F2C-7D857FF71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>
                <a:latin typeface="Calibri"/>
                <a:ea typeface="Calibri"/>
                <a:cs typeface="Times New Roman"/>
              </a:rPr>
              <a:t>Connect the Jumper between 8 and 9 to J23 port as shown in below image.</a:t>
            </a:r>
            <a:endParaRPr lang="en-US" sz="1100">
              <a:latin typeface="Calibri"/>
              <a:ea typeface="Calibri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558858-58BF-1325-59B5-E37375DA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20</a:t>
            </a:fld>
            <a:endParaRPr lang="en-IN"/>
          </a:p>
        </p:txBody>
      </p:sp>
      <p:pic>
        <p:nvPicPr>
          <p:cNvPr id="4" name="Picture 3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CD94892C-45CA-D567-E939-D5C2C54EF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75" y="1803721"/>
            <a:ext cx="6991109" cy="4301925"/>
          </a:xfrm>
          <a:prstGeom prst="rect">
            <a:avLst/>
          </a:prstGeom>
        </p:spPr>
      </p:pic>
      <p:pic>
        <p:nvPicPr>
          <p:cNvPr id="5" name="Picture 4" descr="Shape">
            <a:extLst>
              <a:ext uri="{FF2B5EF4-FFF2-40B4-BE49-F238E27FC236}">
                <a16:creationId xmlns:a16="http://schemas.microsoft.com/office/drawing/2014/main" id="{1ED6228C-9733-2475-DB95-136CD771E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67037"/>
            <a:ext cx="13716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36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D8F82-28E2-5ECF-1D36-1698C7D32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Calibri"/>
                <a:cs typeface="Calibri"/>
              </a:rPr>
              <a:t>Take and import the same Flash programming project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IE" sz="1800">
                <a:ea typeface="Calibri"/>
                <a:cs typeface="Calibri"/>
              </a:rPr>
              <a:t>Flash the code and after flashing done successfully</a:t>
            </a:r>
            <a:endParaRPr lang="en-US" dirty="0">
              <a:ea typeface="Calibri"/>
              <a:cs typeface="Calibri"/>
            </a:endParaRPr>
          </a:p>
          <a:p>
            <a:r>
              <a:rPr lang="en-IE" sz="1800">
                <a:ea typeface="Calibri"/>
                <a:cs typeface="Calibri"/>
              </a:rPr>
              <a:t>Connect the </a:t>
            </a:r>
            <a:r>
              <a:rPr lang="en-IN" sz="1800">
                <a:ea typeface="Calibri"/>
                <a:cs typeface="Calibri"/>
              </a:rPr>
              <a:t>ICE-2000 emulator for loading symbols</a:t>
            </a:r>
            <a:endParaRPr lang="en-IE" sz="1800" dirty="0">
              <a:ea typeface="Calibri"/>
              <a:cs typeface="Calibri"/>
            </a:endParaRPr>
          </a:p>
          <a:p>
            <a:r>
              <a:rPr lang="en-IN" sz="1800">
                <a:ea typeface="Calibri"/>
                <a:cs typeface="Calibri"/>
              </a:rPr>
              <a:t>Select the " Load symbols only" option  to </a:t>
            </a:r>
            <a:r>
              <a:rPr lang="en-IN" sz="1800">
                <a:ea typeface="+mn-lt"/>
                <a:cs typeface="+mn-lt"/>
              </a:rPr>
              <a:t>21569SDK07.dxe</a:t>
            </a:r>
            <a:endParaRPr lang="en-IN" sz="1800" dirty="0">
              <a:ea typeface="Calibri"/>
              <a:cs typeface="Calibri"/>
            </a:endParaRPr>
          </a:p>
          <a:p>
            <a:r>
              <a:rPr lang="en-IN" sz="1800">
                <a:ea typeface="Calibri"/>
                <a:cs typeface="Calibri"/>
              </a:rPr>
              <a:t>Hit the Debug button</a:t>
            </a:r>
            <a:endParaRPr lang="en-IN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1800" dirty="0">
              <a:ea typeface="Calibri"/>
              <a:cs typeface="Calibri"/>
            </a:endParaRPr>
          </a:p>
          <a:p>
            <a:endParaRPr lang="en-IN" sz="18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6179C-ADF1-9EA1-7E9E-44AB8753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64780-C0E4-F660-8517-182BF7E25FF8}"/>
              </a:ext>
            </a:extLst>
          </p:cNvPr>
          <p:cNvSpPr txBox="1"/>
          <p:nvPr/>
        </p:nvSpPr>
        <p:spPr>
          <a:xfrm>
            <a:off x="457764" y="412679"/>
            <a:ext cx="75381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+mn-lt"/>
                <a:cs typeface="+mn-lt"/>
              </a:rPr>
              <a:t>Symbols loading</a:t>
            </a:r>
            <a:endParaRPr lang="en-US" sz="3200" b="1">
              <a:solidFill>
                <a:srgbClr val="0070C0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number and date on a white background&#10;&#10;AI-generated content may be incorrect.">
            <a:extLst>
              <a:ext uri="{FF2B5EF4-FFF2-40B4-BE49-F238E27FC236}">
                <a16:creationId xmlns:a16="http://schemas.microsoft.com/office/drawing/2014/main" id="{29CD807A-D658-4A2D-6575-535DA9C8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38" y="1638783"/>
            <a:ext cx="5753100" cy="609600"/>
          </a:xfrm>
          <a:prstGeom prst="rect">
            <a:avLst/>
          </a:prstGeom>
        </p:spPr>
      </p:pic>
      <p:pic>
        <p:nvPicPr>
          <p:cNvPr id="6" name="Picture 5" descr="A screenshot of a program&#10;&#10;AI-generated content may be incorrect.">
            <a:extLst>
              <a:ext uri="{FF2B5EF4-FFF2-40B4-BE49-F238E27FC236}">
                <a16:creationId xmlns:a16="http://schemas.microsoft.com/office/drawing/2014/main" id="{76B5D545-BA71-2947-5E30-6953A111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444" y="2408799"/>
            <a:ext cx="4486275" cy="416242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4ECFE8-A884-D77C-4ECB-2883984D6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06" y="4491755"/>
            <a:ext cx="6154717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25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3111" y="5583428"/>
            <a:ext cx="320577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74"/>
              </a:lnSpc>
            </a:pPr>
            <a:r>
              <a:rPr lang="en-US" sz="4050">
                <a:solidFill>
                  <a:srgbClr val="E97132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>
            <a:off x="4617128" y="2485236"/>
            <a:ext cx="3467080" cy="1112219"/>
          </a:xfrm>
          <a:custGeom>
            <a:avLst/>
            <a:gdLst/>
            <a:ahLst/>
            <a:cxnLst/>
            <a:rect l="l" t="t" r="r" b="b"/>
            <a:pathLst>
              <a:path w="5200620" h="1668328">
                <a:moveTo>
                  <a:pt x="0" y="0"/>
                </a:moveTo>
                <a:lnTo>
                  <a:pt x="5200620" y="0"/>
                </a:lnTo>
                <a:lnTo>
                  <a:pt x="5200620" y="1668328"/>
                </a:lnTo>
                <a:lnTo>
                  <a:pt x="0" y="166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44304" y="4221882"/>
            <a:ext cx="209496" cy="209496"/>
          </a:xfrm>
          <a:custGeom>
            <a:avLst/>
            <a:gdLst/>
            <a:ahLst/>
            <a:cxnLst/>
            <a:rect l="l" t="t" r="r" b="b"/>
            <a:pathLst>
              <a:path w="314244" h="314244">
                <a:moveTo>
                  <a:pt x="0" y="0"/>
                </a:moveTo>
                <a:lnTo>
                  <a:pt x="314244" y="0"/>
                </a:lnTo>
                <a:lnTo>
                  <a:pt x="314244" y="314244"/>
                </a:lnTo>
                <a:lnTo>
                  <a:pt x="0" y="314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44304" y="4561631"/>
            <a:ext cx="209496" cy="190451"/>
          </a:xfrm>
          <a:custGeom>
            <a:avLst/>
            <a:gdLst/>
            <a:ahLst/>
            <a:cxnLst/>
            <a:rect l="l" t="t" r="r" b="b"/>
            <a:pathLst>
              <a:path w="314244" h="285677">
                <a:moveTo>
                  <a:pt x="0" y="0"/>
                </a:moveTo>
                <a:lnTo>
                  <a:pt x="314244" y="0"/>
                </a:lnTo>
                <a:lnTo>
                  <a:pt x="314244" y="285677"/>
                </a:lnTo>
                <a:lnTo>
                  <a:pt x="0" y="285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72873" y="4897087"/>
            <a:ext cx="152360" cy="209475"/>
          </a:xfrm>
          <a:custGeom>
            <a:avLst/>
            <a:gdLst/>
            <a:ahLst/>
            <a:cxnLst/>
            <a:rect l="l" t="t" r="r" b="b"/>
            <a:pathLst>
              <a:path w="228540" h="314213">
                <a:moveTo>
                  <a:pt x="0" y="0"/>
                </a:moveTo>
                <a:lnTo>
                  <a:pt x="228540" y="0"/>
                </a:lnTo>
                <a:lnTo>
                  <a:pt x="228540" y="314213"/>
                </a:lnTo>
                <a:lnTo>
                  <a:pt x="0" y="3142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84208" y="4129178"/>
            <a:ext cx="2909977" cy="954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640"/>
              </a:lnSpc>
            </a:pPr>
            <a:r>
              <a:rPr lang="en-US" sz="1100" spc="-7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India, Germany, Japan, USA &amp; China</a:t>
            </a:r>
          </a:p>
          <a:p>
            <a:pPr algn="r">
              <a:lnSpc>
                <a:spcPts val="2640"/>
              </a:lnSpc>
            </a:pPr>
            <a:r>
              <a:rPr lang="en-US" sz="1100" spc="-7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+91 44 6666 9600</a:t>
            </a:r>
          </a:p>
          <a:p>
            <a:pPr algn="r">
              <a:lnSpc>
                <a:spcPts val="2640"/>
              </a:lnSpc>
            </a:pPr>
            <a:r>
              <a:rPr lang="en-US" sz="1100" u="sng" spc="-7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www.jasmin-infotech.com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5660041" cy="4561631"/>
          </a:xfrm>
          <a:custGeom>
            <a:avLst/>
            <a:gdLst/>
            <a:ahLst/>
            <a:cxnLst/>
            <a:rect l="l" t="t" r="r" b="b"/>
            <a:pathLst>
              <a:path w="8490062" h="6842446">
                <a:moveTo>
                  <a:pt x="0" y="0"/>
                </a:moveTo>
                <a:lnTo>
                  <a:pt x="8490062" y="0"/>
                </a:lnTo>
                <a:lnTo>
                  <a:pt x="8490062" y="6842446"/>
                </a:lnTo>
                <a:lnTo>
                  <a:pt x="0" y="68424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5400000">
            <a:off x="-541630" y="4128384"/>
            <a:ext cx="1991960" cy="1056946"/>
            <a:chOff x="0" y="0"/>
            <a:chExt cx="3983920" cy="2113892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3945763" cy="2075815"/>
            </a:xfrm>
            <a:custGeom>
              <a:avLst/>
              <a:gdLst/>
              <a:ahLst/>
              <a:cxnLst/>
              <a:rect l="l" t="t" r="r" b="b"/>
              <a:pathLst>
                <a:path w="3945763" h="2075815">
                  <a:moveTo>
                    <a:pt x="0" y="2075815"/>
                  </a:moveTo>
                  <a:lnTo>
                    <a:pt x="1972945" y="0"/>
                  </a:lnTo>
                  <a:lnTo>
                    <a:pt x="3945763" y="2075815"/>
                  </a:lnTo>
                  <a:close/>
                </a:path>
              </a:pathLst>
            </a:custGeom>
            <a:solidFill>
              <a:srgbClr val="E9713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-1524" y="0"/>
              <a:ext cx="3986911" cy="2113788"/>
            </a:xfrm>
            <a:custGeom>
              <a:avLst/>
              <a:gdLst/>
              <a:ahLst/>
              <a:cxnLst/>
              <a:rect l="l" t="t" r="r" b="b"/>
              <a:pathLst>
                <a:path w="3986911" h="2113788">
                  <a:moveTo>
                    <a:pt x="6731" y="2081657"/>
                  </a:moveTo>
                  <a:lnTo>
                    <a:pt x="1979676" y="5969"/>
                  </a:lnTo>
                  <a:cubicBezTo>
                    <a:pt x="1983232" y="2159"/>
                    <a:pt x="1988312" y="0"/>
                    <a:pt x="1993519" y="0"/>
                  </a:cubicBezTo>
                  <a:cubicBezTo>
                    <a:pt x="1998726" y="0"/>
                    <a:pt x="2003679" y="2159"/>
                    <a:pt x="2007362" y="5969"/>
                  </a:cubicBezTo>
                  <a:lnTo>
                    <a:pt x="3980180" y="2081657"/>
                  </a:lnTo>
                  <a:cubicBezTo>
                    <a:pt x="3985387" y="2087118"/>
                    <a:pt x="3986911" y="2095246"/>
                    <a:pt x="3983863" y="2102231"/>
                  </a:cubicBezTo>
                  <a:cubicBezTo>
                    <a:pt x="3980815" y="2109216"/>
                    <a:pt x="3973957" y="2113788"/>
                    <a:pt x="3966337" y="2113788"/>
                  </a:cubicBezTo>
                  <a:lnTo>
                    <a:pt x="20574" y="2113788"/>
                  </a:lnTo>
                  <a:cubicBezTo>
                    <a:pt x="12954" y="2113788"/>
                    <a:pt x="6096" y="2109216"/>
                    <a:pt x="3048" y="2102231"/>
                  </a:cubicBezTo>
                  <a:cubicBezTo>
                    <a:pt x="0" y="2095246"/>
                    <a:pt x="1524" y="2087118"/>
                    <a:pt x="6731" y="2081657"/>
                  </a:cubicBezTo>
                  <a:moveTo>
                    <a:pt x="34290" y="2107946"/>
                  </a:moveTo>
                  <a:lnTo>
                    <a:pt x="20574" y="2094865"/>
                  </a:lnTo>
                  <a:lnTo>
                    <a:pt x="20574" y="2075815"/>
                  </a:lnTo>
                  <a:lnTo>
                    <a:pt x="3966337" y="2075815"/>
                  </a:lnTo>
                  <a:lnTo>
                    <a:pt x="3966337" y="2094865"/>
                  </a:lnTo>
                  <a:lnTo>
                    <a:pt x="3952494" y="2107946"/>
                  </a:lnTo>
                  <a:lnTo>
                    <a:pt x="1979676" y="32131"/>
                  </a:lnTo>
                  <a:lnTo>
                    <a:pt x="1993519" y="19050"/>
                  </a:lnTo>
                  <a:lnTo>
                    <a:pt x="2007362" y="32131"/>
                  </a:lnTo>
                  <a:lnTo>
                    <a:pt x="34417" y="2107946"/>
                  </a:lnTo>
                  <a:close/>
                </a:path>
              </a:pathLst>
            </a:custGeom>
            <a:solidFill>
              <a:srgbClr val="E97132"/>
            </a:solidFill>
          </p:spPr>
        </p:sp>
      </p:grpSp>
      <p:sp>
        <p:nvSpPr>
          <p:cNvPr id="12" name="Freeform 12" descr="A picture containing text, font, logo, graphics  Description automatically generated"/>
          <p:cNvSpPr/>
          <p:nvPr/>
        </p:nvSpPr>
        <p:spPr>
          <a:xfrm>
            <a:off x="9469253" y="195459"/>
            <a:ext cx="1855980" cy="1498672"/>
          </a:xfrm>
          <a:custGeom>
            <a:avLst/>
            <a:gdLst/>
            <a:ahLst/>
            <a:cxnLst/>
            <a:rect l="l" t="t" r="r" b="b"/>
            <a:pathLst>
              <a:path w="2783970" h="2248008">
                <a:moveTo>
                  <a:pt x="0" y="0"/>
                </a:moveTo>
                <a:lnTo>
                  <a:pt x="2783970" y="0"/>
                </a:lnTo>
                <a:lnTo>
                  <a:pt x="2783970" y="2248009"/>
                </a:lnTo>
                <a:lnTo>
                  <a:pt x="0" y="2248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" r="-19"/>
            </a:stretch>
          </a:blipFill>
        </p:spPr>
      </p:sp>
    </p:spTree>
    <p:extLst>
      <p:ext uri="{BB962C8B-B14F-4D97-AF65-F5344CB8AC3E}">
        <p14:creationId xmlns:p14="http://schemas.microsoft.com/office/powerpoint/2010/main" val="6429862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aca38d-74d5-4ce7-920c-59228ba159e1">
      <Terms xmlns="http://schemas.microsoft.com/office/infopath/2007/PartnerControls"/>
    </lcf76f155ced4ddcb4097134ff3c332f>
    <TaxCatchAll xmlns="204c8fdd-6a95-4db6-9bb5-c65d7126e4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60F794EE8B7F4896CF96123B576A02" ma:contentTypeVersion="14" ma:contentTypeDescription="Create a new document." ma:contentTypeScope="" ma:versionID="a515f5e97c337ced10d4210d6ad70d57">
  <xsd:schema xmlns:xsd="http://www.w3.org/2001/XMLSchema" xmlns:xs="http://www.w3.org/2001/XMLSchema" xmlns:p="http://schemas.microsoft.com/office/2006/metadata/properties" xmlns:ns2="82aca38d-74d5-4ce7-920c-59228ba159e1" xmlns:ns3="204c8fdd-6a95-4db6-9bb5-c65d7126e426" targetNamespace="http://schemas.microsoft.com/office/2006/metadata/properties" ma:root="true" ma:fieldsID="48b2a20fcc60b9779bf550ce6025378e" ns2:_="" ns3:_="">
    <xsd:import namespace="82aca38d-74d5-4ce7-920c-59228ba159e1"/>
    <xsd:import namespace="204c8fdd-6a95-4db6-9bb5-c65d7126e4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aca38d-74d5-4ce7-920c-59228ba15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d8ae02-67be-425d-859a-0c16ee0cf0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c8fdd-6a95-4db6-9bb5-c65d7126e4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497cf32-f975-48ff-8ef4-ce7729ecca1e}" ma:internalName="TaxCatchAll" ma:showField="CatchAllData" ma:web="204c8fdd-6a95-4db6-9bb5-c65d7126e4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187D3E-E3C9-48EC-BAD4-E06D13CA9AE4}">
  <ds:schemaRefs>
    <ds:schemaRef ds:uri="060a8a9f-d048-4cae-94ae-42ad8fd36d05"/>
    <ds:schemaRef ds:uri="c683474e-3566-459e-a8fa-b9191d46e5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9397E1-7CA9-4BBB-A597-B6EBF0B933DC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22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Padmini Thupalli Siva</dc:creator>
  <cp:revision>839</cp:revision>
  <dcterms:created xsi:type="dcterms:W3CDTF">2023-06-09T06:24:09Z</dcterms:created>
  <dcterms:modified xsi:type="dcterms:W3CDTF">2025-03-10T07:43:48Z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0x010100C360F794EE8B7F4896CF96123B576A02</vt:lpwstr>
  </property>
</Properties>
</file>