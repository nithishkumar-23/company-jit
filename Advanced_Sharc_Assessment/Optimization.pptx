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7"/>
  </p:notesMasterIdLst>
  <p:sldIdLst>
    <p:sldId id="312" r:id="rId5"/>
    <p:sldId id="313" r:id="rId6"/>
    <p:sldId id="314" r:id="rId7"/>
    <p:sldId id="315" r:id="rId8"/>
    <p:sldId id="316" r:id="rId9"/>
    <p:sldId id="317" r:id="rId10"/>
    <p:sldId id="258" r:id="rId11"/>
    <p:sldId id="259" r:id="rId12"/>
    <p:sldId id="293" r:id="rId13"/>
    <p:sldId id="301" r:id="rId14"/>
    <p:sldId id="260" r:id="rId15"/>
    <p:sldId id="261" r:id="rId16"/>
    <p:sldId id="262" r:id="rId17"/>
    <p:sldId id="263" r:id="rId18"/>
    <p:sldId id="264" r:id="rId19"/>
    <p:sldId id="265" r:id="rId20"/>
    <p:sldId id="266" r:id="rId21"/>
    <p:sldId id="267" r:id="rId22"/>
    <p:sldId id="294" r:id="rId23"/>
    <p:sldId id="268" r:id="rId24"/>
    <p:sldId id="269" r:id="rId25"/>
    <p:sldId id="270" r:id="rId26"/>
    <p:sldId id="295" r:id="rId27"/>
    <p:sldId id="296" r:id="rId28"/>
    <p:sldId id="297" r:id="rId29"/>
    <p:sldId id="299" r:id="rId30"/>
    <p:sldId id="273" r:id="rId31"/>
    <p:sldId id="274" r:id="rId32"/>
    <p:sldId id="275" r:id="rId33"/>
    <p:sldId id="276" r:id="rId34"/>
    <p:sldId id="277" r:id="rId35"/>
    <p:sldId id="311"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76A93F-09D9-4B34-91CB-5069FDD6A88E}" v="21" dt="2025-03-24T11:05:47.4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224"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nvasanthan Ramasamy Annadurai" userId="S::ponvasanthan.ramasamyannadurai@jasmin-infotech.com::4685c80d-02a9-494a-b9f8-0df76587295b" providerId="AD" clId="Web-{040F09DB-192C-588E-62A0-7C059E0D7D5C}"/>
    <pc:docChg chg="delSld modSld">
      <pc:chgData name="Ponvasanthan Ramasamy Annadurai" userId="S::ponvasanthan.ramasamyannadurai@jasmin-infotech.com::4685c80d-02a9-494a-b9f8-0df76587295b" providerId="AD" clId="Web-{040F09DB-192C-588E-62A0-7C059E0D7D5C}" dt="2025-03-17T04:22:18.251" v="15"/>
      <pc:docMkLst>
        <pc:docMk/>
      </pc:docMkLst>
      <pc:sldChg chg="del">
        <pc:chgData name="Ponvasanthan Ramasamy Annadurai" userId="S::ponvasanthan.ramasamyannadurai@jasmin-infotech.com::4685c80d-02a9-494a-b9f8-0df76587295b" providerId="AD" clId="Web-{040F09DB-192C-588E-62A0-7C059E0D7D5C}" dt="2025-03-17T04:21:04.500" v="0"/>
        <pc:sldMkLst>
          <pc:docMk/>
          <pc:sldMk cId="3940030573" sldId="257"/>
        </pc:sldMkLst>
      </pc:sldChg>
      <pc:sldChg chg="del">
        <pc:chgData name="Ponvasanthan Ramasamy Annadurai" userId="S::ponvasanthan.ramasamyannadurai@jasmin-infotech.com::4685c80d-02a9-494a-b9f8-0df76587295b" providerId="AD" clId="Web-{040F09DB-192C-588E-62A0-7C059E0D7D5C}" dt="2025-03-17T04:21:56.813" v="2"/>
        <pc:sldMkLst>
          <pc:docMk/>
          <pc:sldMk cId="2221427996" sldId="278"/>
        </pc:sldMkLst>
      </pc:sldChg>
      <pc:sldChg chg="del">
        <pc:chgData name="Ponvasanthan Ramasamy Annadurai" userId="S::ponvasanthan.ramasamyannadurai@jasmin-infotech.com::4685c80d-02a9-494a-b9f8-0df76587295b" providerId="AD" clId="Web-{040F09DB-192C-588E-62A0-7C059E0D7D5C}" dt="2025-03-17T04:22:10.016" v="11"/>
        <pc:sldMkLst>
          <pc:docMk/>
          <pc:sldMk cId="2221427996" sldId="279"/>
        </pc:sldMkLst>
      </pc:sldChg>
      <pc:sldChg chg="del">
        <pc:chgData name="Ponvasanthan Ramasamy Annadurai" userId="S::ponvasanthan.ramasamyannadurai@jasmin-infotech.com::4685c80d-02a9-494a-b9f8-0df76587295b" providerId="AD" clId="Web-{040F09DB-192C-588E-62A0-7C059E0D7D5C}" dt="2025-03-17T04:22:13.219" v="12"/>
        <pc:sldMkLst>
          <pc:docMk/>
          <pc:sldMk cId="2221427996" sldId="280"/>
        </pc:sldMkLst>
      </pc:sldChg>
      <pc:sldChg chg="del">
        <pc:chgData name="Ponvasanthan Ramasamy Annadurai" userId="S::ponvasanthan.ramasamyannadurai@jasmin-infotech.com::4685c80d-02a9-494a-b9f8-0df76587295b" providerId="AD" clId="Web-{040F09DB-192C-588E-62A0-7C059E0D7D5C}" dt="2025-03-17T04:22:14.501" v="13"/>
        <pc:sldMkLst>
          <pc:docMk/>
          <pc:sldMk cId="2449000475" sldId="290"/>
        </pc:sldMkLst>
      </pc:sldChg>
      <pc:sldChg chg="del">
        <pc:chgData name="Ponvasanthan Ramasamy Annadurai" userId="S::ponvasanthan.ramasamyannadurai@jasmin-infotech.com::4685c80d-02a9-494a-b9f8-0df76587295b" providerId="AD" clId="Web-{040F09DB-192C-588E-62A0-7C059E0D7D5C}" dt="2025-03-17T04:22:15.876" v="14"/>
        <pc:sldMkLst>
          <pc:docMk/>
          <pc:sldMk cId="2481375408" sldId="291"/>
        </pc:sldMkLst>
      </pc:sldChg>
      <pc:sldChg chg="del">
        <pc:chgData name="Ponvasanthan Ramasamy Annadurai" userId="S::ponvasanthan.ramasamyannadurai@jasmin-infotech.com::4685c80d-02a9-494a-b9f8-0df76587295b" providerId="AD" clId="Web-{040F09DB-192C-588E-62A0-7C059E0D7D5C}" dt="2025-03-17T04:22:18.251" v="15"/>
        <pc:sldMkLst>
          <pc:docMk/>
          <pc:sldMk cId="3831167458" sldId="292"/>
        </pc:sldMkLst>
      </pc:sldChg>
      <pc:sldChg chg="del">
        <pc:chgData name="Ponvasanthan Ramasamy Annadurai" userId="S::ponvasanthan.ramasamyannadurai@jasmin-infotech.com::4685c80d-02a9-494a-b9f8-0df76587295b" providerId="AD" clId="Web-{040F09DB-192C-588E-62A0-7C059E0D7D5C}" dt="2025-03-17T04:22:05.626" v="8"/>
        <pc:sldMkLst>
          <pc:docMk/>
          <pc:sldMk cId="1582130393" sldId="302"/>
        </pc:sldMkLst>
      </pc:sldChg>
      <pc:sldChg chg="del">
        <pc:chgData name="Ponvasanthan Ramasamy Annadurai" userId="S::ponvasanthan.ramasamyannadurai@jasmin-infotech.com::4685c80d-02a9-494a-b9f8-0df76587295b" providerId="AD" clId="Web-{040F09DB-192C-588E-62A0-7C059E0D7D5C}" dt="2025-03-17T04:21:59.250" v="3"/>
        <pc:sldMkLst>
          <pc:docMk/>
          <pc:sldMk cId="3346106366" sldId="303"/>
        </pc:sldMkLst>
      </pc:sldChg>
      <pc:sldChg chg="del">
        <pc:chgData name="Ponvasanthan Ramasamy Annadurai" userId="S::ponvasanthan.ramasamyannadurai@jasmin-infotech.com::4685c80d-02a9-494a-b9f8-0df76587295b" providerId="AD" clId="Web-{040F09DB-192C-588E-62A0-7C059E0D7D5C}" dt="2025-03-17T04:22:06.376" v="9"/>
        <pc:sldMkLst>
          <pc:docMk/>
          <pc:sldMk cId="3196297755" sldId="304"/>
        </pc:sldMkLst>
      </pc:sldChg>
      <pc:sldChg chg="del">
        <pc:chgData name="Ponvasanthan Ramasamy Annadurai" userId="S::ponvasanthan.ramasamyannadurai@jasmin-infotech.com::4685c80d-02a9-494a-b9f8-0df76587295b" providerId="AD" clId="Web-{040F09DB-192C-588E-62A0-7C059E0D7D5C}" dt="2025-03-17T04:22:07.329" v="10"/>
        <pc:sldMkLst>
          <pc:docMk/>
          <pc:sldMk cId="3527015835" sldId="305"/>
        </pc:sldMkLst>
      </pc:sldChg>
      <pc:sldChg chg="del">
        <pc:chgData name="Ponvasanthan Ramasamy Annadurai" userId="S::ponvasanthan.ramasamyannadurai@jasmin-infotech.com::4685c80d-02a9-494a-b9f8-0df76587295b" providerId="AD" clId="Web-{040F09DB-192C-588E-62A0-7C059E0D7D5C}" dt="2025-03-17T04:22:02.141" v="4"/>
        <pc:sldMkLst>
          <pc:docMk/>
          <pc:sldMk cId="2901864384" sldId="307"/>
        </pc:sldMkLst>
      </pc:sldChg>
      <pc:sldChg chg="del">
        <pc:chgData name="Ponvasanthan Ramasamy Annadurai" userId="S::ponvasanthan.ramasamyannadurai@jasmin-infotech.com::4685c80d-02a9-494a-b9f8-0df76587295b" providerId="AD" clId="Web-{040F09DB-192C-588E-62A0-7C059E0D7D5C}" dt="2025-03-17T04:22:03.188" v="5"/>
        <pc:sldMkLst>
          <pc:docMk/>
          <pc:sldMk cId="252547929" sldId="308"/>
        </pc:sldMkLst>
      </pc:sldChg>
      <pc:sldChg chg="del">
        <pc:chgData name="Ponvasanthan Ramasamy Annadurai" userId="S::ponvasanthan.ramasamyannadurai@jasmin-infotech.com::4685c80d-02a9-494a-b9f8-0df76587295b" providerId="AD" clId="Web-{040F09DB-192C-588E-62A0-7C059E0D7D5C}" dt="2025-03-17T04:22:04.516" v="7"/>
        <pc:sldMkLst>
          <pc:docMk/>
          <pc:sldMk cId="2923738679" sldId="309"/>
        </pc:sldMkLst>
      </pc:sldChg>
      <pc:sldChg chg="del">
        <pc:chgData name="Ponvasanthan Ramasamy Annadurai" userId="S::ponvasanthan.ramasamyannadurai@jasmin-infotech.com::4685c80d-02a9-494a-b9f8-0df76587295b" providerId="AD" clId="Web-{040F09DB-192C-588E-62A0-7C059E0D7D5C}" dt="2025-03-17T04:22:03.876" v="6"/>
        <pc:sldMkLst>
          <pc:docMk/>
          <pc:sldMk cId="2556630711" sldId="310"/>
        </pc:sldMkLst>
      </pc:sldChg>
      <pc:sldChg chg="delSp">
        <pc:chgData name="Ponvasanthan Ramasamy Annadurai" userId="S::ponvasanthan.ramasamyannadurai@jasmin-infotech.com::4685c80d-02a9-494a-b9f8-0df76587295b" providerId="AD" clId="Web-{040F09DB-192C-588E-62A0-7C059E0D7D5C}" dt="2025-03-17T04:21:09.875" v="1"/>
        <pc:sldMkLst>
          <pc:docMk/>
          <pc:sldMk cId="2567286094" sldId="313"/>
        </pc:sldMkLst>
        <pc:spChg chg="del">
          <ac:chgData name="Ponvasanthan Ramasamy Annadurai" userId="S::ponvasanthan.ramasamyannadurai@jasmin-infotech.com::4685c80d-02a9-494a-b9f8-0df76587295b" providerId="AD" clId="Web-{040F09DB-192C-588E-62A0-7C059E0D7D5C}" dt="2025-03-17T04:21:09.875" v="1"/>
          <ac:spMkLst>
            <pc:docMk/>
            <pc:sldMk cId="2567286094" sldId="313"/>
            <ac:spMk id="6" creationId="{00000000-0000-0000-0000-000000000000}"/>
          </ac:spMkLst>
        </pc:spChg>
      </pc:sldChg>
    </pc:docChg>
  </pc:docChgLst>
  <pc:docChgLst>
    <pc:chgData name="Ponvasanthan Ramasamy Annadurai" userId="S::ponvasanthan.ramasamyannadurai@jasmin-infotech.com::4685c80d-02a9-494a-b9f8-0df76587295b" providerId="AD" clId="Web-{DD76A93F-09D9-4B34-91CB-5069FDD6A88E}"/>
    <pc:docChg chg="modSld">
      <pc:chgData name="Ponvasanthan Ramasamy Annadurai" userId="S::ponvasanthan.ramasamyannadurai@jasmin-infotech.com::4685c80d-02a9-494a-b9f8-0df76587295b" providerId="AD" clId="Web-{DD76A93F-09D9-4B34-91CB-5069FDD6A88E}" dt="2025-03-24T11:05:47.237" v="9" actId="20577"/>
      <pc:docMkLst>
        <pc:docMk/>
      </pc:docMkLst>
      <pc:sldChg chg="modSp">
        <pc:chgData name="Ponvasanthan Ramasamy Annadurai" userId="S::ponvasanthan.ramasamyannadurai@jasmin-infotech.com::4685c80d-02a9-494a-b9f8-0df76587295b" providerId="AD" clId="Web-{DD76A93F-09D9-4B34-91CB-5069FDD6A88E}" dt="2025-03-24T11:05:47.237" v="9" actId="20577"/>
        <pc:sldMkLst>
          <pc:docMk/>
          <pc:sldMk cId="216007238" sldId="295"/>
        </pc:sldMkLst>
        <pc:spChg chg="mod">
          <ac:chgData name="Ponvasanthan Ramasamy Annadurai" userId="S::ponvasanthan.ramasamyannadurai@jasmin-infotech.com::4685c80d-02a9-494a-b9f8-0df76587295b" providerId="AD" clId="Web-{DD76A93F-09D9-4B34-91CB-5069FDD6A88E}" dt="2025-03-24T11:05:47.237" v="9" actId="20577"/>
          <ac:spMkLst>
            <pc:docMk/>
            <pc:sldMk cId="216007238" sldId="295"/>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DDCC13-D389-4D77-A947-61616E0DC41F}" type="datetimeFigureOut">
              <a:rPr lang="en-US" smtClean="0"/>
              <a:t>3/24/2025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9978EB-5320-41B2-B68A-20BF1DD6800D}" type="slidenum">
              <a:rPr lang="en-US" smtClean="0"/>
              <a:t>‹#›</a:t>
            </a:fld>
            <a:endParaRPr lang="en-US"/>
          </a:p>
        </p:txBody>
      </p:sp>
    </p:spTree>
    <p:extLst>
      <p:ext uri="{BB962C8B-B14F-4D97-AF65-F5344CB8AC3E}">
        <p14:creationId xmlns:p14="http://schemas.microsoft.com/office/powerpoint/2010/main" val="2056516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3489" name="Rectangle 177"/>
          <p:cNvSpPr>
            <a:spLocks noGrp="1" noChangeArrowheads="1"/>
          </p:cNvSpPr>
          <p:nvPr>
            <p:ph type="ctrTitle" sz="quarter"/>
          </p:nvPr>
        </p:nvSpPr>
        <p:spPr bwMode="auto">
          <a:xfrm>
            <a:off x="650875" y="2020889"/>
            <a:ext cx="6821488" cy="788986"/>
          </a:xfrm>
        </p:spPr>
        <p:txBody>
          <a:bodyPr/>
          <a:lstStyle>
            <a:lvl1pPr algn="ctr">
              <a:defRPr sz="3800">
                <a:solidFill>
                  <a:srgbClr val="014353"/>
                </a:solidFill>
                <a:effectLst>
                  <a:outerShdw blurRad="50800" dist="38100" dir="2700000" algn="tl" rotWithShape="0">
                    <a:prstClr val="black">
                      <a:alpha val="40000"/>
                    </a:prstClr>
                  </a:outerShdw>
                </a:effectLst>
              </a:defRPr>
            </a:lvl1pPr>
          </a:lstStyle>
          <a:p>
            <a:r>
              <a:rPr lang="en-US" altLang="zh-CN"/>
              <a:t>Click to edit Master title style</a:t>
            </a:r>
            <a:endParaRPr lang="zh-CN" altLang="en-US" dirty="0"/>
          </a:p>
        </p:txBody>
      </p:sp>
      <p:sp>
        <p:nvSpPr>
          <p:cNvPr id="6" name="文本占位符 2"/>
          <p:cNvSpPr>
            <a:spLocks noGrp="1"/>
          </p:cNvSpPr>
          <p:nvPr>
            <p:ph type="body" idx="1"/>
          </p:nvPr>
        </p:nvSpPr>
        <p:spPr>
          <a:xfrm>
            <a:off x="2170113" y="2887664"/>
            <a:ext cx="5116512" cy="360362"/>
          </a:xfrm>
          <a:prstGeom prst="rect">
            <a:avLst/>
          </a:prstGeom>
        </p:spPr>
        <p:txBody>
          <a:bodyPr anchor="b">
            <a:scene3d>
              <a:camera prst="orthographicFront"/>
              <a:lightRig rig="threePt" dir="t"/>
            </a:scene3d>
            <a:sp3d extrusionH="57150">
              <a:bevelT w="38100" h="38100"/>
            </a:sp3d>
          </a:bodyPr>
          <a:lstStyle>
            <a:lvl1pPr marL="0" indent="0">
              <a:buNone/>
              <a:defRPr sz="2000">
                <a:solidFill>
                  <a:srgbClr val="00B0F0"/>
                </a:solidFill>
                <a:effectLst>
                  <a:outerShdw blurRad="50800" dist="38100" dir="2700000" algn="tl" rotWithShape="0">
                    <a:prstClr val="black">
                      <a:alpha val="40000"/>
                    </a:prstClr>
                  </a:outerShdw>
                </a:effectLs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
        <p:nvSpPr>
          <p:cNvPr id="4" name="Footer Placeholder 3"/>
          <p:cNvSpPr>
            <a:spLocks noGrp="1"/>
          </p:cNvSpPr>
          <p:nvPr>
            <p:ph type="ftr" sz="quarter" idx="10"/>
          </p:nvPr>
        </p:nvSpPr>
        <p:spPr/>
        <p:txBody>
          <a:bodyPr/>
          <a:lstStyle>
            <a:lvl1pPr>
              <a:defRPr/>
            </a:lvl1pPr>
          </a:lstStyle>
          <a:p>
            <a:pPr>
              <a:defRPr/>
            </a:pPr>
            <a:endParaRPr lang="en-US" altLang="ko-KR">
              <a:solidFill>
                <a:srgbClr val="FFFFFF"/>
              </a:solidFill>
            </a:endParaRPr>
          </a:p>
        </p:txBody>
      </p:sp>
    </p:spTree>
    <p:extLst>
      <p:ext uri="{BB962C8B-B14F-4D97-AF65-F5344CB8AC3E}">
        <p14:creationId xmlns:p14="http://schemas.microsoft.com/office/powerpoint/2010/main" val="2457346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标题 1"/>
          <p:cNvSpPr>
            <a:spLocks noGrp="1"/>
          </p:cNvSpPr>
          <p:nvPr>
            <p:ph type="title"/>
          </p:nvPr>
        </p:nvSpPr>
        <p:spPr>
          <a:xfrm>
            <a:off x="984249" y="550863"/>
            <a:ext cx="7045325" cy="609600"/>
          </a:xfrm>
        </p:spPr>
        <p:txBody>
          <a:bodyPr/>
          <a:lstStyle/>
          <a:p>
            <a:r>
              <a:rPr lang="en-US" altLang="zh-CN"/>
              <a:t>Click to edit Master title style</a:t>
            </a:r>
            <a:endParaRPr lang="zh-CN" altLang="en-US" dirty="0"/>
          </a:p>
        </p:txBody>
      </p:sp>
      <p:sp>
        <p:nvSpPr>
          <p:cNvPr id="6" name="图片占位符 5"/>
          <p:cNvSpPr>
            <a:spLocks noGrp="1"/>
          </p:cNvSpPr>
          <p:nvPr>
            <p:ph type="pic" sz="quarter" idx="11"/>
          </p:nvPr>
        </p:nvSpPr>
        <p:spPr>
          <a:xfrm>
            <a:off x="5457825" y="1695449"/>
            <a:ext cx="3028950" cy="4191001"/>
          </a:xfrm>
          <a:prstGeom prst="rect">
            <a:avLst/>
          </a:prstGeom>
        </p:spPr>
        <p:txBody>
          <a:bodyPr rtlCol="0">
            <a:normAutofit/>
          </a:bodyPr>
          <a:lstStyle/>
          <a:p>
            <a:pPr lvl="0"/>
            <a:r>
              <a:rPr lang="en-US" altLang="zh-CN" noProof="0"/>
              <a:t>Click icon to add picture</a:t>
            </a:r>
            <a:endParaRPr lang="zh-CN" altLang="en-US" noProof="0" dirty="0"/>
          </a:p>
        </p:txBody>
      </p:sp>
      <p:sp>
        <p:nvSpPr>
          <p:cNvPr id="9" name="内容占位符 2"/>
          <p:cNvSpPr>
            <a:spLocks noGrp="1"/>
          </p:cNvSpPr>
          <p:nvPr>
            <p:ph idx="1"/>
          </p:nvPr>
        </p:nvSpPr>
        <p:spPr>
          <a:xfrm>
            <a:off x="906463" y="1771651"/>
            <a:ext cx="4370387" cy="4095749"/>
          </a:xfrm>
          <a:prstGeom prst="rect">
            <a:avLst/>
          </a:prstGeom>
        </p:spPr>
        <p:txBody>
          <a:bodyPr/>
          <a:lstStyle>
            <a:lvl1pPr marL="360000" marR="0" indent="-342900" algn="l" defTabSz="914400" rtl="0" eaLnBrk="1" fontAlgn="base" latinLnBrk="0" hangingPunct="1">
              <a:lnSpc>
                <a:spcPct val="100000"/>
              </a:lnSpc>
              <a:spcBef>
                <a:spcPct val="20000"/>
              </a:spcBef>
              <a:spcAft>
                <a:spcPts val="600"/>
              </a:spcAft>
              <a:buClr>
                <a:schemeClr val="folHlink"/>
              </a:buClr>
              <a:buSzTx/>
              <a:buFont typeface="Arial" pitchFamily="34" charset="0"/>
              <a:buNone/>
              <a:tabLst/>
              <a:defRPr/>
            </a:lvl1pPr>
            <a:lvl2pPr marL="360000">
              <a:spcAft>
                <a:spcPts val="600"/>
              </a:spcAft>
              <a:defRPr/>
            </a:lvl2pPr>
            <a:lvl3pPr marL="360000" marR="0" indent="-228600" algn="l" defTabSz="914400" rtl="0" eaLnBrk="1" fontAlgn="base" latinLnBrk="0" hangingPunct="1">
              <a:lnSpc>
                <a:spcPct val="100000"/>
              </a:lnSpc>
              <a:spcBef>
                <a:spcPct val="20000"/>
              </a:spcBef>
              <a:spcAft>
                <a:spcPts val="600"/>
              </a:spcAft>
              <a:buClr>
                <a:schemeClr val="folHlink"/>
              </a:buClr>
              <a:buSzPct val="60000"/>
              <a:buFont typeface="Arial" pitchFamily="34" charset="0"/>
              <a:buNone/>
              <a:tabLst/>
              <a:defRPr/>
            </a:lvl3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页脚占位符 2"/>
          <p:cNvSpPr>
            <a:spLocks noGrp="1"/>
          </p:cNvSpPr>
          <p:nvPr>
            <p:ph type="ftr" sz="quarter" idx="12"/>
          </p:nvPr>
        </p:nvSpPr>
        <p:spPr/>
        <p:txBody>
          <a:bodyPr/>
          <a:lstStyle>
            <a:lvl1pPr>
              <a:defRPr/>
            </a:lvl1pPr>
          </a:lstStyle>
          <a:p>
            <a:pPr>
              <a:defRPr/>
            </a:pPr>
            <a:endParaRPr lang="en-US" altLang="ko-KR">
              <a:solidFill>
                <a:srgbClr val="FFFFFF"/>
              </a:solidFill>
            </a:endParaRPr>
          </a:p>
        </p:txBody>
      </p:sp>
    </p:spTree>
    <p:extLst>
      <p:ext uri="{BB962C8B-B14F-4D97-AF65-F5344CB8AC3E}">
        <p14:creationId xmlns:p14="http://schemas.microsoft.com/office/powerpoint/2010/main" val="1010307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671A3635-9C1C-41A2-9F0C-1A6680195FE8}" type="datetimeFigureOut">
              <a:rPr lang="en-US" smtClean="0"/>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26A11D8-E662-49D3-A8A5-627281AEFF78}" type="slidenum">
              <a:rPr lang="en-US" smtClean="0"/>
              <a:t>‹#›</a:t>
            </a:fld>
            <a:endParaRPr lang="en-US"/>
          </a:p>
        </p:txBody>
      </p:sp>
    </p:spTree>
    <p:extLst>
      <p:ext uri="{BB962C8B-B14F-4D97-AF65-F5344CB8AC3E}">
        <p14:creationId xmlns:p14="http://schemas.microsoft.com/office/powerpoint/2010/main" val="19674824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2309" name="Rectangle 21"/>
          <p:cNvSpPr>
            <a:spLocks noGrp="1" noChangeArrowheads="1"/>
          </p:cNvSpPr>
          <p:nvPr>
            <p:ph type="title"/>
          </p:nvPr>
        </p:nvSpPr>
        <p:spPr bwMode="black">
          <a:xfrm>
            <a:off x="1136650" y="407988"/>
            <a:ext cx="7045325" cy="609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cene3d>
              <a:camera prst="orthographicFront"/>
              <a:lightRig rig="threePt" dir="t"/>
            </a:scene3d>
            <a:sp3d extrusionH="57150">
              <a:bevelT w="38100" h="38100"/>
            </a:sp3d>
          </a:bodyPr>
          <a:lstStyle/>
          <a:p>
            <a:pPr lvl="0"/>
            <a:endParaRPr lang="en-US" altLang="ko-KR" dirty="0"/>
          </a:p>
        </p:txBody>
      </p:sp>
      <p:sp>
        <p:nvSpPr>
          <p:cNvPr id="4099" name="Text Placeholder 3"/>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4" name="页脚占位符 2"/>
          <p:cNvSpPr>
            <a:spLocks noGrp="1"/>
          </p:cNvSpPr>
          <p:nvPr>
            <p:ph type="ftr" sz="quarter" idx="3"/>
          </p:nvPr>
        </p:nvSpPr>
        <p:spPr>
          <a:xfrm>
            <a:off x="177800" y="6365875"/>
            <a:ext cx="1946275" cy="304800"/>
          </a:xfrm>
          <a:prstGeom prst="rect">
            <a:avLst/>
          </a:prstGeom>
        </p:spPr>
        <p:txBody>
          <a:bodyPr/>
          <a:lstStyle>
            <a:lvl1pPr algn="ctr" eaLnBrk="1" hangingPunct="1">
              <a:defRPr>
                <a:effectLst>
                  <a:outerShdw blurRad="38100" dist="38100" dir="2700000" algn="tl">
                    <a:srgbClr val="000000">
                      <a:alpha val="43137"/>
                    </a:srgbClr>
                  </a:outerShdw>
                </a:effectLst>
              </a:defRPr>
            </a:lvl1pPr>
          </a:lstStyle>
          <a:p>
            <a:pPr fontAlgn="base">
              <a:spcBef>
                <a:spcPct val="0"/>
              </a:spcBef>
              <a:spcAft>
                <a:spcPct val="0"/>
              </a:spcAft>
              <a:defRPr/>
            </a:pPr>
            <a:endParaRPr lang="en-US" altLang="ko-KR" sz="1400">
              <a:solidFill>
                <a:srgbClr val="FFFFFF"/>
              </a:solidFill>
              <a:latin typeface="Times New Roman" pitchFamily="18" charset="0"/>
              <a:ea typeface="Gulim" pitchFamily="34" charset="-127"/>
            </a:endParaRPr>
          </a:p>
        </p:txBody>
      </p:sp>
    </p:spTree>
    <p:extLst>
      <p:ext uri="{BB962C8B-B14F-4D97-AF65-F5344CB8AC3E}">
        <p14:creationId xmlns:p14="http://schemas.microsoft.com/office/powerpoint/2010/main" val="21270453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dt="0"/>
  <p:txStyles>
    <p:titleStyle>
      <a:lvl1pPr algn="l" rtl="0" eaLnBrk="0" fontAlgn="base" hangingPunct="0">
        <a:spcBef>
          <a:spcPct val="0"/>
        </a:spcBef>
        <a:spcAft>
          <a:spcPct val="0"/>
        </a:spcAft>
        <a:defRPr sz="2800" b="1">
          <a:solidFill>
            <a:srgbClr val="014353"/>
          </a:solidFill>
          <a:latin typeface="Arial" pitchFamily="34" charset="0"/>
          <a:ea typeface="+mj-ea"/>
          <a:cs typeface="+mj-cs"/>
        </a:defRPr>
      </a:lvl1pPr>
      <a:lvl2pPr algn="l" rtl="0" eaLnBrk="0" fontAlgn="base" hangingPunct="0">
        <a:spcBef>
          <a:spcPct val="0"/>
        </a:spcBef>
        <a:spcAft>
          <a:spcPct val="0"/>
        </a:spcAft>
        <a:defRPr sz="2800" b="1">
          <a:solidFill>
            <a:srgbClr val="014353"/>
          </a:solidFill>
          <a:latin typeface="Arial" pitchFamily="34" charset="0"/>
        </a:defRPr>
      </a:lvl2pPr>
      <a:lvl3pPr algn="l" rtl="0" eaLnBrk="0" fontAlgn="base" hangingPunct="0">
        <a:spcBef>
          <a:spcPct val="0"/>
        </a:spcBef>
        <a:spcAft>
          <a:spcPct val="0"/>
        </a:spcAft>
        <a:defRPr sz="2800" b="1">
          <a:solidFill>
            <a:srgbClr val="014353"/>
          </a:solidFill>
          <a:latin typeface="Arial" pitchFamily="34" charset="0"/>
        </a:defRPr>
      </a:lvl3pPr>
      <a:lvl4pPr algn="l" rtl="0" eaLnBrk="0" fontAlgn="base" hangingPunct="0">
        <a:spcBef>
          <a:spcPct val="0"/>
        </a:spcBef>
        <a:spcAft>
          <a:spcPct val="0"/>
        </a:spcAft>
        <a:defRPr sz="2800" b="1">
          <a:solidFill>
            <a:srgbClr val="014353"/>
          </a:solidFill>
          <a:latin typeface="Arial" pitchFamily="34" charset="0"/>
        </a:defRPr>
      </a:lvl4pPr>
      <a:lvl5pPr algn="l" rtl="0" eaLnBrk="0" fontAlgn="base" hangingPunct="0">
        <a:spcBef>
          <a:spcPct val="0"/>
        </a:spcBef>
        <a:spcAft>
          <a:spcPct val="0"/>
        </a:spcAft>
        <a:defRPr sz="2800" b="1">
          <a:solidFill>
            <a:srgbClr val="014353"/>
          </a:solidFill>
          <a:latin typeface="Arial" pitchFamily="34" charset="0"/>
        </a:defRPr>
      </a:lvl5pPr>
      <a:lvl6pPr marL="457200" algn="l" rtl="0" eaLnBrk="1" fontAlgn="base" hangingPunct="1">
        <a:spcBef>
          <a:spcPct val="0"/>
        </a:spcBef>
        <a:spcAft>
          <a:spcPct val="0"/>
        </a:spcAft>
        <a:defRPr sz="2800" b="1">
          <a:solidFill>
            <a:srgbClr val="013541"/>
          </a:solidFill>
          <a:latin typeface="Verdana" pitchFamily="34" charset="0"/>
        </a:defRPr>
      </a:lvl6pPr>
      <a:lvl7pPr marL="914400" algn="l" rtl="0" eaLnBrk="1" fontAlgn="base" hangingPunct="1">
        <a:spcBef>
          <a:spcPct val="0"/>
        </a:spcBef>
        <a:spcAft>
          <a:spcPct val="0"/>
        </a:spcAft>
        <a:defRPr sz="2800" b="1">
          <a:solidFill>
            <a:srgbClr val="013541"/>
          </a:solidFill>
          <a:latin typeface="Verdana" pitchFamily="34" charset="0"/>
        </a:defRPr>
      </a:lvl7pPr>
      <a:lvl8pPr marL="1371600" algn="l" rtl="0" eaLnBrk="1" fontAlgn="base" hangingPunct="1">
        <a:spcBef>
          <a:spcPct val="0"/>
        </a:spcBef>
        <a:spcAft>
          <a:spcPct val="0"/>
        </a:spcAft>
        <a:defRPr sz="2800" b="1">
          <a:solidFill>
            <a:srgbClr val="013541"/>
          </a:solidFill>
          <a:latin typeface="Verdana" pitchFamily="34" charset="0"/>
        </a:defRPr>
      </a:lvl8pPr>
      <a:lvl9pPr marL="1828800" algn="l" rtl="0" eaLnBrk="1" fontAlgn="base" hangingPunct="1">
        <a:spcBef>
          <a:spcPct val="0"/>
        </a:spcBef>
        <a:spcAft>
          <a:spcPct val="0"/>
        </a:spcAft>
        <a:defRPr sz="2800" b="1">
          <a:solidFill>
            <a:srgbClr val="013541"/>
          </a:solidFill>
          <a:latin typeface="Verdana" pitchFamily="34" charset="0"/>
        </a:defRPr>
      </a:lvl9pPr>
    </p:titleStyle>
    <p:bodyStyle>
      <a:lvl1pPr marL="342900" indent="-342900" algn="l" rtl="0" eaLnBrk="0" fontAlgn="base" hangingPunct="0">
        <a:spcBef>
          <a:spcPct val="20000"/>
        </a:spcBef>
        <a:spcAft>
          <a:spcPct val="0"/>
        </a:spcAft>
        <a:buClr>
          <a:schemeClr val="folHlink"/>
        </a:buClr>
        <a:buFont typeface="Arial" pitchFamily="34" charset="0"/>
        <a:buChar char="•"/>
        <a:defRPr sz="2000" b="1">
          <a:solidFill>
            <a:srgbClr val="4787AF"/>
          </a:solidFill>
          <a:latin typeface="Arial" pitchFamily="34" charset="0"/>
          <a:ea typeface="+mn-ea"/>
          <a:cs typeface="+mn-cs"/>
        </a:defRPr>
      </a:lvl1pPr>
      <a:lvl2pPr marL="742950" indent="-285750" algn="l" rtl="0" eaLnBrk="0" fontAlgn="base" hangingPunct="0">
        <a:spcBef>
          <a:spcPct val="20000"/>
        </a:spcBef>
        <a:spcAft>
          <a:spcPct val="0"/>
        </a:spcAft>
        <a:buClr>
          <a:schemeClr val="accent1"/>
        </a:buClr>
        <a:buSzPct val="60000"/>
        <a:buFont typeface="Wingdings" pitchFamily="2" charset="2"/>
        <a:buChar char="n"/>
        <a:defRPr sz="2800">
          <a:solidFill>
            <a:schemeClr val="tx1"/>
          </a:solidFill>
          <a:latin typeface="Arial" pitchFamily="34" charset="0"/>
        </a:defRPr>
      </a:lvl2pPr>
      <a:lvl3pPr marL="215900" indent="-228600" algn="l" rtl="0" eaLnBrk="0" fontAlgn="base" hangingPunct="0">
        <a:spcBef>
          <a:spcPct val="20000"/>
        </a:spcBef>
        <a:spcAft>
          <a:spcPct val="0"/>
        </a:spcAft>
        <a:buClr>
          <a:schemeClr val="folHlink"/>
        </a:buClr>
        <a:buSzPct val="60000"/>
        <a:buFont typeface="Arial" pitchFamily="34" charset="0"/>
        <a:buChar char="•"/>
        <a:defRPr sz="1600">
          <a:solidFill>
            <a:schemeClr val="tx1"/>
          </a:solidFill>
          <a:latin typeface="Arial" pitchFamily="34" charset="0"/>
        </a:defRPr>
      </a:lvl3pPr>
      <a:lvl4pPr marL="1600200" indent="-228600" algn="l" rtl="0" eaLnBrk="0" fontAlgn="base" hangingPunct="0">
        <a:spcBef>
          <a:spcPct val="20000"/>
        </a:spcBef>
        <a:spcAft>
          <a:spcPct val="0"/>
        </a:spcAft>
        <a:buClr>
          <a:schemeClr val="tx1"/>
        </a:buClr>
        <a:buSzPct val="60000"/>
        <a:buFont typeface="Wingdings" pitchFamily="2" charset="2"/>
        <a:buChar char="n"/>
        <a:defRPr sz="1600">
          <a:solidFill>
            <a:schemeClr val="tx1"/>
          </a:solidFill>
          <a:latin typeface="Arial" pitchFamily="34" charset="0"/>
        </a:defRPr>
      </a:lvl4pPr>
      <a:lvl5pPr marL="2057400" indent="-228600" algn="l" rtl="0" eaLnBrk="0" fontAlgn="base" hangingPunct="0">
        <a:spcBef>
          <a:spcPct val="20000"/>
        </a:spcBef>
        <a:spcAft>
          <a:spcPct val="0"/>
        </a:spcAft>
        <a:buClr>
          <a:schemeClr val="bg1"/>
        </a:buClr>
        <a:buSzPct val="60000"/>
        <a:buFont typeface="Wingdings" pitchFamily="2" charset="2"/>
        <a:buChar char="n"/>
        <a:defRPr sz="1400">
          <a:solidFill>
            <a:schemeClr val="tx1"/>
          </a:solidFill>
          <a:latin typeface="Arial" pitchFamily="34" charset="0"/>
        </a:defRPr>
      </a:lvl5pPr>
      <a:lvl6pPr marL="2514600" indent="-228600" algn="l" rtl="0" eaLnBrk="1" fontAlgn="base" hangingPunct="1">
        <a:spcBef>
          <a:spcPct val="20000"/>
        </a:spcBef>
        <a:spcAft>
          <a:spcPct val="0"/>
        </a:spcAft>
        <a:buClr>
          <a:schemeClr val="bg1"/>
        </a:buClr>
        <a:buSzPct val="60000"/>
        <a:buFont typeface="Wingdings" pitchFamily="2" charset="2"/>
        <a:buChar char="n"/>
        <a:defRPr sz="1400">
          <a:solidFill>
            <a:schemeClr val="tx1"/>
          </a:solidFill>
          <a:latin typeface="+mn-lt"/>
        </a:defRPr>
      </a:lvl6pPr>
      <a:lvl7pPr marL="2971800" indent="-228600" algn="l" rtl="0" eaLnBrk="1" fontAlgn="base" hangingPunct="1">
        <a:spcBef>
          <a:spcPct val="20000"/>
        </a:spcBef>
        <a:spcAft>
          <a:spcPct val="0"/>
        </a:spcAft>
        <a:buClr>
          <a:schemeClr val="bg1"/>
        </a:buClr>
        <a:buSzPct val="60000"/>
        <a:buFont typeface="Wingdings" pitchFamily="2" charset="2"/>
        <a:buChar char="n"/>
        <a:defRPr sz="1400">
          <a:solidFill>
            <a:schemeClr val="tx1"/>
          </a:solidFill>
          <a:latin typeface="+mn-lt"/>
        </a:defRPr>
      </a:lvl7pPr>
      <a:lvl8pPr marL="3429000" indent="-228600" algn="l" rtl="0" eaLnBrk="1" fontAlgn="base" hangingPunct="1">
        <a:spcBef>
          <a:spcPct val="20000"/>
        </a:spcBef>
        <a:spcAft>
          <a:spcPct val="0"/>
        </a:spcAft>
        <a:buClr>
          <a:schemeClr val="bg1"/>
        </a:buClr>
        <a:buSzPct val="60000"/>
        <a:buFont typeface="Wingdings" pitchFamily="2" charset="2"/>
        <a:buChar char="n"/>
        <a:defRPr sz="1400">
          <a:solidFill>
            <a:schemeClr val="tx1"/>
          </a:solidFill>
          <a:latin typeface="+mn-lt"/>
        </a:defRPr>
      </a:lvl8pPr>
      <a:lvl9pPr marL="3886200" indent="-228600" algn="l" rtl="0" eaLnBrk="1" fontAlgn="base" hangingPunct="1">
        <a:spcBef>
          <a:spcPct val="20000"/>
        </a:spcBef>
        <a:spcAft>
          <a:spcPct val="0"/>
        </a:spcAft>
        <a:buClr>
          <a:schemeClr val="bg1"/>
        </a:buClr>
        <a:buSzPct val="60000"/>
        <a:buFont typeface="Wingdings" pitchFamily="2" charset="2"/>
        <a:buChar char="n"/>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www.computerhope.com/jargon/c/clockspe.htm" TargetMode="External"/><Relationship Id="rId2" Type="http://schemas.openxmlformats.org/officeDocument/2006/relationships/hyperlink" Target="https://www.computerhope.com/jargon/r/ram.htm" TargetMode="External"/><Relationship Id="rId1" Type="http://schemas.openxmlformats.org/officeDocument/2006/relationships/slideLayout" Target="../slideLayouts/slideLayout3.xml"/><Relationship Id="rId4" Type="http://schemas.openxmlformats.org/officeDocument/2006/relationships/hyperlink" Target="https://www.computerhope.com/jargon/c/cpu.htm"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sz="quarter"/>
          </p:nvPr>
        </p:nvSpPr>
        <p:spPr/>
        <p:txBody>
          <a:bodyPr/>
          <a:lstStyle/>
          <a:p>
            <a:r>
              <a:rPr lang="en-US" dirty="0"/>
              <a:t>     What is Optimization?</a:t>
            </a:r>
            <a:endParaRPr lang="en-IN" dirty="0"/>
          </a:p>
        </p:txBody>
      </p:sp>
      <p:sp>
        <p:nvSpPr>
          <p:cNvPr id="5" name="Footer Placeholder 4"/>
          <p:cNvSpPr>
            <a:spLocks noGrp="1"/>
          </p:cNvSpPr>
          <p:nvPr>
            <p:ph type="ftr" sz="quarter" idx="10"/>
          </p:nvPr>
        </p:nvSpPr>
        <p:spPr/>
        <p:txBody>
          <a:bodyPr/>
          <a:lstStyle/>
          <a:p>
            <a:pPr>
              <a:defRPr/>
            </a:pPr>
            <a:endParaRPr lang="en-US" altLang="ko-KR">
              <a:solidFill>
                <a:srgbClr val="FFFFFF"/>
              </a:solidFill>
            </a:endParaRPr>
          </a:p>
        </p:txBody>
      </p:sp>
    </p:spTree>
    <p:extLst>
      <p:ext uri="{BB962C8B-B14F-4D97-AF65-F5344CB8AC3E}">
        <p14:creationId xmlns:p14="http://schemas.microsoft.com/office/powerpoint/2010/main" val="3341456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r>
              <a:rPr lang="en-US" dirty="0"/>
              <a:t>The action of making the best or most effective use of a situation or resource.</a:t>
            </a:r>
          </a:p>
          <a:p>
            <a:endParaRPr lang="en-US" dirty="0"/>
          </a:p>
          <a:p>
            <a:r>
              <a:rPr lang="en-US" dirty="0"/>
              <a:t>For Example:</a:t>
            </a:r>
          </a:p>
          <a:p>
            <a:pPr marL="0" indent="0">
              <a:buNone/>
            </a:pPr>
            <a:r>
              <a:rPr lang="en-US" dirty="0"/>
              <a:t>	1.The mode of transport that you choose to reach your destination.</a:t>
            </a:r>
          </a:p>
          <a:p>
            <a:pPr marL="0" indent="0">
              <a:buNone/>
            </a:pPr>
            <a:r>
              <a:rPr lang="en-US" dirty="0"/>
              <a:t>	2.Drawing the star</a:t>
            </a:r>
            <a:endParaRPr lang="en-IN" dirty="0"/>
          </a:p>
        </p:txBody>
      </p:sp>
      <p:sp>
        <p:nvSpPr>
          <p:cNvPr id="5" name="Footer Placeholder 4"/>
          <p:cNvSpPr>
            <a:spLocks noGrp="1"/>
          </p:cNvSpPr>
          <p:nvPr>
            <p:ph type="ftr" sz="quarter" idx="11"/>
          </p:nvPr>
        </p:nvSpPr>
        <p:spPr/>
        <p:txBody>
          <a:bodyPr/>
          <a:lstStyle/>
          <a:p>
            <a:pPr>
              <a:defRPr/>
            </a:pPr>
            <a:endParaRPr lang="en-US" altLang="ko-KR">
              <a:solidFill>
                <a:srgbClr val="FFFFFF"/>
              </a:solidFill>
            </a:endParaRPr>
          </a:p>
        </p:txBody>
      </p:sp>
    </p:spTree>
    <p:extLst>
      <p:ext uri="{BB962C8B-B14F-4D97-AF65-F5344CB8AC3E}">
        <p14:creationId xmlns:p14="http://schemas.microsoft.com/office/powerpoint/2010/main" val="2567286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Optimization</a:t>
            </a:r>
            <a:endParaRPr lang="en-IN" dirty="0"/>
          </a:p>
        </p:txBody>
      </p:sp>
      <p:sp>
        <p:nvSpPr>
          <p:cNvPr id="3" name="Content Placeholder 2"/>
          <p:cNvSpPr>
            <a:spLocks noGrp="1"/>
          </p:cNvSpPr>
          <p:nvPr>
            <p:ph idx="1"/>
          </p:nvPr>
        </p:nvSpPr>
        <p:spPr/>
        <p:txBody>
          <a:bodyPr/>
          <a:lstStyle/>
          <a:p>
            <a:r>
              <a:rPr lang="en-US" dirty="0"/>
              <a:t>Optimization is a program transformation technique, which tries to improve the code by making it consume less resources (i.e. CPU, Memory) and deliver high speed.</a:t>
            </a:r>
          </a:p>
          <a:p>
            <a:endParaRPr lang="en-US" dirty="0"/>
          </a:p>
          <a:p>
            <a:r>
              <a:rPr lang="en-US" dirty="0"/>
              <a:t>What is CPU?</a:t>
            </a:r>
          </a:p>
          <a:p>
            <a:endParaRPr lang="en-US" dirty="0"/>
          </a:p>
          <a:p>
            <a:r>
              <a:rPr lang="en-US" dirty="0"/>
              <a:t>What is memory?</a:t>
            </a:r>
          </a:p>
          <a:p>
            <a:endParaRPr lang="en-US" dirty="0"/>
          </a:p>
          <a:p>
            <a:r>
              <a:rPr lang="en-US" dirty="0"/>
              <a:t>What is Efficiency?</a:t>
            </a:r>
            <a:endParaRPr lang="en-IN" dirty="0"/>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09042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Transformation</a:t>
            </a:r>
            <a:endParaRPr lang="en-IN" dirty="0"/>
          </a:p>
        </p:txBody>
      </p:sp>
      <p:sp>
        <p:nvSpPr>
          <p:cNvPr id="3" name="Content Placeholder 2"/>
          <p:cNvSpPr>
            <a:spLocks noGrp="1"/>
          </p:cNvSpPr>
          <p:nvPr>
            <p:ph idx="1"/>
          </p:nvPr>
        </p:nvSpPr>
        <p:spPr/>
        <p:txBody>
          <a:bodyPr/>
          <a:lstStyle/>
          <a:p>
            <a:r>
              <a:rPr lang="en-US" dirty="0"/>
              <a:t>Calculate the area of Circle</a:t>
            </a:r>
          </a:p>
          <a:p>
            <a:endParaRPr lang="en-US" dirty="0"/>
          </a:p>
          <a:p>
            <a:r>
              <a:rPr lang="en-US" dirty="0"/>
              <a:t>Sum of two numbers</a:t>
            </a:r>
          </a:p>
          <a:p>
            <a:endParaRPr lang="en-US" dirty="0"/>
          </a:p>
          <a:p>
            <a:r>
              <a:rPr lang="en-US" dirty="0"/>
              <a:t>Perform Arithmetic operation of two numbers </a:t>
            </a:r>
          </a:p>
          <a:p>
            <a:endParaRPr lang="en-US" dirty="0"/>
          </a:p>
          <a:p>
            <a:endParaRPr lang="en-IN" dirty="0"/>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467425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to follow:</a:t>
            </a:r>
            <a:endParaRPr lang="en-IN" dirty="0"/>
          </a:p>
        </p:txBody>
      </p:sp>
      <p:sp>
        <p:nvSpPr>
          <p:cNvPr id="3" name="Content Placeholder 2"/>
          <p:cNvSpPr>
            <a:spLocks noGrp="1"/>
          </p:cNvSpPr>
          <p:nvPr>
            <p:ph idx="1"/>
          </p:nvPr>
        </p:nvSpPr>
        <p:spPr/>
        <p:txBody>
          <a:bodyPr/>
          <a:lstStyle/>
          <a:p>
            <a:r>
              <a:rPr lang="en-US" dirty="0"/>
              <a:t>The output must not changed</a:t>
            </a:r>
          </a:p>
          <a:p>
            <a:r>
              <a:rPr lang="en-US" dirty="0"/>
              <a:t>Optimization should increase the speed of the program and if possible, the program should demand less number of resources.</a:t>
            </a:r>
          </a:p>
          <a:p>
            <a:r>
              <a:rPr lang="en-US" dirty="0"/>
              <a:t>Optimization should itself be fast and should not delay the overall compiling process.</a:t>
            </a:r>
            <a:endParaRPr lang="en-IN" dirty="0"/>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90952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Mobile phones and Laptops Specs</a:t>
            </a:r>
            <a:endParaRPr lang="en-IN" dirty="0"/>
          </a:p>
        </p:txBody>
      </p:sp>
      <p:sp>
        <p:nvSpPr>
          <p:cNvPr id="3" name="Content Placeholder 2"/>
          <p:cNvSpPr>
            <a:spLocks noGrp="1"/>
          </p:cNvSpPr>
          <p:nvPr>
            <p:ph idx="1"/>
          </p:nvPr>
        </p:nvSpPr>
        <p:spPr/>
        <p:txBody>
          <a:bodyPr/>
          <a:lstStyle/>
          <a:p>
            <a:r>
              <a:rPr lang="en-US" dirty="0"/>
              <a:t>RAM</a:t>
            </a:r>
          </a:p>
          <a:p>
            <a:pPr marL="0" indent="0">
              <a:buNone/>
            </a:pPr>
            <a:endParaRPr lang="en-US" dirty="0"/>
          </a:p>
          <a:p>
            <a:pPr marL="0" indent="0">
              <a:buNone/>
            </a:pPr>
            <a:r>
              <a:rPr lang="en-US" dirty="0"/>
              <a:t>A computer with more memory (</a:t>
            </a:r>
            <a:r>
              <a:rPr lang="en-US" dirty="0">
                <a:hlinkClick r:id="rId2"/>
              </a:rPr>
              <a:t>RAM</a:t>
            </a:r>
            <a:r>
              <a:rPr lang="en-US" dirty="0"/>
              <a:t>) will be capable of storing more programs that are currently running in memory.</a:t>
            </a:r>
          </a:p>
          <a:p>
            <a:endParaRPr lang="en-US" dirty="0"/>
          </a:p>
          <a:p>
            <a:endParaRPr lang="en-US" dirty="0"/>
          </a:p>
          <a:p>
            <a:r>
              <a:rPr lang="en-US" dirty="0"/>
              <a:t>Processor</a:t>
            </a:r>
          </a:p>
          <a:p>
            <a:pPr marL="0" indent="0">
              <a:buNone/>
            </a:pPr>
            <a:r>
              <a:rPr lang="en-US" dirty="0"/>
              <a:t>The overall speed or </a:t>
            </a:r>
            <a:r>
              <a:rPr lang="en-US" dirty="0">
                <a:hlinkClick r:id="rId3"/>
              </a:rPr>
              <a:t>clock speed</a:t>
            </a:r>
            <a:r>
              <a:rPr lang="en-US" dirty="0"/>
              <a:t> of the computer and how fast it is capable of processing data is managed by the computer processor (</a:t>
            </a:r>
            <a:r>
              <a:rPr lang="en-US" dirty="0">
                <a:hlinkClick r:id="rId4"/>
              </a:rPr>
              <a:t>CPU</a:t>
            </a:r>
            <a:r>
              <a:rPr lang="en-US" dirty="0"/>
              <a:t>). </a:t>
            </a:r>
            <a:endParaRPr lang="en-IN" dirty="0"/>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050989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4275" y="381000"/>
            <a:ext cx="7045325" cy="609600"/>
          </a:xfrm>
        </p:spPr>
        <p:txBody>
          <a:bodyPr/>
          <a:lstStyle/>
          <a:p>
            <a:pPr algn="ctr"/>
            <a:r>
              <a:rPr lang="en-US" dirty="0"/>
              <a:t>ADSP-SC587 SPEC</a:t>
            </a:r>
          </a:p>
        </p:txBody>
      </p:sp>
      <p:sp>
        <p:nvSpPr>
          <p:cNvPr id="7" name="Rectangle 6"/>
          <p:cNvSpPr/>
          <p:nvPr/>
        </p:nvSpPr>
        <p:spPr>
          <a:xfrm>
            <a:off x="609600" y="1126391"/>
            <a:ext cx="7239000" cy="2923877"/>
          </a:xfrm>
          <a:prstGeom prst="rect">
            <a:avLst/>
          </a:prstGeom>
        </p:spPr>
        <p:txBody>
          <a:bodyPr wrap="square">
            <a:spAutoFit/>
          </a:bodyPr>
          <a:lstStyle/>
          <a:p>
            <a:pPr marL="342900" lvl="0" indent="-342900">
              <a:spcBef>
                <a:spcPct val="20000"/>
              </a:spcBef>
              <a:buFont typeface="Wingdings" pitchFamily="2" charset="2"/>
              <a:buChar char="§"/>
            </a:pPr>
            <a:r>
              <a:rPr lang="en-US" sz="2000" dirty="0">
                <a:latin typeface="Times New Roman" pitchFamily="18" charset="0"/>
                <a:cs typeface="Times New Roman" pitchFamily="18" charset="0"/>
              </a:rPr>
              <a:t>500 MHz  per core-dual core</a:t>
            </a:r>
          </a:p>
          <a:p>
            <a:pPr marL="342900" lvl="0" indent="-342900">
              <a:spcBef>
                <a:spcPct val="20000"/>
              </a:spcBef>
              <a:buFont typeface="Wingdings" pitchFamily="2" charset="2"/>
              <a:buChar char="§"/>
            </a:pPr>
            <a:r>
              <a:rPr lang="en-US" sz="2000" dirty="0">
                <a:latin typeface="Times New Roman" pitchFamily="18" charset="0"/>
                <a:cs typeface="Times New Roman" pitchFamily="18" charset="0"/>
              </a:rPr>
              <a:t>5Mbits/640KB L1 memory/core with parity</a:t>
            </a:r>
          </a:p>
          <a:p>
            <a:pPr lvl="1">
              <a:spcBef>
                <a:spcPct val="20000"/>
              </a:spcBef>
            </a:pPr>
            <a:r>
              <a:rPr lang="en-US" sz="2000" dirty="0">
                <a:latin typeface="Times New Roman" pitchFamily="18" charset="0"/>
                <a:cs typeface="Times New Roman" pitchFamily="18" charset="0"/>
              </a:rPr>
              <a:t>- Optional cache/SRAM mode</a:t>
            </a:r>
          </a:p>
          <a:p>
            <a:pPr marL="342900" lvl="0" indent="-342900">
              <a:spcBef>
                <a:spcPct val="20000"/>
              </a:spcBef>
              <a:buFont typeface="Wingdings" pitchFamily="2" charset="2"/>
              <a:buChar char="§"/>
            </a:pPr>
            <a:r>
              <a:rPr lang="en-US" sz="2000" dirty="0">
                <a:latin typeface="Times New Roman" pitchFamily="18" charset="0"/>
                <a:cs typeface="Times New Roman" pitchFamily="18" charset="0"/>
              </a:rPr>
              <a:t>32-bit, 40-bit &amp; 64-bit floating point support</a:t>
            </a:r>
          </a:p>
          <a:p>
            <a:pPr marL="342900" lvl="0" indent="-342900">
              <a:spcBef>
                <a:spcPct val="20000"/>
              </a:spcBef>
              <a:buFont typeface="Wingdings" pitchFamily="2" charset="2"/>
              <a:buChar char="§"/>
            </a:pPr>
            <a:r>
              <a:rPr lang="en-US" sz="2000" dirty="0">
                <a:latin typeface="Times New Roman" pitchFamily="18" charset="0"/>
                <a:cs typeface="Times New Roman" pitchFamily="18" charset="0"/>
              </a:rPr>
              <a:t>Advanced Hardware Accelerators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FFT/</a:t>
            </a:r>
            <a:r>
              <a:rPr lang="en-US" sz="2000" dirty="0" err="1">
                <a:latin typeface="Times New Roman" pitchFamily="18" charset="0"/>
                <a:cs typeface="Times New Roman" pitchFamily="18" charset="0"/>
              </a:rPr>
              <a:t>iFFT</a:t>
            </a:r>
            <a:r>
              <a:rPr lang="en-US" sz="2000" dirty="0">
                <a:latin typeface="Times New Roman" pitchFamily="18" charset="0"/>
                <a:cs typeface="Times New Roman" pitchFamily="18" charset="0"/>
              </a:rPr>
              <a:t> ( 5usec per 1K-pt FFT)</a:t>
            </a:r>
          </a:p>
          <a:p>
            <a:pPr marL="342900" lvl="0" indent="-342900">
              <a:spcBef>
                <a:spcPct val="20000"/>
              </a:spcBef>
              <a:buFont typeface="Wingdings" pitchFamily="2" charset="2"/>
              <a:buChar char="§"/>
            </a:pPr>
            <a:r>
              <a:rPr lang="en-US" sz="2000" dirty="0">
                <a:latin typeface="Times New Roman" pitchFamily="18" charset="0"/>
                <a:cs typeface="Times New Roman" pitchFamily="18" charset="0"/>
              </a:rPr>
              <a:t>FIR/IIR and SINC Filters, ASRC</a:t>
            </a:r>
          </a:p>
          <a:p>
            <a:pPr lvl="0">
              <a:spcBef>
                <a:spcPct val="20000"/>
              </a:spcBef>
            </a:pPr>
            <a:endParaRPr lang="en-US" sz="2000" dirty="0">
              <a:solidFill>
                <a:prstClr val="black"/>
              </a:solidFill>
              <a:latin typeface="Calibri"/>
            </a:endParaRP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3748574"/>
            <a:ext cx="4495800" cy="27339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4404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249" y="381000"/>
            <a:ext cx="7045325" cy="609600"/>
          </a:xfrm>
        </p:spPr>
        <p:txBody>
          <a:bodyPr/>
          <a:lstStyle/>
          <a:p>
            <a:pPr algn="ctr"/>
            <a:r>
              <a:rPr lang="en-US" dirty="0"/>
              <a:t>MIPS</a:t>
            </a:r>
            <a:br>
              <a:rPr lang="en-US" dirty="0"/>
            </a:br>
            <a:endParaRPr lang="en-US" dirty="0"/>
          </a:p>
        </p:txBody>
      </p:sp>
      <mc:AlternateContent xmlns:mc="http://schemas.openxmlformats.org/markup-compatibility/2006" xmlns:a14="http://schemas.microsoft.com/office/drawing/2010/main">
        <mc:Choice Requires="a14">
          <p:sp>
            <p:nvSpPr>
              <p:cNvPr id="3" name="Rectangle 2"/>
              <p:cNvSpPr/>
              <p:nvPr/>
            </p:nvSpPr>
            <p:spPr>
              <a:xfrm>
                <a:off x="762000" y="838200"/>
                <a:ext cx="8001000" cy="1578637"/>
              </a:xfrm>
              <a:prstGeom prst="rect">
                <a:avLst/>
              </a:prstGeom>
            </p:spPr>
            <p:txBody>
              <a:bodyPr wrap="square">
                <a:spAutoFit/>
              </a:bodyPr>
              <a:lstStyle/>
              <a:p>
                <a:r>
                  <a:rPr lang="en-US" dirty="0">
                    <a:latin typeface="Times New Roman" pitchFamily="18" charset="0"/>
                    <a:cs typeface="Times New Roman" pitchFamily="18" charset="0"/>
                  </a:rPr>
                  <a:t>How fast are DSPs? </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Million Instruction per second(MIPS)</a:t>
                </a:r>
              </a:p>
              <a:p>
                <a:endParaRPr lang="en-US" sz="1600" dirty="0"/>
              </a:p>
              <a:p>
                <a:pPr/>
                <a14:m>
                  <m:oMathPara xmlns:m="http://schemas.openxmlformats.org/officeDocument/2006/math">
                    <m:oMathParaPr>
                      <m:jc m:val="centerGroup"/>
                    </m:oMathParaPr>
                    <m:oMath xmlns:m="http://schemas.openxmlformats.org/officeDocument/2006/math">
                      <m:r>
                        <a:rPr lang="en-US" sz="1200" b="1" i="1" smtClean="0">
                          <a:latin typeface="Cambria Math"/>
                        </a:rPr>
                        <m:t>𝑴𝑰𝑷𝑺</m:t>
                      </m:r>
                      <m:r>
                        <a:rPr lang="en-US" sz="1200" b="1" i="1" smtClean="0">
                          <a:latin typeface="Cambria Math"/>
                        </a:rPr>
                        <m:t>=</m:t>
                      </m:r>
                      <m:f>
                        <m:fPr>
                          <m:ctrlPr>
                            <a:rPr lang="en-US" sz="1200" b="1" i="1" smtClean="0">
                              <a:latin typeface="Cambria Math" panose="02040503050406030204" pitchFamily="18" charset="0"/>
                            </a:rPr>
                          </m:ctrlPr>
                        </m:fPr>
                        <m:num>
                          <m:r>
                            <a:rPr lang="en-US" sz="1200" b="1" i="1" smtClean="0">
                              <a:latin typeface="Cambria Math"/>
                            </a:rPr>
                            <m:t>𝒄𝒚𝒄𝒍𝒆𝒔</m:t>
                          </m:r>
                          <m:r>
                            <a:rPr lang="en-US" sz="1200" b="1" i="1" smtClean="0">
                              <a:latin typeface="Cambria Math"/>
                            </a:rPr>
                            <m:t> </m:t>
                          </m:r>
                          <m:r>
                            <a:rPr lang="en-US" sz="1200" b="1" i="1" smtClean="0">
                              <a:latin typeface="Cambria Math"/>
                            </a:rPr>
                            <m:t>𝒕𝒂𝒌𝒆𝒏</m:t>
                          </m:r>
                        </m:num>
                        <m:den>
                          <m:r>
                            <a:rPr lang="en-US" sz="1200" b="1" i="1" smtClean="0">
                              <a:latin typeface="Cambria Math"/>
                            </a:rPr>
                            <m:t>𝑭𝒓𝒂𝒎𝒆</m:t>
                          </m:r>
                          <m:r>
                            <a:rPr lang="en-US" sz="1200" b="1" i="1" smtClean="0">
                              <a:latin typeface="Cambria Math"/>
                            </a:rPr>
                            <m:t> </m:t>
                          </m:r>
                          <m:r>
                            <a:rPr lang="en-US" sz="1200" b="1" i="1" smtClean="0">
                              <a:latin typeface="Cambria Math"/>
                            </a:rPr>
                            <m:t>𝑺𝒊𝒛𝒆</m:t>
                          </m:r>
                        </m:den>
                      </m:f>
                      <m:r>
                        <a:rPr lang="en-US" sz="1200" b="1" i="1" smtClean="0">
                          <a:latin typeface="Cambria Math"/>
                        </a:rPr>
                        <m:t>∗</m:t>
                      </m:r>
                      <m:r>
                        <a:rPr lang="en-US" sz="1200" b="1" i="1" smtClean="0">
                          <a:latin typeface="Cambria Math"/>
                        </a:rPr>
                        <m:t>𝑺𝒂𝒎𝒑𝒍𝒆</m:t>
                      </m:r>
                      <m:r>
                        <a:rPr lang="en-US" sz="1200" b="1" i="1" smtClean="0">
                          <a:latin typeface="Cambria Math"/>
                        </a:rPr>
                        <m:t> </m:t>
                      </m:r>
                      <m:r>
                        <a:rPr lang="en-US" sz="1200" b="1" i="1" smtClean="0">
                          <a:latin typeface="Cambria Math"/>
                        </a:rPr>
                        <m:t>𝑹𝒂𝒕𝒆</m:t>
                      </m:r>
                      <m:r>
                        <a:rPr lang="en-US" sz="1200" b="1" i="1" smtClean="0">
                          <a:latin typeface="Cambria Math"/>
                        </a:rPr>
                        <m:t>∗</m:t>
                      </m:r>
                      <m:r>
                        <a:rPr lang="en-US" sz="1200" b="1" i="1" smtClean="0">
                          <a:latin typeface="Cambria Math"/>
                        </a:rPr>
                        <m:t>𝟏𝟎</m:t>
                      </m:r>
                      <m:r>
                        <a:rPr lang="en-US" sz="1200" b="1" i="1" smtClean="0">
                          <a:latin typeface="Cambria Math"/>
                        </a:rPr>
                        <m:t>^(−</m:t>
                      </m:r>
                      <m:r>
                        <a:rPr lang="en-US" sz="1200" b="1" i="1" smtClean="0">
                          <a:latin typeface="Cambria Math"/>
                        </a:rPr>
                        <m:t>𝟔</m:t>
                      </m:r>
                      <m:r>
                        <a:rPr lang="en-US" sz="1200" b="1" i="1" smtClean="0">
                          <a:latin typeface="Cambria Math"/>
                        </a:rPr>
                        <m:t>)</m:t>
                      </m:r>
                    </m:oMath>
                  </m:oMathPara>
                </a14:m>
                <a:endParaRPr lang="en-US" sz="2800" b="1" dirty="0"/>
              </a:p>
            </p:txBody>
          </p:sp>
        </mc:Choice>
        <mc:Fallback xmlns="">
          <p:sp>
            <p:nvSpPr>
              <p:cNvPr id="3" name="Rectangle 2"/>
              <p:cNvSpPr>
                <a:spLocks noRot="1" noChangeAspect="1" noMove="1" noResize="1" noEditPoints="1" noAdjustHandles="1" noChangeArrowheads="1" noChangeShapeType="1" noTextEdit="1"/>
              </p:cNvSpPr>
              <p:nvPr/>
            </p:nvSpPr>
            <p:spPr>
              <a:xfrm>
                <a:off x="762000" y="838200"/>
                <a:ext cx="8001000" cy="1578637"/>
              </a:xfrm>
              <a:prstGeom prst="rect">
                <a:avLst/>
              </a:prstGeom>
              <a:blipFill rotWithShape="1">
                <a:blip r:embed="rId2"/>
                <a:stretch>
                  <a:fillRect l="-609" t="-1938"/>
                </a:stretch>
              </a:blipFill>
            </p:spPr>
            <p:txBody>
              <a:bodyPr/>
              <a:lstStyle/>
              <a:p>
                <a:r>
                  <a:rPr lang="en-US">
                    <a:noFill/>
                  </a:rPr>
                  <a:t> </a:t>
                </a:r>
              </a:p>
            </p:txBody>
          </p:sp>
        </mc:Fallback>
      </mc:AlternateContent>
      <p:sp>
        <p:nvSpPr>
          <p:cNvPr id="4" name="Rectangle 3"/>
          <p:cNvSpPr/>
          <p:nvPr/>
        </p:nvSpPr>
        <p:spPr>
          <a:xfrm>
            <a:off x="381000" y="2534482"/>
            <a:ext cx="8991600" cy="3631763"/>
          </a:xfrm>
          <a:prstGeom prst="rect">
            <a:avLst/>
          </a:prstGeom>
        </p:spPr>
        <p:txBody>
          <a:bodyPr wrap="square">
            <a:spAutoFit/>
          </a:bodyPr>
          <a:lstStyle/>
          <a:p>
            <a:pPr marL="285750" indent="-285750">
              <a:buFont typeface="Arial" pitchFamily="34" charset="0"/>
              <a:buChar char="•"/>
            </a:pPr>
            <a:r>
              <a:rPr lang="en-US" altLang="en-US" sz="1600" dirty="0">
                <a:latin typeface="Times New Roman" pitchFamily="18" charset="0"/>
                <a:cs typeface="Times New Roman" pitchFamily="18" charset="0"/>
              </a:rPr>
              <a:t>SET_TIMER() &amp; CALCULATE_MIPS() are cycles measurement modules in SHARC DSP processor which need to be inserted before and after the module for which the MIPS is required.</a:t>
            </a:r>
          </a:p>
          <a:p>
            <a:endParaRPr lang="en-US" altLang="en-US" sz="1600" dirty="0"/>
          </a:p>
          <a:p>
            <a:r>
              <a:rPr lang="en-US" altLang="en-US" sz="1400" dirty="0"/>
              <a:t> </a:t>
            </a:r>
            <a:r>
              <a:rPr lang="en-US" altLang="en-US" sz="1400" dirty="0" err="1"/>
              <a:t>Eg</a:t>
            </a:r>
            <a:r>
              <a:rPr lang="en-US" altLang="en-US" sz="1400" dirty="0"/>
              <a:t>: 	</a:t>
            </a:r>
          </a:p>
          <a:p>
            <a:pPr>
              <a:buNone/>
            </a:pPr>
            <a:r>
              <a:rPr lang="en-US" altLang="en-US" sz="1400" dirty="0"/>
              <a:t>       </a:t>
            </a:r>
            <a:r>
              <a:rPr lang="en-US" altLang="en-US" sz="1400" dirty="0" err="1"/>
              <a:t>int</a:t>
            </a:r>
            <a:r>
              <a:rPr lang="en-US" altLang="en-US" sz="1400" dirty="0"/>
              <a:t> main()</a:t>
            </a:r>
          </a:p>
          <a:p>
            <a:pPr>
              <a:buNone/>
            </a:pPr>
            <a:r>
              <a:rPr lang="en-US" altLang="en-US" sz="1400" dirty="0"/>
              <a:t>        {</a:t>
            </a:r>
          </a:p>
          <a:p>
            <a:pPr>
              <a:buNone/>
            </a:pPr>
            <a:r>
              <a:rPr lang="en-US" altLang="en-US" sz="1400" dirty="0"/>
              <a:t>	int a=5,b=6;</a:t>
            </a:r>
          </a:p>
          <a:p>
            <a:pPr>
              <a:buNone/>
            </a:pPr>
            <a:r>
              <a:rPr lang="en-US" altLang="en-US" sz="1400" dirty="0"/>
              <a:t>	SET_TIMER();                           //start timer</a:t>
            </a:r>
          </a:p>
          <a:p>
            <a:pPr>
              <a:buNone/>
            </a:pPr>
            <a:r>
              <a:rPr lang="en-US" altLang="en-US" sz="1400" b="1" dirty="0"/>
              <a:t>	add()</a:t>
            </a:r>
            <a:r>
              <a:rPr lang="en-US" altLang="en-US" sz="1400" dirty="0"/>
              <a:t>;</a:t>
            </a:r>
          </a:p>
          <a:p>
            <a:pPr>
              <a:buNone/>
            </a:pPr>
            <a:r>
              <a:rPr lang="en-US" altLang="en-US" sz="1400" dirty="0"/>
              <a:t>	CALCULATE_MIPS();                //stop timer</a:t>
            </a:r>
          </a:p>
          <a:p>
            <a:pPr>
              <a:buNone/>
            </a:pPr>
            <a:r>
              <a:rPr lang="en-US" altLang="en-US" sz="1400" dirty="0"/>
              <a:t>        }</a:t>
            </a:r>
          </a:p>
          <a:p>
            <a:pPr>
              <a:buNone/>
            </a:pPr>
            <a:r>
              <a:rPr lang="en-US" altLang="en-US" sz="1400" dirty="0"/>
              <a:t>        </a:t>
            </a:r>
            <a:r>
              <a:rPr lang="en-US" altLang="en-US" sz="1400" dirty="0" err="1"/>
              <a:t>int</a:t>
            </a:r>
            <a:r>
              <a:rPr lang="en-US" altLang="en-US" sz="1400" dirty="0"/>
              <a:t> add(int </a:t>
            </a:r>
            <a:r>
              <a:rPr lang="en-US" altLang="en-US" sz="1400" dirty="0" err="1"/>
              <a:t>a,int</a:t>
            </a:r>
            <a:r>
              <a:rPr lang="en-US" altLang="en-US" sz="1400" dirty="0"/>
              <a:t> b)</a:t>
            </a:r>
          </a:p>
          <a:p>
            <a:pPr>
              <a:buNone/>
            </a:pPr>
            <a:r>
              <a:rPr lang="en-US" altLang="en-US" sz="1400" dirty="0"/>
              <a:t>        {</a:t>
            </a:r>
          </a:p>
          <a:p>
            <a:pPr>
              <a:buNone/>
            </a:pPr>
            <a:r>
              <a:rPr lang="en-US" altLang="en-US" sz="1400" dirty="0"/>
              <a:t>	return </a:t>
            </a:r>
            <a:r>
              <a:rPr lang="en-US" altLang="en-US" sz="1400" dirty="0" err="1"/>
              <a:t>a+b</a:t>
            </a:r>
            <a:r>
              <a:rPr lang="en-US" altLang="en-US" sz="1400" dirty="0"/>
              <a:t>;</a:t>
            </a:r>
          </a:p>
          <a:p>
            <a:pPr>
              <a:buNone/>
            </a:pPr>
            <a:r>
              <a:rPr lang="en-US" altLang="en-US" sz="1400" dirty="0"/>
              <a:t>        }</a:t>
            </a:r>
          </a:p>
          <a:p>
            <a:pPr>
              <a:buNone/>
            </a:pPr>
            <a:r>
              <a:rPr lang="en-US" altLang="en-US" sz="1400" dirty="0">
                <a:solidFill>
                  <a:srgbClr val="FF0000"/>
                </a:solidFill>
              </a:rPr>
              <a:t>	</a:t>
            </a:r>
            <a:endParaRPr lang="en-US" sz="1400" dirty="0">
              <a:solidFill>
                <a:srgbClr val="FF0000"/>
              </a:solidFill>
            </a:endParaRPr>
          </a:p>
        </p:txBody>
      </p:sp>
    </p:spTree>
    <p:extLst>
      <p:ext uri="{BB962C8B-B14F-4D97-AF65-F5344CB8AC3E}">
        <p14:creationId xmlns:p14="http://schemas.microsoft.com/office/powerpoint/2010/main" val="270843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Memory</a:t>
            </a:r>
            <a:br>
              <a:rPr lang="en-US" dirty="0"/>
            </a:br>
            <a:endParaRPr lang="en-US" dirty="0"/>
          </a:p>
        </p:txBody>
      </p:sp>
      <p:sp>
        <p:nvSpPr>
          <p:cNvPr id="6" name="Rectangle 5"/>
          <p:cNvSpPr/>
          <p:nvPr/>
        </p:nvSpPr>
        <p:spPr>
          <a:xfrm>
            <a:off x="381000" y="1501676"/>
            <a:ext cx="8382000" cy="2585323"/>
          </a:xfrm>
          <a:prstGeom prst="rect">
            <a:avLst/>
          </a:prstGeom>
        </p:spPr>
        <p:txBody>
          <a:bodyPr wrap="square">
            <a:spAutoFit/>
          </a:bodyPr>
          <a:lstStyle/>
          <a:p>
            <a:r>
              <a:rPr lang="en-US" b="1" dirty="0"/>
              <a:t>Data Memory</a:t>
            </a:r>
          </a:p>
          <a:p>
            <a:endParaRPr lang="en-US" b="1" dirty="0"/>
          </a:p>
          <a:p>
            <a:r>
              <a:rPr lang="en-US" dirty="0"/>
              <a:t>Data memory is used for temporarily storing and keeping the immediate results and variables</a:t>
            </a:r>
          </a:p>
          <a:p>
            <a:endParaRPr lang="en-US" dirty="0"/>
          </a:p>
          <a:p>
            <a:r>
              <a:rPr lang="en-US" dirty="0"/>
              <a:t> </a:t>
            </a:r>
            <a:r>
              <a:rPr lang="en-US" b="1" dirty="0"/>
              <a:t>Program Memory</a:t>
            </a:r>
          </a:p>
          <a:p>
            <a:endParaRPr lang="en-US" b="1" dirty="0"/>
          </a:p>
          <a:p>
            <a:r>
              <a:rPr lang="en-US" dirty="0"/>
              <a:t> Program memory is normally used for storing program code, i.e. instructions.</a:t>
            </a:r>
            <a:r>
              <a:rPr lang="en-US" altLang="en-US" dirty="0">
                <a:solidFill>
                  <a:schemeClr val="accent2"/>
                </a:solidFill>
              </a:rPr>
              <a:t> </a:t>
            </a:r>
          </a:p>
          <a:p>
            <a:endParaRPr lang="en-US" dirty="0"/>
          </a:p>
        </p:txBody>
      </p:sp>
    </p:spTree>
    <p:extLst>
      <p:ext uri="{BB962C8B-B14F-4D97-AF65-F5344CB8AC3E}">
        <p14:creationId xmlns:p14="http://schemas.microsoft.com/office/powerpoint/2010/main" val="4107852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Image result for memory layout of a c pro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4375" y="990600"/>
            <a:ext cx="4619625" cy="341947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762000" y="609600"/>
            <a:ext cx="4572000" cy="2308324"/>
          </a:xfrm>
          <a:prstGeom prst="rect">
            <a:avLst/>
          </a:prstGeom>
        </p:spPr>
        <p:txBody>
          <a:bodyPr>
            <a:spAutoFit/>
          </a:bodyPr>
          <a:lstStyle/>
          <a:p>
            <a:r>
              <a:rPr lang="en-US" dirty="0"/>
              <a:t>A typical memory representation of C program consists of following sections.</a:t>
            </a:r>
          </a:p>
          <a:p>
            <a:endParaRPr lang="en-US" b="1" dirty="0"/>
          </a:p>
          <a:p>
            <a:r>
              <a:rPr lang="en-US" b="1" dirty="0"/>
              <a:t>1. Text segment</a:t>
            </a:r>
            <a:br>
              <a:rPr lang="en-US" b="1" dirty="0"/>
            </a:br>
            <a:r>
              <a:rPr lang="en-US" b="1" dirty="0"/>
              <a:t>2. Initialized data segment</a:t>
            </a:r>
            <a:br>
              <a:rPr lang="en-US" b="1" dirty="0"/>
            </a:br>
            <a:r>
              <a:rPr lang="en-US" b="1" dirty="0"/>
              <a:t>3. Uninitialized data segment</a:t>
            </a:r>
            <a:br>
              <a:rPr lang="en-US" b="1" dirty="0"/>
            </a:br>
            <a:r>
              <a:rPr lang="en-US" b="1" dirty="0"/>
              <a:t>4. Stack</a:t>
            </a:r>
            <a:br>
              <a:rPr lang="en-US" b="1" dirty="0"/>
            </a:br>
            <a:r>
              <a:rPr lang="en-US" b="1" dirty="0"/>
              <a:t>5. Heap</a:t>
            </a:r>
          </a:p>
        </p:txBody>
      </p:sp>
      <p:sp>
        <p:nvSpPr>
          <p:cNvPr id="9" name="Rectangle 8"/>
          <p:cNvSpPr/>
          <p:nvPr/>
        </p:nvSpPr>
        <p:spPr>
          <a:xfrm>
            <a:off x="339968" y="3276600"/>
            <a:ext cx="5527431" cy="1815882"/>
          </a:xfrm>
          <a:prstGeom prst="rect">
            <a:avLst/>
          </a:prstGeom>
        </p:spPr>
        <p:txBody>
          <a:bodyPr wrap="square">
            <a:spAutoFit/>
          </a:bodyPr>
          <a:lstStyle/>
          <a:p>
            <a:r>
              <a:rPr lang="en-US" sz="1400" dirty="0"/>
              <a:t>#include &lt;</a:t>
            </a:r>
            <a:r>
              <a:rPr lang="en-US" sz="1400" dirty="0" err="1"/>
              <a:t>stdio.h</a:t>
            </a:r>
            <a:r>
              <a:rPr lang="en-US" sz="1400" dirty="0"/>
              <a:t>&gt; </a:t>
            </a:r>
          </a:p>
          <a:p>
            <a:r>
              <a:rPr lang="en-US" sz="1400" dirty="0" err="1"/>
              <a:t>int</a:t>
            </a:r>
            <a:r>
              <a:rPr lang="en-US" sz="1400" dirty="0"/>
              <a:t> global = 10; /* initialized global variable stored in DS*/</a:t>
            </a:r>
          </a:p>
          <a:p>
            <a:endParaRPr lang="en-US" sz="1400" dirty="0"/>
          </a:p>
          <a:p>
            <a:r>
              <a:rPr lang="en-US" sz="1400" dirty="0" err="1"/>
              <a:t>int</a:t>
            </a:r>
            <a:r>
              <a:rPr lang="en-US" sz="1400" dirty="0"/>
              <a:t> main(void) </a:t>
            </a:r>
          </a:p>
          <a:p>
            <a:r>
              <a:rPr lang="en-US" sz="1400" dirty="0"/>
              <a:t>{ </a:t>
            </a:r>
          </a:p>
          <a:p>
            <a:r>
              <a:rPr lang="en-US" sz="1400" dirty="0"/>
              <a:t>      static </a:t>
            </a:r>
            <a:r>
              <a:rPr lang="en-US" sz="1400" dirty="0" err="1"/>
              <a:t>int</a:t>
            </a:r>
            <a:r>
              <a:rPr lang="en-US" sz="1400" dirty="0"/>
              <a:t> </a:t>
            </a:r>
            <a:r>
              <a:rPr lang="en-US" sz="1400" dirty="0" err="1"/>
              <a:t>i</a:t>
            </a:r>
            <a:r>
              <a:rPr lang="en-US" sz="1400" dirty="0"/>
              <a:t> = 100;  /* Initialized static variable stored in DS*/</a:t>
            </a:r>
          </a:p>
          <a:p>
            <a:r>
              <a:rPr lang="en-US" sz="1400" dirty="0"/>
              <a:t>       return 0; </a:t>
            </a:r>
          </a:p>
          <a:p>
            <a:r>
              <a:rPr lang="en-US" sz="1400" dirty="0"/>
              <a:t>} </a:t>
            </a:r>
          </a:p>
        </p:txBody>
      </p:sp>
    </p:spTree>
    <p:extLst>
      <p:ext uri="{BB962C8B-B14F-4D97-AF65-F5344CB8AC3E}">
        <p14:creationId xmlns:p14="http://schemas.microsoft.com/office/powerpoint/2010/main" val="1379184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Sigma DSP Processor</a:t>
            </a:r>
          </a:p>
        </p:txBody>
      </p:sp>
      <p:pic>
        <p:nvPicPr>
          <p:cNvPr id="3"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1524000"/>
            <a:ext cx="6803132" cy="4525963"/>
          </a:xfrm>
        </p:spPr>
      </p:pic>
    </p:spTree>
    <p:extLst>
      <p:ext uri="{BB962C8B-B14F-4D97-AF65-F5344CB8AC3E}">
        <p14:creationId xmlns:p14="http://schemas.microsoft.com/office/powerpoint/2010/main" val="2708431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249" y="304800"/>
            <a:ext cx="7045325" cy="609600"/>
          </a:xfrm>
        </p:spPr>
        <p:txBody>
          <a:bodyPr/>
          <a:lstStyle/>
          <a:p>
            <a:pPr algn="ctr"/>
            <a:r>
              <a:rPr lang="en-US" dirty="0"/>
              <a:t>Why need to optimize?</a:t>
            </a:r>
          </a:p>
        </p:txBody>
      </p:sp>
      <p:sp>
        <p:nvSpPr>
          <p:cNvPr id="4" name="Rectangle 3"/>
          <p:cNvSpPr/>
          <p:nvPr/>
        </p:nvSpPr>
        <p:spPr>
          <a:xfrm>
            <a:off x="609600" y="1066800"/>
            <a:ext cx="7848600" cy="4696670"/>
          </a:xfrm>
          <a:prstGeom prst="rect">
            <a:avLst/>
          </a:prstGeom>
        </p:spPr>
        <p:txBody>
          <a:bodyPr wrap="square">
            <a:spAutoFit/>
          </a:bodyPr>
          <a:lstStyle/>
          <a:p>
            <a:pPr marL="342900" lvl="0" indent="-342900">
              <a:spcBef>
                <a:spcPct val="20000"/>
              </a:spcBef>
              <a:buFont typeface="Arial" panose="020B0604020202020204" pitchFamily="34" charset="0"/>
              <a:buChar char="•"/>
            </a:pPr>
            <a:r>
              <a:rPr lang="en-US" sz="1600" dirty="0">
                <a:latin typeface="Times New Roman" pitchFamily="18" charset="0"/>
                <a:cs typeface="Times New Roman" pitchFamily="18" charset="0"/>
              </a:rPr>
              <a:t>When the application exceeds the limitations (memory, MIPS) of the processor, the application may not be run in a expected time.</a:t>
            </a:r>
          </a:p>
          <a:p>
            <a:pPr lvl="0">
              <a:spcBef>
                <a:spcPct val="20000"/>
              </a:spcBef>
            </a:pPr>
            <a:endParaRPr lang="en-US" sz="1600" dirty="0">
              <a:latin typeface="Times New Roman" pitchFamily="18" charset="0"/>
              <a:cs typeface="Times New Roman" pitchFamily="18" charset="0"/>
            </a:endParaRPr>
          </a:p>
          <a:p>
            <a:pPr marL="342900" lvl="0" indent="-342900">
              <a:spcBef>
                <a:spcPct val="20000"/>
              </a:spcBef>
              <a:buFont typeface="Arial" panose="020B0604020202020204" pitchFamily="34" charset="0"/>
              <a:buChar char="•"/>
            </a:pPr>
            <a:r>
              <a:rPr lang="en-US" sz="1600" dirty="0">
                <a:latin typeface="Times New Roman" pitchFamily="18" charset="0"/>
                <a:cs typeface="Times New Roman" pitchFamily="18" charset="0"/>
              </a:rPr>
              <a:t>This will lead to lack in the performance of the system and the system may not be a real time system.</a:t>
            </a:r>
          </a:p>
          <a:p>
            <a:pPr lvl="0">
              <a:spcBef>
                <a:spcPct val="20000"/>
              </a:spcBef>
            </a:pPr>
            <a:endParaRPr lang="en-US" sz="1600" dirty="0">
              <a:latin typeface="Times New Roman" pitchFamily="18" charset="0"/>
              <a:cs typeface="Times New Roman" pitchFamily="18" charset="0"/>
            </a:endParaRPr>
          </a:p>
          <a:p>
            <a:pPr marL="742950" lvl="1" indent="-285750">
              <a:spcBef>
                <a:spcPct val="20000"/>
              </a:spcBef>
              <a:buFont typeface="Wingdings" pitchFamily="2" charset="2"/>
              <a:buChar char="Ø"/>
            </a:pPr>
            <a:r>
              <a:rPr lang="en-US" altLang="en-US" sz="1600" b="1" dirty="0">
                <a:latin typeface="Times New Roman" pitchFamily="18" charset="0"/>
                <a:cs typeface="Times New Roman" pitchFamily="18" charset="0"/>
              </a:rPr>
              <a:t>MIPS optimization</a:t>
            </a:r>
          </a:p>
          <a:p>
            <a:pPr lvl="0">
              <a:spcBef>
                <a:spcPct val="20000"/>
              </a:spcBef>
            </a:pPr>
            <a:r>
              <a:rPr lang="en-US" sz="1600" dirty="0">
                <a:latin typeface="Times New Roman" pitchFamily="18" charset="0"/>
                <a:cs typeface="Times New Roman" pitchFamily="18" charset="0"/>
              </a:rPr>
              <a:t>	</a:t>
            </a:r>
          </a:p>
          <a:p>
            <a:pPr marL="285750" lvl="0" indent="-285750">
              <a:spcBef>
                <a:spcPct val="20000"/>
              </a:spcBef>
              <a:buFont typeface="Arial" pitchFamily="34" charset="0"/>
              <a:buChar char="•"/>
            </a:pPr>
            <a:r>
              <a:rPr lang="en-US" sz="1600" dirty="0">
                <a:latin typeface="Times New Roman" pitchFamily="18" charset="0"/>
                <a:cs typeface="Times New Roman" pitchFamily="18" charset="0"/>
              </a:rPr>
              <a:t>When your application consumes more cycles compare to the processor cycles , we need to do MIPS optimization.</a:t>
            </a:r>
          </a:p>
          <a:p>
            <a:pPr lvl="0">
              <a:spcBef>
                <a:spcPct val="20000"/>
              </a:spcBef>
            </a:pPr>
            <a:endParaRPr lang="en-US" sz="1600" dirty="0">
              <a:latin typeface="Times New Roman" pitchFamily="18" charset="0"/>
              <a:cs typeface="Times New Roman" pitchFamily="18" charset="0"/>
            </a:endParaRPr>
          </a:p>
          <a:p>
            <a:pPr marL="742950" lvl="1" indent="-285750">
              <a:spcBef>
                <a:spcPct val="20000"/>
              </a:spcBef>
              <a:buFont typeface="Wingdings" pitchFamily="2" charset="2"/>
              <a:buChar char="Ø"/>
            </a:pPr>
            <a:r>
              <a:rPr lang="en-US" altLang="en-US" sz="1600" b="1" dirty="0">
                <a:latin typeface="Times New Roman" pitchFamily="18" charset="0"/>
                <a:cs typeface="Times New Roman" pitchFamily="18" charset="0"/>
              </a:rPr>
              <a:t>Memory optimization</a:t>
            </a:r>
          </a:p>
          <a:p>
            <a:pPr lvl="1">
              <a:spcBef>
                <a:spcPct val="20000"/>
              </a:spcBef>
            </a:pPr>
            <a:endParaRPr lang="en-US" altLang="en-US" sz="1600" dirty="0">
              <a:latin typeface="Times New Roman" pitchFamily="18" charset="0"/>
              <a:cs typeface="Times New Roman" pitchFamily="18" charset="0"/>
            </a:endParaRPr>
          </a:p>
          <a:p>
            <a:pPr marL="1143000" lvl="2" indent="-228600">
              <a:spcBef>
                <a:spcPct val="20000"/>
              </a:spcBef>
              <a:buFont typeface="Wingdings" pitchFamily="2" charset="2"/>
              <a:buChar char="§"/>
            </a:pPr>
            <a:r>
              <a:rPr lang="en-US" altLang="en-US" sz="1600" dirty="0">
                <a:latin typeface="Times New Roman" pitchFamily="18" charset="0"/>
                <a:cs typeface="Times New Roman" pitchFamily="18" charset="0"/>
              </a:rPr>
              <a:t>Code memory</a:t>
            </a:r>
          </a:p>
          <a:p>
            <a:pPr marL="1143000" lvl="2" indent="-228600">
              <a:spcBef>
                <a:spcPct val="20000"/>
              </a:spcBef>
              <a:buFont typeface="Wingdings" pitchFamily="2" charset="2"/>
              <a:buChar char="§"/>
            </a:pPr>
            <a:r>
              <a:rPr lang="en-US" altLang="en-US" sz="1600" dirty="0">
                <a:latin typeface="Times New Roman" pitchFamily="18" charset="0"/>
                <a:cs typeface="Times New Roman" pitchFamily="18" charset="0"/>
              </a:rPr>
              <a:t>Data memory</a:t>
            </a:r>
          </a:p>
          <a:p>
            <a:pPr marL="342900" lvl="0" indent="-342900">
              <a:spcBef>
                <a:spcPct val="20000"/>
              </a:spcBef>
              <a:buFont typeface="Arial" panose="020B0604020202020204" pitchFamily="34" charset="0"/>
              <a:buChar char="•"/>
            </a:pPr>
            <a:endParaRPr lang="en-US" sz="2000" dirty="0">
              <a:solidFill>
                <a:prstClr val="black"/>
              </a:solidFill>
              <a:latin typeface="Calibri"/>
            </a:endParaRPr>
          </a:p>
        </p:txBody>
      </p:sp>
    </p:spTree>
    <p:extLst>
      <p:ext uri="{BB962C8B-B14F-4D97-AF65-F5344CB8AC3E}">
        <p14:creationId xmlns:p14="http://schemas.microsoft.com/office/powerpoint/2010/main" val="2708431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875" y="304800"/>
            <a:ext cx="7045325" cy="609600"/>
          </a:xfrm>
        </p:spPr>
        <p:txBody>
          <a:bodyPr/>
          <a:lstStyle/>
          <a:p>
            <a:pPr algn="ctr"/>
            <a:r>
              <a:rPr lang="en-US" dirty="0"/>
              <a:t>Rules for Optimization</a:t>
            </a:r>
          </a:p>
        </p:txBody>
      </p:sp>
      <p:sp>
        <p:nvSpPr>
          <p:cNvPr id="3" name="Rectangle 2"/>
          <p:cNvSpPr/>
          <p:nvPr/>
        </p:nvSpPr>
        <p:spPr>
          <a:xfrm>
            <a:off x="609600" y="1499848"/>
            <a:ext cx="7543800" cy="3757952"/>
          </a:xfrm>
          <a:prstGeom prst="rect">
            <a:avLst/>
          </a:prstGeom>
        </p:spPr>
        <p:txBody>
          <a:bodyPr wrap="square">
            <a:spAutoFit/>
          </a:bodyPr>
          <a:lstStyle/>
          <a:p>
            <a:pPr marL="285750" indent="-285750">
              <a:lnSpc>
                <a:spcPct val="150000"/>
              </a:lnSpc>
              <a:spcBef>
                <a:spcPct val="20000"/>
              </a:spcBef>
              <a:buFont typeface="Arial" pitchFamily="34" charset="0"/>
              <a:buChar char="•"/>
            </a:pPr>
            <a:r>
              <a:rPr lang="en-US" sz="1600" dirty="0">
                <a:latin typeface="Times New Roman" pitchFamily="18" charset="0"/>
                <a:cs typeface="Times New Roman" pitchFamily="18" charset="0"/>
              </a:rPr>
              <a:t>First rule of optimization: Don't do it.</a:t>
            </a:r>
          </a:p>
          <a:p>
            <a:pPr marL="285750" indent="-285750">
              <a:lnSpc>
                <a:spcPct val="150000"/>
              </a:lnSpc>
              <a:spcBef>
                <a:spcPct val="20000"/>
              </a:spcBef>
              <a:buFont typeface="Arial" pitchFamily="34" charset="0"/>
              <a:buChar char="•"/>
            </a:pPr>
            <a:r>
              <a:rPr lang="en-US" sz="1600" dirty="0">
                <a:latin typeface="Times New Roman" pitchFamily="18" charset="0"/>
                <a:cs typeface="Times New Roman" pitchFamily="18" charset="0"/>
              </a:rPr>
              <a:t>Understand the processor architecture, compiler options, optimization switches, SIMD, etc.</a:t>
            </a:r>
          </a:p>
          <a:p>
            <a:pPr marL="285750" indent="-285750">
              <a:lnSpc>
                <a:spcPct val="150000"/>
              </a:lnSpc>
              <a:spcBef>
                <a:spcPct val="20000"/>
              </a:spcBef>
              <a:buFont typeface="Arial" pitchFamily="34" charset="0"/>
              <a:buChar char="•"/>
            </a:pPr>
            <a:r>
              <a:rPr lang="en-US" sz="1600" dirty="0">
                <a:latin typeface="Times New Roman" pitchFamily="18" charset="0"/>
                <a:cs typeface="Times New Roman" pitchFamily="18" charset="0"/>
              </a:rPr>
              <a:t>Find the place where the cycles are high</a:t>
            </a:r>
          </a:p>
          <a:p>
            <a:pPr marL="285750" indent="-285750">
              <a:lnSpc>
                <a:spcPct val="150000"/>
              </a:lnSpc>
              <a:spcBef>
                <a:spcPct val="20000"/>
              </a:spcBef>
              <a:buFont typeface="Arial" pitchFamily="34" charset="0"/>
              <a:buChar char="•"/>
            </a:pPr>
            <a:r>
              <a:rPr lang="en-US" sz="1600" dirty="0">
                <a:latin typeface="Times New Roman" pitchFamily="18" charset="0"/>
                <a:cs typeface="Times New Roman" pitchFamily="18" charset="0"/>
              </a:rPr>
              <a:t>Do the Loop unrolling, loop jamming, removing the  dead code,etc.</a:t>
            </a:r>
          </a:p>
          <a:p>
            <a:pPr marL="285750" indent="-285750">
              <a:lnSpc>
                <a:spcPct val="150000"/>
              </a:lnSpc>
              <a:spcBef>
                <a:spcPct val="20000"/>
              </a:spcBef>
              <a:buFont typeface="Arial" pitchFamily="34" charset="0"/>
              <a:buChar char="•"/>
            </a:pPr>
            <a:r>
              <a:rPr lang="en-US" sz="1600" dirty="0">
                <a:latin typeface="Times New Roman" pitchFamily="18" charset="0"/>
                <a:cs typeface="Times New Roman" pitchFamily="18" charset="0"/>
              </a:rPr>
              <a:t>Change the logical functions of the program </a:t>
            </a:r>
          </a:p>
          <a:p>
            <a:pPr marL="285750" indent="-285750">
              <a:lnSpc>
                <a:spcPct val="150000"/>
              </a:lnSpc>
              <a:spcBef>
                <a:spcPct val="20000"/>
              </a:spcBef>
              <a:buFont typeface="Arial" pitchFamily="34" charset="0"/>
              <a:buChar char="•"/>
            </a:pPr>
            <a:r>
              <a:rPr lang="en-US" sz="1600" dirty="0">
                <a:latin typeface="Times New Roman" pitchFamily="18" charset="0"/>
                <a:cs typeface="Times New Roman" pitchFamily="18" charset="0"/>
              </a:rPr>
              <a:t>Asm code conversion</a:t>
            </a:r>
          </a:p>
          <a:p>
            <a:pPr marL="285750" indent="-285750">
              <a:lnSpc>
                <a:spcPct val="150000"/>
              </a:lnSpc>
              <a:spcBef>
                <a:spcPct val="20000"/>
              </a:spcBef>
              <a:buFont typeface="Arial" pitchFamily="34" charset="0"/>
              <a:buChar char="•"/>
            </a:pPr>
            <a:r>
              <a:rPr lang="en-US" sz="1600" dirty="0">
                <a:latin typeface="Times New Roman" pitchFamily="18" charset="0"/>
                <a:cs typeface="Times New Roman" pitchFamily="18" charset="0"/>
              </a:rPr>
              <a:t>Finally find the point at where to stop</a:t>
            </a:r>
          </a:p>
          <a:p>
            <a:pPr>
              <a:lnSpc>
                <a:spcPct val="150000"/>
              </a:lnSpc>
            </a:pPr>
            <a:endParaRPr lang="en-US" dirty="0"/>
          </a:p>
        </p:txBody>
      </p:sp>
    </p:spTree>
    <p:extLst>
      <p:ext uri="{BB962C8B-B14F-4D97-AF65-F5344CB8AC3E}">
        <p14:creationId xmlns:p14="http://schemas.microsoft.com/office/powerpoint/2010/main" val="2708431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249" y="457200"/>
            <a:ext cx="7045325" cy="609600"/>
          </a:xfrm>
        </p:spPr>
        <p:txBody>
          <a:bodyPr/>
          <a:lstStyle/>
          <a:p>
            <a:pPr algn="ctr"/>
            <a:r>
              <a:rPr lang="es-ES" dirty="0"/>
              <a:t>Compiler optimizations</a:t>
            </a:r>
            <a:br>
              <a:rPr lang="es-ES" dirty="0"/>
            </a:br>
            <a:endParaRPr lang="en-US" dirty="0"/>
          </a:p>
        </p:txBody>
      </p:sp>
      <p:sp>
        <p:nvSpPr>
          <p:cNvPr id="3" name="Rectangle 2"/>
          <p:cNvSpPr/>
          <p:nvPr/>
        </p:nvSpPr>
        <p:spPr>
          <a:xfrm>
            <a:off x="228600" y="914400"/>
            <a:ext cx="8610600" cy="4247317"/>
          </a:xfrm>
          <a:prstGeom prst="rect">
            <a:avLst/>
          </a:prstGeom>
        </p:spPr>
        <p:txBody>
          <a:bodyPr wrap="square">
            <a:spAutoFit/>
          </a:bodyPr>
          <a:lstStyle/>
          <a:p>
            <a:pPr marL="742950" lvl="1" indent="-285750">
              <a:buFont typeface="Wingdings" panose="05000000000000000000" pitchFamily="2" charset="2"/>
              <a:buChar char="v"/>
            </a:pPr>
            <a:r>
              <a:rPr lang="en-US" dirty="0">
                <a:latin typeface="Times New Roman" pitchFamily="18" charset="0"/>
                <a:cs typeface="Times New Roman" pitchFamily="18" charset="0"/>
              </a:rPr>
              <a:t>Smart selection of compilation options can yield a dramatic code performance improvement.</a:t>
            </a:r>
          </a:p>
          <a:p>
            <a:pPr marL="742950" lvl="1" indent="-285750">
              <a:buFont typeface="Wingdings" panose="05000000000000000000" pitchFamily="2" charset="2"/>
              <a:buChar char="v"/>
            </a:pPr>
            <a:endParaRPr lang="en-US" dirty="0">
              <a:latin typeface="Times New Roman" pitchFamily="18" charset="0"/>
              <a:cs typeface="Times New Roman" pitchFamily="18" charset="0"/>
            </a:endParaRPr>
          </a:p>
          <a:p>
            <a:pPr marL="742950" lvl="1" indent="-285750">
              <a:buFont typeface="Wingdings" panose="05000000000000000000" pitchFamily="2" charset="2"/>
              <a:buChar char="v"/>
            </a:pPr>
            <a:r>
              <a:rPr lang="en-US" dirty="0">
                <a:latin typeface="Times New Roman" pitchFamily="18" charset="0"/>
                <a:cs typeface="Times New Roman" pitchFamily="18" charset="0"/>
              </a:rPr>
              <a:t>Turning on optimization flags makes the compiler attempt to improve the performance.</a:t>
            </a:r>
          </a:p>
          <a:p>
            <a:pPr lvl="1"/>
            <a:endParaRPr lang="en-US" dirty="0">
              <a:latin typeface="Times New Roman" pitchFamily="18" charset="0"/>
              <a:cs typeface="Times New Roman" pitchFamily="18" charset="0"/>
            </a:endParaRPr>
          </a:p>
          <a:p>
            <a:pPr lvl="1"/>
            <a:r>
              <a:rPr lang="en-US" b="1" dirty="0">
                <a:latin typeface="Times New Roman" pitchFamily="18" charset="0"/>
                <a:cs typeface="Times New Roman" pitchFamily="18" charset="0"/>
              </a:rPr>
              <a:t>Compiler optimizations</a:t>
            </a:r>
          </a:p>
          <a:p>
            <a:pPr lvl="1"/>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	 -O0 –no optimization</a:t>
            </a:r>
          </a:p>
          <a:p>
            <a:pPr lvl="1"/>
            <a:r>
              <a:rPr lang="en-US" dirty="0">
                <a:latin typeface="Times New Roman" pitchFamily="18" charset="0"/>
                <a:cs typeface="Times New Roman" pitchFamily="18" charset="0"/>
              </a:rPr>
              <a:t>	 -O1 –local optimization, register allocation</a:t>
            </a:r>
          </a:p>
          <a:p>
            <a:pPr lvl="1"/>
            <a:r>
              <a:rPr lang="en-US" dirty="0">
                <a:latin typeface="Times New Roman" pitchFamily="18" charset="0"/>
                <a:cs typeface="Times New Roman" pitchFamily="18" charset="0"/>
              </a:rPr>
              <a:t>	 -O2 –local/limited global optimization</a:t>
            </a:r>
          </a:p>
          <a:p>
            <a:pPr lvl="1"/>
            <a:r>
              <a:rPr lang="en-US" dirty="0">
                <a:latin typeface="Times New Roman" pitchFamily="18" charset="0"/>
                <a:cs typeface="Times New Roman" pitchFamily="18" charset="0"/>
              </a:rPr>
              <a:t>	 -O3 –aggressive global optimization </a:t>
            </a:r>
          </a:p>
          <a:p>
            <a:pPr lvl="1"/>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Munroll</a:t>
            </a:r>
            <a:r>
              <a:rPr lang="en-US" dirty="0">
                <a:latin typeface="Times New Roman" pitchFamily="18" charset="0"/>
                <a:cs typeface="Times New Roman" pitchFamily="18" charset="0"/>
              </a:rPr>
              <a:t> – loop unrolling </a:t>
            </a:r>
          </a:p>
          <a:p>
            <a:pPr lvl="1"/>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Mvect</a:t>
            </a:r>
            <a:r>
              <a:rPr lang="en-US" dirty="0">
                <a:latin typeface="Times New Roman" pitchFamily="18" charset="0"/>
                <a:cs typeface="Times New Roman" pitchFamily="18" charset="0"/>
              </a:rPr>
              <a:t> - vectorization </a:t>
            </a:r>
          </a:p>
          <a:p>
            <a:pPr lvl="1"/>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Minline</a:t>
            </a:r>
            <a:r>
              <a:rPr lang="en-US" dirty="0">
                <a:latin typeface="Times New Roman" pitchFamily="18" charset="0"/>
                <a:cs typeface="Times New Roman" pitchFamily="18" charset="0"/>
              </a:rPr>
              <a:t> – function inlining </a:t>
            </a:r>
            <a:endParaRPr lang="en-US" sz="2800" b="1" dirty="0">
              <a:latin typeface="Times New Roman" pitchFamily="18" charset="0"/>
              <a:cs typeface="Times New Roman" pitchFamily="18" charset="0"/>
            </a:endParaRPr>
          </a:p>
        </p:txBody>
      </p:sp>
      <p:sp>
        <p:nvSpPr>
          <p:cNvPr id="4" name="Rectangle 3"/>
          <p:cNvSpPr/>
          <p:nvPr/>
        </p:nvSpPr>
        <p:spPr>
          <a:xfrm>
            <a:off x="685800" y="5334000"/>
            <a:ext cx="7543800" cy="73866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lvl="0"/>
            <a:r>
              <a:rPr lang="en-US" sz="1400" b="1" dirty="0"/>
              <a:t>From CCES, </a:t>
            </a:r>
          </a:p>
          <a:p>
            <a:r>
              <a:rPr lang="en-US" sz="1400" b="1" dirty="0"/>
              <a:t>Properties-&gt;C/C++ build-&gt;settings-&gt;cross core SHARC C/C++ compiler-&gt; General -&gt; Optimization (set  Optimize for code/size to 100)</a:t>
            </a:r>
          </a:p>
        </p:txBody>
      </p:sp>
    </p:spTree>
    <p:extLst>
      <p:ext uri="{BB962C8B-B14F-4D97-AF65-F5344CB8AC3E}">
        <p14:creationId xmlns:p14="http://schemas.microsoft.com/office/powerpoint/2010/main" val="2708431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249" y="304800"/>
            <a:ext cx="7045325" cy="609600"/>
          </a:xfrm>
        </p:spPr>
        <p:txBody>
          <a:bodyPr/>
          <a:lstStyle/>
          <a:p>
            <a:pPr algn="ctr"/>
            <a:r>
              <a:rPr lang="en-US" dirty="0"/>
              <a:t>SIMD</a:t>
            </a:r>
          </a:p>
        </p:txBody>
      </p:sp>
      <p:sp>
        <p:nvSpPr>
          <p:cNvPr id="3" name="Rectangle 2"/>
          <p:cNvSpPr/>
          <p:nvPr/>
        </p:nvSpPr>
        <p:spPr>
          <a:xfrm>
            <a:off x="304800" y="1143000"/>
            <a:ext cx="8534400" cy="2554545"/>
          </a:xfrm>
          <a:prstGeom prst="rect">
            <a:avLst/>
          </a:prstGeom>
        </p:spPr>
        <p:txBody>
          <a:bodyPr wrap="square">
            <a:spAutoFit/>
          </a:bodyPr>
          <a:lstStyle/>
          <a:p>
            <a:pPr marL="800100" lvl="1" indent="-342900">
              <a:buFont typeface="Wingdings" panose="05000000000000000000" pitchFamily="2" charset="2"/>
              <a:buChar char="q"/>
            </a:pPr>
            <a:r>
              <a:rPr lang="en-US" sz="2000" dirty="0">
                <a:latin typeface="Times New Roman" pitchFamily="18" charset="0"/>
                <a:cs typeface="Times New Roman" pitchFamily="18" charset="0"/>
              </a:rPr>
              <a:t>Single instruction multiple data (SIMD) mode allows the processors to execute the same instruction in both processing elements, but each processing element operates on different data.</a:t>
            </a:r>
          </a:p>
          <a:p>
            <a:pPr marL="800100" lvl="1" indent="-342900">
              <a:buFont typeface="Wingdings" panose="05000000000000000000" pitchFamily="2" charset="2"/>
              <a:buChar char="q"/>
            </a:pPr>
            <a:endParaRPr lang="en-US" sz="2000" dirty="0">
              <a:latin typeface="Times New Roman" pitchFamily="18" charset="0"/>
              <a:cs typeface="Times New Roman" pitchFamily="18" charset="0"/>
            </a:endParaRPr>
          </a:p>
          <a:p>
            <a:pPr marL="800100" lvl="1" indent="-342900">
              <a:buFont typeface="Wingdings" panose="05000000000000000000" pitchFamily="2" charset="2"/>
              <a:buChar char="q"/>
            </a:pPr>
            <a:r>
              <a:rPr lang="en-US" sz="2000" dirty="0">
                <a:latin typeface="Times New Roman" pitchFamily="18" charset="0"/>
                <a:cs typeface="Times New Roman" pitchFamily="18" charset="0"/>
              </a:rPr>
              <a:t>Using Shadow register next instruction are executed </a:t>
            </a:r>
            <a:r>
              <a:rPr lang="en-US" sz="2000" dirty="0" err="1">
                <a:latin typeface="Times New Roman" pitchFamily="18" charset="0"/>
                <a:cs typeface="Times New Roman" pitchFamily="18" charset="0"/>
              </a:rPr>
              <a:t>parallely</a:t>
            </a:r>
            <a:r>
              <a:rPr lang="en-US" sz="2000" dirty="0">
                <a:latin typeface="Times New Roman" pitchFamily="18" charset="0"/>
                <a:cs typeface="Times New Roman" pitchFamily="18" charset="0"/>
              </a:rPr>
              <a:t> to produce the result.</a:t>
            </a:r>
          </a:p>
          <a:p>
            <a:pPr marL="800100" lvl="1" indent="-342900">
              <a:buFont typeface="Wingdings" panose="05000000000000000000" pitchFamily="2" charset="2"/>
              <a:buChar char="q"/>
            </a:pPr>
            <a:endParaRPr lang="en-US" sz="2000" dirty="0">
              <a:latin typeface="Times New Roman" pitchFamily="18" charset="0"/>
              <a:cs typeface="Times New Roman" pitchFamily="18" charset="0"/>
            </a:endParaRPr>
          </a:p>
          <a:p>
            <a:pPr marL="800100" lvl="1" indent="-342900">
              <a:buFont typeface="Wingdings" panose="05000000000000000000" pitchFamily="2" charset="2"/>
              <a:buChar char="q"/>
            </a:pPr>
            <a:r>
              <a:rPr lang="en-US" sz="2000" dirty="0">
                <a:latin typeface="Times New Roman" pitchFamily="18" charset="0"/>
                <a:cs typeface="Times New Roman" pitchFamily="18" charset="0"/>
              </a:rPr>
              <a:t>This will lead to reduce the half of the cycles taken.</a:t>
            </a:r>
          </a:p>
        </p:txBody>
      </p:sp>
      <p:sp>
        <p:nvSpPr>
          <p:cNvPr id="4" name="Rectangle 3"/>
          <p:cNvSpPr/>
          <p:nvPr/>
        </p:nvSpPr>
        <p:spPr>
          <a:xfrm>
            <a:off x="1066800" y="4038600"/>
            <a:ext cx="4572000" cy="1384995"/>
          </a:xfrm>
          <a:prstGeom prst="rect">
            <a:avLst/>
          </a:prstGeom>
        </p:spPr>
        <p:txBody>
          <a:bodyPr>
            <a:spAutoFit/>
          </a:bodyPr>
          <a:lstStyle/>
          <a:p>
            <a:pPr lvl="1"/>
            <a:r>
              <a:rPr lang="en-US" sz="1400" dirty="0"/>
              <a:t>Ex:</a:t>
            </a:r>
          </a:p>
          <a:p>
            <a:pPr lvl="1"/>
            <a:endParaRPr lang="en-US" sz="1400" dirty="0"/>
          </a:p>
          <a:p>
            <a:pPr lvl="1"/>
            <a:r>
              <a:rPr lang="en-US" sz="1400" dirty="0"/>
              <a:t> for (i=0;i&lt;256;i++)</a:t>
            </a:r>
          </a:p>
          <a:p>
            <a:pPr lvl="1"/>
            <a:r>
              <a:rPr lang="en-US" sz="1400" dirty="0"/>
              <a:t>{</a:t>
            </a:r>
          </a:p>
          <a:p>
            <a:pPr lvl="1"/>
            <a:r>
              <a:rPr lang="en-US" sz="1400" dirty="0"/>
              <a:t>	C[i]=a[i]+b[i];</a:t>
            </a:r>
          </a:p>
          <a:p>
            <a:pPr lvl="1"/>
            <a:r>
              <a:rPr lang="en-US" sz="1400" dirty="0"/>
              <a:t>}</a:t>
            </a:r>
          </a:p>
        </p:txBody>
      </p:sp>
      <p:sp>
        <p:nvSpPr>
          <p:cNvPr id="6" name="Rectangle 5"/>
          <p:cNvSpPr/>
          <p:nvPr/>
        </p:nvSpPr>
        <p:spPr>
          <a:xfrm>
            <a:off x="3733800" y="4114800"/>
            <a:ext cx="45719" cy="1600200"/>
          </a:xfrm>
          <a:prstGeom prst="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7" name="TextBox 6"/>
          <p:cNvSpPr txBox="1"/>
          <p:nvPr/>
        </p:nvSpPr>
        <p:spPr>
          <a:xfrm>
            <a:off x="4038600" y="4267200"/>
            <a:ext cx="4495800" cy="1261884"/>
          </a:xfrm>
          <a:prstGeom prst="rect">
            <a:avLst/>
          </a:prstGeom>
          <a:noFill/>
        </p:spPr>
        <p:txBody>
          <a:bodyPr wrap="square" rtlCol="0">
            <a:spAutoFit/>
          </a:bodyPr>
          <a:lstStyle/>
          <a:p>
            <a:pPr lvl="1"/>
            <a:r>
              <a:rPr lang="en-US" sz="1400" dirty="0"/>
              <a:t> for (</a:t>
            </a:r>
            <a:r>
              <a:rPr lang="en-US" sz="1400" dirty="0" err="1"/>
              <a:t>i</a:t>
            </a:r>
            <a:r>
              <a:rPr lang="en-US" sz="1400" dirty="0"/>
              <a:t>=0;i&lt;128;i+2)</a:t>
            </a:r>
          </a:p>
          <a:p>
            <a:pPr lvl="1"/>
            <a:r>
              <a:rPr lang="en-US" sz="1400" dirty="0"/>
              <a:t>{</a:t>
            </a:r>
          </a:p>
          <a:p>
            <a:pPr lvl="1"/>
            <a:r>
              <a:rPr lang="en-US" sz="1400" dirty="0"/>
              <a:t>	C[</a:t>
            </a:r>
            <a:r>
              <a:rPr lang="en-US" sz="1400" dirty="0" err="1"/>
              <a:t>i</a:t>
            </a:r>
            <a:r>
              <a:rPr lang="en-US" sz="1400" dirty="0"/>
              <a:t>]=a[</a:t>
            </a:r>
            <a:r>
              <a:rPr lang="en-US" sz="1400" dirty="0" err="1"/>
              <a:t>i</a:t>
            </a:r>
            <a:r>
              <a:rPr lang="en-US" sz="1400" dirty="0"/>
              <a:t>]+b[</a:t>
            </a:r>
            <a:r>
              <a:rPr lang="en-US" sz="1400" dirty="0" err="1"/>
              <a:t>i</a:t>
            </a:r>
            <a:r>
              <a:rPr lang="en-US" sz="1400" dirty="0"/>
              <a:t>]; //     c[i+1]=a[i+1]+b[i+1];</a:t>
            </a:r>
          </a:p>
          <a:p>
            <a:pPr lvl="1"/>
            <a:r>
              <a:rPr lang="en-US" sz="1400" dirty="0"/>
              <a:t>}</a:t>
            </a:r>
          </a:p>
          <a:p>
            <a:endParaRPr lang="en-US" sz="2000" dirty="0"/>
          </a:p>
        </p:txBody>
      </p:sp>
    </p:spTree>
    <p:extLst>
      <p:ext uri="{BB962C8B-B14F-4D97-AF65-F5344CB8AC3E}">
        <p14:creationId xmlns:p14="http://schemas.microsoft.com/office/powerpoint/2010/main" val="2708431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85800" y="0"/>
            <a:ext cx="7848600" cy="6709529"/>
          </a:xfrm>
          <a:prstGeom prst="rect">
            <a:avLst/>
          </a:prstGeom>
        </p:spPr>
        <p:txBody>
          <a:bodyPr wrap="square">
            <a:spAutoFit/>
          </a:bodyPr>
          <a:lstStyle/>
          <a:p>
            <a:pPr lvl="1"/>
            <a:endParaRPr lang="en-US" sz="1200" dirty="0"/>
          </a:p>
          <a:p>
            <a:endParaRPr lang="en-US" sz="2000" b="1" dirty="0">
              <a:solidFill>
                <a:srgbClr val="014353"/>
              </a:solidFill>
              <a:latin typeface="Arial" pitchFamily="34" charset="0"/>
              <a:ea typeface="+mj-ea"/>
              <a:cs typeface="+mj-cs"/>
            </a:endParaRPr>
          </a:p>
          <a:p>
            <a:r>
              <a:rPr lang="en-US" sz="2000" b="1" dirty="0">
                <a:solidFill>
                  <a:srgbClr val="014353"/>
                </a:solidFill>
                <a:latin typeface="Arial" pitchFamily="34" charset="0"/>
                <a:ea typeface="+mj-ea"/>
                <a:cs typeface="+mj-cs"/>
              </a:rPr>
              <a:t>Hardware Math Accelerators </a:t>
            </a:r>
          </a:p>
          <a:p>
            <a:endParaRPr lang="en-US" sz="2000" b="1" dirty="0">
              <a:solidFill>
                <a:srgbClr val="014353"/>
              </a:solidFill>
              <a:latin typeface="Arial" pitchFamily="34" charset="0"/>
              <a:ea typeface="+mj-ea"/>
              <a:cs typeface="+mj-cs"/>
            </a:endParaRPr>
          </a:p>
          <a:p>
            <a:pPr lvl="1"/>
            <a:r>
              <a:rPr lang="en-US" sz="1600" dirty="0">
                <a:latin typeface="Times New Roman" pitchFamily="18" charset="0"/>
                <a:cs typeface="Times New Roman" pitchFamily="18" charset="0"/>
              </a:rPr>
              <a:t>- A high performance  accelerator is available to improve the overall computation power of the DSP processors.</a:t>
            </a:r>
          </a:p>
          <a:p>
            <a:pPr lvl="1"/>
            <a:r>
              <a:rPr lang="en-US" sz="1600" dirty="0">
                <a:latin typeface="Times New Roman" pitchFamily="18" charset="0"/>
                <a:cs typeface="Times New Roman" pitchFamily="18" charset="0"/>
              </a:rPr>
              <a:t>- FFT/IFFT</a:t>
            </a:r>
          </a:p>
          <a:p>
            <a:pPr lvl="1"/>
            <a:r>
              <a:rPr lang="en-US" sz="1600" dirty="0">
                <a:latin typeface="Times New Roman" pitchFamily="18" charset="0"/>
                <a:cs typeface="Times New Roman" pitchFamily="18" charset="0"/>
              </a:rPr>
              <a:t>- FIR/IIR filter</a:t>
            </a:r>
          </a:p>
          <a:p>
            <a:pPr lvl="1"/>
            <a:r>
              <a:rPr lang="en-US" sz="1600" dirty="0">
                <a:latin typeface="Times New Roman" pitchFamily="18" charset="0"/>
                <a:cs typeface="Times New Roman" pitchFamily="18" charset="0"/>
              </a:rPr>
              <a:t>- Math functions(</a:t>
            </a:r>
            <a:r>
              <a:rPr lang="en-US" sz="1600" dirty="0" err="1">
                <a:latin typeface="Times New Roman" pitchFamily="18" charset="0"/>
                <a:cs typeface="Times New Roman" pitchFamily="18" charset="0"/>
              </a:rPr>
              <a:t>sqrt,log,rand,exp</a:t>
            </a:r>
            <a:r>
              <a:rPr lang="en-US" sz="1600" dirty="0">
                <a:latin typeface="Times New Roman" pitchFamily="18" charset="0"/>
                <a:cs typeface="Times New Roman" pitchFamily="18" charset="0"/>
              </a:rPr>
              <a:t>)</a:t>
            </a:r>
          </a:p>
          <a:p>
            <a:pPr lvl="1"/>
            <a:endParaRPr lang="en-US" sz="1200" dirty="0"/>
          </a:p>
          <a:p>
            <a:r>
              <a:rPr lang="es-ES" sz="2000" b="1" dirty="0" err="1">
                <a:solidFill>
                  <a:srgbClr val="014353"/>
                </a:solidFill>
                <a:latin typeface="Arial" pitchFamily="34" charset="0"/>
                <a:ea typeface="+mj-ea"/>
                <a:cs typeface="+mj-cs"/>
              </a:rPr>
              <a:t>Parallel</a:t>
            </a:r>
            <a:r>
              <a:rPr lang="es-ES" sz="2000" b="1" dirty="0">
                <a:solidFill>
                  <a:srgbClr val="014353"/>
                </a:solidFill>
                <a:latin typeface="Arial" pitchFamily="34" charset="0"/>
                <a:ea typeface="+mj-ea"/>
                <a:cs typeface="+mj-cs"/>
              </a:rPr>
              <a:t> load</a:t>
            </a:r>
          </a:p>
          <a:p>
            <a:pPr lvl="1"/>
            <a:endParaRPr lang="es-ES" sz="1600" dirty="0">
              <a:latin typeface="Times New Roman" pitchFamily="18" charset="0"/>
              <a:cs typeface="Times New Roman" pitchFamily="18" charset="0"/>
            </a:endParaRPr>
          </a:p>
          <a:p>
            <a:pPr lvl="1"/>
            <a:r>
              <a:rPr lang="en-US" sz="1600" dirty="0">
                <a:latin typeface="Times New Roman" pitchFamily="18" charset="0"/>
                <a:cs typeface="Times New Roman" pitchFamily="18" charset="0"/>
              </a:rPr>
              <a:t>- The DSP performance can be increased by an increased parallelism in the instructions execution.</a:t>
            </a:r>
            <a:endParaRPr lang="es-ES" sz="1600" dirty="0">
              <a:latin typeface="Times New Roman" pitchFamily="18" charset="0"/>
              <a:cs typeface="Times New Roman" pitchFamily="18" charset="0"/>
            </a:endParaRPr>
          </a:p>
          <a:p>
            <a:pPr marL="742950" lvl="1" indent="-285750">
              <a:buFontTx/>
              <a:buChar char="-"/>
            </a:pPr>
            <a:r>
              <a:rPr lang="en-US" sz="1600" dirty="0">
                <a:latin typeface="Times New Roman" pitchFamily="18" charset="0"/>
                <a:cs typeface="Times New Roman" pitchFamily="18" charset="0"/>
              </a:rPr>
              <a:t>It is possible to load or store multiple data in each memory in a single cycle</a:t>
            </a:r>
          </a:p>
          <a:p>
            <a:pPr lvl="1"/>
            <a:endParaRPr lang="es-ES" sz="1600" dirty="0">
              <a:latin typeface="Times New Roman" pitchFamily="18" charset="0"/>
              <a:cs typeface="Times New Roman" pitchFamily="18" charset="0"/>
            </a:endParaRPr>
          </a:p>
          <a:p>
            <a:pPr lvl="1"/>
            <a:r>
              <a:rPr lang="es-ES" sz="1600" dirty="0">
                <a:latin typeface="Times New Roman" pitchFamily="18" charset="0"/>
                <a:cs typeface="Times New Roman" pitchFamily="18" charset="0"/>
              </a:rPr>
              <a:t> 	{ [X0X1X2X3] = DM0(P0), [Y0Y1Y2Y3] = DM1(P1) }; </a:t>
            </a:r>
          </a:p>
          <a:p>
            <a:endParaRPr lang="es-ES" sz="1200" b="1" dirty="0"/>
          </a:p>
          <a:p>
            <a:r>
              <a:rPr lang="en-US" sz="2000" b="1" dirty="0">
                <a:solidFill>
                  <a:srgbClr val="014353"/>
                </a:solidFill>
                <a:latin typeface="Arial" pitchFamily="34" charset="0"/>
                <a:ea typeface="+mj-ea"/>
                <a:cs typeface="+mj-cs"/>
              </a:rPr>
              <a:t>Code Scheduling</a:t>
            </a:r>
          </a:p>
          <a:p>
            <a:endParaRPr lang="en-US" sz="2000" b="1" dirty="0">
              <a:solidFill>
                <a:srgbClr val="014353"/>
              </a:solidFill>
              <a:latin typeface="Arial" pitchFamily="34" charset="0"/>
              <a:ea typeface="+mj-ea"/>
              <a:cs typeface="+mj-cs"/>
            </a:endParaRPr>
          </a:p>
          <a:p>
            <a:r>
              <a:rPr lang="en-US" sz="1600" dirty="0">
                <a:latin typeface="Times New Roman" pitchFamily="18" charset="0"/>
                <a:cs typeface="Times New Roman" pitchFamily="18" charset="0"/>
              </a:rPr>
              <a:t>Optimization is not just rewriting the code to the instructions that correspond to processor architecture. In case of using processor with pipelining there is the need to plan the execution of the code so that each instruction, if possible, work with the already calculated operands, i.e. the instructions have to be rearranged in a way that maximizes the performance by reducing the pipeline stalls. </a:t>
            </a:r>
          </a:p>
          <a:p>
            <a:endParaRPr lang="en-US" dirty="0"/>
          </a:p>
        </p:txBody>
      </p:sp>
    </p:spTree>
    <p:extLst>
      <p:ext uri="{BB962C8B-B14F-4D97-AF65-F5344CB8AC3E}">
        <p14:creationId xmlns:p14="http://schemas.microsoft.com/office/powerpoint/2010/main" val="2708431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INLINING</a:t>
            </a:r>
            <a:br>
              <a:rPr lang="en-US" dirty="0"/>
            </a:br>
            <a:endParaRPr lang="en-US" dirty="0"/>
          </a:p>
        </p:txBody>
      </p:sp>
      <p:sp>
        <p:nvSpPr>
          <p:cNvPr id="3" name="Content Placeholder 2"/>
          <p:cNvSpPr>
            <a:spLocks noGrp="1"/>
          </p:cNvSpPr>
          <p:nvPr>
            <p:ph idx="1"/>
          </p:nvPr>
        </p:nvSpPr>
        <p:spPr>
          <a:xfrm>
            <a:off x="457200" y="533400"/>
            <a:ext cx="8229600" cy="4525963"/>
          </a:xfrm>
        </p:spPr>
        <p:txBody>
          <a:bodyPr>
            <a:normAutofit/>
          </a:bodyPr>
          <a:lstStyle/>
          <a:p>
            <a:endParaRPr lang="en-US" sz="1600" kern="1200" dirty="0">
              <a:solidFill>
                <a:schemeClr val="tx1"/>
              </a:solidFill>
              <a:latin typeface="Times New Roman" pitchFamily="18" charset="0"/>
              <a:cs typeface="Times New Roman" pitchFamily="18" charset="0"/>
            </a:endParaRPr>
          </a:p>
          <a:p>
            <a:endParaRPr lang="en-US" sz="1600" kern="1200" dirty="0">
              <a:solidFill>
                <a:schemeClr val="tx1"/>
              </a:solidFill>
              <a:latin typeface="Times New Roman" pitchFamily="18" charset="0"/>
              <a:cs typeface="Times New Roman" pitchFamily="18" charset="0"/>
            </a:endParaRPr>
          </a:p>
          <a:p>
            <a:pPr marL="285750" indent="-285750">
              <a:buClr>
                <a:schemeClr val="bg2">
                  <a:lumMod val="50000"/>
                </a:schemeClr>
              </a:buClr>
              <a:buFont typeface="Arial" pitchFamily="34" charset="0"/>
              <a:buChar char="•"/>
            </a:pPr>
            <a:r>
              <a:rPr lang="en-US" sz="1800" b="0" kern="1200" dirty="0" err="1">
                <a:solidFill>
                  <a:schemeClr val="tx1"/>
                </a:solidFill>
                <a:latin typeface="Times New Roman" pitchFamily="18" charset="0"/>
                <a:cs typeface="Times New Roman" pitchFamily="18" charset="0"/>
              </a:rPr>
              <a:t>gcc</a:t>
            </a:r>
            <a:r>
              <a:rPr lang="en-US" sz="1800" b="0" kern="1200" dirty="0">
                <a:solidFill>
                  <a:schemeClr val="tx1"/>
                </a:solidFill>
                <a:latin typeface="Times New Roman" pitchFamily="18" charset="0"/>
                <a:cs typeface="Times New Roman" pitchFamily="18" charset="0"/>
              </a:rPr>
              <a:t>  and a few other compilers are capable of inlining small functions at higher optimization levels automatically.</a:t>
            </a:r>
          </a:p>
          <a:p>
            <a:pPr marL="285750" indent="-285750">
              <a:buClr>
                <a:schemeClr val="bg2">
                  <a:lumMod val="50000"/>
                </a:schemeClr>
              </a:buClr>
              <a:buFont typeface="Arial" pitchFamily="34" charset="0"/>
              <a:buChar char="•"/>
            </a:pPr>
            <a:r>
              <a:rPr lang="en-US" sz="1800" b="0" kern="1200" dirty="0">
                <a:solidFill>
                  <a:schemeClr val="tx1"/>
                </a:solidFill>
                <a:latin typeface="Times New Roman" pitchFamily="18" charset="0"/>
                <a:cs typeface="Times New Roman" pitchFamily="18" charset="0"/>
              </a:rPr>
              <a:t>If necessary, C functions can be recoded as macros to obtain similar speedup on compilers with no inlining capability.</a:t>
            </a:r>
          </a:p>
          <a:p>
            <a:pPr>
              <a:buClr>
                <a:schemeClr val="bg2">
                  <a:lumMod val="50000"/>
                </a:schemeClr>
              </a:buClr>
              <a:buFont typeface="Arial" pitchFamily="34" charset="0"/>
              <a:buChar char="•"/>
            </a:pPr>
            <a:r>
              <a:rPr lang="en-US" sz="1800" b="0" kern="1200" dirty="0">
                <a:solidFill>
                  <a:schemeClr val="tx1"/>
                </a:solidFill>
                <a:latin typeface="Times New Roman" pitchFamily="18" charset="0"/>
                <a:cs typeface="Times New Roman" pitchFamily="18" charset="0"/>
              </a:rPr>
              <a:t>This should be done after the code is completely debugged.</a:t>
            </a:r>
          </a:p>
          <a:p>
            <a:r>
              <a:rPr lang="en-US" sz="1800" kern="1200" dirty="0">
                <a:solidFill>
                  <a:schemeClr val="tx1"/>
                </a:solidFill>
                <a:latin typeface="Times New Roman" pitchFamily="18" charset="0"/>
                <a:cs typeface="Times New Roman" pitchFamily="18" charset="0"/>
              </a:rPr>
              <a:t>    Before:			         After:</a:t>
            </a:r>
          </a:p>
          <a:p>
            <a:endParaRPr lang="en-US" sz="1800" kern="1200" dirty="0">
              <a:solidFill>
                <a:schemeClr val="tx1"/>
              </a:solidFill>
              <a:latin typeface="Times New Roman" pitchFamily="18" charset="0"/>
              <a:cs typeface="Times New Roman" pitchFamily="18" charset="0"/>
            </a:endParaRPr>
          </a:p>
        </p:txBody>
      </p:sp>
      <p:sp>
        <p:nvSpPr>
          <p:cNvPr id="4" name="TextBox 3"/>
          <p:cNvSpPr txBox="1"/>
          <p:nvPr/>
        </p:nvSpPr>
        <p:spPr>
          <a:xfrm>
            <a:off x="1066800" y="3531275"/>
            <a:ext cx="2743200" cy="2031325"/>
          </a:xfrm>
          <a:prstGeom prst="rect">
            <a:avLst/>
          </a:prstGeom>
          <a:noFill/>
        </p:spPr>
        <p:txBody>
          <a:bodyPr wrap="square" rtlCol="0">
            <a:spAutoFit/>
          </a:bodyPr>
          <a:lstStyle/>
          <a:p>
            <a:r>
              <a:rPr lang="en-US" dirty="0" err="1"/>
              <a:t>int</a:t>
            </a:r>
            <a:r>
              <a:rPr lang="en-US" dirty="0"/>
              <a:t> foo(a, b)</a:t>
            </a:r>
          </a:p>
          <a:p>
            <a:r>
              <a:rPr lang="en-US" dirty="0"/>
              <a:t> { </a:t>
            </a:r>
          </a:p>
          <a:p>
            <a:r>
              <a:rPr lang="en-US" dirty="0"/>
              <a:t>a = a - b; </a:t>
            </a:r>
          </a:p>
          <a:p>
            <a:r>
              <a:rPr lang="en-US" dirty="0"/>
              <a:t>b++;</a:t>
            </a:r>
          </a:p>
          <a:p>
            <a:r>
              <a:rPr lang="en-US" dirty="0"/>
              <a:t> a = a * b; </a:t>
            </a:r>
          </a:p>
          <a:p>
            <a:r>
              <a:rPr lang="en-US" dirty="0"/>
              <a:t>return a; </a:t>
            </a:r>
          </a:p>
          <a:p>
            <a:r>
              <a:rPr lang="en-US" dirty="0"/>
              <a:t>}</a:t>
            </a:r>
          </a:p>
        </p:txBody>
      </p:sp>
      <p:sp>
        <p:nvSpPr>
          <p:cNvPr id="5" name="TextBox 4"/>
          <p:cNvSpPr txBox="1"/>
          <p:nvPr/>
        </p:nvSpPr>
        <p:spPr>
          <a:xfrm>
            <a:off x="4724400" y="3516868"/>
            <a:ext cx="3505200" cy="369332"/>
          </a:xfrm>
          <a:prstGeom prst="rect">
            <a:avLst/>
          </a:prstGeom>
          <a:noFill/>
        </p:spPr>
        <p:txBody>
          <a:bodyPr wrap="square" rtlCol="0">
            <a:spAutoFit/>
          </a:bodyPr>
          <a:lstStyle/>
          <a:p>
            <a:r>
              <a:rPr lang="en-US" dirty="0"/>
              <a:t>#define foo(a, b) (((a)-(b)) * ((b)+1))</a:t>
            </a:r>
          </a:p>
        </p:txBody>
      </p:sp>
    </p:spTree>
    <p:extLst>
      <p:ext uri="{BB962C8B-B14F-4D97-AF65-F5344CB8AC3E}">
        <p14:creationId xmlns:p14="http://schemas.microsoft.com/office/powerpoint/2010/main" val="2708431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249" y="457200"/>
            <a:ext cx="7045325" cy="609600"/>
          </a:xfrm>
        </p:spPr>
        <p:txBody>
          <a:bodyPr/>
          <a:lstStyle/>
          <a:p>
            <a:pPr algn="ctr"/>
            <a:r>
              <a:rPr lang="en-US" dirty="0"/>
              <a:t>Loop Unrolling</a:t>
            </a:r>
            <a:br>
              <a:rPr lang="en-US" dirty="0"/>
            </a:br>
            <a:endParaRPr lang="en-US" dirty="0"/>
          </a:p>
        </p:txBody>
      </p:sp>
      <p:sp>
        <p:nvSpPr>
          <p:cNvPr id="7" name="Rectangle 6"/>
          <p:cNvSpPr/>
          <p:nvPr/>
        </p:nvSpPr>
        <p:spPr>
          <a:xfrm>
            <a:off x="533400" y="1066800"/>
            <a:ext cx="8305800" cy="5632311"/>
          </a:xfrm>
          <a:prstGeom prst="rect">
            <a:avLst/>
          </a:prstGeom>
        </p:spPr>
        <p:txBody>
          <a:bodyPr wrap="square">
            <a:spAutoFit/>
          </a:bodyPr>
          <a:lstStyle/>
          <a:p>
            <a:pPr marL="342900" indent="-342900">
              <a:buFont typeface="Arial" pitchFamily="34" charset="0"/>
              <a:buChar char="•"/>
            </a:pPr>
            <a:r>
              <a:rPr lang="en-US" sz="2000" dirty="0">
                <a:latin typeface="Times New Roman" pitchFamily="18" charset="0"/>
                <a:cs typeface="Times New Roman" pitchFamily="18" charset="0"/>
              </a:rPr>
              <a:t>Loop unrolling is another technique to exploit parallelism between loop iterations. </a:t>
            </a:r>
          </a:p>
          <a:p>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Let us have the following code:</a:t>
            </a:r>
          </a:p>
          <a:p>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#define N 3</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short i;</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short a[N], b[N];</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long </a:t>
            </a:r>
            <a:r>
              <a:rPr lang="en-US" sz="1600" dirty="0" err="1">
                <a:latin typeface="Times New Roman" pitchFamily="18" charset="0"/>
                <a:cs typeface="Times New Roman" pitchFamily="18" charset="0"/>
              </a:rPr>
              <a:t>long</a:t>
            </a:r>
            <a:r>
              <a:rPr lang="en-US" sz="1600" dirty="0">
                <a:latin typeface="Times New Roman" pitchFamily="18" charset="0"/>
                <a:cs typeface="Times New Roman" pitchFamily="18" charset="0"/>
              </a:rPr>
              <a:t> s = 0; // 64-bit accumulator</a:t>
            </a:r>
            <a:br>
              <a:rPr lang="en-US" sz="1600" dirty="0">
                <a:latin typeface="Times New Roman" pitchFamily="18" charset="0"/>
                <a:cs typeface="Times New Roman" pitchFamily="18" charset="0"/>
              </a:rPr>
            </a:b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for(</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=0; i &lt; N; i++)</a:t>
            </a:r>
          </a:p>
          <a:p>
            <a:r>
              <a:rPr lang="en-US" sz="1600" dirty="0">
                <a:latin typeface="Times New Roman" pitchFamily="18" charset="0"/>
                <a:cs typeface="Times New Roman" pitchFamily="18" charset="0"/>
              </a:rPr>
              <a:t>      { </a:t>
            </a:r>
          </a:p>
          <a:p>
            <a:r>
              <a:rPr lang="en-US" sz="1600" dirty="0">
                <a:latin typeface="Times New Roman" pitchFamily="18" charset="0"/>
                <a:cs typeface="Times New Roman" pitchFamily="18" charset="0"/>
              </a:rPr>
              <a:t>     	s += a[i] * b[i]; </a:t>
            </a:r>
          </a:p>
          <a:p>
            <a:r>
              <a:rPr lang="en-US" sz="1600" dirty="0">
                <a:latin typeface="Times New Roman" pitchFamily="18" charset="0"/>
                <a:cs typeface="Times New Roman" pitchFamily="18" charset="0"/>
              </a:rPr>
              <a:t>      }</a:t>
            </a:r>
          </a:p>
          <a:p>
            <a:endParaRPr lang="en-US" sz="1600" dirty="0">
              <a:latin typeface="Times New Roman" pitchFamily="18" charset="0"/>
              <a:cs typeface="Times New Roman" pitchFamily="18" charset="0"/>
            </a:endParaRPr>
          </a:p>
          <a:p>
            <a:pPr marL="285750" indent="-285750">
              <a:buFont typeface="Arial" pitchFamily="34" charset="0"/>
              <a:buChar char="•"/>
            </a:pPr>
            <a:r>
              <a:rPr lang="en-US" sz="1600" dirty="0">
                <a:latin typeface="Times New Roman" pitchFamily="18" charset="0"/>
                <a:cs typeface="Times New Roman" pitchFamily="18" charset="0"/>
              </a:rPr>
              <a:t>Since N is known at the compile-time to be the constant and it is a small number, it is more efficient to rewrite the cycle as follows:</a:t>
            </a:r>
          </a:p>
          <a:p>
            <a:endParaRPr lang="en-US" sz="1600" dirty="0">
              <a:latin typeface="Times New Roman" pitchFamily="18" charset="0"/>
              <a:cs typeface="Times New Roman" pitchFamily="18" charset="0"/>
            </a:endParaRPr>
          </a:p>
          <a:p>
            <a:pPr lvl="1"/>
            <a:r>
              <a:rPr lang="en-US" sz="1600" dirty="0">
                <a:latin typeface="Times New Roman" pitchFamily="18" charset="0"/>
                <a:cs typeface="Times New Roman" pitchFamily="18" charset="0"/>
              </a:rPr>
              <a:t>s += a[0] * b[0];</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s += a[1] * b[1];</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s += a[2] * b[2];</a:t>
            </a:r>
          </a:p>
          <a:p>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3687729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983233"/>
            <a:ext cx="2590800" cy="2031325"/>
          </a:xfrm>
          <a:prstGeom prst="rect">
            <a:avLst/>
          </a:prstGeom>
        </p:spPr>
        <p:txBody>
          <a:bodyPr wrap="square">
            <a:spAutoFit/>
          </a:bodyPr>
          <a:lstStyle/>
          <a:p>
            <a:r>
              <a:rPr lang="nn-NO" b="1" dirty="0"/>
              <a:t>Before:</a:t>
            </a:r>
          </a:p>
          <a:p>
            <a:endParaRPr lang="nn-NO" b="1" dirty="0"/>
          </a:p>
          <a:p>
            <a:r>
              <a:rPr lang="nn-NO" dirty="0"/>
              <a:t>for (int i=0;i&lt;1000;i+=1)</a:t>
            </a:r>
          </a:p>
          <a:p>
            <a:r>
              <a:rPr lang="nn-NO" dirty="0"/>
              <a:t> {</a:t>
            </a:r>
            <a:br>
              <a:rPr lang="nn-NO" dirty="0"/>
            </a:br>
            <a:r>
              <a:rPr lang="nn-NO" dirty="0"/>
              <a:t>  a[i] = b[i] + c[i];</a:t>
            </a:r>
          </a:p>
          <a:p>
            <a:r>
              <a:rPr lang="nn-NO" dirty="0"/>
              <a:t>}</a:t>
            </a:r>
          </a:p>
          <a:p>
            <a:r>
              <a:rPr lang="nn-NO" dirty="0"/>
              <a:t> </a:t>
            </a:r>
            <a:endParaRPr lang="en-US" dirty="0"/>
          </a:p>
        </p:txBody>
      </p:sp>
      <p:sp>
        <p:nvSpPr>
          <p:cNvPr id="5" name="Rectangle 4"/>
          <p:cNvSpPr/>
          <p:nvPr/>
        </p:nvSpPr>
        <p:spPr>
          <a:xfrm>
            <a:off x="4539762" y="983233"/>
            <a:ext cx="4572000" cy="1754326"/>
          </a:xfrm>
          <a:prstGeom prst="rect">
            <a:avLst/>
          </a:prstGeom>
        </p:spPr>
        <p:txBody>
          <a:bodyPr>
            <a:spAutoFit/>
          </a:bodyPr>
          <a:lstStyle/>
          <a:p>
            <a:r>
              <a:rPr lang="nn-NO" b="1" dirty="0"/>
              <a:t>After:</a:t>
            </a:r>
          </a:p>
          <a:p>
            <a:r>
              <a:rPr lang="nn-NO" dirty="0"/>
              <a:t> for (int i=0;i&lt;1000;i+=2) </a:t>
            </a:r>
          </a:p>
          <a:p>
            <a:r>
              <a:rPr lang="nn-NO" dirty="0"/>
              <a:t>{</a:t>
            </a:r>
          </a:p>
          <a:p>
            <a:r>
              <a:rPr lang="nn-NO" dirty="0"/>
              <a:t> a[i] = b[i] + c[i];</a:t>
            </a:r>
          </a:p>
          <a:p>
            <a:r>
              <a:rPr lang="nn-NO" dirty="0"/>
              <a:t> a[i+1] = b[i+1] + c[i+1];</a:t>
            </a:r>
          </a:p>
          <a:p>
            <a:r>
              <a:rPr lang="nn-NO" dirty="0"/>
              <a:t> } </a:t>
            </a:r>
            <a:endParaRPr lang="en-US" dirty="0"/>
          </a:p>
        </p:txBody>
      </p:sp>
      <p:sp>
        <p:nvSpPr>
          <p:cNvPr id="6" name="AutoShape 2" descr="https://player.slideplayer.com/25/7987999/data/images/img2.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4419600" y="3141334"/>
            <a:ext cx="4572000" cy="2862322"/>
          </a:xfrm>
          <a:prstGeom prst="rect">
            <a:avLst/>
          </a:prstGeom>
        </p:spPr>
        <p:txBody>
          <a:bodyPr>
            <a:spAutoFit/>
          </a:bodyPr>
          <a:lstStyle/>
          <a:p>
            <a:r>
              <a:rPr lang="nn-NO" b="1" dirty="0"/>
              <a:t>After:</a:t>
            </a:r>
            <a:endParaRPr lang="en-US" dirty="0"/>
          </a:p>
          <a:p>
            <a:r>
              <a:rPr lang="en-US" dirty="0"/>
              <a:t> </a:t>
            </a:r>
            <a:r>
              <a:rPr lang="en-US" dirty="0" err="1"/>
              <a:t>int</a:t>
            </a:r>
            <a:r>
              <a:rPr lang="en-US" dirty="0"/>
              <a:t> a[10][10]; </a:t>
            </a:r>
          </a:p>
          <a:p>
            <a:r>
              <a:rPr lang="en-US" dirty="0"/>
              <a:t>for (</a:t>
            </a:r>
            <a:r>
              <a:rPr lang="en-US" dirty="0" err="1"/>
              <a:t>i</a:t>
            </a:r>
            <a:r>
              <a:rPr lang="en-US" dirty="0"/>
              <a:t>=0;i&lt;10;i++)</a:t>
            </a:r>
          </a:p>
          <a:p>
            <a:r>
              <a:rPr lang="en-US" dirty="0"/>
              <a:t>{</a:t>
            </a:r>
          </a:p>
          <a:p>
            <a:r>
              <a:rPr lang="en-US" dirty="0"/>
              <a:t> a[</a:t>
            </a:r>
            <a:r>
              <a:rPr lang="en-US" dirty="0" err="1"/>
              <a:t>i</a:t>
            </a:r>
            <a:r>
              <a:rPr lang="en-US" dirty="0"/>
              <a:t>][0]=a[</a:t>
            </a:r>
            <a:r>
              <a:rPr lang="en-US" dirty="0" err="1"/>
              <a:t>i</a:t>
            </a:r>
            <a:r>
              <a:rPr lang="en-US" dirty="0"/>
              <a:t>][0]*2; a[</a:t>
            </a:r>
            <a:r>
              <a:rPr lang="en-US" dirty="0" err="1"/>
              <a:t>i</a:t>
            </a:r>
            <a:r>
              <a:rPr lang="en-US" dirty="0"/>
              <a:t>][1]=a[</a:t>
            </a:r>
            <a:r>
              <a:rPr lang="en-US" dirty="0" err="1"/>
              <a:t>i</a:t>
            </a:r>
            <a:r>
              <a:rPr lang="en-US" dirty="0"/>
              <a:t>][1]*2; a[</a:t>
            </a:r>
            <a:r>
              <a:rPr lang="en-US" dirty="0" err="1"/>
              <a:t>i</a:t>
            </a:r>
            <a:r>
              <a:rPr lang="en-US" dirty="0"/>
              <a:t>][2]=a[</a:t>
            </a:r>
            <a:r>
              <a:rPr lang="en-US" dirty="0" err="1"/>
              <a:t>i</a:t>
            </a:r>
            <a:r>
              <a:rPr lang="en-US" dirty="0"/>
              <a:t>][2]*2; a[</a:t>
            </a:r>
            <a:r>
              <a:rPr lang="en-US" dirty="0" err="1"/>
              <a:t>i</a:t>
            </a:r>
            <a:r>
              <a:rPr lang="en-US" dirty="0"/>
              <a:t>][3]=a[</a:t>
            </a:r>
            <a:r>
              <a:rPr lang="en-US" dirty="0" err="1"/>
              <a:t>i</a:t>
            </a:r>
            <a:r>
              <a:rPr lang="en-US" dirty="0"/>
              <a:t>][3]*2; a[</a:t>
            </a:r>
            <a:r>
              <a:rPr lang="en-US" dirty="0" err="1"/>
              <a:t>i</a:t>
            </a:r>
            <a:r>
              <a:rPr lang="en-US" dirty="0"/>
              <a:t>][4]=a[</a:t>
            </a:r>
            <a:r>
              <a:rPr lang="en-US" dirty="0" err="1"/>
              <a:t>i</a:t>
            </a:r>
            <a:r>
              <a:rPr lang="en-US" dirty="0"/>
              <a:t>][4]*2; a[</a:t>
            </a:r>
            <a:r>
              <a:rPr lang="en-US" dirty="0" err="1"/>
              <a:t>i</a:t>
            </a:r>
            <a:r>
              <a:rPr lang="en-US" dirty="0"/>
              <a:t>][5]=a[</a:t>
            </a:r>
            <a:r>
              <a:rPr lang="en-US" dirty="0" err="1"/>
              <a:t>i</a:t>
            </a:r>
            <a:r>
              <a:rPr lang="en-US" dirty="0"/>
              <a:t>][5]*2; a[</a:t>
            </a:r>
            <a:r>
              <a:rPr lang="en-US" dirty="0" err="1"/>
              <a:t>i</a:t>
            </a:r>
            <a:r>
              <a:rPr lang="en-US" dirty="0"/>
              <a:t>][6]=a[</a:t>
            </a:r>
            <a:r>
              <a:rPr lang="en-US" dirty="0" err="1"/>
              <a:t>i</a:t>
            </a:r>
            <a:r>
              <a:rPr lang="en-US" dirty="0"/>
              <a:t>][6]*2; a[</a:t>
            </a:r>
            <a:r>
              <a:rPr lang="en-US" dirty="0" err="1"/>
              <a:t>i</a:t>
            </a:r>
            <a:r>
              <a:rPr lang="en-US" dirty="0"/>
              <a:t>][7]=a[</a:t>
            </a:r>
            <a:r>
              <a:rPr lang="en-US" dirty="0" err="1"/>
              <a:t>i</a:t>
            </a:r>
            <a:r>
              <a:rPr lang="en-US" dirty="0"/>
              <a:t>][7]*2; a[</a:t>
            </a:r>
            <a:r>
              <a:rPr lang="en-US" dirty="0" err="1"/>
              <a:t>i</a:t>
            </a:r>
            <a:r>
              <a:rPr lang="en-US" dirty="0"/>
              <a:t>][8]=a[</a:t>
            </a:r>
            <a:r>
              <a:rPr lang="en-US" dirty="0" err="1"/>
              <a:t>i</a:t>
            </a:r>
            <a:r>
              <a:rPr lang="en-US" dirty="0"/>
              <a:t>][8]*2; a[</a:t>
            </a:r>
            <a:r>
              <a:rPr lang="en-US" dirty="0" err="1"/>
              <a:t>i</a:t>
            </a:r>
            <a:r>
              <a:rPr lang="en-US" dirty="0"/>
              <a:t>][9]=a[</a:t>
            </a:r>
            <a:r>
              <a:rPr lang="en-US" dirty="0" err="1"/>
              <a:t>i</a:t>
            </a:r>
            <a:r>
              <a:rPr lang="en-US" dirty="0"/>
              <a:t>][9]*2;</a:t>
            </a:r>
          </a:p>
          <a:p>
            <a:r>
              <a:rPr lang="en-US" dirty="0"/>
              <a:t>} </a:t>
            </a:r>
          </a:p>
        </p:txBody>
      </p:sp>
      <p:sp>
        <p:nvSpPr>
          <p:cNvPr id="8" name="Rectangle 7"/>
          <p:cNvSpPr/>
          <p:nvPr/>
        </p:nvSpPr>
        <p:spPr>
          <a:xfrm>
            <a:off x="533400" y="3002835"/>
            <a:ext cx="4572000" cy="2862322"/>
          </a:xfrm>
          <a:prstGeom prst="rect">
            <a:avLst/>
          </a:prstGeom>
        </p:spPr>
        <p:txBody>
          <a:bodyPr>
            <a:spAutoFit/>
          </a:bodyPr>
          <a:lstStyle/>
          <a:p>
            <a:r>
              <a:rPr lang="nn-NO" b="1" dirty="0"/>
              <a:t>Before:</a:t>
            </a:r>
          </a:p>
          <a:p>
            <a:endParaRPr lang="en-US" dirty="0"/>
          </a:p>
          <a:p>
            <a:r>
              <a:rPr lang="en-US" dirty="0" err="1"/>
              <a:t>int</a:t>
            </a:r>
            <a:r>
              <a:rPr lang="en-US" dirty="0"/>
              <a:t> a[10][10]; </a:t>
            </a:r>
          </a:p>
          <a:p>
            <a:r>
              <a:rPr lang="en-US" dirty="0"/>
              <a:t>for (</a:t>
            </a:r>
            <a:r>
              <a:rPr lang="en-US" dirty="0" err="1"/>
              <a:t>i</a:t>
            </a:r>
            <a:r>
              <a:rPr lang="en-US" dirty="0"/>
              <a:t>=0;i&lt;10;i++)</a:t>
            </a:r>
          </a:p>
          <a:p>
            <a:r>
              <a:rPr lang="en-US" dirty="0"/>
              <a:t>{</a:t>
            </a:r>
          </a:p>
          <a:p>
            <a:r>
              <a:rPr lang="en-US" dirty="0"/>
              <a:t> for (j=0;j&lt;10;j++) </a:t>
            </a:r>
          </a:p>
          <a:p>
            <a:r>
              <a:rPr lang="en-US" dirty="0"/>
              <a:t>{</a:t>
            </a:r>
          </a:p>
          <a:p>
            <a:r>
              <a:rPr lang="en-US" dirty="0"/>
              <a:t> a[</a:t>
            </a:r>
            <a:r>
              <a:rPr lang="en-US" dirty="0" err="1"/>
              <a:t>i</a:t>
            </a:r>
            <a:r>
              <a:rPr lang="en-US" dirty="0"/>
              <a:t>][j] = a[</a:t>
            </a:r>
            <a:r>
              <a:rPr lang="en-US" dirty="0" err="1"/>
              <a:t>i</a:t>
            </a:r>
            <a:r>
              <a:rPr lang="en-US" dirty="0"/>
              <a:t>][j] *2;</a:t>
            </a:r>
          </a:p>
          <a:p>
            <a:r>
              <a:rPr lang="en-US" dirty="0"/>
              <a:t>} </a:t>
            </a:r>
          </a:p>
          <a:p>
            <a:r>
              <a:rPr lang="en-US" dirty="0"/>
              <a:t>}</a:t>
            </a:r>
          </a:p>
        </p:txBody>
      </p:sp>
    </p:spTree>
    <p:extLst>
      <p:ext uri="{BB962C8B-B14F-4D97-AF65-F5344CB8AC3E}">
        <p14:creationId xmlns:p14="http://schemas.microsoft.com/office/powerpoint/2010/main" val="2174807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249" y="228600"/>
            <a:ext cx="7045325" cy="609600"/>
          </a:xfrm>
        </p:spPr>
        <p:txBody>
          <a:bodyPr/>
          <a:lstStyle/>
          <a:p>
            <a:pPr algn="ctr"/>
            <a:r>
              <a:rPr lang="en-US" dirty="0"/>
              <a:t>Loop Jamming</a:t>
            </a:r>
          </a:p>
        </p:txBody>
      </p:sp>
      <p:sp>
        <p:nvSpPr>
          <p:cNvPr id="3" name="Rectangle 2"/>
          <p:cNvSpPr/>
          <p:nvPr/>
        </p:nvSpPr>
        <p:spPr>
          <a:xfrm>
            <a:off x="879231" y="1143000"/>
            <a:ext cx="3352800" cy="2308324"/>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nn-NO" sz="1800" b="1" i="0" u="none" strike="noStrike" kern="0" cap="none" spc="0" normalizeH="0" baseline="0" noProof="0" dirty="0">
                <a:ln>
                  <a:noFill/>
                </a:ln>
                <a:solidFill>
                  <a:sysClr val="windowText" lastClr="000000"/>
                </a:solidFill>
                <a:effectLst/>
                <a:uLnTx/>
                <a:uFillTx/>
              </a:rPr>
              <a:t>Before:</a:t>
            </a:r>
          </a:p>
          <a:p>
            <a:pPr marL="0" marR="0" lvl="0" indent="0" defTabSz="914400" eaLnBrk="1" fontAlgn="auto" latinLnBrk="0" hangingPunct="1">
              <a:lnSpc>
                <a:spcPct val="100000"/>
              </a:lnSpc>
              <a:spcBef>
                <a:spcPts val="0"/>
              </a:spcBef>
              <a:spcAft>
                <a:spcPts val="0"/>
              </a:spcAft>
              <a:buClrTx/>
              <a:buSzTx/>
              <a:buFontTx/>
              <a:buNone/>
              <a:tabLst/>
              <a:defRPr/>
            </a:pPr>
            <a:endParaRPr kumimoji="0" lang="nn-NO"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i="0" u="none" strike="noStrike" kern="0" cap="none" spc="0" normalizeH="0" baseline="0" noProof="0" dirty="0">
                <a:ln>
                  <a:noFill/>
                </a:ln>
                <a:solidFill>
                  <a:sysClr val="windowText" lastClr="000000"/>
                </a:solidFill>
                <a:effectLst/>
                <a:uLnTx/>
                <a:uFillTx/>
              </a:rPr>
              <a:t>for (i = 0; i &lt; MAX; i++){</a:t>
            </a:r>
            <a:br>
              <a:rPr kumimoji="0" lang="nn-NO" sz="1800" i="0" u="none" strike="noStrike" kern="0" cap="none" spc="0" normalizeH="0" baseline="0" noProof="0" dirty="0">
                <a:ln>
                  <a:noFill/>
                </a:ln>
                <a:solidFill>
                  <a:sysClr val="windowText" lastClr="000000"/>
                </a:solidFill>
                <a:effectLst/>
                <a:uLnTx/>
                <a:uFillTx/>
              </a:rPr>
            </a:br>
            <a:r>
              <a:rPr kumimoji="0" lang="nn-NO" sz="1800" b="0" i="0" u="none" strike="noStrike" kern="0" cap="none" spc="0" normalizeH="0" baseline="0" noProof="0" dirty="0">
                <a:ln>
                  <a:noFill/>
                </a:ln>
                <a:solidFill>
                  <a:sysClr val="windowText" lastClr="000000"/>
                </a:solidFill>
                <a:effectLst/>
                <a:uLnTx/>
                <a:uFillTx/>
              </a:rPr>
              <a:t>     for ( j = 0; j &lt; MAX; j++)                                                                                             	a[i][j] = 0.0;</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solidFill>
                  <a:sysClr val="windowText" lastClr="000000"/>
                </a:solidFill>
                <a:effectLst/>
                <a:uLnTx/>
                <a:uFillTx/>
              </a:rPr>
              <a:t>     for ( i = 0; i &lt; MAX; i++)</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solidFill>
                  <a:sysClr val="windowText" lastClr="000000"/>
                </a:solidFill>
                <a:effectLst/>
                <a:uLnTx/>
                <a:uFillTx/>
              </a:rPr>
              <a:t>           	a[i][i] = 1.0; </a:t>
            </a:r>
            <a:endParaRPr kumimoji="0" lang="en-US" sz="1800" b="1" i="0" u="none" strike="noStrike" kern="0" cap="none" spc="0" normalizeH="0" baseline="0" noProof="0" dirty="0">
              <a:ln>
                <a:noFill/>
              </a:ln>
              <a:solidFill>
                <a:sysClr val="windowText" lastClr="000000"/>
              </a:solidFill>
              <a:effectLst/>
              <a:uLnTx/>
              <a:uFillTx/>
            </a:endParaRPr>
          </a:p>
        </p:txBody>
      </p:sp>
      <p:sp>
        <p:nvSpPr>
          <p:cNvPr id="4" name="Rectangle 3"/>
          <p:cNvSpPr/>
          <p:nvPr/>
        </p:nvSpPr>
        <p:spPr>
          <a:xfrm>
            <a:off x="4460631" y="1143001"/>
            <a:ext cx="4572000" cy="2031325"/>
          </a:xfrm>
          <a:prstGeom prst="rect">
            <a:avLst/>
          </a:prstGeom>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nn-NO" sz="1800" b="1" i="0" u="none" strike="noStrike" kern="0" cap="none" spc="0" normalizeH="0" baseline="0" noProof="0" dirty="0">
                <a:ln>
                  <a:noFill/>
                </a:ln>
                <a:solidFill>
                  <a:sysClr val="windowText" lastClr="000000"/>
                </a:solidFill>
                <a:effectLst/>
                <a:uLnTx/>
                <a:uFillTx/>
              </a:rPr>
              <a:t>After:</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solidFill>
                  <a:sysClr val="windowText" lastClr="000000"/>
                </a:solidFill>
                <a:effectLst/>
                <a:uLnTx/>
                <a:uFillTx/>
              </a:rPr>
              <a:t> for ( i = 0; i &lt; MAX; i++) </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solidFill>
                  <a:sysClr val="windowText" lastClr="000000"/>
                </a:solidFill>
                <a:effectLst/>
                <a:uLnTx/>
                <a:uFillTx/>
              </a:rPr>
              <a:t>        for ( j = 0; j &lt; MAX; j++) </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solidFill>
                  <a:sysClr val="windowText" lastClr="000000"/>
                </a:solidFill>
                <a:effectLst/>
                <a:uLnTx/>
                <a:uFillTx/>
              </a:rPr>
              <a:t>               a[i][j] = 0.0; </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solidFill>
                  <a:sysClr val="windowText" lastClr="000000"/>
                </a:solidFill>
                <a:effectLst/>
                <a:uLnTx/>
                <a:uFillTx/>
              </a:rPr>
              <a:t>         a[i][i] = 1.0; </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solidFill>
                  <a:sysClr val="windowText" lastClr="000000"/>
                </a:solidFill>
                <a:effectLst/>
                <a:uLnTx/>
                <a:uFillTx/>
              </a:rPr>
              <a:t>} </a:t>
            </a:r>
            <a:endParaRPr kumimoji="0" lang="en-US" sz="1800" b="0" i="0" u="none" strike="noStrike" kern="0" cap="none" spc="0" normalizeH="0" baseline="0" noProof="0" dirty="0">
              <a:ln>
                <a:noFill/>
              </a:ln>
              <a:solidFill>
                <a:sysClr val="windowText" lastClr="000000"/>
              </a:solidFill>
              <a:effectLst/>
              <a:uLnTx/>
              <a:uFillTx/>
            </a:endParaRPr>
          </a:p>
        </p:txBody>
      </p:sp>
      <p:sp>
        <p:nvSpPr>
          <p:cNvPr id="6" name="Rectangle 5"/>
          <p:cNvSpPr/>
          <p:nvPr/>
        </p:nvSpPr>
        <p:spPr>
          <a:xfrm>
            <a:off x="879231" y="4109676"/>
            <a:ext cx="3352800" cy="203132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nn-NO" sz="1400" b="1" i="0" u="none" strike="noStrike" kern="0" cap="none" spc="0" normalizeH="0" baseline="0" noProof="0" dirty="0">
                <a:ln>
                  <a:noFill/>
                </a:ln>
                <a:solidFill>
                  <a:sysClr val="windowText" lastClr="000000"/>
                </a:solidFill>
                <a:effectLst/>
                <a:uLnTx/>
                <a:uFillTx/>
              </a:rPr>
              <a:t>Before: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found = false;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 for(</a:t>
            </a:r>
            <a:r>
              <a:rPr kumimoji="0" lang="en-US" sz="1400" b="0" i="0" u="none" strike="noStrike" kern="0" cap="none" spc="0" normalizeH="0" baseline="0" noProof="0" dirty="0" err="1">
                <a:ln>
                  <a:noFill/>
                </a:ln>
                <a:solidFill>
                  <a:sysClr val="windowText" lastClr="000000"/>
                </a:solidFill>
                <a:effectLst/>
                <a:uLnTx/>
                <a:uFillTx/>
              </a:rPr>
              <a:t>i</a:t>
            </a:r>
            <a:r>
              <a:rPr kumimoji="0" lang="en-US" sz="1400" b="0" i="0" u="none" strike="noStrike" kern="0" cap="none" spc="0" normalizeH="0" baseline="0" noProof="0" dirty="0">
                <a:ln>
                  <a:noFill/>
                </a:ln>
                <a:solidFill>
                  <a:sysClr val="windowText" lastClr="000000"/>
                </a:solidFill>
                <a:effectLst/>
                <a:uLnTx/>
                <a:uFillTx/>
              </a:rPr>
              <a:t>=0;i&lt;10000;i++)</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 {</a:t>
            </a:r>
            <a:br>
              <a:rPr kumimoji="0" lang="en-US" sz="1400" b="0" i="0" u="none" strike="noStrike" kern="0" cap="none" spc="0" normalizeH="0" baseline="0" noProof="0" dirty="0">
                <a:ln>
                  <a:noFill/>
                </a:ln>
                <a:solidFill>
                  <a:sysClr val="windowText" lastClr="000000"/>
                </a:solidFill>
                <a:effectLst/>
                <a:uLnTx/>
                <a:uFillTx/>
              </a:rPr>
            </a:br>
            <a:r>
              <a:rPr kumimoji="0" lang="en-US" sz="1400" b="0" i="0" u="none" strike="noStrike" kern="0" cap="none" spc="0" normalizeH="0" baseline="0" noProof="0" dirty="0">
                <a:ln>
                  <a:noFill/>
                </a:ln>
                <a:solidFill>
                  <a:sysClr val="windowText" lastClr="000000"/>
                </a:solidFill>
                <a:effectLst/>
                <a:uLnTx/>
                <a:uFillTx/>
              </a:rPr>
              <a:t>if( list[</a:t>
            </a:r>
            <a:r>
              <a:rPr kumimoji="0" lang="en-US" sz="1400" b="0" i="0" u="none" strike="noStrike" kern="0" cap="none" spc="0" normalizeH="0" baseline="0" noProof="0" dirty="0" err="1">
                <a:ln>
                  <a:noFill/>
                </a:ln>
                <a:solidFill>
                  <a:sysClr val="windowText" lastClr="000000"/>
                </a:solidFill>
                <a:effectLst/>
                <a:uLnTx/>
                <a:uFillTx/>
              </a:rPr>
              <a:t>i</a:t>
            </a:r>
            <a:r>
              <a:rPr kumimoji="0" lang="en-US" sz="1400" b="0" i="0" u="none" strike="noStrike" kern="0" cap="none" spc="0" normalizeH="0" baseline="0" noProof="0" dirty="0">
                <a:ln>
                  <a:noFill/>
                </a:ln>
                <a:solidFill>
                  <a:sysClr val="windowText" lastClr="000000"/>
                </a:solidFill>
                <a:effectLst/>
                <a:uLnTx/>
                <a:uFillTx/>
              </a:rPr>
              <a:t>] == -99 )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found = true;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if( found )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err="1">
                <a:ln>
                  <a:noFill/>
                </a:ln>
                <a:solidFill>
                  <a:sysClr val="windowText" lastClr="000000"/>
                </a:solidFill>
                <a:effectLst/>
                <a:uLnTx/>
                <a:uFillTx/>
              </a:rPr>
              <a:t>printf</a:t>
            </a:r>
            <a:r>
              <a:rPr kumimoji="0" lang="en-US" sz="1400" b="0" i="0" u="none" strike="noStrike" kern="0" cap="none" spc="0" normalizeH="0" baseline="0" noProof="0" dirty="0">
                <a:ln>
                  <a:noFill/>
                </a:ln>
                <a:solidFill>
                  <a:sysClr val="windowText" lastClr="000000"/>
                </a:solidFill>
                <a:effectLst/>
                <a:uLnTx/>
                <a:uFillTx/>
              </a:rPr>
              <a:t>(“…”);</a:t>
            </a:r>
          </a:p>
        </p:txBody>
      </p:sp>
      <p:sp>
        <p:nvSpPr>
          <p:cNvPr id="7" name="Rectangle 6"/>
          <p:cNvSpPr/>
          <p:nvPr/>
        </p:nvSpPr>
        <p:spPr>
          <a:xfrm>
            <a:off x="4592393" y="4001955"/>
            <a:ext cx="4572000" cy="2462213"/>
          </a:xfrm>
          <a:prstGeom prst="rect">
            <a:avLst/>
          </a:prstGeom>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nn-NO" sz="14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nn-NO" sz="1400" b="1" i="0" u="none" strike="noStrike" kern="0" cap="none" spc="0" normalizeH="0" baseline="0" noProof="0" dirty="0">
                <a:ln>
                  <a:noFill/>
                </a:ln>
                <a:solidFill>
                  <a:sysClr val="windowText" lastClr="000000"/>
                </a:solidFill>
                <a:effectLst/>
                <a:uLnTx/>
                <a:uFillTx/>
              </a:rPr>
              <a:t>After: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found = false;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for(</a:t>
            </a:r>
            <a:r>
              <a:rPr kumimoji="0" lang="en-US" sz="1400" b="0" i="0" u="none" strike="noStrike" kern="0" cap="none" spc="0" normalizeH="0" baseline="0" noProof="0" dirty="0" err="1">
                <a:ln>
                  <a:noFill/>
                </a:ln>
                <a:solidFill>
                  <a:sysClr val="windowText" lastClr="000000"/>
                </a:solidFill>
                <a:effectLst/>
                <a:uLnTx/>
                <a:uFillTx/>
              </a:rPr>
              <a:t>i</a:t>
            </a:r>
            <a:r>
              <a:rPr kumimoji="0" lang="en-US" sz="1400" b="0" i="0" u="none" strike="noStrike" kern="0" cap="none" spc="0" normalizeH="0" baseline="0" noProof="0" dirty="0">
                <a:ln>
                  <a:noFill/>
                </a:ln>
                <a:solidFill>
                  <a:sysClr val="windowText" lastClr="000000"/>
                </a:solidFill>
                <a:effectLst/>
                <a:uLnTx/>
                <a:uFillTx/>
              </a:rPr>
              <a:t>=0; </a:t>
            </a:r>
            <a:r>
              <a:rPr kumimoji="0" lang="en-US" sz="1400" b="0" i="0" u="none" strike="noStrike" kern="0" cap="none" spc="0" normalizeH="0" baseline="0" noProof="0" dirty="0" err="1">
                <a:ln>
                  <a:noFill/>
                </a:ln>
                <a:solidFill>
                  <a:sysClr val="windowText" lastClr="000000"/>
                </a:solidFill>
                <a:effectLst/>
                <a:uLnTx/>
                <a:uFillTx/>
              </a:rPr>
              <a:t>i</a:t>
            </a:r>
            <a:r>
              <a:rPr kumimoji="0" lang="en-US" sz="1400" b="0" i="0" u="none" strike="noStrike" kern="0" cap="none" spc="0" normalizeH="0" baseline="0" noProof="0" dirty="0">
                <a:ln>
                  <a:noFill/>
                </a:ln>
                <a:solidFill>
                  <a:sysClr val="windowText" lastClr="000000"/>
                </a:solidFill>
                <a:effectLst/>
                <a:uLnTx/>
                <a:uFillTx/>
              </a:rPr>
              <a:t>&lt;10000; </a:t>
            </a:r>
            <a:r>
              <a:rPr kumimoji="0" lang="en-US" sz="1400" b="0" i="0" u="none" strike="noStrike" kern="0" cap="none" spc="0" normalizeH="0" baseline="0" noProof="0" dirty="0" err="1">
                <a:ln>
                  <a:noFill/>
                </a:ln>
                <a:solidFill>
                  <a:sysClr val="windowText" lastClr="000000"/>
                </a:solidFill>
                <a:effectLst/>
                <a:uLnTx/>
                <a:uFillTx/>
              </a:rPr>
              <a:t>i</a:t>
            </a:r>
            <a:r>
              <a:rPr kumimoji="0" lang="en-US" sz="14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if( list[</a:t>
            </a:r>
            <a:r>
              <a:rPr kumimoji="0" lang="en-US" sz="1400" b="0" i="0" u="none" strike="noStrike" kern="0" cap="none" spc="0" normalizeH="0" baseline="0" noProof="0" dirty="0" err="1">
                <a:ln>
                  <a:noFill/>
                </a:ln>
                <a:solidFill>
                  <a:sysClr val="windowText" lastClr="000000"/>
                </a:solidFill>
                <a:effectLst/>
                <a:uLnTx/>
                <a:uFillTx/>
              </a:rPr>
              <a:t>i</a:t>
            </a:r>
            <a:r>
              <a:rPr kumimoji="0" lang="en-US" sz="1400" b="0" i="0" u="none" strike="noStrike" kern="0" cap="none" spc="0" normalizeH="0" baseline="0" noProof="0" dirty="0">
                <a:ln>
                  <a:noFill/>
                </a:ln>
                <a:solidFill>
                  <a:sysClr val="windowText" lastClr="000000"/>
                </a:solidFill>
                <a:effectLst/>
                <a:uLnTx/>
                <a:uFillTx/>
              </a:rPr>
              <a:t>] == -99 )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found = true;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break; </a:t>
            </a:r>
          </a:p>
          <a:p>
            <a:pPr marL="0" marR="0" lvl="0" indent="0" defTabSz="914400" eaLnBrk="1" fontAlgn="auto" latinLnBrk="0" hangingPunct="1">
              <a:lnSpc>
                <a:spcPct val="100000"/>
              </a:lnSpc>
              <a:spcBef>
                <a:spcPts val="0"/>
              </a:spcBef>
              <a:spcAft>
                <a:spcPts val="0"/>
              </a:spcAft>
              <a:buClrTx/>
              <a:buSzTx/>
              <a:buFontTx/>
              <a:buNone/>
              <a:tabLst/>
              <a:defRPr/>
            </a:pPr>
            <a:r>
              <a:rPr lang="en-US" sz="1400" kern="0" dirty="0">
                <a:solidFill>
                  <a:sysClr val="windowText" lastClr="000000"/>
                </a:solidFill>
              </a:rPr>
              <a:t>p</a:t>
            </a:r>
            <a:r>
              <a:rPr kumimoji="0" lang="en-US" sz="1400" b="0" i="0" u="none" strike="noStrike" kern="0" cap="none" spc="0" normalizeH="0" baseline="0" noProof="0" dirty="0" err="1">
                <a:ln>
                  <a:noFill/>
                </a:ln>
                <a:solidFill>
                  <a:sysClr val="windowText" lastClr="000000"/>
                </a:solidFill>
                <a:effectLst/>
                <a:uLnTx/>
                <a:uFillTx/>
              </a:rPr>
              <a:t>rintf</a:t>
            </a:r>
            <a:r>
              <a:rPr kumimoji="0" lang="en-US" sz="1400" b="0" i="0" u="none" strike="noStrike" kern="0" cap="none" spc="0" normalizeH="0" baseline="0" noProof="0" dirty="0">
                <a:ln>
                  <a:noFill/>
                </a:ln>
                <a:solidFill>
                  <a:sysClr val="windowText" lastClr="000000"/>
                </a:solidFill>
                <a:effectLst/>
                <a:uLnTx/>
                <a:uFillTx/>
              </a:rPr>
              <a:t>(“ found”);</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rPr>
              <a:t> if ( found ) </a:t>
            </a:r>
            <a:r>
              <a:rPr kumimoji="0" lang="en-US" sz="1400" b="0" i="0" u="none" strike="noStrike" kern="0" cap="none" spc="0" normalizeH="0" baseline="0" noProof="0" dirty="0" err="1">
                <a:ln>
                  <a:noFill/>
                </a:ln>
                <a:solidFill>
                  <a:sysClr val="windowText" lastClr="000000"/>
                </a:solidFill>
                <a:effectLst/>
                <a:uLnTx/>
                <a:uFillTx/>
              </a:rPr>
              <a:t>printf</a:t>
            </a:r>
            <a:r>
              <a:rPr kumimoji="0" lang="en-US" sz="1400" b="0" i="0" u="none" strike="noStrike" kern="0" cap="none" spc="0" normalizeH="0" baseline="0" noProof="0" dirty="0">
                <a:ln>
                  <a:noFill/>
                </a:ln>
                <a:solidFill>
                  <a:sysClr val="windowText" lastClr="000000"/>
                </a:solidFill>
                <a:effectLst/>
                <a:uLnTx/>
                <a:uFillTx/>
              </a:rPr>
              <a:t>(“…”);</a:t>
            </a:r>
          </a:p>
        </p:txBody>
      </p:sp>
      <p:sp>
        <p:nvSpPr>
          <p:cNvPr id="8" name="Title 1"/>
          <p:cNvSpPr txBox="1">
            <a:spLocks/>
          </p:cNvSpPr>
          <p:nvPr/>
        </p:nvSpPr>
        <p:spPr bwMode="black">
          <a:xfrm>
            <a:off x="1066800" y="3383533"/>
            <a:ext cx="7045325" cy="609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cene3d>
              <a:camera prst="orthographicFront"/>
              <a:lightRig rig="threePt" dir="t"/>
            </a:scene3d>
            <a:sp3d extrusionH="57150">
              <a:bevelT w="38100" h="38100"/>
            </a:sp3d>
          </a:bodyPr>
          <a:lstStyle>
            <a:lvl1pPr algn="l" rtl="0" eaLnBrk="0" fontAlgn="base" hangingPunct="0">
              <a:spcBef>
                <a:spcPct val="0"/>
              </a:spcBef>
              <a:spcAft>
                <a:spcPct val="0"/>
              </a:spcAft>
              <a:defRPr sz="2800" b="1">
                <a:solidFill>
                  <a:srgbClr val="014353"/>
                </a:solidFill>
                <a:latin typeface="Arial" pitchFamily="34" charset="0"/>
                <a:ea typeface="+mj-ea"/>
                <a:cs typeface="+mj-cs"/>
              </a:defRPr>
            </a:lvl1pPr>
            <a:lvl2pPr algn="l" rtl="0" eaLnBrk="0" fontAlgn="base" hangingPunct="0">
              <a:spcBef>
                <a:spcPct val="0"/>
              </a:spcBef>
              <a:spcAft>
                <a:spcPct val="0"/>
              </a:spcAft>
              <a:defRPr sz="2800" b="1">
                <a:solidFill>
                  <a:srgbClr val="014353"/>
                </a:solidFill>
                <a:latin typeface="Arial" pitchFamily="34" charset="0"/>
              </a:defRPr>
            </a:lvl2pPr>
            <a:lvl3pPr algn="l" rtl="0" eaLnBrk="0" fontAlgn="base" hangingPunct="0">
              <a:spcBef>
                <a:spcPct val="0"/>
              </a:spcBef>
              <a:spcAft>
                <a:spcPct val="0"/>
              </a:spcAft>
              <a:defRPr sz="2800" b="1">
                <a:solidFill>
                  <a:srgbClr val="014353"/>
                </a:solidFill>
                <a:latin typeface="Arial" pitchFamily="34" charset="0"/>
              </a:defRPr>
            </a:lvl3pPr>
            <a:lvl4pPr algn="l" rtl="0" eaLnBrk="0" fontAlgn="base" hangingPunct="0">
              <a:spcBef>
                <a:spcPct val="0"/>
              </a:spcBef>
              <a:spcAft>
                <a:spcPct val="0"/>
              </a:spcAft>
              <a:defRPr sz="2800" b="1">
                <a:solidFill>
                  <a:srgbClr val="014353"/>
                </a:solidFill>
                <a:latin typeface="Arial" pitchFamily="34" charset="0"/>
              </a:defRPr>
            </a:lvl4pPr>
            <a:lvl5pPr algn="l" rtl="0" eaLnBrk="0" fontAlgn="base" hangingPunct="0">
              <a:spcBef>
                <a:spcPct val="0"/>
              </a:spcBef>
              <a:spcAft>
                <a:spcPct val="0"/>
              </a:spcAft>
              <a:defRPr sz="2800" b="1">
                <a:solidFill>
                  <a:srgbClr val="014353"/>
                </a:solidFill>
                <a:latin typeface="Arial" pitchFamily="34" charset="0"/>
              </a:defRPr>
            </a:lvl5pPr>
            <a:lvl6pPr marL="457200" algn="l" rtl="0" eaLnBrk="1" fontAlgn="base" hangingPunct="1">
              <a:spcBef>
                <a:spcPct val="0"/>
              </a:spcBef>
              <a:spcAft>
                <a:spcPct val="0"/>
              </a:spcAft>
              <a:defRPr sz="2800" b="1">
                <a:solidFill>
                  <a:srgbClr val="013541"/>
                </a:solidFill>
                <a:latin typeface="Verdana" pitchFamily="34" charset="0"/>
              </a:defRPr>
            </a:lvl6pPr>
            <a:lvl7pPr marL="914400" algn="l" rtl="0" eaLnBrk="1" fontAlgn="base" hangingPunct="1">
              <a:spcBef>
                <a:spcPct val="0"/>
              </a:spcBef>
              <a:spcAft>
                <a:spcPct val="0"/>
              </a:spcAft>
              <a:defRPr sz="2800" b="1">
                <a:solidFill>
                  <a:srgbClr val="013541"/>
                </a:solidFill>
                <a:latin typeface="Verdana" pitchFamily="34" charset="0"/>
              </a:defRPr>
            </a:lvl7pPr>
            <a:lvl8pPr marL="1371600" algn="l" rtl="0" eaLnBrk="1" fontAlgn="base" hangingPunct="1">
              <a:spcBef>
                <a:spcPct val="0"/>
              </a:spcBef>
              <a:spcAft>
                <a:spcPct val="0"/>
              </a:spcAft>
              <a:defRPr sz="2800" b="1">
                <a:solidFill>
                  <a:srgbClr val="013541"/>
                </a:solidFill>
                <a:latin typeface="Verdana" pitchFamily="34" charset="0"/>
              </a:defRPr>
            </a:lvl8pPr>
            <a:lvl9pPr marL="1828800" algn="l" rtl="0" eaLnBrk="1" fontAlgn="base" hangingPunct="1">
              <a:spcBef>
                <a:spcPct val="0"/>
              </a:spcBef>
              <a:spcAft>
                <a:spcPct val="0"/>
              </a:spcAft>
              <a:defRPr sz="2800" b="1">
                <a:solidFill>
                  <a:srgbClr val="013541"/>
                </a:solidFill>
                <a:latin typeface="Verdana" pitchFamily="34" charset="0"/>
              </a:defRPr>
            </a:lvl9pPr>
          </a:lstStyle>
          <a:p>
            <a:pPr lvl="0" algn="ctr" eaLnBrk="1" fontAlgn="auto" hangingPunct="1">
              <a:spcBef>
                <a:spcPts val="0"/>
              </a:spcBef>
              <a:spcAft>
                <a:spcPts val="0"/>
              </a:spcAft>
              <a:defRPr/>
            </a:pPr>
            <a:r>
              <a:rPr lang="en-US" kern="0" dirty="0">
                <a:solidFill>
                  <a:sysClr val="windowText" lastClr="000000"/>
                </a:solidFill>
                <a:latin typeface="Calibri"/>
              </a:rPr>
              <a:t>Early loop breaking</a:t>
            </a:r>
          </a:p>
        </p:txBody>
      </p:sp>
    </p:spTree>
    <p:extLst>
      <p:ext uri="{BB962C8B-B14F-4D97-AF65-F5344CB8AC3E}">
        <p14:creationId xmlns:p14="http://schemas.microsoft.com/office/powerpoint/2010/main" val="2221427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249" y="381000"/>
            <a:ext cx="7045325" cy="609600"/>
          </a:xfrm>
        </p:spPr>
        <p:txBody>
          <a:bodyPr/>
          <a:lstStyle/>
          <a:p>
            <a:pPr algn="ctr"/>
            <a:r>
              <a:rPr lang="en-US" dirty="0"/>
              <a:t>Loop Collapsing</a:t>
            </a:r>
            <a:br>
              <a:rPr lang="en-US" dirty="0"/>
            </a:br>
            <a:endParaRPr lang="en-US" dirty="0"/>
          </a:p>
        </p:txBody>
      </p:sp>
      <p:sp>
        <p:nvSpPr>
          <p:cNvPr id="3" name="Rectangle 2"/>
          <p:cNvSpPr/>
          <p:nvPr/>
        </p:nvSpPr>
        <p:spPr>
          <a:xfrm>
            <a:off x="304800" y="1143000"/>
            <a:ext cx="8610600" cy="2308324"/>
          </a:xfrm>
          <a:prstGeom prst="rect">
            <a:avLst/>
          </a:prstGeom>
        </p:spPr>
        <p:txBody>
          <a:bodyPr wrap="square">
            <a:spAutoFit/>
          </a:bodyPr>
          <a:lstStyle/>
          <a:p>
            <a:r>
              <a:rPr lang="en-US" dirty="0"/>
              <a:t>Some nested loops can be collapsed into a single-nested loop to reduce loop overhead and improve run-time performance. </a:t>
            </a:r>
          </a:p>
          <a:p>
            <a:endParaRPr lang="en-US" dirty="0"/>
          </a:p>
          <a:p>
            <a:r>
              <a:rPr lang="en-US" b="1" dirty="0"/>
              <a:t>Example:</a:t>
            </a:r>
          </a:p>
          <a:p>
            <a:endParaRPr lang="en-US" b="1" dirty="0"/>
          </a:p>
          <a:p>
            <a:r>
              <a:rPr lang="en-US" dirty="0"/>
              <a:t>In the code fragment below, the double-nested loop on i and j can be collapsed into a single-nested loop. </a:t>
            </a:r>
          </a:p>
          <a:p>
            <a:endParaRPr lang="en-US" dirty="0"/>
          </a:p>
        </p:txBody>
      </p:sp>
      <p:sp>
        <p:nvSpPr>
          <p:cNvPr id="5" name="TextBox 4"/>
          <p:cNvSpPr txBox="1"/>
          <p:nvPr/>
        </p:nvSpPr>
        <p:spPr>
          <a:xfrm>
            <a:off x="762000" y="3276600"/>
            <a:ext cx="7620000" cy="3139321"/>
          </a:xfrm>
          <a:prstGeom prst="rect">
            <a:avLst/>
          </a:prstGeom>
          <a:noFill/>
          <a:ln w="25400" cap="flat" cmpd="sng" algn="ctr">
            <a:solidFill>
              <a:srgbClr val="4F81BD">
                <a:shade val="50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effectLst/>
                <a:uLnTx/>
                <a:uFillTx/>
                <a:latin typeface="Calibri"/>
                <a:ea typeface="+mn-ea"/>
                <a:cs typeface="+mn-cs"/>
              </a:rPr>
              <a:t>int</a:t>
            </a:r>
            <a:r>
              <a:rPr kumimoji="0" lang="en-US" sz="1800" b="0" i="0" u="none" strike="noStrike" kern="0" cap="none" spc="0" normalizeH="0" baseline="0" noProof="0" dirty="0">
                <a:ln>
                  <a:noFill/>
                </a:ln>
                <a:effectLst/>
                <a:uLnTx/>
                <a:uFillTx/>
                <a:latin typeface="Calibri"/>
                <a:ea typeface="+mn-ea"/>
                <a:cs typeface="+mn-cs"/>
              </a:rPr>
              <a:t> a[100][300];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a:ea typeface="+mn-ea"/>
                <a:cs typeface="+mn-cs"/>
              </a:rPr>
              <a:t>for (</a:t>
            </a:r>
            <a:r>
              <a:rPr kumimoji="0" lang="en-US" sz="1800" b="0" i="0" u="none" strike="noStrike" kern="0" cap="none" spc="0" normalizeH="0" baseline="0" noProof="0" dirty="0" err="1">
                <a:ln>
                  <a:noFill/>
                </a:ln>
                <a:effectLst/>
                <a:uLnTx/>
                <a:uFillTx/>
                <a:latin typeface="Calibri"/>
                <a:ea typeface="+mn-ea"/>
                <a:cs typeface="+mn-cs"/>
              </a:rPr>
              <a:t>i</a:t>
            </a:r>
            <a:r>
              <a:rPr kumimoji="0" lang="en-US" sz="1800" b="0" i="0" u="none" strike="noStrike" kern="0" cap="none" spc="0" normalizeH="0" baseline="0" noProof="0" dirty="0">
                <a:ln>
                  <a:noFill/>
                </a:ln>
                <a:effectLst/>
                <a:uLnTx/>
                <a:uFillTx/>
                <a:latin typeface="Calibri"/>
                <a:ea typeface="+mn-ea"/>
                <a:cs typeface="+mn-cs"/>
              </a:rPr>
              <a:t> = 0; </a:t>
            </a:r>
            <a:r>
              <a:rPr kumimoji="0" lang="en-US" sz="1800" b="0" i="0" u="none" strike="noStrike" kern="0" cap="none" spc="0" normalizeH="0" baseline="0" noProof="0" dirty="0" err="1">
                <a:ln>
                  <a:noFill/>
                </a:ln>
                <a:effectLst/>
                <a:uLnTx/>
                <a:uFillTx/>
                <a:latin typeface="Calibri"/>
                <a:ea typeface="+mn-ea"/>
                <a:cs typeface="+mn-cs"/>
              </a:rPr>
              <a:t>i</a:t>
            </a:r>
            <a:r>
              <a:rPr kumimoji="0" lang="en-US" sz="1800" b="0" i="0" u="none" strike="noStrike" kern="0" cap="none" spc="0" normalizeH="0" baseline="0" noProof="0" dirty="0">
                <a:ln>
                  <a:noFill/>
                </a:ln>
                <a:effectLst/>
                <a:uLnTx/>
                <a:uFillTx/>
                <a:latin typeface="Calibri"/>
                <a:ea typeface="+mn-ea"/>
                <a:cs typeface="+mn-cs"/>
              </a:rPr>
              <a:t> &lt; 300; </a:t>
            </a:r>
            <a:r>
              <a:rPr kumimoji="0" lang="en-US" sz="1800" b="0" i="0" u="none" strike="noStrike" kern="0" cap="none" spc="0" normalizeH="0" baseline="0" noProof="0" dirty="0" err="1">
                <a:ln>
                  <a:noFill/>
                </a:ln>
                <a:effectLst/>
                <a:uLnTx/>
                <a:uFillTx/>
                <a:latin typeface="Calibri"/>
                <a:ea typeface="+mn-ea"/>
                <a:cs typeface="+mn-cs"/>
              </a:rPr>
              <a:t>i</a:t>
            </a:r>
            <a:r>
              <a:rPr kumimoji="0" lang="en-US" sz="1800" b="0" i="0" u="none" strike="noStrike" kern="0" cap="none" spc="0" normalizeH="0" baseline="0" noProof="0" dirty="0">
                <a:ln>
                  <a:noFill/>
                </a:ln>
                <a:effectLst/>
                <a:uLnTx/>
                <a:uFillTx/>
                <a:latin typeface="Calibri"/>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a:ea typeface="+mn-ea"/>
                <a:cs typeface="+mn-cs"/>
              </a:rPr>
              <a:t>	for (j = 0; j &lt; 100; </a:t>
            </a:r>
            <a:r>
              <a:rPr kumimoji="0" lang="en-US" sz="1800" b="0" i="0" u="none" strike="noStrike" kern="0" cap="none" spc="0" normalizeH="0" baseline="0" noProof="0" dirty="0" err="1">
                <a:ln>
                  <a:noFill/>
                </a:ln>
                <a:effectLst/>
                <a:uLnTx/>
                <a:uFillTx/>
                <a:latin typeface="Calibri"/>
                <a:ea typeface="+mn-ea"/>
                <a:cs typeface="+mn-cs"/>
              </a:rPr>
              <a:t>j++</a:t>
            </a:r>
            <a:r>
              <a:rPr kumimoji="0" lang="en-US" sz="1800" b="0" i="0" u="none" strike="noStrike" kern="0" cap="none" spc="0" normalizeH="0" baseline="0" noProof="0" dirty="0">
                <a:ln>
                  <a:noFill/>
                </a:ln>
                <a:effectLst/>
                <a:uLnTx/>
                <a:uFillTx/>
                <a:latin typeface="Calibri"/>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a:ea typeface="+mn-ea"/>
                <a:cs typeface="+mn-cs"/>
              </a:rPr>
              <a:t>	 a[j][</a:t>
            </a:r>
            <a:r>
              <a:rPr kumimoji="0" lang="en-US" sz="1800" b="0" i="0" u="none" strike="noStrike" kern="0" cap="none" spc="0" normalizeH="0" baseline="0" noProof="0" dirty="0" err="1">
                <a:ln>
                  <a:noFill/>
                </a:ln>
                <a:effectLst/>
                <a:uLnTx/>
                <a:uFillTx/>
                <a:latin typeface="Calibri"/>
                <a:ea typeface="+mn-ea"/>
                <a:cs typeface="+mn-cs"/>
              </a:rPr>
              <a:t>i</a:t>
            </a:r>
            <a:r>
              <a:rPr kumimoji="0" lang="en-US" sz="1800" b="0" i="0" u="none" strike="noStrike" kern="0" cap="none" spc="0" normalizeH="0" baseline="0" noProof="0" dirty="0">
                <a:ln>
                  <a:noFill/>
                </a:ln>
                <a:effectLst/>
                <a:uLnTx/>
                <a:uFillTx/>
                <a:latin typeface="Calibri"/>
                <a:ea typeface="+mn-ea"/>
                <a:cs typeface="+mn-cs"/>
              </a:rPr>
              <a:t>] = 0;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effectLst/>
              <a:uLnTx/>
              <a:uFillTx/>
              <a:latin typeface="Calibri"/>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a:ea typeface="+mn-ea"/>
                <a:cs typeface="+mn-cs"/>
              </a:rPr>
              <a:t>Here is the code fragment after the loop has been collapsed.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effectLst/>
              <a:uLnTx/>
              <a:uFillTx/>
              <a:latin typeface="Calibri"/>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effectLst/>
                <a:uLnTx/>
                <a:uFillTx/>
                <a:latin typeface="Calibri"/>
                <a:ea typeface="+mn-ea"/>
                <a:cs typeface="+mn-cs"/>
              </a:rPr>
              <a:t>int</a:t>
            </a:r>
            <a:r>
              <a:rPr kumimoji="0" lang="en-US" sz="1800" b="0" i="0" u="none" strike="noStrike" kern="0" cap="none" spc="0" normalizeH="0" baseline="0" noProof="0" dirty="0">
                <a:ln>
                  <a:noFill/>
                </a:ln>
                <a:effectLst/>
                <a:uLnTx/>
                <a:uFillTx/>
                <a:latin typeface="Calibri"/>
                <a:ea typeface="+mn-ea"/>
                <a:cs typeface="+mn-cs"/>
              </a:rPr>
              <a:t> a[100][300];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effectLst/>
                <a:uLnTx/>
                <a:uFillTx/>
                <a:latin typeface="Calibri"/>
                <a:ea typeface="+mn-ea"/>
                <a:cs typeface="+mn-cs"/>
              </a:rPr>
              <a:t>int</a:t>
            </a:r>
            <a:r>
              <a:rPr kumimoji="0" lang="en-US" sz="1800" b="0" i="0" u="none" strike="noStrike" kern="0" cap="none" spc="0" normalizeH="0" baseline="0" noProof="0" dirty="0">
                <a:ln>
                  <a:noFill/>
                </a:ln>
                <a:effectLst/>
                <a:uLnTx/>
                <a:uFillTx/>
                <a:latin typeface="Calibri"/>
                <a:ea typeface="+mn-ea"/>
                <a:cs typeface="+mn-cs"/>
              </a:rPr>
              <a:t> *p = &amp;a[0][0];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a:ea typeface="+mn-ea"/>
                <a:cs typeface="+mn-cs"/>
              </a:rPr>
              <a:t>for (</a:t>
            </a:r>
            <a:r>
              <a:rPr kumimoji="0" lang="en-US" sz="1800" b="0" i="0" u="none" strike="noStrike" kern="0" cap="none" spc="0" normalizeH="0" baseline="0" noProof="0" dirty="0" err="1">
                <a:ln>
                  <a:noFill/>
                </a:ln>
                <a:effectLst/>
                <a:uLnTx/>
                <a:uFillTx/>
                <a:latin typeface="Calibri"/>
                <a:ea typeface="+mn-ea"/>
                <a:cs typeface="+mn-cs"/>
              </a:rPr>
              <a:t>i</a:t>
            </a:r>
            <a:r>
              <a:rPr kumimoji="0" lang="en-US" sz="1800" b="0" i="0" u="none" strike="noStrike" kern="0" cap="none" spc="0" normalizeH="0" baseline="0" noProof="0" dirty="0">
                <a:ln>
                  <a:noFill/>
                </a:ln>
                <a:effectLst/>
                <a:uLnTx/>
                <a:uFillTx/>
                <a:latin typeface="Calibri"/>
                <a:ea typeface="+mn-ea"/>
                <a:cs typeface="+mn-cs"/>
              </a:rPr>
              <a:t> = 0; </a:t>
            </a:r>
            <a:r>
              <a:rPr kumimoji="0" lang="en-US" sz="1800" b="0" i="0" u="none" strike="noStrike" kern="0" cap="none" spc="0" normalizeH="0" baseline="0" noProof="0" dirty="0" err="1">
                <a:ln>
                  <a:noFill/>
                </a:ln>
                <a:effectLst/>
                <a:uLnTx/>
                <a:uFillTx/>
                <a:latin typeface="Calibri"/>
                <a:ea typeface="+mn-ea"/>
                <a:cs typeface="+mn-cs"/>
              </a:rPr>
              <a:t>i</a:t>
            </a:r>
            <a:r>
              <a:rPr kumimoji="0" lang="en-US" sz="1800" b="0" i="0" u="none" strike="noStrike" kern="0" cap="none" spc="0" normalizeH="0" baseline="0" noProof="0" dirty="0">
                <a:ln>
                  <a:noFill/>
                </a:ln>
                <a:effectLst/>
                <a:uLnTx/>
                <a:uFillTx/>
                <a:latin typeface="Calibri"/>
                <a:ea typeface="+mn-ea"/>
                <a:cs typeface="+mn-cs"/>
              </a:rPr>
              <a:t> &lt; 30000; </a:t>
            </a:r>
            <a:r>
              <a:rPr kumimoji="0" lang="en-US" sz="1800" b="0" i="0" u="none" strike="noStrike" kern="0" cap="none" spc="0" normalizeH="0" baseline="0" noProof="0" dirty="0" err="1">
                <a:ln>
                  <a:noFill/>
                </a:ln>
                <a:effectLst/>
                <a:uLnTx/>
                <a:uFillTx/>
                <a:latin typeface="Calibri"/>
                <a:ea typeface="+mn-ea"/>
                <a:cs typeface="+mn-cs"/>
              </a:rPr>
              <a:t>i</a:t>
            </a:r>
            <a:r>
              <a:rPr kumimoji="0" lang="en-US" sz="1800" b="0" i="0" u="none" strike="noStrike" kern="0" cap="none" spc="0" normalizeH="0" baseline="0" noProof="0" dirty="0">
                <a:ln>
                  <a:noFill/>
                </a:ln>
                <a:effectLst/>
                <a:uLnTx/>
                <a:uFillTx/>
                <a:latin typeface="Calibri"/>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a:ea typeface="+mn-ea"/>
                <a:cs typeface="+mn-cs"/>
              </a:rPr>
              <a:t>	*p++ = 0; </a:t>
            </a:r>
          </a:p>
        </p:txBody>
      </p:sp>
    </p:spTree>
    <p:extLst>
      <p:ext uri="{BB962C8B-B14F-4D97-AF65-F5344CB8AC3E}">
        <p14:creationId xmlns:p14="http://schemas.microsoft.com/office/powerpoint/2010/main" val="2221427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85800" y="533400"/>
            <a:ext cx="2956259" cy="400110"/>
          </a:xfrm>
          <a:prstGeom prst="rect">
            <a:avLst/>
          </a:prstGeom>
        </p:spPr>
        <p:txBody>
          <a:bodyPr wrap="none">
            <a:spAutoFit/>
          </a:bodyPr>
          <a:lstStyle/>
          <a:p>
            <a:r>
              <a:rPr lang="en-US" sz="2000" b="1" dirty="0">
                <a:solidFill>
                  <a:srgbClr val="014353"/>
                </a:solidFill>
                <a:latin typeface="Arial" pitchFamily="34" charset="0"/>
                <a:ea typeface="+mj-ea"/>
                <a:cs typeface="+mj-cs"/>
              </a:rPr>
              <a:t>Dead</a:t>
            </a:r>
            <a:r>
              <a:rPr lang="en-US" sz="1400" b="1" dirty="0"/>
              <a:t> </a:t>
            </a:r>
            <a:r>
              <a:rPr lang="en-US" sz="2000" b="1" dirty="0">
                <a:solidFill>
                  <a:srgbClr val="014353"/>
                </a:solidFill>
                <a:latin typeface="Arial" pitchFamily="34" charset="0"/>
                <a:ea typeface="+mj-ea"/>
                <a:cs typeface="+mj-cs"/>
              </a:rPr>
              <a:t>Code Elimination</a:t>
            </a:r>
          </a:p>
        </p:txBody>
      </p:sp>
      <p:sp>
        <p:nvSpPr>
          <p:cNvPr id="4" name="Rectangle 3"/>
          <p:cNvSpPr/>
          <p:nvPr/>
        </p:nvSpPr>
        <p:spPr>
          <a:xfrm>
            <a:off x="609600" y="2514600"/>
            <a:ext cx="3842975" cy="400110"/>
          </a:xfrm>
          <a:prstGeom prst="rect">
            <a:avLst/>
          </a:prstGeom>
        </p:spPr>
        <p:txBody>
          <a:bodyPr wrap="none">
            <a:spAutoFit/>
          </a:bodyPr>
          <a:lstStyle/>
          <a:p>
            <a:r>
              <a:rPr lang="en-US" sz="2000" b="1" dirty="0">
                <a:solidFill>
                  <a:srgbClr val="014353"/>
                </a:solidFill>
                <a:latin typeface="Arial" pitchFamily="34" charset="0"/>
                <a:ea typeface="+mj-ea"/>
                <a:cs typeface="+mj-cs"/>
              </a:rPr>
              <a:t>Induction Variable Elimination</a:t>
            </a:r>
          </a:p>
        </p:txBody>
      </p:sp>
      <p:sp>
        <p:nvSpPr>
          <p:cNvPr id="5" name="Rectangle 4"/>
          <p:cNvSpPr/>
          <p:nvPr/>
        </p:nvSpPr>
        <p:spPr>
          <a:xfrm>
            <a:off x="685800" y="2971800"/>
            <a:ext cx="7696200" cy="646331"/>
          </a:xfrm>
          <a:prstGeom prst="rect">
            <a:avLst/>
          </a:prstGeom>
        </p:spPr>
        <p:txBody>
          <a:bodyPr wrap="square">
            <a:spAutoFit/>
          </a:bodyPr>
          <a:lstStyle/>
          <a:p>
            <a:r>
              <a:rPr lang="en-US" dirty="0"/>
              <a:t>Some loops contain two or more induction variables that can be combined into one induction variable. </a:t>
            </a:r>
          </a:p>
        </p:txBody>
      </p:sp>
      <p:grpSp>
        <p:nvGrpSpPr>
          <p:cNvPr id="14" name="Group 13"/>
          <p:cNvGrpSpPr/>
          <p:nvPr/>
        </p:nvGrpSpPr>
        <p:grpSpPr>
          <a:xfrm>
            <a:off x="550985" y="3886200"/>
            <a:ext cx="7696200" cy="2401669"/>
            <a:chOff x="762000" y="2285999"/>
            <a:chExt cx="7696200" cy="1752600"/>
          </a:xfrm>
        </p:grpSpPr>
        <p:sp>
          <p:nvSpPr>
            <p:cNvPr id="15" name="Rounded Rectangle 14"/>
            <p:cNvSpPr/>
            <p:nvPr/>
          </p:nvSpPr>
          <p:spPr>
            <a:xfrm>
              <a:off x="762000" y="2285999"/>
              <a:ext cx="7696200" cy="1752600"/>
            </a:xfrm>
            <a:prstGeom prst="roundRect">
              <a:avLst/>
            </a:prstGeom>
            <a:solidFill>
              <a:schemeClr val="bg1"/>
            </a:solidFill>
            <a:ln w="25400" cap="flat" cmpd="sng" algn="ctr">
              <a:solidFill>
                <a:srgbClr val="4F81BD">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ysClr val="window" lastClr="FFFFFF"/>
                  </a:solidFill>
                  <a:effectLst/>
                  <a:uLnTx/>
                  <a:uFillTx/>
                  <a:latin typeface="Calibri"/>
                  <a:ea typeface="+mn-ea"/>
                  <a:cs typeface="+mn-cs"/>
                </a:rPr>
              </a:br>
              <a:r>
                <a:rPr kumimoji="0" lang="en-US" sz="1800" b="0" i="0" u="none" strike="noStrike" kern="0" cap="none" spc="0" normalizeH="0" baseline="0" noProof="0" dirty="0">
                  <a:ln>
                    <a:noFill/>
                  </a:ln>
                  <a:solidFill>
                    <a:sysClr val="window" lastClr="FFFFFF"/>
                  </a:solidFill>
                  <a:effectLst/>
                  <a:uLnTx/>
                  <a:uFillTx/>
                  <a:latin typeface="Calibri"/>
                  <a:ea typeface="+mn-ea"/>
                  <a:cs typeface="+mn-cs"/>
                </a:rPr>
                <a:t> </a:t>
              </a:r>
            </a:p>
          </p:txBody>
        </p:sp>
        <p:sp>
          <p:nvSpPr>
            <p:cNvPr id="16" name="Rectangle 15"/>
            <p:cNvSpPr/>
            <p:nvPr/>
          </p:nvSpPr>
          <p:spPr>
            <a:xfrm>
              <a:off x="1600200" y="2423636"/>
              <a:ext cx="1676400" cy="36933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endParaRPr>
            </a:p>
          </p:txBody>
        </p:sp>
        <p:sp>
          <p:nvSpPr>
            <p:cNvPr id="17" name="Rectangle 16"/>
            <p:cNvSpPr/>
            <p:nvPr/>
          </p:nvSpPr>
          <p:spPr>
            <a:xfrm>
              <a:off x="5105400" y="2458053"/>
              <a:ext cx="1981200" cy="269517"/>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endParaRPr>
            </a:p>
          </p:txBody>
        </p:sp>
      </p:grpSp>
      <p:sp>
        <p:nvSpPr>
          <p:cNvPr id="18" name="Rectangle 17"/>
          <p:cNvSpPr/>
          <p:nvPr/>
        </p:nvSpPr>
        <p:spPr>
          <a:xfrm>
            <a:off x="685800" y="4139624"/>
            <a:ext cx="3962400" cy="181588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err="1">
                <a:ln>
                  <a:noFill/>
                </a:ln>
                <a:solidFill>
                  <a:sysClr val="windowText" lastClr="000000"/>
                </a:solidFill>
                <a:effectLst/>
                <a:uLnTx/>
                <a:uFillTx/>
              </a:rPr>
              <a:t>int</a:t>
            </a:r>
            <a:r>
              <a:rPr kumimoji="0" lang="en-US" sz="1600" b="0" i="0" u="none" strike="noStrike" kern="0" cap="none" spc="0" normalizeH="0" baseline="0" noProof="0" dirty="0">
                <a:ln>
                  <a:noFill/>
                </a:ln>
                <a:solidFill>
                  <a:sysClr val="windowText" lastClr="000000"/>
                </a:solidFill>
                <a:effectLst/>
                <a:uLnTx/>
                <a:uFillTx/>
              </a:rPr>
              <a:t> a[SIZE]; </a:t>
            </a:r>
            <a:r>
              <a:rPr kumimoji="0" lang="en-US" sz="1600" b="0" i="0" u="none" strike="noStrike" kern="0" cap="none" spc="0" normalizeH="0" baseline="0" noProof="0" dirty="0" err="1">
                <a:ln>
                  <a:noFill/>
                </a:ln>
                <a:solidFill>
                  <a:sysClr val="windowText" lastClr="000000"/>
                </a:solidFill>
                <a:effectLst/>
                <a:uLnTx/>
                <a:uFillTx/>
              </a:rPr>
              <a:t>int</a:t>
            </a:r>
            <a:r>
              <a:rPr kumimoji="0" lang="en-US" sz="1600" b="0" i="0" u="none" strike="noStrike" kern="0" cap="none" spc="0" normalizeH="0" baseline="0" noProof="0" dirty="0">
                <a:ln>
                  <a:noFill/>
                </a:ln>
                <a:solidFill>
                  <a:sysClr val="windowText" lastClr="000000"/>
                </a:solidFill>
                <a:effectLst/>
                <a:uLnTx/>
                <a:uFillTx/>
              </a:rPr>
              <a:t> b[SIZE];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void f (void)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 </a:t>
            </a:r>
            <a:r>
              <a:rPr kumimoji="0" lang="en-US" sz="1600" b="0" i="0" u="none" strike="noStrike" kern="0" cap="none" spc="0" normalizeH="0" baseline="0" noProof="0" dirty="0" err="1">
                <a:ln>
                  <a:noFill/>
                </a:ln>
                <a:solidFill>
                  <a:sysClr val="windowText" lastClr="000000"/>
                </a:solidFill>
                <a:effectLst/>
                <a:uLnTx/>
                <a:uFillTx/>
              </a:rPr>
              <a:t>int</a:t>
            </a:r>
            <a:r>
              <a:rPr kumimoji="0" lang="en-US" sz="1600" b="0" i="0" u="none" strike="noStrike" kern="0" cap="none" spc="0" normalizeH="0" baseline="0" noProof="0" dirty="0">
                <a:ln>
                  <a:noFill/>
                </a:ln>
                <a:solidFill>
                  <a:sysClr val="windowText" lastClr="000000"/>
                </a:solidFill>
                <a:effectLst/>
                <a:uLnTx/>
                <a:uFillTx/>
              </a:rPr>
              <a:t> i1, i2, i3;</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 for (i1 = 0, i2 = 0, i3 = 0; i1 &lt; SIZE; i1++)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a[i2++] = b[i3++];</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 return;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 }</a:t>
            </a:r>
          </a:p>
        </p:txBody>
      </p:sp>
      <p:sp>
        <p:nvSpPr>
          <p:cNvPr id="19" name="Rectangle 18"/>
          <p:cNvSpPr/>
          <p:nvPr/>
        </p:nvSpPr>
        <p:spPr>
          <a:xfrm>
            <a:off x="5029200" y="3957604"/>
            <a:ext cx="2743200" cy="2308324"/>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err="1">
                <a:ln>
                  <a:noFill/>
                </a:ln>
                <a:solidFill>
                  <a:sysClr val="windowText" lastClr="000000"/>
                </a:solidFill>
                <a:effectLst/>
                <a:uLnTx/>
                <a:uFillTx/>
              </a:rPr>
              <a:t>int</a:t>
            </a:r>
            <a:r>
              <a:rPr kumimoji="0" lang="en-US" sz="1600" b="0" i="0" u="none" strike="noStrike" kern="0" cap="none" spc="0" normalizeH="0" baseline="0" noProof="0" dirty="0">
                <a:ln>
                  <a:noFill/>
                </a:ln>
                <a:solidFill>
                  <a:sysClr val="windowText" lastClr="000000"/>
                </a:solidFill>
                <a:effectLst/>
                <a:uLnTx/>
                <a:uFillTx/>
              </a:rPr>
              <a:t> a[SIZE];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err="1">
                <a:ln>
                  <a:noFill/>
                </a:ln>
                <a:solidFill>
                  <a:sysClr val="windowText" lastClr="000000"/>
                </a:solidFill>
                <a:effectLst/>
                <a:uLnTx/>
                <a:uFillTx/>
              </a:rPr>
              <a:t>int</a:t>
            </a:r>
            <a:r>
              <a:rPr kumimoji="0" lang="en-US" sz="1600" b="0" i="0" u="none" strike="noStrike" kern="0" cap="none" spc="0" normalizeH="0" baseline="0" noProof="0" dirty="0">
                <a:ln>
                  <a:noFill/>
                </a:ln>
                <a:solidFill>
                  <a:sysClr val="windowText" lastClr="000000"/>
                </a:solidFill>
                <a:effectLst/>
                <a:uLnTx/>
                <a:uFillTx/>
              </a:rPr>
              <a:t> b[SIZE];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 void f (void)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err="1">
                <a:ln>
                  <a:noFill/>
                </a:ln>
                <a:solidFill>
                  <a:sysClr val="windowText" lastClr="000000"/>
                </a:solidFill>
                <a:effectLst/>
                <a:uLnTx/>
                <a:uFillTx/>
              </a:rPr>
              <a:t>int</a:t>
            </a:r>
            <a:r>
              <a:rPr kumimoji="0" lang="en-US" sz="1600" b="0" i="0" u="none" strike="noStrike" kern="0" cap="none" spc="0" normalizeH="0" baseline="0" noProof="0" dirty="0">
                <a:ln>
                  <a:noFill/>
                </a:ln>
                <a:solidFill>
                  <a:sysClr val="windowText" lastClr="000000"/>
                </a:solidFill>
                <a:effectLst/>
                <a:uLnTx/>
                <a:uFillTx/>
              </a:rPr>
              <a:t> i1;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for (i1 = 0; i1 &lt; SIZE; i1++)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a[i1] = b[i1];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return;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a:t>
            </a:r>
          </a:p>
        </p:txBody>
      </p:sp>
      <p:sp>
        <p:nvSpPr>
          <p:cNvPr id="2" name="Rectangle 1"/>
          <p:cNvSpPr/>
          <p:nvPr/>
        </p:nvSpPr>
        <p:spPr>
          <a:xfrm>
            <a:off x="838200" y="1143000"/>
            <a:ext cx="8153400" cy="646331"/>
          </a:xfrm>
          <a:prstGeom prst="rect">
            <a:avLst/>
          </a:prstGeom>
        </p:spPr>
        <p:txBody>
          <a:bodyPr wrap="square">
            <a:spAutoFit/>
          </a:bodyPr>
          <a:lstStyle/>
          <a:p>
            <a:r>
              <a:rPr lang="en-US" b="1" dirty="0"/>
              <a:t>Dead code elimination </a:t>
            </a:r>
            <a:r>
              <a:rPr lang="en-US" dirty="0"/>
              <a:t>is a compiler optimization to remove code which does not affect the program results.</a:t>
            </a:r>
          </a:p>
        </p:txBody>
      </p:sp>
    </p:spTree>
    <p:extLst>
      <p:ext uri="{BB962C8B-B14F-4D97-AF65-F5344CB8AC3E}">
        <p14:creationId xmlns:p14="http://schemas.microsoft.com/office/powerpoint/2010/main" val="2221427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81000" y="1295400"/>
            <a:ext cx="8229600" cy="1200329"/>
          </a:xfrm>
          <a:prstGeom prst="rect">
            <a:avLst/>
          </a:prstGeom>
        </p:spPr>
        <p:txBody>
          <a:bodyPr wrap="square">
            <a:spAutoFit/>
          </a:bodyPr>
          <a:lstStyle/>
          <a:p>
            <a:r>
              <a:rPr lang="en-US" dirty="0"/>
              <a:t>Eliminate a branch to a branch.</a:t>
            </a:r>
          </a:p>
          <a:p>
            <a:endParaRPr lang="en-US" dirty="0"/>
          </a:p>
          <a:p>
            <a:r>
              <a:rPr lang="en-US" dirty="0"/>
              <a:t>In the code fragment below, the branch to L1 and then to L2 can be replaced with a single branch to L2.  </a:t>
            </a:r>
          </a:p>
        </p:txBody>
      </p:sp>
      <p:sp>
        <p:nvSpPr>
          <p:cNvPr id="12" name="Rounded Rectangle 11"/>
          <p:cNvSpPr/>
          <p:nvPr/>
        </p:nvSpPr>
        <p:spPr>
          <a:xfrm>
            <a:off x="609600" y="3048000"/>
            <a:ext cx="7696200" cy="2401669"/>
          </a:xfrm>
          <a:prstGeom prst="roundRect">
            <a:avLst/>
          </a:prstGeom>
          <a:solidFill>
            <a:schemeClr val="bg1"/>
          </a:solidFill>
          <a:ln w="25400" cap="flat" cmpd="sng" algn="ctr">
            <a:solidFill>
              <a:srgbClr val="0070C0"/>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ysClr val="window" lastClr="FFFFFF"/>
                </a:solidFill>
                <a:effectLst/>
                <a:uLnTx/>
                <a:uFillTx/>
                <a:latin typeface="Calibri"/>
                <a:ea typeface="+mn-ea"/>
                <a:cs typeface="+mn-cs"/>
              </a:rPr>
            </a:br>
            <a:r>
              <a:rPr kumimoji="0" lang="en-US" sz="1800" b="0" i="0" u="none" strike="noStrike" kern="0" cap="none" spc="0" normalizeH="0" baseline="0" noProof="0" dirty="0">
                <a:ln>
                  <a:noFill/>
                </a:ln>
                <a:solidFill>
                  <a:sysClr val="window" lastClr="FFFFFF"/>
                </a:solidFill>
                <a:effectLst/>
                <a:uLnTx/>
                <a:uFillTx/>
                <a:latin typeface="Calibri"/>
                <a:ea typeface="+mn-ea"/>
                <a:cs typeface="+mn-cs"/>
              </a:rPr>
              <a:t> </a:t>
            </a:r>
          </a:p>
        </p:txBody>
      </p:sp>
      <p:sp>
        <p:nvSpPr>
          <p:cNvPr id="15" name="TextBox 14"/>
          <p:cNvSpPr txBox="1"/>
          <p:nvPr/>
        </p:nvSpPr>
        <p:spPr>
          <a:xfrm>
            <a:off x="1066800" y="3581400"/>
            <a:ext cx="3657600" cy="120032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ysClr val="windowText" lastClr="000000"/>
                </a:solidFill>
                <a:effectLst/>
                <a:uLnTx/>
                <a:uFillTx/>
              </a:rPr>
              <a:t>goto</a:t>
            </a:r>
            <a:r>
              <a:rPr kumimoji="0" lang="en-US" sz="1800" b="0" i="0" u="none" strike="noStrike" kern="0" cap="none" spc="0" normalizeH="0" baseline="0" noProof="0" dirty="0">
                <a:ln>
                  <a:noFill/>
                </a:ln>
                <a:solidFill>
                  <a:sysClr val="windowText" lastClr="000000"/>
                </a:solidFill>
                <a:effectLst/>
                <a:uLnTx/>
                <a:uFillTx/>
              </a:rPr>
              <a:t> L1;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 other code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 L1:</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     </a:t>
            </a:r>
            <a:r>
              <a:rPr kumimoji="0" lang="en-US" sz="1800" b="0" i="0" u="none" strike="noStrike" kern="0" cap="none" spc="0" normalizeH="0" baseline="0" noProof="0" dirty="0" err="1">
                <a:ln>
                  <a:noFill/>
                </a:ln>
                <a:solidFill>
                  <a:sysClr val="windowText" lastClr="000000"/>
                </a:solidFill>
                <a:effectLst/>
                <a:uLnTx/>
                <a:uFillTx/>
              </a:rPr>
              <a:t>goto</a:t>
            </a:r>
            <a:r>
              <a:rPr kumimoji="0" lang="en-US" sz="1800" b="0" i="0" u="none" strike="noStrike" kern="0" cap="none" spc="0" normalizeH="0" baseline="0" noProof="0" dirty="0">
                <a:ln>
                  <a:noFill/>
                </a:ln>
                <a:solidFill>
                  <a:sysClr val="windowText" lastClr="000000"/>
                </a:solidFill>
                <a:effectLst/>
                <a:uLnTx/>
                <a:uFillTx/>
              </a:rPr>
              <a:t> L2</a:t>
            </a:r>
          </a:p>
        </p:txBody>
      </p:sp>
      <p:sp>
        <p:nvSpPr>
          <p:cNvPr id="16" name="TextBox 15"/>
          <p:cNvSpPr txBox="1"/>
          <p:nvPr/>
        </p:nvSpPr>
        <p:spPr>
          <a:xfrm>
            <a:off x="5199185" y="3741132"/>
            <a:ext cx="2895600" cy="1200329"/>
          </a:xfrm>
          <a:prstGeom prst="rect">
            <a:avLst/>
          </a:prstGeom>
          <a:noFill/>
        </p:spPr>
        <p:txBody>
          <a:bodyPr wrap="square" lIns="91440" tIns="45720" rIns="91440" bIns="4572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ysClr val="windowText" lastClr="000000"/>
                </a:solidFill>
                <a:effectLst/>
                <a:uLnTx/>
                <a:uFillTx/>
              </a:rPr>
              <a:t>goto</a:t>
            </a:r>
            <a:r>
              <a:rPr kumimoji="0" lang="en-US" sz="1800" b="0" i="0" u="none" strike="noStrike" kern="0" cap="none" spc="0" normalizeH="0" baseline="0" noProof="0" dirty="0">
                <a:ln>
                  <a:noFill/>
                </a:ln>
                <a:solidFill>
                  <a:sysClr val="windowText" lastClr="000000"/>
                </a:solidFill>
                <a:effectLst/>
                <a:uLnTx/>
                <a:uFillTx/>
              </a:rPr>
              <a:t> L2;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 other code */ </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sysClr val="windowText" lastClr="000000"/>
                </a:solidFill>
              </a:rPr>
              <a:t>L2</a:t>
            </a:r>
            <a:r>
              <a:rPr kumimoji="0" lang="en-US" sz="1800" b="0" i="0" u="none" strike="noStrike" kern="0" cap="none" spc="0" normalizeH="0" baseline="0" noProof="0" dirty="0">
                <a:ln>
                  <a:noFill/>
                </a:ln>
                <a:solidFill>
                  <a:sysClr val="windowText" lastClr="000000"/>
                </a:solidFill>
                <a:effectLst/>
                <a:uLnTx/>
                <a:uFillTx/>
              </a:rPr>
              <a:t>: </a:t>
            </a:r>
            <a:endParaRPr lang="en-US" sz="1800" b="0" i="0" u="none" strike="noStrike" kern="0" cap="none" spc="0" normalizeH="0" baseline="0" noProof="0" dirty="0">
              <a:ln>
                <a:noFill/>
              </a:ln>
              <a:solidFill>
                <a:sysClr val="windowText" lastClr="000000"/>
              </a:solidFill>
              <a:effectLst/>
              <a:uLnTx/>
              <a:uFillTx/>
            </a:endParaRPr>
          </a:p>
          <a:p>
            <a:pPr>
              <a:defRPr/>
            </a:pPr>
            <a:r>
              <a:rPr kumimoji="0" lang="en-US" sz="1800" b="0" i="0" u="none" strike="noStrike" kern="0" cap="none" spc="0" normalizeH="0" baseline="0" noProof="0" dirty="0">
                <a:ln>
                  <a:noFill/>
                </a:ln>
                <a:solidFill>
                  <a:sysClr val="windowText" lastClr="000000"/>
                </a:solidFill>
                <a:effectLst/>
                <a:uLnTx/>
                <a:uFillTx/>
              </a:rPr>
              <a:t>     </a:t>
            </a:r>
            <a:r>
              <a:rPr lang="en-US" kern="0" dirty="0">
                <a:solidFill>
                  <a:sysClr val="windowText" lastClr="000000"/>
                </a:solidFill>
              </a:rPr>
              <a:t>Your code</a:t>
            </a:r>
            <a:endParaRPr lang="en-US" sz="1800" b="0" i="0" u="none" strike="noStrike" kern="0" cap="none" spc="0" normalizeH="0" baseline="0" noProof="0" dirty="0">
              <a:ln>
                <a:noFill/>
              </a:ln>
              <a:solidFill>
                <a:sysClr val="windowText" lastClr="000000"/>
              </a:solidFill>
              <a:effectLst/>
              <a:uLnTx/>
              <a:uFillTx/>
            </a:endParaRPr>
          </a:p>
        </p:txBody>
      </p:sp>
      <p:sp>
        <p:nvSpPr>
          <p:cNvPr id="17" name="Title 1"/>
          <p:cNvSpPr txBox="1">
            <a:spLocks/>
          </p:cNvSpPr>
          <p:nvPr/>
        </p:nvSpPr>
        <p:spPr bwMode="black">
          <a:xfrm>
            <a:off x="346075" y="838200"/>
            <a:ext cx="7045325" cy="609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cene3d>
              <a:camera prst="orthographicFront"/>
              <a:lightRig rig="threePt" dir="t"/>
            </a:scene3d>
            <a:sp3d extrusionH="57150">
              <a:bevelT w="38100" h="38100"/>
            </a:sp3d>
          </a:bodyPr>
          <a:lstStyle>
            <a:lvl1pPr algn="l" rtl="0" eaLnBrk="0" fontAlgn="base" hangingPunct="0">
              <a:spcBef>
                <a:spcPct val="0"/>
              </a:spcBef>
              <a:spcAft>
                <a:spcPct val="0"/>
              </a:spcAft>
              <a:defRPr sz="2800" b="1">
                <a:solidFill>
                  <a:srgbClr val="014353"/>
                </a:solidFill>
                <a:latin typeface="Arial" pitchFamily="34" charset="0"/>
                <a:ea typeface="+mj-ea"/>
                <a:cs typeface="+mj-cs"/>
              </a:defRPr>
            </a:lvl1pPr>
            <a:lvl2pPr algn="l" rtl="0" eaLnBrk="0" fontAlgn="base" hangingPunct="0">
              <a:spcBef>
                <a:spcPct val="0"/>
              </a:spcBef>
              <a:spcAft>
                <a:spcPct val="0"/>
              </a:spcAft>
              <a:defRPr sz="2800" b="1">
                <a:solidFill>
                  <a:srgbClr val="014353"/>
                </a:solidFill>
                <a:latin typeface="Arial" pitchFamily="34" charset="0"/>
              </a:defRPr>
            </a:lvl2pPr>
            <a:lvl3pPr algn="l" rtl="0" eaLnBrk="0" fontAlgn="base" hangingPunct="0">
              <a:spcBef>
                <a:spcPct val="0"/>
              </a:spcBef>
              <a:spcAft>
                <a:spcPct val="0"/>
              </a:spcAft>
              <a:defRPr sz="2800" b="1">
                <a:solidFill>
                  <a:srgbClr val="014353"/>
                </a:solidFill>
                <a:latin typeface="Arial" pitchFamily="34" charset="0"/>
              </a:defRPr>
            </a:lvl3pPr>
            <a:lvl4pPr algn="l" rtl="0" eaLnBrk="0" fontAlgn="base" hangingPunct="0">
              <a:spcBef>
                <a:spcPct val="0"/>
              </a:spcBef>
              <a:spcAft>
                <a:spcPct val="0"/>
              </a:spcAft>
              <a:defRPr sz="2800" b="1">
                <a:solidFill>
                  <a:srgbClr val="014353"/>
                </a:solidFill>
                <a:latin typeface="Arial" pitchFamily="34" charset="0"/>
              </a:defRPr>
            </a:lvl4pPr>
            <a:lvl5pPr algn="l" rtl="0" eaLnBrk="0" fontAlgn="base" hangingPunct="0">
              <a:spcBef>
                <a:spcPct val="0"/>
              </a:spcBef>
              <a:spcAft>
                <a:spcPct val="0"/>
              </a:spcAft>
              <a:defRPr sz="2800" b="1">
                <a:solidFill>
                  <a:srgbClr val="014353"/>
                </a:solidFill>
                <a:latin typeface="Arial" pitchFamily="34" charset="0"/>
              </a:defRPr>
            </a:lvl5pPr>
            <a:lvl6pPr marL="457200" algn="l" rtl="0" eaLnBrk="1" fontAlgn="base" hangingPunct="1">
              <a:spcBef>
                <a:spcPct val="0"/>
              </a:spcBef>
              <a:spcAft>
                <a:spcPct val="0"/>
              </a:spcAft>
              <a:defRPr sz="2800" b="1">
                <a:solidFill>
                  <a:srgbClr val="013541"/>
                </a:solidFill>
                <a:latin typeface="Verdana" pitchFamily="34" charset="0"/>
              </a:defRPr>
            </a:lvl6pPr>
            <a:lvl7pPr marL="914400" algn="l" rtl="0" eaLnBrk="1" fontAlgn="base" hangingPunct="1">
              <a:spcBef>
                <a:spcPct val="0"/>
              </a:spcBef>
              <a:spcAft>
                <a:spcPct val="0"/>
              </a:spcAft>
              <a:defRPr sz="2800" b="1">
                <a:solidFill>
                  <a:srgbClr val="013541"/>
                </a:solidFill>
                <a:latin typeface="Verdana" pitchFamily="34" charset="0"/>
              </a:defRPr>
            </a:lvl7pPr>
            <a:lvl8pPr marL="1371600" algn="l" rtl="0" eaLnBrk="1" fontAlgn="base" hangingPunct="1">
              <a:spcBef>
                <a:spcPct val="0"/>
              </a:spcBef>
              <a:spcAft>
                <a:spcPct val="0"/>
              </a:spcAft>
              <a:defRPr sz="2800" b="1">
                <a:solidFill>
                  <a:srgbClr val="013541"/>
                </a:solidFill>
                <a:latin typeface="Verdana" pitchFamily="34" charset="0"/>
              </a:defRPr>
            </a:lvl8pPr>
            <a:lvl9pPr marL="1828800" algn="l" rtl="0" eaLnBrk="1" fontAlgn="base" hangingPunct="1">
              <a:spcBef>
                <a:spcPct val="0"/>
              </a:spcBef>
              <a:spcAft>
                <a:spcPct val="0"/>
              </a:spcAft>
              <a:defRPr sz="2800" b="1">
                <a:solidFill>
                  <a:srgbClr val="013541"/>
                </a:solidFill>
                <a:latin typeface="Verdana" pitchFamily="34" charset="0"/>
              </a:defRPr>
            </a:lvl9pPr>
          </a:lstStyle>
          <a:p>
            <a:r>
              <a:rPr lang="en-US" sz="2400" dirty="0"/>
              <a:t>Branch Elimination</a:t>
            </a:r>
            <a:br>
              <a:rPr lang="en-US" sz="2400" dirty="0"/>
            </a:br>
            <a:endParaRPr lang="en-US" sz="2400" dirty="0"/>
          </a:p>
        </p:txBody>
      </p:sp>
    </p:spTree>
    <p:extLst>
      <p:ext uri="{BB962C8B-B14F-4D97-AF65-F5344CB8AC3E}">
        <p14:creationId xmlns:p14="http://schemas.microsoft.com/office/powerpoint/2010/main" val="216007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60437"/>
            <a:ext cx="8229600" cy="4525963"/>
          </a:xfrm>
        </p:spPr>
        <p:txBody>
          <a:bodyPr>
            <a:normAutofit fontScale="77500" lnSpcReduction="20000"/>
          </a:bodyPr>
          <a:lstStyle/>
          <a:p>
            <a:pPr marL="0" lvl="1" indent="0">
              <a:spcBef>
                <a:spcPct val="0"/>
              </a:spcBef>
              <a:buNone/>
            </a:pPr>
            <a:r>
              <a:rPr lang="en-US" sz="3600" b="1" dirty="0">
                <a:solidFill>
                  <a:srgbClr val="014353"/>
                </a:solidFill>
                <a:ea typeface="+mj-ea"/>
                <a:cs typeface="+mj-cs"/>
              </a:rPr>
              <a:t>If inside a loops</a:t>
            </a:r>
          </a:p>
          <a:p>
            <a:pPr marL="0" lvl="1" indent="0">
              <a:buNone/>
            </a:pPr>
            <a:endParaRPr lang="en-US" dirty="0"/>
          </a:p>
          <a:p>
            <a:pPr marL="0" indent="0" eaLnBrk="1" hangingPunct="1">
              <a:buNone/>
            </a:pPr>
            <a:r>
              <a:rPr lang="en-US" sz="2300" kern="1200" dirty="0">
                <a:solidFill>
                  <a:schemeClr val="tx1"/>
                </a:solidFill>
                <a:latin typeface="Times New Roman" pitchFamily="18" charset="0"/>
                <a:cs typeface="Times New Roman" pitchFamily="18" charset="0"/>
              </a:rPr>
              <a:t>Original code :</a:t>
            </a:r>
            <a:br>
              <a:rPr lang="en-US" sz="2300" kern="1200" dirty="0">
                <a:solidFill>
                  <a:schemeClr val="tx1"/>
                </a:solidFill>
                <a:latin typeface="Times New Roman" pitchFamily="18" charset="0"/>
                <a:cs typeface="Times New Roman" pitchFamily="18" charset="0"/>
              </a:rPr>
            </a:b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c= 0 ;</a:t>
            </a: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for (i=0; i&lt;999; i++)</a:t>
            </a: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a:t>
            </a: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if (a &gt; B)</a:t>
            </a:r>
            <a:br>
              <a:rPr lang="en-US" sz="2300" kern="1200" dirty="0">
                <a:solidFill>
                  <a:schemeClr val="tx1"/>
                </a:solidFill>
                <a:latin typeface="Times New Roman" pitchFamily="18" charset="0"/>
                <a:cs typeface="Times New Roman" pitchFamily="18" charset="0"/>
              </a:rPr>
            </a:br>
            <a:r>
              <a:rPr lang="en-US" sz="2300" kern="1200" dirty="0" err="1">
                <a:solidFill>
                  <a:schemeClr val="tx1"/>
                </a:solidFill>
                <a:latin typeface="Times New Roman" pitchFamily="18" charset="0"/>
                <a:cs typeface="Times New Roman" pitchFamily="18" charset="0"/>
              </a:rPr>
              <a:t>c++</a:t>
            </a:r>
            <a:r>
              <a:rPr lang="en-US" sz="2300" kern="1200" dirty="0">
                <a:solidFill>
                  <a:schemeClr val="tx1"/>
                </a:solidFill>
                <a:latin typeface="Times New Roman" pitchFamily="18" charset="0"/>
                <a:cs typeface="Times New Roman" pitchFamily="18" charset="0"/>
              </a:rPr>
              <a:t> ;</a:t>
            </a: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a:t>
            </a:r>
            <a:br>
              <a:rPr lang="en-US" sz="2300" kern="1200" dirty="0">
                <a:solidFill>
                  <a:schemeClr val="tx1"/>
                </a:solidFill>
                <a:latin typeface="Times New Roman" pitchFamily="18" charset="0"/>
                <a:cs typeface="Times New Roman" pitchFamily="18" charset="0"/>
              </a:rPr>
            </a:b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Modified code for speed optimization:</a:t>
            </a:r>
            <a:br>
              <a:rPr lang="en-US" sz="2300" kern="1200" dirty="0">
                <a:solidFill>
                  <a:schemeClr val="tx1"/>
                </a:solidFill>
                <a:latin typeface="Times New Roman" pitchFamily="18" charset="0"/>
                <a:cs typeface="Times New Roman" pitchFamily="18" charset="0"/>
              </a:rPr>
            </a:b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c= 0 ;</a:t>
            </a: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for (i=0; i&lt;999; i++)</a:t>
            </a: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a:t>
            </a: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c += (a &gt; B) ;</a:t>
            </a:r>
            <a:br>
              <a:rPr lang="en-US" sz="2300" kern="1200" dirty="0">
                <a:solidFill>
                  <a:schemeClr val="tx1"/>
                </a:solidFill>
                <a:latin typeface="Times New Roman" pitchFamily="18" charset="0"/>
                <a:cs typeface="Times New Roman" pitchFamily="18" charset="0"/>
              </a:rPr>
            </a:br>
            <a:r>
              <a:rPr lang="en-US" sz="2300" kern="1200" dirty="0">
                <a:solidFill>
                  <a:schemeClr val="tx1"/>
                </a:solidFill>
                <a:latin typeface="Times New Roman" pitchFamily="18" charset="0"/>
                <a:cs typeface="Times New Roman" pitchFamily="18" charset="0"/>
              </a:rPr>
              <a:t>}</a:t>
            </a:r>
          </a:p>
        </p:txBody>
      </p:sp>
    </p:spTree>
    <p:extLst>
      <p:ext uri="{BB962C8B-B14F-4D97-AF65-F5344CB8AC3E}">
        <p14:creationId xmlns:p14="http://schemas.microsoft.com/office/powerpoint/2010/main" val="2661971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6650" y="457200"/>
            <a:ext cx="7045325" cy="609600"/>
          </a:xfrm>
          <a:noFill/>
          <a:ln w="9525">
            <a:noFill/>
            <a:miter lim="800000"/>
            <a:headEnd/>
            <a:tailEnd/>
          </a:ln>
          <a:effectLst/>
        </p:spPr>
        <p:txBody>
          <a:bodyPr vert="horz" wrap="square" lIns="91440" tIns="45720" rIns="91440" bIns="45720" numCol="1" anchor="ctr" anchorCtr="0" compatLnSpc="1">
            <a:prstTxWarp prst="textNoShape">
              <a:avLst/>
            </a:prstTxWarp>
            <a:scene3d>
              <a:camera prst="orthographicFront"/>
              <a:lightRig rig="threePt" dir="t"/>
            </a:scene3d>
            <a:sp3d extrusionH="57150">
              <a:bevelT w="38100" h="38100"/>
            </a:sp3d>
          </a:bodyPr>
          <a:lstStyle/>
          <a:p>
            <a:pPr algn="ctr"/>
            <a:r>
              <a:rPr lang="en-US" dirty="0"/>
              <a:t>Instruction Combining</a:t>
            </a:r>
            <a:br>
              <a:rPr lang="en-US" dirty="0"/>
            </a:br>
            <a:endParaRPr lang="en-US" dirty="0"/>
          </a:p>
        </p:txBody>
      </p:sp>
      <p:sp>
        <p:nvSpPr>
          <p:cNvPr id="6" name="Rectangle 5"/>
          <p:cNvSpPr/>
          <p:nvPr/>
        </p:nvSpPr>
        <p:spPr>
          <a:xfrm>
            <a:off x="457200" y="1494472"/>
            <a:ext cx="8229600" cy="36933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At the source code level, combine two statements into one statement. </a:t>
            </a:r>
          </a:p>
        </p:txBody>
      </p:sp>
      <p:sp>
        <p:nvSpPr>
          <p:cNvPr id="7" name="Rectangle 6"/>
          <p:cNvSpPr/>
          <p:nvPr/>
        </p:nvSpPr>
        <p:spPr>
          <a:xfrm>
            <a:off x="457200" y="1951672"/>
            <a:ext cx="8382000" cy="64633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In the code fragment below, the two post-increment statements can be combined into one statement. </a:t>
            </a:r>
          </a:p>
        </p:txBody>
      </p:sp>
      <p:sp>
        <p:nvSpPr>
          <p:cNvPr id="8" name="TextBox 7"/>
          <p:cNvSpPr txBox="1"/>
          <p:nvPr/>
        </p:nvSpPr>
        <p:spPr>
          <a:xfrm>
            <a:off x="838200" y="3170872"/>
            <a:ext cx="7467600" cy="1477328"/>
          </a:xfrm>
          <a:prstGeom prst="rect">
            <a:avLst/>
          </a:prstGeom>
          <a:noFill/>
          <a:ln w="25400" cap="flat" cmpd="sng" algn="ctr">
            <a:solidFill>
              <a:srgbClr val="4F81BD">
                <a:shade val="50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effectLst/>
                <a:uLnTx/>
                <a:uFillTx/>
                <a:latin typeface="Calibri"/>
                <a:ea typeface="+mn-ea"/>
                <a:cs typeface="+mn-cs"/>
              </a:rPr>
              <a:t>int i; </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effectLst/>
                <a:uLnTx/>
                <a:uFillTx/>
                <a:latin typeface="Calibri"/>
                <a:ea typeface="+mn-ea"/>
                <a:cs typeface="+mn-cs"/>
              </a:rPr>
              <a:t>void f (void) </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effectLst/>
                <a:uLnTx/>
                <a:uFillTx/>
                <a:latin typeface="Calibri"/>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effectLst/>
                <a:uLnTx/>
                <a:uFillTx/>
                <a:latin typeface="Calibri"/>
                <a:ea typeface="+mn-ea"/>
                <a:cs typeface="+mn-cs"/>
              </a:rPr>
              <a:t> i++; i++; </a:t>
            </a:r>
          </a:p>
          <a:p>
            <a:pPr marL="0" marR="0" lvl="0" indent="0" defTabSz="914400" eaLnBrk="1" fontAlgn="auto" latinLnBrk="0" hangingPunct="1">
              <a:lnSpc>
                <a:spcPct val="100000"/>
              </a:lnSpc>
              <a:spcBef>
                <a:spcPts val="0"/>
              </a:spcBef>
              <a:spcAft>
                <a:spcPts val="0"/>
              </a:spcAft>
              <a:buClrTx/>
              <a:buSzTx/>
              <a:buFontTx/>
              <a:buNone/>
              <a:tabLst/>
              <a:defRPr/>
            </a:pPr>
            <a:r>
              <a:rPr kumimoji="0" lang="nn-NO" sz="1800" b="0" i="0" u="none" strike="noStrike" kern="0" cap="none" spc="0" normalizeH="0" baseline="0" noProof="0" dirty="0">
                <a:ln>
                  <a:noFill/>
                </a:ln>
                <a:effectLst/>
                <a:uLnTx/>
                <a:uFillTx/>
                <a:latin typeface="Calibri"/>
                <a:ea typeface="+mn-ea"/>
                <a:cs typeface="+mn-cs"/>
              </a:rPr>
              <a:t>}</a:t>
            </a:r>
            <a:endParaRPr kumimoji="0" lang="en-US" sz="1800" b="0" i="0" u="none" strike="noStrike" kern="0" cap="none" spc="0" normalizeH="0" baseline="0" noProof="0" dirty="0">
              <a:ln>
                <a:noFill/>
              </a:ln>
              <a:effectLst/>
              <a:uLnTx/>
              <a:uFillTx/>
              <a:latin typeface="Calibri"/>
              <a:ea typeface="+mn-ea"/>
              <a:cs typeface="+mn-cs"/>
            </a:endParaRPr>
          </a:p>
        </p:txBody>
      </p:sp>
      <p:sp>
        <p:nvSpPr>
          <p:cNvPr id="9" name="TextBox 8"/>
          <p:cNvSpPr txBox="1"/>
          <p:nvPr/>
        </p:nvSpPr>
        <p:spPr>
          <a:xfrm>
            <a:off x="838200" y="4999672"/>
            <a:ext cx="7467600" cy="1477328"/>
          </a:xfrm>
          <a:prstGeom prst="rect">
            <a:avLst/>
          </a:prstGeom>
          <a:noFill/>
          <a:ln w="25400" cap="flat" cmpd="sng" algn="ctr">
            <a:solidFill>
              <a:srgbClr val="4F81BD">
                <a:shade val="50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effectLst/>
                <a:uLnTx/>
                <a:uFillTx/>
                <a:latin typeface="Calibri"/>
                <a:ea typeface="+mn-ea"/>
                <a:cs typeface="+mn-cs"/>
              </a:rPr>
              <a:t>int</a:t>
            </a:r>
            <a:r>
              <a:rPr kumimoji="0" lang="en-US" sz="1800" b="0" i="0" u="none" strike="noStrike" kern="0" cap="none" spc="0" normalizeH="0" baseline="0" noProof="0" dirty="0">
                <a:ln>
                  <a:noFill/>
                </a:ln>
                <a:effectLst/>
                <a:uLnTx/>
                <a:uFillTx/>
                <a:latin typeface="Calibri"/>
                <a:ea typeface="+mn-ea"/>
                <a:cs typeface="+mn-cs"/>
              </a:rPr>
              <a:t> </a:t>
            </a:r>
            <a:r>
              <a:rPr kumimoji="0" lang="en-US" sz="1800" b="0" i="0" u="none" strike="noStrike" kern="0" cap="none" spc="0" normalizeH="0" baseline="0" noProof="0" dirty="0" err="1">
                <a:ln>
                  <a:noFill/>
                </a:ln>
                <a:effectLst/>
                <a:uLnTx/>
                <a:uFillTx/>
                <a:latin typeface="Calibri"/>
                <a:ea typeface="+mn-ea"/>
                <a:cs typeface="+mn-cs"/>
              </a:rPr>
              <a:t>i</a:t>
            </a:r>
            <a:r>
              <a:rPr kumimoji="0" lang="en-US" sz="1800" b="0" i="0" u="none" strike="noStrike" kern="0" cap="none" spc="0" normalizeH="0" baseline="0" noProof="0" dirty="0">
                <a:ln>
                  <a:noFill/>
                </a:ln>
                <a:effectLst/>
                <a:uLnTx/>
                <a:uFillTx/>
                <a:latin typeface="Calibri"/>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a:ea typeface="+mn-ea"/>
                <a:cs typeface="+mn-cs"/>
              </a:rPr>
              <a:t>void f (void)</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a:ea typeface="+mn-ea"/>
                <a:cs typeface="+mn-cs"/>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a:ea typeface="+mn-ea"/>
                <a:cs typeface="+mn-cs"/>
              </a:rPr>
              <a:t> </a:t>
            </a:r>
            <a:r>
              <a:rPr kumimoji="0" lang="en-US" sz="1800" b="0" i="0" u="none" strike="noStrike" kern="0" cap="none" spc="0" normalizeH="0" baseline="0" noProof="0" dirty="0" err="1">
                <a:ln>
                  <a:noFill/>
                </a:ln>
                <a:effectLst/>
                <a:uLnTx/>
                <a:uFillTx/>
                <a:latin typeface="Calibri"/>
                <a:ea typeface="+mn-ea"/>
                <a:cs typeface="+mn-cs"/>
              </a:rPr>
              <a:t>i</a:t>
            </a:r>
            <a:r>
              <a:rPr kumimoji="0" lang="en-US" sz="1800" b="0" i="0" u="none" strike="noStrike" kern="0" cap="none" spc="0" normalizeH="0" baseline="0" noProof="0" dirty="0">
                <a:ln>
                  <a:noFill/>
                </a:ln>
                <a:effectLst/>
                <a:uLnTx/>
                <a:uFillTx/>
                <a:latin typeface="Calibri"/>
                <a:ea typeface="+mn-ea"/>
                <a:cs typeface="+mn-cs"/>
              </a:rPr>
              <a:t> += 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Calibri"/>
                <a:ea typeface="+mn-ea"/>
                <a:cs typeface="+mn-cs"/>
              </a:rPr>
              <a:t> } </a:t>
            </a:r>
          </a:p>
        </p:txBody>
      </p:sp>
    </p:spTree>
    <p:extLst>
      <p:ext uri="{BB962C8B-B14F-4D97-AF65-F5344CB8AC3E}">
        <p14:creationId xmlns:p14="http://schemas.microsoft.com/office/powerpoint/2010/main" val="3889228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65237"/>
            <a:ext cx="8229600" cy="4525963"/>
          </a:xfrm>
        </p:spPr>
        <p:txBody>
          <a:bodyPr>
            <a:normAutofit/>
          </a:bodyPr>
          <a:lstStyle/>
          <a:p>
            <a:pPr marL="0" indent="0">
              <a:buNone/>
            </a:pPr>
            <a:endParaRPr lang="en-US" sz="2000" b="1" dirty="0"/>
          </a:p>
          <a:p>
            <a:pPr marL="0" lvl="1" indent="0">
              <a:buNone/>
            </a:pPr>
            <a:r>
              <a:rPr lang="en-US" sz="2000" b="1" kern="1200" dirty="0">
                <a:solidFill>
                  <a:srgbClr val="014353"/>
                </a:solidFill>
                <a:ea typeface="+mj-ea"/>
                <a:cs typeface="+mj-cs"/>
              </a:rPr>
              <a:t>Look-up tables</a:t>
            </a:r>
          </a:p>
          <a:p>
            <a:pPr marL="0" indent="0">
              <a:buNone/>
            </a:pPr>
            <a:endParaRPr lang="en-US" sz="2000" b="1" dirty="0"/>
          </a:p>
          <a:p>
            <a:pPr marL="342900" lvl="1" indent="0" eaLnBrk="1" hangingPunct="1">
              <a:buClr>
                <a:schemeClr val="tx1"/>
              </a:buClr>
              <a:buFont typeface="Wingdings" panose="05000000000000000000" pitchFamily="2" charset="2"/>
              <a:buChar char="q"/>
            </a:pPr>
            <a:r>
              <a:rPr lang="en-US" sz="1900" kern="1200" dirty="0">
                <a:latin typeface="+mn-lt"/>
                <a:ea typeface="+mn-ea"/>
                <a:cs typeface="+mn-cs"/>
              </a:rPr>
              <a:t> In some cases, the results can be computed in compile-time and stored in memory as constants. This is quite common practice in case of digital filter coefficients calculation.</a:t>
            </a:r>
          </a:p>
          <a:p>
            <a:pPr marL="457200" lvl="1" indent="0">
              <a:buNone/>
            </a:pPr>
            <a:endParaRPr lang="en-US" dirty="0"/>
          </a:p>
        </p:txBody>
      </p:sp>
    </p:spTree>
    <p:extLst>
      <p:ext uri="{BB962C8B-B14F-4D97-AF65-F5344CB8AC3E}">
        <p14:creationId xmlns:p14="http://schemas.microsoft.com/office/powerpoint/2010/main" val="28921251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249" y="228600"/>
            <a:ext cx="7045325" cy="609600"/>
          </a:xfrm>
        </p:spPr>
        <p:txBody>
          <a:bodyPr/>
          <a:lstStyle/>
          <a:p>
            <a:pPr algn="ctr"/>
            <a:r>
              <a:rPr lang="en-US" dirty="0"/>
              <a:t>Code Optimization</a:t>
            </a:r>
          </a:p>
        </p:txBody>
      </p:sp>
      <p:sp>
        <p:nvSpPr>
          <p:cNvPr id="3" name="Rectangle 2"/>
          <p:cNvSpPr/>
          <p:nvPr/>
        </p:nvSpPr>
        <p:spPr>
          <a:xfrm>
            <a:off x="762000" y="1524000"/>
            <a:ext cx="7696200" cy="2308324"/>
          </a:xfrm>
          <a:prstGeom prst="rect">
            <a:avLst/>
          </a:prstGeom>
          <a:solidFill>
            <a:schemeClr val="bg1"/>
          </a:solidFill>
          <a:ln>
            <a:solidFill>
              <a:schemeClr val="tx1"/>
            </a:solidFill>
          </a:ln>
        </p:spPr>
        <p:txBody>
          <a:bodyPr wrap="square">
            <a:spAutoFit/>
          </a:bodyPr>
          <a:lstStyle/>
          <a:p>
            <a:pPr marL="342900" indent="-342900">
              <a:buFont typeface="Arial" pitchFamily="34" charset="0"/>
              <a:buChar char="•"/>
            </a:pPr>
            <a:r>
              <a:rPr lang="en-US" sz="2400" dirty="0">
                <a:latin typeface="Times New Roman" pitchFamily="18" charset="0"/>
                <a:cs typeface="Times New Roman" pitchFamily="18" charset="0"/>
              </a:rPr>
              <a:t>Code optimization is any method of code modification to improve code quality and efficiency.</a:t>
            </a:r>
          </a:p>
          <a:p>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A program may be optimized so that it becomes a smaller size, consumes less memory, executes more rapidly, or performs fewer input/output operations.</a:t>
            </a:r>
          </a:p>
        </p:txBody>
      </p:sp>
    </p:spTree>
    <p:extLst>
      <p:ext uri="{BB962C8B-B14F-4D97-AF65-F5344CB8AC3E}">
        <p14:creationId xmlns:p14="http://schemas.microsoft.com/office/powerpoint/2010/main" val="2221427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249" y="304800"/>
            <a:ext cx="7045325" cy="609600"/>
          </a:xfrm>
        </p:spPr>
        <p:txBody>
          <a:bodyPr/>
          <a:lstStyle/>
          <a:p>
            <a:pPr algn="ctr"/>
            <a:r>
              <a:rPr lang="en-US" dirty="0"/>
              <a:t>Code Optimization-Peephole</a:t>
            </a:r>
          </a:p>
        </p:txBody>
      </p:sp>
      <p:sp>
        <p:nvSpPr>
          <p:cNvPr id="3" name="Rectangle 2"/>
          <p:cNvSpPr/>
          <p:nvPr/>
        </p:nvSpPr>
        <p:spPr>
          <a:xfrm>
            <a:off x="533400" y="1447800"/>
            <a:ext cx="8153400" cy="2031325"/>
          </a:xfrm>
          <a:prstGeom prst="rect">
            <a:avLst/>
          </a:prstGeom>
        </p:spPr>
        <p:txBody>
          <a:bodyPr wrap="square">
            <a:spAutoFit/>
          </a:bodyPr>
          <a:lstStyle/>
          <a:p>
            <a:pPr algn="just"/>
            <a:r>
              <a:rPr lang="en-US" dirty="0"/>
              <a:t>Peephole optimization is a type of Code Optimization performed on a small part of the code. </a:t>
            </a:r>
          </a:p>
          <a:p>
            <a:pPr algn="just"/>
            <a:endParaRPr lang="en-US" dirty="0"/>
          </a:p>
          <a:p>
            <a:pPr algn="just"/>
            <a:r>
              <a:rPr lang="en-US" dirty="0"/>
              <a:t>It is performed on the very small set of instructions in a segment of code.</a:t>
            </a:r>
          </a:p>
          <a:p>
            <a:pPr algn="just"/>
            <a:endParaRPr lang="en-US" dirty="0"/>
          </a:p>
          <a:p>
            <a:pPr algn="just"/>
            <a:r>
              <a:rPr lang="en-US" dirty="0"/>
              <a:t>It basically works on the theory of replacement in which a part of code is replaced by shorter and faster code without change in output.</a:t>
            </a:r>
          </a:p>
        </p:txBody>
      </p:sp>
      <p:sp>
        <p:nvSpPr>
          <p:cNvPr id="4" name="Rectangle 3"/>
          <p:cNvSpPr/>
          <p:nvPr/>
        </p:nvSpPr>
        <p:spPr>
          <a:xfrm>
            <a:off x="533400" y="3657600"/>
            <a:ext cx="4709944" cy="400110"/>
          </a:xfrm>
          <a:prstGeom prst="rect">
            <a:avLst/>
          </a:prstGeom>
        </p:spPr>
        <p:txBody>
          <a:bodyPr wrap="none">
            <a:spAutoFit/>
          </a:bodyPr>
          <a:lstStyle/>
          <a:p>
            <a:r>
              <a:rPr lang="en-US" sz="2000" b="1" dirty="0">
                <a:solidFill>
                  <a:srgbClr val="014353"/>
                </a:solidFill>
                <a:latin typeface="Arial" pitchFamily="34" charset="0"/>
                <a:ea typeface="+mj-ea"/>
                <a:cs typeface="+mj-cs"/>
              </a:rPr>
              <a:t>Objectives of Peephole Optimization:</a:t>
            </a:r>
          </a:p>
        </p:txBody>
      </p:sp>
      <p:sp>
        <p:nvSpPr>
          <p:cNvPr id="5" name="Rectangle 4"/>
          <p:cNvSpPr/>
          <p:nvPr/>
        </p:nvSpPr>
        <p:spPr>
          <a:xfrm>
            <a:off x="1066800" y="4258270"/>
            <a:ext cx="4572000" cy="923330"/>
          </a:xfrm>
          <a:prstGeom prst="rect">
            <a:avLst/>
          </a:prstGeom>
        </p:spPr>
        <p:txBody>
          <a:bodyPr>
            <a:spAutoFit/>
          </a:bodyPr>
          <a:lstStyle/>
          <a:p>
            <a:pPr marL="285750" indent="-285750">
              <a:buFont typeface="Wingdings" panose="05000000000000000000" pitchFamily="2" charset="2"/>
              <a:buChar char="q"/>
            </a:pPr>
            <a:r>
              <a:rPr lang="en-US" dirty="0"/>
              <a:t>To improve performance.</a:t>
            </a:r>
          </a:p>
          <a:p>
            <a:pPr marL="285750" indent="-285750">
              <a:buFont typeface="Wingdings" panose="05000000000000000000" pitchFamily="2" charset="2"/>
              <a:buChar char="q"/>
            </a:pPr>
            <a:r>
              <a:rPr lang="en-US" dirty="0"/>
              <a:t>To reduce memory footprint.</a:t>
            </a:r>
          </a:p>
          <a:p>
            <a:pPr marL="285750" indent="-285750">
              <a:buFont typeface="Wingdings" panose="05000000000000000000" pitchFamily="2" charset="2"/>
              <a:buChar char="q"/>
            </a:pPr>
            <a:r>
              <a:rPr lang="en-US" dirty="0"/>
              <a:t>To reduce code size.</a:t>
            </a:r>
          </a:p>
        </p:txBody>
      </p:sp>
    </p:spTree>
    <p:extLst>
      <p:ext uri="{BB962C8B-B14F-4D97-AF65-F5344CB8AC3E}">
        <p14:creationId xmlns:p14="http://schemas.microsoft.com/office/powerpoint/2010/main" val="2221427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Peephole Optimization Techniques:</a:t>
            </a:r>
            <a:br>
              <a:rPr lang="en-US" dirty="0"/>
            </a:br>
            <a:endParaRPr lang="en-US" dirty="0"/>
          </a:p>
        </p:txBody>
      </p:sp>
      <p:sp>
        <p:nvSpPr>
          <p:cNvPr id="3" name="Rectangle 2"/>
          <p:cNvSpPr/>
          <p:nvPr/>
        </p:nvSpPr>
        <p:spPr>
          <a:xfrm>
            <a:off x="914400" y="1066800"/>
            <a:ext cx="6553200" cy="923330"/>
          </a:xfrm>
          <a:prstGeom prst="rect">
            <a:avLst/>
          </a:prstGeom>
        </p:spPr>
        <p:txBody>
          <a:bodyPr wrap="square">
            <a:spAutoFit/>
          </a:bodyPr>
          <a:lstStyle/>
          <a:p>
            <a:r>
              <a:rPr lang="en-US" b="1" dirty="0"/>
              <a:t>1.Redundant load and store elimination:</a:t>
            </a:r>
          </a:p>
          <a:p>
            <a:endParaRPr lang="en-US" b="1" dirty="0"/>
          </a:p>
          <a:p>
            <a:r>
              <a:rPr lang="en-US" dirty="0"/>
              <a:t>In this technique the redundancy is eliminated.</a:t>
            </a:r>
          </a:p>
        </p:txBody>
      </p:sp>
      <p:grpSp>
        <p:nvGrpSpPr>
          <p:cNvPr id="8" name="Group 7"/>
          <p:cNvGrpSpPr/>
          <p:nvPr/>
        </p:nvGrpSpPr>
        <p:grpSpPr>
          <a:xfrm>
            <a:off x="762000" y="2133600"/>
            <a:ext cx="7696200" cy="1752600"/>
            <a:chOff x="762000" y="2133600"/>
            <a:chExt cx="7696200" cy="1752600"/>
          </a:xfrm>
        </p:grpSpPr>
        <p:sp>
          <p:nvSpPr>
            <p:cNvPr id="5" name="Rounded Rectangle 4"/>
            <p:cNvSpPr/>
            <p:nvPr/>
          </p:nvSpPr>
          <p:spPr>
            <a:xfrm>
              <a:off x="762000" y="2133600"/>
              <a:ext cx="7696200" cy="1752600"/>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ysClr val="window" lastClr="FFFFFF"/>
                  </a:solidFill>
                  <a:effectLst/>
                  <a:uLnTx/>
                  <a:uFillTx/>
                  <a:latin typeface="Calibri"/>
                  <a:ea typeface="+mn-ea"/>
                  <a:cs typeface="+mn-cs"/>
                </a:rPr>
              </a:br>
              <a:r>
                <a:rPr kumimoji="0" lang="en-US" sz="1800" b="0" i="0" u="none" strike="noStrike" kern="0" cap="none" spc="0" normalizeH="0" baseline="0" noProof="0" dirty="0">
                  <a:ln>
                    <a:noFill/>
                  </a:ln>
                  <a:solidFill>
                    <a:sysClr val="window" lastClr="FFFFFF"/>
                  </a:solidFill>
                  <a:effectLst/>
                  <a:uLnTx/>
                  <a:uFillTx/>
                  <a:latin typeface="Calibri"/>
                  <a:ea typeface="+mn-ea"/>
                  <a:cs typeface="+mn-cs"/>
                </a:rPr>
                <a:t> </a:t>
              </a:r>
            </a:p>
          </p:txBody>
        </p:sp>
        <p:sp>
          <p:nvSpPr>
            <p:cNvPr id="6" name="Rectangle 5"/>
            <p:cNvSpPr/>
            <p:nvPr/>
          </p:nvSpPr>
          <p:spPr>
            <a:xfrm>
              <a:off x="1600200" y="2271237"/>
              <a:ext cx="1676400" cy="1477328"/>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 lastClr="FFFFFF"/>
                  </a:solidFill>
                  <a:effectLst/>
                  <a:uLnTx/>
                  <a:uFillTx/>
                </a:rPr>
                <a:t>Initial code:</a:t>
              </a:r>
              <a:r>
                <a:rPr kumimoji="0" lang="en-US" sz="1800" b="0" i="0" u="none" strike="noStrike" kern="0" cap="none" spc="0" normalizeH="0" baseline="0" noProof="0" dirty="0">
                  <a:ln>
                    <a:noFill/>
                  </a:ln>
                  <a:solidFill>
                    <a:sysClr val="window" lastClr="FFFFFF"/>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rPr>
                <a:t>y = x + 5;</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rPr>
                <a:t> </a:t>
              </a:r>
              <a:r>
                <a:rPr kumimoji="0" lang="en-US" sz="1800" b="0" i="0" u="none" strike="noStrike" kern="0" cap="none" spc="0" normalizeH="0" baseline="0" noProof="0" dirty="0" err="1">
                  <a:ln>
                    <a:noFill/>
                  </a:ln>
                  <a:solidFill>
                    <a:sysClr val="window" lastClr="FFFFFF"/>
                  </a:solidFill>
                  <a:effectLst/>
                  <a:uLnTx/>
                  <a:uFillTx/>
                </a:rPr>
                <a:t>i</a:t>
              </a:r>
              <a:r>
                <a:rPr kumimoji="0" lang="en-US" sz="1800" b="0" i="0" u="none" strike="noStrike" kern="0" cap="none" spc="0" normalizeH="0" baseline="0" noProof="0" dirty="0">
                  <a:ln>
                    <a:noFill/>
                  </a:ln>
                  <a:solidFill>
                    <a:sysClr val="window" lastClr="FFFFFF"/>
                  </a:solidFill>
                  <a:effectLst/>
                  <a:uLnTx/>
                  <a:uFillTx/>
                </a:rPr>
                <a:t> = 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rPr>
                <a:t> z = </a:t>
              </a:r>
              <a:r>
                <a:rPr kumimoji="0" lang="en-US" sz="1800" b="0" i="0" u="none" strike="noStrike" kern="0" cap="none" spc="0" normalizeH="0" baseline="0" noProof="0" dirty="0" err="1">
                  <a:ln>
                    <a:noFill/>
                  </a:ln>
                  <a:solidFill>
                    <a:sysClr val="window" lastClr="FFFFFF"/>
                  </a:solidFill>
                  <a:effectLst/>
                  <a:uLnTx/>
                  <a:uFillTx/>
                </a:rPr>
                <a:t>i</a:t>
              </a:r>
              <a:r>
                <a:rPr kumimoji="0" lang="en-US" sz="1800" b="0" i="0" u="none" strike="noStrike" kern="0" cap="none" spc="0" normalizeH="0" baseline="0" noProof="0" dirty="0">
                  <a:ln>
                    <a:noFill/>
                  </a:ln>
                  <a:solidFill>
                    <a:sysClr val="window" lastClr="FFFFFF"/>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rPr>
                <a:t>w = z * 3; </a:t>
              </a:r>
            </a:p>
          </p:txBody>
        </p:sp>
        <p:sp>
          <p:nvSpPr>
            <p:cNvPr id="7" name="Rectangle 6"/>
            <p:cNvSpPr/>
            <p:nvPr/>
          </p:nvSpPr>
          <p:spPr>
            <a:xfrm>
              <a:off x="5105400" y="2305654"/>
              <a:ext cx="1981200" cy="92333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 lastClr="FFFFFF"/>
                  </a:solidFill>
                  <a:effectLst/>
                  <a:uLnTx/>
                  <a:uFillTx/>
                </a:rPr>
                <a:t>Optimized code: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rPr>
                <a:t> y = x + 5;</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rPr>
                <a:t>w = y * 3; </a:t>
              </a:r>
            </a:p>
          </p:txBody>
        </p:sp>
      </p:grpSp>
      <p:sp>
        <p:nvSpPr>
          <p:cNvPr id="9" name="Rectangle 8"/>
          <p:cNvSpPr/>
          <p:nvPr/>
        </p:nvSpPr>
        <p:spPr>
          <a:xfrm>
            <a:off x="914400" y="4050268"/>
            <a:ext cx="1988108" cy="369332"/>
          </a:xfrm>
          <a:prstGeom prst="rect">
            <a:avLst/>
          </a:prstGeom>
        </p:spPr>
        <p:txBody>
          <a:bodyPr wrap="none">
            <a:spAutoFit/>
          </a:bodyPr>
          <a:lstStyle/>
          <a:p>
            <a:r>
              <a:rPr lang="en-US" b="1" dirty="0"/>
              <a:t>2.Constant folding:</a:t>
            </a:r>
            <a:endParaRPr lang="en-US" dirty="0"/>
          </a:p>
        </p:txBody>
      </p:sp>
      <p:sp>
        <p:nvSpPr>
          <p:cNvPr id="10" name="Rectangle 9"/>
          <p:cNvSpPr/>
          <p:nvPr/>
        </p:nvSpPr>
        <p:spPr>
          <a:xfrm>
            <a:off x="1066800" y="4419600"/>
            <a:ext cx="6172200" cy="369332"/>
          </a:xfrm>
          <a:prstGeom prst="rect">
            <a:avLst/>
          </a:prstGeom>
        </p:spPr>
        <p:txBody>
          <a:bodyPr wrap="square">
            <a:spAutoFit/>
          </a:bodyPr>
          <a:lstStyle/>
          <a:p>
            <a:r>
              <a:rPr lang="en-US" dirty="0"/>
              <a:t>The code that can be simplified by user itself, is simplified.</a:t>
            </a:r>
          </a:p>
        </p:txBody>
      </p:sp>
      <p:sp>
        <p:nvSpPr>
          <p:cNvPr id="13" name="Rounded Rectangle 12"/>
          <p:cNvSpPr/>
          <p:nvPr/>
        </p:nvSpPr>
        <p:spPr>
          <a:xfrm>
            <a:off x="917331" y="4876800"/>
            <a:ext cx="7696200" cy="1752600"/>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ysClr val="window" lastClr="FFFFFF"/>
                </a:solidFill>
                <a:effectLst/>
                <a:uLnTx/>
                <a:uFillTx/>
                <a:latin typeface="Calibri"/>
                <a:ea typeface="+mn-ea"/>
                <a:cs typeface="+mn-cs"/>
              </a:rPr>
            </a:br>
            <a:r>
              <a:rPr kumimoji="0" lang="en-US" sz="1800" b="1" i="0" u="none" strike="noStrike" kern="0" cap="none" spc="0" normalizeH="0" baseline="0" noProof="0" dirty="0">
                <a:ln>
                  <a:noFill/>
                </a:ln>
                <a:solidFill>
                  <a:sysClr val="window" lastClr="FFFFFF"/>
                </a:solidFill>
                <a:effectLst/>
                <a:uLnTx/>
                <a:uFillTx/>
                <a:latin typeface="Calibri"/>
                <a:ea typeface="+mn-ea"/>
                <a:cs typeface="+mn-cs"/>
              </a:rPr>
              <a:t>Initial code: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latin typeface="Calibri"/>
                <a:ea typeface="+mn-ea"/>
                <a:cs typeface="+mn-cs"/>
              </a:rPr>
              <a:t>x = 2 * 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Calibri"/>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 lastClr="FFFFFF"/>
                </a:solidFill>
                <a:effectLst/>
                <a:uLnTx/>
                <a:uFillTx/>
                <a:latin typeface="Calibri"/>
                <a:ea typeface="+mn-ea"/>
                <a:cs typeface="+mn-cs"/>
              </a:rPr>
              <a:t>Optimized code: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latin typeface="Calibri"/>
                <a:ea typeface="+mn-ea"/>
                <a:cs typeface="+mn-cs"/>
              </a:rPr>
              <a:t>x = 6; </a:t>
            </a:r>
          </a:p>
        </p:txBody>
      </p:sp>
    </p:spTree>
    <p:extLst>
      <p:ext uri="{BB962C8B-B14F-4D97-AF65-F5344CB8AC3E}">
        <p14:creationId xmlns:p14="http://schemas.microsoft.com/office/powerpoint/2010/main" val="2221427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8200" y="609600"/>
            <a:ext cx="2595582" cy="369332"/>
          </a:xfrm>
          <a:prstGeom prst="rect">
            <a:avLst/>
          </a:prstGeom>
        </p:spPr>
        <p:txBody>
          <a:bodyPr wrap="none">
            <a:spAutoFit/>
          </a:bodyPr>
          <a:lstStyle/>
          <a:p>
            <a:r>
              <a:rPr lang="en-US" b="1" dirty="0"/>
              <a:t>3.Strength Reduction:</a:t>
            </a:r>
            <a:endParaRPr lang="en-US" dirty="0"/>
          </a:p>
        </p:txBody>
      </p:sp>
      <p:sp>
        <p:nvSpPr>
          <p:cNvPr id="4" name="Rectangle 3"/>
          <p:cNvSpPr/>
          <p:nvPr/>
        </p:nvSpPr>
        <p:spPr>
          <a:xfrm>
            <a:off x="914400" y="1057870"/>
            <a:ext cx="7848600" cy="646331"/>
          </a:xfrm>
          <a:prstGeom prst="rect">
            <a:avLst/>
          </a:prstGeom>
        </p:spPr>
        <p:txBody>
          <a:bodyPr wrap="square">
            <a:spAutoFit/>
          </a:bodyPr>
          <a:lstStyle/>
          <a:p>
            <a:r>
              <a:rPr lang="en-US" dirty="0"/>
              <a:t>The operators that consume higher execution time are replaced by the operators consuming less execution time.</a:t>
            </a:r>
          </a:p>
        </p:txBody>
      </p:sp>
      <p:sp>
        <p:nvSpPr>
          <p:cNvPr id="6" name="Rounded Rectangle 5"/>
          <p:cNvSpPr/>
          <p:nvPr/>
        </p:nvSpPr>
        <p:spPr>
          <a:xfrm>
            <a:off x="643498" y="1828800"/>
            <a:ext cx="7696200" cy="1828800"/>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100" b="1" i="0" u="none" strike="noStrike" kern="0" cap="none" spc="0" normalizeH="0" baseline="0" noProof="0" dirty="0">
                <a:ln>
                  <a:noFill/>
                </a:ln>
                <a:solidFill>
                  <a:sysClr val="window" lastClr="FFFFFF"/>
                </a:solidFill>
                <a:effectLst/>
                <a:uLnTx/>
                <a:uFillTx/>
                <a:latin typeface="Calibri"/>
                <a:ea typeface="+mn-ea"/>
                <a:cs typeface="+mn-cs"/>
              </a:rPr>
              <a:t>Initial code: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100" b="0" i="0" u="none" strike="noStrike" kern="0" cap="none" spc="0" normalizeH="0" baseline="0" noProof="0" dirty="0">
                <a:ln>
                  <a:noFill/>
                </a:ln>
                <a:solidFill>
                  <a:sysClr val="windowText" lastClr="000000"/>
                </a:solidFill>
                <a:effectLst/>
                <a:uLnTx/>
                <a:uFillTx/>
                <a:latin typeface="Arial Unicode MS" pitchFamily="34" charset="-128"/>
                <a:ea typeface="+mn-ea"/>
                <a:cs typeface="Arial" pitchFamily="34" charset="0"/>
              </a:rPr>
              <a:t>y = x * 2;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100" b="1" i="0" u="none" strike="noStrike" kern="0" cap="none" spc="0" normalizeH="0" baseline="0" noProof="0" dirty="0">
                <a:ln>
                  <a:noFill/>
                </a:ln>
                <a:solidFill>
                  <a:sysClr val="window" lastClr="FFFFFF"/>
                </a:solidFill>
                <a:effectLst/>
                <a:uLnTx/>
                <a:uFillTx/>
                <a:latin typeface="Calibri"/>
                <a:ea typeface="+mn-ea"/>
                <a:cs typeface="+mn-cs"/>
              </a:rPr>
              <a:t>Optimized code: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100" b="0" i="0" u="none" strike="noStrike" kern="0" cap="none" spc="0" normalizeH="0" baseline="0" noProof="0" dirty="0">
                <a:ln>
                  <a:noFill/>
                </a:ln>
                <a:solidFill>
                  <a:sysClr val="windowText" lastClr="000000"/>
                </a:solidFill>
                <a:effectLst/>
                <a:uLnTx/>
                <a:uFillTx/>
                <a:latin typeface="Arial Unicode MS" pitchFamily="34" charset="-128"/>
                <a:ea typeface="+mn-ea"/>
                <a:cs typeface="Arial" pitchFamily="34" charset="0"/>
              </a:rPr>
              <a:t>y = x + x; or y = x &lt;&lt; 1;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100" b="1" i="0" u="none" strike="noStrike" kern="0" cap="none" spc="0" normalizeH="0" baseline="0" noProof="0" dirty="0">
                <a:ln>
                  <a:noFill/>
                </a:ln>
                <a:solidFill>
                  <a:sysClr val="window" lastClr="FFFFFF"/>
                </a:solidFill>
                <a:effectLst/>
                <a:uLnTx/>
                <a:uFillTx/>
                <a:latin typeface="Calibri"/>
                <a:ea typeface="+mn-ea"/>
                <a:cs typeface="+mn-cs"/>
              </a:rPr>
              <a:t>Initial code: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100" b="0" i="0" u="none" strike="noStrike" kern="0" cap="none" spc="0" normalizeH="0" baseline="0" noProof="0" dirty="0">
                <a:ln>
                  <a:noFill/>
                </a:ln>
                <a:solidFill>
                  <a:sysClr val="windowText" lastClr="000000"/>
                </a:solidFill>
                <a:effectLst/>
                <a:uLnTx/>
                <a:uFillTx/>
                <a:latin typeface="Arial Unicode MS" pitchFamily="34" charset="-128"/>
                <a:ea typeface="+mn-ea"/>
                <a:cs typeface="Arial" pitchFamily="34" charset="0"/>
              </a:rPr>
              <a:t>y = x / 2;</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100" b="1" i="0" u="none" strike="noStrike" kern="0" cap="none" spc="0" normalizeH="0" baseline="0" noProof="0" dirty="0">
                <a:ln>
                  <a:noFill/>
                </a:ln>
                <a:solidFill>
                  <a:sysClr val="window" lastClr="FFFFFF"/>
                </a:solidFill>
                <a:effectLst/>
                <a:uLnTx/>
                <a:uFillTx/>
                <a:latin typeface="Calibri"/>
                <a:ea typeface="+mn-ea"/>
                <a:cs typeface="+mn-cs"/>
              </a:rPr>
              <a:t>Optimized code: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100" b="0" i="0" u="none" strike="noStrike" kern="0" cap="none" spc="0" normalizeH="0" baseline="0" noProof="0" dirty="0">
                <a:ln>
                  <a:noFill/>
                </a:ln>
                <a:solidFill>
                  <a:sysClr val="windowText" lastClr="000000"/>
                </a:solidFill>
                <a:effectLst/>
                <a:uLnTx/>
                <a:uFillTx/>
                <a:latin typeface="Arial Unicode MS" pitchFamily="34" charset="-128"/>
                <a:ea typeface="+mn-ea"/>
                <a:cs typeface="Arial" pitchFamily="34" charset="0"/>
              </a:rPr>
              <a:t>y = x &gt;&gt; 1;</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100" b="0" i="0" u="none" strike="noStrike" kern="0" cap="none" spc="0" normalizeH="0" baseline="0" noProof="0" dirty="0">
              <a:ln>
                <a:noFill/>
              </a:ln>
              <a:solidFill>
                <a:sysClr val="windowText" lastClr="000000"/>
              </a:solidFill>
              <a:effectLst/>
              <a:uLnTx/>
              <a:uFillTx/>
              <a:latin typeface="Arial Unicode MS" pitchFamily="34" charset="-128"/>
              <a:ea typeface="+mn-ea"/>
              <a:cs typeface="Arial"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100" b="0" i="0" u="none" strike="noStrike" kern="0" cap="none" spc="0" normalizeH="0" baseline="0" noProof="0" dirty="0">
                <a:ln>
                  <a:noFill/>
                </a:ln>
                <a:solidFill>
                  <a:sysClr val="windowText" lastClr="000000"/>
                </a:solidFill>
                <a:effectLst/>
                <a:uLnTx/>
                <a:uFillTx/>
                <a:latin typeface="Arial Unicode MS" pitchFamily="34" charset="-128"/>
                <a:ea typeface="+mn-ea"/>
                <a:cs typeface="Arial" pitchFamily="34" charset="0"/>
              </a:rPr>
              <a:t> </a:t>
            </a:r>
          </a:p>
        </p:txBody>
      </p:sp>
      <p:grpSp>
        <p:nvGrpSpPr>
          <p:cNvPr id="10" name="Group 9"/>
          <p:cNvGrpSpPr/>
          <p:nvPr/>
        </p:nvGrpSpPr>
        <p:grpSpPr>
          <a:xfrm>
            <a:off x="643498" y="3886200"/>
            <a:ext cx="7967102" cy="2743200"/>
            <a:chOff x="643498" y="3886200"/>
            <a:chExt cx="7967102" cy="2743200"/>
          </a:xfrm>
        </p:grpSpPr>
        <p:sp>
          <p:nvSpPr>
            <p:cNvPr id="7" name="Rounded Rectangle 6"/>
            <p:cNvSpPr/>
            <p:nvPr/>
          </p:nvSpPr>
          <p:spPr>
            <a:xfrm>
              <a:off x="643498" y="3886200"/>
              <a:ext cx="7967102" cy="2743200"/>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100" b="0" i="0" u="none" strike="noStrike" kern="0" cap="none" spc="0" normalizeH="0" baseline="0" noProof="0" dirty="0">
                <a:ln>
                  <a:noFill/>
                </a:ln>
                <a:solidFill>
                  <a:sysClr val="windowText" lastClr="000000"/>
                </a:solidFill>
                <a:effectLst/>
                <a:uLnTx/>
                <a:uFillTx/>
                <a:latin typeface="Arial Unicode MS" pitchFamily="34" charset="-128"/>
                <a:ea typeface="+mn-ea"/>
                <a:cs typeface="Arial"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100" b="0" i="0" u="none" strike="noStrike" kern="0" cap="none" spc="0" normalizeH="0" baseline="0" noProof="0" dirty="0">
                  <a:ln>
                    <a:noFill/>
                  </a:ln>
                  <a:solidFill>
                    <a:sysClr val="windowText" lastClr="000000"/>
                  </a:solidFill>
                  <a:effectLst/>
                  <a:uLnTx/>
                  <a:uFillTx/>
                  <a:latin typeface="Arial Unicode MS" pitchFamily="34" charset="-128"/>
                  <a:ea typeface="+mn-ea"/>
                  <a:cs typeface="Arial" pitchFamily="34" charset="0"/>
                </a:rPr>
                <a:t> </a:t>
              </a:r>
            </a:p>
          </p:txBody>
        </p:sp>
        <p:sp>
          <p:nvSpPr>
            <p:cNvPr id="8" name="TextBox 7"/>
            <p:cNvSpPr txBox="1"/>
            <p:nvPr/>
          </p:nvSpPr>
          <p:spPr>
            <a:xfrm>
              <a:off x="990600" y="3995678"/>
              <a:ext cx="1981200" cy="2000548"/>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800" b="1" i="0" u="none" strike="noStrike" kern="0" cap="none" spc="0" normalizeH="0" baseline="0" noProof="0" dirty="0">
                  <a:ln>
                    <a:noFill/>
                  </a:ln>
                  <a:solidFill>
                    <a:sysClr val="window" lastClr="FFFFFF"/>
                  </a:solidFill>
                  <a:effectLst/>
                  <a:uLnTx/>
                  <a:uFillTx/>
                </a:rPr>
                <a:t>Initial code: </a:t>
              </a:r>
            </a:p>
            <a:p>
              <a:pPr fontAlgn="base">
                <a:spcBef>
                  <a:spcPct val="0"/>
                </a:spcBef>
                <a:spcAft>
                  <a:spcPct val="0"/>
                </a:spcAft>
                <a:defRPr/>
              </a:pPr>
              <a:endParaRPr lang="en-US" sz="1100" kern="0" dirty="0">
                <a:solidFill>
                  <a:sysClr val="windowText" lastClr="000000"/>
                </a:solidFill>
                <a:latin typeface="Arial Unicode MS" pitchFamily="34" charset="-128"/>
                <a:cs typeface="Arial" pitchFamily="34" charset="0"/>
              </a:endParaRPr>
            </a:p>
            <a:p>
              <a:pPr fontAlgn="base">
                <a:spcBef>
                  <a:spcPct val="0"/>
                </a:spcBef>
                <a:spcAft>
                  <a:spcPct val="0"/>
                </a:spcAft>
                <a:defRPr/>
              </a:pPr>
              <a:r>
                <a:rPr lang="pl-PL" sz="1100" kern="0" dirty="0">
                  <a:solidFill>
                    <a:sysClr val="windowText" lastClr="000000"/>
                  </a:solidFill>
                  <a:latin typeface="Arial Unicode MS" pitchFamily="34" charset="-128"/>
                  <a:cs typeface="Arial" pitchFamily="34" charset="0"/>
                </a:rPr>
                <a:t>x = w % 8;</a:t>
              </a:r>
              <a:endParaRPr lang="en-US" sz="1100" kern="0" dirty="0">
                <a:solidFill>
                  <a:sysClr val="windowText" lastClr="000000"/>
                </a:solidFill>
                <a:latin typeface="Arial Unicode MS" pitchFamily="34" charset="-128"/>
                <a:cs typeface="Arial" pitchFamily="34" charset="0"/>
              </a:endParaRPr>
            </a:p>
            <a:p>
              <a:pPr fontAlgn="base">
                <a:spcBef>
                  <a:spcPct val="0"/>
                </a:spcBef>
                <a:spcAft>
                  <a:spcPct val="0"/>
                </a:spcAft>
                <a:defRPr/>
              </a:pPr>
              <a:r>
                <a:rPr lang="pl-PL" sz="1100" kern="0" dirty="0">
                  <a:solidFill>
                    <a:sysClr val="windowText" lastClr="000000"/>
                  </a:solidFill>
                  <a:latin typeface="Arial Unicode MS" pitchFamily="34" charset="-128"/>
                  <a:cs typeface="Arial" pitchFamily="34" charset="0"/>
                </a:rPr>
                <a:t>y = pow(x, 2.0); </a:t>
              </a:r>
              <a:endParaRPr lang="en-US" sz="1100" kern="0" dirty="0">
                <a:solidFill>
                  <a:sysClr val="windowText" lastClr="000000"/>
                </a:solidFill>
                <a:latin typeface="Arial Unicode MS" pitchFamily="34" charset="-128"/>
                <a:cs typeface="Arial" pitchFamily="34" charset="0"/>
              </a:endParaRPr>
            </a:p>
            <a:p>
              <a:pPr fontAlgn="base">
                <a:spcBef>
                  <a:spcPct val="0"/>
                </a:spcBef>
                <a:spcAft>
                  <a:spcPct val="0"/>
                </a:spcAft>
                <a:defRPr/>
              </a:pPr>
              <a:r>
                <a:rPr lang="pl-PL" sz="1100" kern="0" dirty="0">
                  <a:solidFill>
                    <a:sysClr val="windowText" lastClr="000000"/>
                  </a:solidFill>
                  <a:latin typeface="Arial Unicode MS" pitchFamily="34" charset="-128"/>
                  <a:cs typeface="Arial" pitchFamily="34" charset="0"/>
                </a:rPr>
                <a:t>z = y * 33; </a:t>
              </a:r>
              <a:endParaRPr lang="en-US" sz="1100" kern="0" dirty="0">
                <a:solidFill>
                  <a:sysClr val="windowText" lastClr="000000"/>
                </a:solidFill>
                <a:latin typeface="Arial Unicode MS" pitchFamily="34" charset="-128"/>
                <a:cs typeface="Arial" pitchFamily="34" charset="0"/>
              </a:endParaRPr>
            </a:p>
            <a:p>
              <a:pPr fontAlgn="base">
                <a:spcBef>
                  <a:spcPct val="0"/>
                </a:spcBef>
                <a:spcAft>
                  <a:spcPct val="0"/>
                </a:spcAft>
                <a:defRPr/>
              </a:pPr>
              <a:r>
                <a:rPr lang="pl-PL" sz="1100" kern="0" dirty="0">
                  <a:solidFill>
                    <a:sysClr val="windowText" lastClr="000000"/>
                  </a:solidFill>
                  <a:latin typeface="Arial Unicode MS" pitchFamily="34" charset="-128"/>
                  <a:cs typeface="Arial" pitchFamily="34" charset="0"/>
                </a:rPr>
                <a:t>for (i = 0; i &lt; MAX; i++) { </a:t>
              </a:r>
              <a:endParaRPr lang="en-US" sz="1100" kern="0" dirty="0">
                <a:solidFill>
                  <a:sysClr val="windowText" lastClr="000000"/>
                </a:solidFill>
                <a:latin typeface="Arial Unicode MS" pitchFamily="34" charset="-128"/>
                <a:cs typeface="Arial" pitchFamily="34" charset="0"/>
              </a:endParaRPr>
            </a:p>
            <a:p>
              <a:pPr fontAlgn="base">
                <a:spcBef>
                  <a:spcPct val="0"/>
                </a:spcBef>
                <a:spcAft>
                  <a:spcPct val="0"/>
                </a:spcAft>
                <a:defRPr/>
              </a:pPr>
              <a:r>
                <a:rPr lang="pl-PL" sz="1100" kern="0" dirty="0">
                  <a:solidFill>
                    <a:sysClr val="windowText" lastClr="000000"/>
                  </a:solidFill>
                  <a:latin typeface="Arial Unicode MS" pitchFamily="34" charset="-128"/>
                  <a:cs typeface="Arial" pitchFamily="34" charset="0"/>
                </a:rPr>
                <a:t>h = 14 * i; </a:t>
              </a:r>
              <a:endParaRPr lang="en-US" sz="1100" kern="0" dirty="0">
                <a:solidFill>
                  <a:sysClr val="windowText" lastClr="000000"/>
                </a:solidFill>
                <a:latin typeface="Arial Unicode MS" pitchFamily="34" charset="-128"/>
                <a:cs typeface="Arial" pitchFamily="34" charset="0"/>
              </a:endParaRPr>
            </a:p>
            <a:p>
              <a:pPr fontAlgn="base">
                <a:spcBef>
                  <a:spcPct val="0"/>
                </a:spcBef>
                <a:spcAft>
                  <a:spcPct val="0"/>
                </a:spcAft>
                <a:defRPr/>
              </a:pPr>
              <a:r>
                <a:rPr lang="pl-PL" sz="1100" kern="0" dirty="0">
                  <a:solidFill>
                    <a:sysClr val="windowText" lastClr="000000"/>
                  </a:solidFill>
                  <a:latin typeface="Arial Unicode MS" pitchFamily="34" charset="-128"/>
                  <a:cs typeface="Arial" pitchFamily="34" charset="0"/>
                </a:rPr>
                <a:t>printf("%d", h); </a:t>
              </a:r>
              <a:endParaRPr lang="en-US" sz="1100" kern="0" dirty="0">
                <a:solidFill>
                  <a:sysClr val="windowText" lastClr="000000"/>
                </a:solidFill>
                <a:latin typeface="Arial Unicode MS" pitchFamily="34" charset="-128"/>
                <a:cs typeface="Arial" pitchFamily="34" charset="0"/>
              </a:endParaRPr>
            </a:p>
            <a:p>
              <a:pPr fontAlgn="base">
                <a:spcBef>
                  <a:spcPct val="0"/>
                </a:spcBef>
                <a:spcAft>
                  <a:spcPct val="0"/>
                </a:spcAft>
                <a:defRPr/>
              </a:pPr>
              <a:r>
                <a:rPr lang="pl-PL" sz="1100" kern="0" dirty="0">
                  <a:solidFill>
                    <a:sysClr val="windowText" lastClr="000000"/>
                  </a:solidFill>
                  <a:latin typeface="Arial Unicode MS" pitchFamily="34" charset="-128"/>
                  <a:cs typeface="Arial" pitchFamily="34" charset="0"/>
                </a:rPr>
                <a:t>}</a:t>
              </a:r>
              <a:endParaRPr lang="en-US" altLang="en-US" sz="1100" kern="0" dirty="0">
                <a:solidFill>
                  <a:sysClr val="windowText" lastClr="000000"/>
                </a:solidFill>
                <a:latin typeface="Arial Unicode MS" pitchFamily="34" charset="-128"/>
                <a:cs typeface="Arial"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9" name="TextBox 8"/>
            <p:cNvSpPr txBox="1"/>
            <p:nvPr/>
          </p:nvSpPr>
          <p:spPr>
            <a:xfrm>
              <a:off x="3886200" y="3995678"/>
              <a:ext cx="4724400" cy="1723549"/>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800" b="1" i="0" u="none" strike="noStrike" kern="0" cap="none" spc="0" normalizeH="0" baseline="0" noProof="0" dirty="0">
                  <a:ln>
                    <a:noFill/>
                  </a:ln>
                  <a:solidFill>
                    <a:sysClr val="window" lastClr="FFFFFF"/>
                  </a:solidFill>
                  <a:effectLst/>
                  <a:uLnTx/>
                  <a:uFillTx/>
                </a:rPr>
                <a:t>Initial code: </a:t>
              </a:r>
            </a:p>
            <a:p>
              <a:pPr marL="0" marR="0" lvl="0" indent="0" defTabSz="914400" eaLnBrk="1" fontAlgn="base" latinLnBrk="0" hangingPunct="1">
                <a:lnSpc>
                  <a:spcPct val="100000"/>
                </a:lnSpc>
                <a:spcBef>
                  <a:spcPct val="0"/>
                </a:spcBef>
                <a:spcAft>
                  <a:spcPct val="0"/>
                </a:spcAft>
                <a:buClrTx/>
                <a:buSzTx/>
                <a:buFontTx/>
                <a:buNone/>
                <a:tabLst/>
                <a:defRPr/>
              </a:pPr>
              <a:r>
                <a:rPr lang="en-US" sz="1100" kern="0" dirty="0">
                  <a:solidFill>
                    <a:sysClr val="windowText" lastClr="000000"/>
                  </a:solidFill>
                  <a:latin typeface="Arial Unicode MS" pitchFamily="34" charset="-128"/>
                  <a:cs typeface="Arial" pitchFamily="34" charset="0"/>
                </a:rPr>
                <a:t>x = w &amp; 7; 		/* bit-and cheaper than remainder */</a:t>
              </a:r>
              <a:br>
                <a:rPr lang="en-US" sz="1100" kern="0" dirty="0">
                  <a:solidFill>
                    <a:sysClr val="windowText" lastClr="000000"/>
                  </a:solidFill>
                  <a:latin typeface="Arial Unicode MS" pitchFamily="34" charset="-128"/>
                  <a:cs typeface="Arial" pitchFamily="34" charset="0"/>
                </a:rPr>
              </a:br>
              <a:r>
                <a:rPr lang="en-US" sz="1100" kern="0" dirty="0">
                  <a:solidFill>
                    <a:sysClr val="windowText" lastClr="000000"/>
                  </a:solidFill>
                  <a:latin typeface="Arial Unicode MS" pitchFamily="34" charset="-128"/>
                  <a:cs typeface="Arial" pitchFamily="34" charset="0"/>
                </a:rPr>
                <a:t>y = x * x;		 /* </a:t>
              </a:r>
              <a:r>
                <a:rPr lang="en-US" sz="1100" kern="0" dirty="0" err="1">
                  <a:solidFill>
                    <a:sysClr val="windowText" lastClr="000000"/>
                  </a:solidFill>
                  <a:latin typeface="Arial Unicode MS" pitchFamily="34" charset="-128"/>
                  <a:cs typeface="Arial" pitchFamily="34" charset="0"/>
                </a:rPr>
                <a:t>mult</a:t>
              </a:r>
              <a:r>
                <a:rPr lang="en-US" sz="1100" kern="0" dirty="0">
                  <a:solidFill>
                    <a:sysClr val="windowText" lastClr="000000"/>
                  </a:solidFill>
                  <a:latin typeface="Arial Unicode MS" pitchFamily="34" charset="-128"/>
                  <a:cs typeface="Arial" pitchFamily="34" charset="0"/>
                </a:rPr>
                <a:t> is cheaper than power-of */ </a:t>
              </a:r>
            </a:p>
            <a:p>
              <a:pPr marL="0" marR="0" lvl="0" indent="0" defTabSz="914400" eaLnBrk="1" fontAlgn="base" latinLnBrk="0" hangingPunct="1">
                <a:lnSpc>
                  <a:spcPct val="100000"/>
                </a:lnSpc>
                <a:spcBef>
                  <a:spcPct val="0"/>
                </a:spcBef>
                <a:spcAft>
                  <a:spcPct val="0"/>
                </a:spcAft>
                <a:buClrTx/>
                <a:buSzTx/>
                <a:buFontTx/>
                <a:buNone/>
                <a:tabLst/>
                <a:defRPr/>
              </a:pPr>
              <a:r>
                <a:rPr lang="en-US" sz="1100" kern="0" dirty="0">
                  <a:solidFill>
                    <a:sysClr val="windowText" lastClr="000000"/>
                  </a:solidFill>
                  <a:latin typeface="Arial Unicode MS" pitchFamily="34" charset="-128"/>
                  <a:cs typeface="Arial" pitchFamily="34" charset="0"/>
                </a:rPr>
                <a:t>z = (y &lt;&lt; 5) + y; 	/* shift &amp; add cheaper than </a:t>
              </a:r>
              <a:r>
                <a:rPr lang="en-US" sz="1100" kern="0" dirty="0" err="1">
                  <a:solidFill>
                    <a:sysClr val="windowText" lastClr="000000"/>
                  </a:solidFill>
                  <a:latin typeface="Arial Unicode MS" pitchFamily="34" charset="-128"/>
                  <a:cs typeface="Arial" pitchFamily="34" charset="0"/>
                </a:rPr>
                <a:t>mult</a:t>
              </a:r>
              <a:r>
                <a:rPr lang="en-US" sz="1100" kern="0" dirty="0">
                  <a:solidFill>
                    <a:sysClr val="windowText" lastClr="000000"/>
                  </a:solidFill>
                  <a:latin typeface="Arial Unicode MS" pitchFamily="34" charset="-128"/>
                  <a:cs typeface="Arial" pitchFamily="34" charset="0"/>
                </a:rPr>
                <a:t> */ </a:t>
              </a:r>
            </a:p>
            <a:p>
              <a:pPr marL="0" marR="0" lvl="0" indent="0" defTabSz="914400" eaLnBrk="1" fontAlgn="base" latinLnBrk="0" hangingPunct="1">
                <a:lnSpc>
                  <a:spcPct val="100000"/>
                </a:lnSpc>
                <a:spcBef>
                  <a:spcPct val="0"/>
                </a:spcBef>
                <a:spcAft>
                  <a:spcPct val="0"/>
                </a:spcAft>
                <a:buClrTx/>
                <a:buSzTx/>
                <a:buFontTx/>
                <a:buNone/>
                <a:tabLst/>
                <a:defRPr/>
              </a:pPr>
              <a:r>
                <a:rPr lang="en-US" sz="1100" kern="0" dirty="0">
                  <a:solidFill>
                    <a:sysClr val="windowText" lastClr="000000"/>
                  </a:solidFill>
                  <a:latin typeface="Arial Unicode MS" pitchFamily="34" charset="-128"/>
                  <a:cs typeface="Arial" pitchFamily="34" charset="0"/>
                </a:rPr>
                <a:t>for (</a:t>
              </a:r>
              <a:r>
                <a:rPr lang="en-US" sz="1100" kern="0" dirty="0" err="1">
                  <a:solidFill>
                    <a:sysClr val="windowText" lastClr="000000"/>
                  </a:solidFill>
                  <a:latin typeface="Arial Unicode MS" pitchFamily="34" charset="-128"/>
                  <a:cs typeface="Arial" pitchFamily="34" charset="0"/>
                </a:rPr>
                <a:t>i</a:t>
              </a:r>
              <a:r>
                <a:rPr lang="en-US" sz="1100" kern="0" dirty="0">
                  <a:solidFill>
                    <a:sysClr val="windowText" lastClr="000000"/>
                  </a:solidFill>
                  <a:latin typeface="Arial Unicode MS" pitchFamily="34" charset="-128"/>
                  <a:cs typeface="Arial" pitchFamily="34" charset="0"/>
                </a:rPr>
                <a:t> = h = 0; </a:t>
              </a:r>
              <a:r>
                <a:rPr lang="en-US" sz="1100" kern="0" dirty="0" err="1">
                  <a:solidFill>
                    <a:sysClr val="windowText" lastClr="000000"/>
                  </a:solidFill>
                  <a:latin typeface="Arial Unicode MS" pitchFamily="34" charset="-128"/>
                  <a:cs typeface="Arial" pitchFamily="34" charset="0"/>
                </a:rPr>
                <a:t>i</a:t>
              </a:r>
              <a:r>
                <a:rPr lang="en-US" sz="1100" kern="0" dirty="0">
                  <a:solidFill>
                    <a:sysClr val="windowText" lastClr="000000"/>
                  </a:solidFill>
                  <a:latin typeface="Arial Unicode MS" pitchFamily="34" charset="-128"/>
                  <a:cs typeface="Arial" pitchFamily="34" charset="0"/>
                </a:rPr>
                <a:t> &lt; MAX; </a:t>
              </a:r>
              <a:r>
                <a:rPr lang="en-US" sz="1100" kern="0" dirty="0" err="1">
                  <a:solidFill>
                    <a:sysClr val="windowText" lastClr="000000"/>
                  </a:solidFill>
                  <a:latin typeface="Arial Unicode MS" pitchFamily="34" charset="-128"/>
                  <a:cs typeface="Arial" pitchFamily="34" charset="0"/>
                </a:rPr>
                <a:t>i</a:t>
              </a:r>
              <a:r>
                <a:rPr lang="en-US" sz="1100" kern="0" dirty="0">
                  <a:solidFill>
                    <a:sysClr val="windowText" lastClr="000000"/>
                  </a:solidFill>
                  <a:latin typeface="Arial Unicode MS" pitchFamily="34" charset="-128"/>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lang="en-US" sz="1100" kern="0" dirty="0">
                  <a:solidFill>
                    <a:sysClr val="windowText" lastClr="000000"/>
                  </a:solidFill>
                  <a:latin typeface="Arial Unicode MS" pitchFamily="34" charset="-128"/>
                  <a:cs typeface="Arial"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lang="en-US" sz="1100" kern="0" dirty="0">
                  <a:solidFill>
                    <a:sysClr val="windowText" lastClr="000000"/>
                  </a:solidFill>
                  <a:latin typeface="Arial Unicode MS" pitchFamily="34" charset="-128"/>
                  <a:cs typeface="Arial" pitchFamily="34" charset="0"/>
                </a:rPr>
                <a:t> </a:t>
              </a:r>
              <a:r>
                <a:rPr lang="en-US" sz="1100" kern="0" dirty="0" err="1">
                  <a:solidFill>
                    <a:sysClr val="windowText" lastClr="000000"/>
                  </a:solidFill>
                  <a:latin typeface="Arial Unicode MS" pitchFamily="34" charset="-128"/>
                  <a:cs typeface="Arial" pitchFamily="34" charset="0"/>
                </a:rPr>
                <a:t>printf</a:t>
              </a:r>
              <a:r>
                <a:rPr lang="en-US" sz="1100" kern="0" dirty="0">
                  <a:solidFill>
                    <a:sysClr val="windowText" lastClr="000000"/>
                  </a:solidFill>
                  <a:latin typeface="Arial Unicode MS" pitchFamily="34" charset="-128"/>
                  <a:cs typeface="Arial" pitchFamily="34" charset="0"/>
                </a:rPr>
                <a:t>("%d", h); </a:t>
              </a:r>
            </a:p>
            <a:p>
              <a:pPr marL="0" marR="0" lvl="0" indent="0" defTabSz="914400" eaLnBrk="1" fontAlgn="base" latinLnBrk="0" hangingPunct="1">
                <a:lnSpc>
                  <a:spcPct val="100000"/>
                </a:lnSpc>
                <a:spcBef>
                  <a:spcPct val="0"/>
                </a:spcBef>
                <a:spcAft>
                  <a:spcPct val="0"/>
                </a:spcAft>
                <a:buClrTx/>
                <a:buSzTx/>
                <a:buFontTx/>
                <a:buNone/>
                <a:tabLst/>
                <a:defRPr/>
              </a:pPr>
              <a:r>
                <a:rPr lang="en-US" sz="1100" kern="0" dirty="0">
                  <a:solidFill>
                    <a:sysClr val="windowText" lastClr="000000"/>
                  </a:solidFill>
                  <a:latin typeface="Arial Unicode MS" pitchFamily="34" charset="-128"/>
                  <a:cs typeface="Arial" pitchFamily="34" charset="0"/>
                </a:rPr>
                <a:t>h += 14;		 /* addition cheaper than </a:t>
              </a:r>
              <a:r>
                <a:rPr lang="en-US" sz="1100" kern="0" dirty="0" err="1">
                  <a:solidFill>
                    <a:sysClr val="windowText" lastClr="000000"/>
                  </a:solidFill>
                  <a:latin typeface="Arial Unicode MS" pitchFamily="34" charset="-128"/>
                  <a:cs typeface="Arial" pitchFamily="34" charset="0"/>
                </a:rPr>
                <a:t>mult</a:t>
              </a:r>
              <a:r>
                <a:rPr lang="en-US" sz="1100" kern="0" dirty="0">
                  <a:solidFill>
                    <a:sysClr val="windowText" lastClr="000000"/>
                  </a:solidFill>
                  <a:latin typeface="Arial Unicode MS" pitchFamily="34" charset="-128"/>
                  <a:cs typeface="Arial" pitchFamily="34" charset="0"/>
                </a:rPr>
                <a:t> */ </a:t>
              </a:r>
            </a:p>
            <a:p>
              <a:pPr marL="0" marR="0" lvl="0" indent="0" defTabSz="914400" eaLnBrk="1" fontAlgn="base" latinLnBrk="0" hangingPunct="1">
                <a:lnSpc>
                  <a:spcPct val="100000"/>
                </a:lnSpc>
                <a:spcBef>
                  <a:spcPct val="0"/>
                </a:spcBef>
                <a:spcAft>
                  <a:spcPct val="0"/>
                </a:spcAft>
                <a:buClrTx/>
                <a:buSzTx/>
                <a:buFontTx/>
                <a:buNone/>
                <a:tabLst/>
                <a:defRPr/>
              </a:pPr>
              <a:r>
                <a:rPr lang="en-US" sz="1100" kern="0" dirty="0">
                  <a:solidFill>
                    <a:sysClr val="windowText" lastClr="000000"/>
                  </a:solidFill>
                  <a:latin typeface="Arial Unicode MS" pitchFamily="34" charset="-128"/>
                  <a:cs typeface="Arial" pitchFamily="34" charset="0"/>
                </a:rPr>
                <a:t>}</a:t>
              </a:r>
            </a:p>
          </p:txBody>
        </p:sp>
      </p:grpSp>
    </p:spTree>
    <p:extLst>
      <p:ext uri="{BB962C8B-B14F-4D97-AF65-F5344CB8AC3E}">
        <p14:creationId xmlns:p14="http://schemas.microsoft.com/office/powerpoint/2010/main" val="22214279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08755" y="926068"/>
            <a:ext cx="2364750"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t>4.Unreachable code</a:t>
            </a:r>
          </a:p>
        </p:txBody>
      </p:sp>
      <p:sp>
        <p:nvSpPr>
          <p:cNvPr id="7" name="Rectangle 6"/>
          <p:cNvSpPr/>
          <p:nvPr/>
        </p:nvSpPr>
        <p:spPr>
          <a:xfrm>
            <a:off x="518354" y="1371600"/>
            <a:ext cx="7713785" cy="64633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Unreachable code is a part of the program code that is never accessed because of programming constructs.</a:t>
            </a:r>
          </a:p>
        </p:txBody>
      </p:sp>
      <p:sp>
        <p:nvSpPr>
          <p:cNvPr id="8" name="Rounded Rectangle 7"/>
          <p:cNvSpPr/>
          <p:nvPr/>
        </p:nvSpPr>
        <p:spPr>
          <a:xfrm>
            <a:off x="411577" y="2523392"/>
            <a:ext cx="7696200" cy="1058008"/>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latin typeface="Calibri"/>
                <a:ea typeface="+mn-ea"/>
                <a:cs typeface="+mn-cs"/>
              </a:rPr>
              <a:t>void </a:t>
            </a:r>
            <a:r>
              <a:rPr kumimoji="0" lang="en-US" sz="1800" b="0" i="0" u="none" strike="noStrike" kern="0" cap="none" spc="0" normalizeH="0" baseline="0" noProof="0" dirty="0" err="1">
                <a:ln>
                  <a:noFill/>
                </a:ln>
                <a:solidFill>
                  <a:sysClr val="window" lastClr="FFFFFF"/>
                </a:solidFill>
                <a:effectLst/>
                <a:uLnTx/>
                <a:uFillTx/>
                <a:latin typeface="Calibri"/>
                <a:ea typeface="+mn-ea"/>
                <a:cs typeface="+mn-cs"/>
              </a:rPr>
              <a:t>add_ten</a:t>
            </a:r>
            <a:r>
              <a:rPr kumimoji="0" lang="en-US" sz="1800" b="0" i="0" u="none" strike="noStrike" kern="0" cap="none" spc="0" normalizeH="0" baseline="0" noProof="0" dirty="0">
                <a:ln>
                  <a:noFill/>
                </a:ln>
                <a:solidFill>
                  <a:sysClr val="window" lastClr="FFFFFF"/>
                </a:solidFill>
                <a:effectLst/>
                <a:uLnTx/>
                <a:uFillTx/>
                <a:latin typeface="Calibri"/>
                <a:ea typeface="+mn-ea"/>
                <a:cs typeface="+mn-cs"/>
              </a:rPr>
              <a:t>(</a:t>
            </a:r>
            <a:r>
              <a:rPr kumimoji="0" lang="en-US" sz="1800" b="0" i="0" u="none" strike="noStrike" kern="0" cap="none" spc="0" normalizeH="0" baseline="0" noProof="0" dirty="0" err="1">
                <a:ln>
                  <a:noFill/>
                </a:ln>
                <a:solidFill>
                  <a:sysClr val="window" lastClr="FFFFFF"/>
                </a:solidFill>
                <a:effectLst/>
                <a:uLnTx/>
                <a:uFillTx/>
                <a:latin typeface="Calibri"/>
                <a:ea typeface="+mn-ea"/>
                <a:cs typeface="+mn-cs"/>
              </a:rPr>
              <a:t>int</a:t>
            </a:r>
            <a:r>
              <a:rPr kumimoji="0" lang="en-US" sz="1800" b="0" i="0" u="none" strike="noStrike" kern="0" cap="none" spc="0" normalizeH="0" baseline="0" noProof="0" dirty="0">
                <a:ln>
                  <a:noFill/>
                </a:ln>
                <a:solidFill>
                  <a:sysClr val="window" lastClr="FFFFFF"/>
                </a:solidFill>
                <a:effectLst/>
                <a:uLnTx/>
                <a:uFillTx/>
                <a:latin typeface="Calibri"/>
                <a:ea typeface="+mn-ea"/>
                <a:cs typeface="+mn-cs"/>
              </a:rPr>
              <a:t> x)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latin typeface="Calibri"/>
                <a:ea typeface="+mn-ea"/>
                <a:cs typeface="+mn-cs"/>
              </a:rPr>
              <a:t> </a:t>
            </a:r>
            <a:r>
              <a:rPr kumimoji="0" lang="en-US" sz="1400" b="0" i="0" u="none" strike="noStrike" kern="0" cap="none" spc="0" normalizeH="0" baseline="0" noProof="0" dirty="0">
                <a:ln>
                  <a:noFill/>
                </a:ln>
                <a:solidFill>
                  <a:sysClr val="window" lastClr="FFFFFF"/>
                </a:solidFill>
                <a:effectLst/>
                <a:uLnTx/>
                <a:uFillTx/>
                <a:latin typeface="Calibri"/>
                <a:ea typeface="+mn-ea"/>
                <a:cs typeface="+mn-cs"/>
              </a:rPr>
              <a:t>return x + 10;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 lastClr="FFFFFF"/>
                </a:solidFill>
                <a:effectLst/>
                <a:uLnTx/>
                <a:uFillTx/>
                <a:latin typeface="Calibri"/>
                <a:ea typeface="+mn-ea"/>
                <a:cs typeface="+mn-cs"/>
              </a:rPr>
              <a:t> </a:t>
            </a:r>
            <a:r>
              <a:rPr kumimoji="0" lang="en-US" sz="1400" b="0" i="0" u="none" strike="noStrike" kern="0" cap="none" spc="0" normalizeH="0" baseline="0" noProof="0" dirty="0" err="1">
                <a:ln>
                  <a:noFill/>
                </a:ln>
                <a:solidFill>
                  <a:sysClr val="window" lastClr="FFFFFF"/>
                </a:solidFill>
                <a:effectLst/>
                <a:uLnTx/>
                <a:uFillTx/>
                <a:latin typeface="Calibri"/>
                <a:ea typeface="+mn-ea"/>
                <a:cs typeface="+mn-cs"/>
              </a:rPr>
              <a:t>printf</a:t>
            </a:r>
            <a:r>
              <a:rPr kumimoji="0" lang="en-US" sz="1400" b="0" i="0" u="none" strike="noStrike" kern="0" cap="none" spc="0" normalizeH="0" baseline="0" noProof="0" dirty="0">
                <a:ln>
                  <a:noFill/>
                </a:ln>
                <a:solidFill>
                  <a:sysClr val="window" lastClr="FFFFFF"/>
                </a:solidFill>
                <a:effectLst/>
                <a:uLnTx/>
                <a:uFillTx/>
                <a:latin typeface="Calibri"/>
                <a:ea typeface="+mn-ea"/>
                <a:cs typeface="+mn-cs"/>
              </a:rPr>
              <a:t>(“value of x is %d”, x);</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 lastClr="FFFFFF"/>
                </a:solidFill>
                <a:effectLst/>
                <a:uLnTx/>
                <a:uFillTx/>
                <a:latin typeface="Calibri"/>
                <a:ea typeface="+mn-ea"/>
                <a:cs typeface="+mn-cs"/>
              </a:rPr>
              <a:t> }</a:t>
            </a:r>
          </a:p>
        </p:txBody>
      </p:sp>
    </p:spTree>
    <p:extLst>
      <p:ext uri="{BB962C8B-B14F-4D97-AF65-F5344CB8AC3E}">
        <p14:creationId xmlns:p14="http://schemas.microsoft.com/office/powerpoint/2010/main" val="2221427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95600" y="2971800"/>
            <a:ext cx="2743200" cy="523220"/>
          </a:xfrm>
          <a:prstGeom prst="rect">
            <a:avLst/>
          </a:prstGeom>
          <a:noFill/>
        </p:spPr>
        <p:txBody>
          <a:bodyPr wrap="square" rtlCol="0">
            <a:spAutoFit/>
          </a:bodyPr>
          <a:lstStyle/>
          <a:p>
            <a:pPr algn="ctr"/>
            <a:r>
              <a:rPr lang="en-US" sz="2800" dirty="0"/>
              <a:t>Thank you</a:t>
            </a:r>
          </a:p>
        </p:txBody>
      </p:sp>
    </p:spTree>
    <p:extLst>
      <p:ext uri="{BB962C8B-B14F-4D97-AF65-F5344CB8AC3E}">
        <p14:creationId xmlns:p14="http://schemas.microsoft.com/office/powerpoint/2010/main" val="4096545976"/>
      </p:ext>
    </p:extLst>
  </p:cSld>
  <p:clrMapOvr>
    <a:masterClrMapping/>
  </p:clrMapOvr>
</p:sld>
</file>

<file path=ppt/theme/theme1.xml><?xml version="1.0" encoding="utf-8"?>
<a:theme xmlns:a="http://schemas.openxmlformats.org/drawingml/2006/main" name="3_Conference1">
  <a:themeElements>
    <a:clrScheme name="business5 1">
      <a:dk1>
        <a:srgbClr val="4D4D4D"/>
      </a:dk1>
      <a:lt1>
        <a:srgbClr val="FFFFFF"/>
      </a:lt1>
      <a:dk2>
        <a:srgbClr val="F2EF62"/>
      </a:dk2>
      <a:lt2>
        <a:srgbClr val="DDDDDD"/>
      </a:lt2>
      <a:accent1>
        <a:srgbClr val="8FAD2F"/>
      </a:accent1>
      <a:accent2>
        <a:srgbClr val="DBE8B2"/>
      </a:accent2>
      <a:accent3>
        <a:srgbClr val="FFFFFF"/>
      </a:accent3>
      <a:accent4>
        <a:srgbClr val="404040"/>
      </a:accent4>
      <a:accent5>
        <a:srgbClr val="C6D3AD"/>
      </a:accent5>
      <a:accent6>
        <a:srgbClr val="C6D2A1"/>
      </a:accent6>
      <a:hlink>
        <a:srgbClr val="BAD16F"/>
      </a:hlink>
      <a:folHlink>
        <a:srgbClr val="507800"/>
      </a:folHlink>
    </a:clrScheme>
    <a:fontScheme name="3_Conference1">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itchFamily="18" charset="0"/>
            <a:ea typeface="Gulim" pitchFamily="34" charset="-127"/>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itchFamily="18" charset="0"/>
            <a:ea typeface="Gulim" pitchFamily="34" charset="-127"/>
          </a:defRPr>
        </a:defPPr>
      </a:lstStyle>
    </a:lnDef>
  </a:objectDefaults>
  <a:extraClrSchemeLst>
    <a:extraClrScheme>
      <a:clrScheme name="business5 1">
        <a:dk1>
          <a:srgbClr val="4D4D4D"/>
        </a:dk1>
        <a:lt1>
          <a:srgbClr val="FFFFFF"/>
        </a:lt1>
        <a:dk2>
          <a:srgbClr val="F2EF62"/>
        </a:dk2>
        <a:lt2>
          <a:srgbClr val="DDDDDD"/>
        </a:lt2>
        <a:accent1>
          <a:srgbClr val="8FAD2F"/>
        </a:accent1>
        <a:accent2>
          <a:srgbClr val="DBE8B2"/>
        </a:accent2>
        <a:accent3>
          <a:srgbClr val="FFFFFF"/>
        </a:accent3>
        <a:accent4>
          <a:srgbClr val="404040"/>
        </a:accent4>
        <a:accent5>
          <a:srgbClr val="C6D3AD"/>
        </a:accent5>
        <a:accent6>
          <a:srgbClr val="C6D2A1"/>
        </a:accent6>
        <a:hlink>
          <a:srgbClr val="BAD16F"/>
        </a:hlink>
        <a:folHlink>
          <a:srgbClr val="507800"/>
        </a:folHlink>
      </a:clrScheme>
      <a:clrMap bg1="lt1" tx1="dk1" bg2="lt2" tx2="dk2" accent1="accent1" accent2="accent2" accent3="accent3" accent4="accent4" accent5="accent5" accent6="accent6" hlink="hlink" folHlink="folHlink"/>
    </a:extraClrScheme>
    <a:extraClrScheme>
      <a:clrScheme name="business5 2">
        <a:dk1>
          <a:srgbClr val="4D4D4D"/>
        </a:dk1>
        <a:lt1>
          <a:srgbClr val="FFFFFF"/>
        </a:lt1>
        <a:dk2>
          <a:srgbClr val="F4D18A"/>
        </a:dk2>
        <a:lt2>
          <a:srgbClr val="DDDDDD"/>
        </a:lt2>
        <a:accent1>
          <a:srgbClr val="B99633"/>
        </a:accent1>
        <a:accent2>
          <a:srgbClr val="EDE5D1"/>
        </a:accent2>
        <a:accent3>
          <a:srgbClr val="FFFFFF"/>
        </a:accent3>
        <a:accent4>
          <a:srgbClr val="404040"/>
        </a:accent4>
        <a:accent5>
          <a:srgbClr val="D9C9AD"/>
        </a:accent5>
        <a:accent6>
          <a:srgbClr val="D7CFBD"/>
        </a:accent6>
        <a:hlink>
          <a:srgbClr val="DAC896"/>
        </a:hlink>
        <a:folHlink>
          <a:srgbClr val="776101"/>
        </a:folHlink>
      </a:clrScheme>
      <a:clrMap bg1="lt1" tx1="dk1" bg2="lt2" tx2="dk2" accent1="accent1" accent2="accent2" accent3="accent3" accent4="accent4" accent5="accent5" accent6="accent6" hlink="hlink" folHlink="folHlink"/>
    </a:extraClrScheme>
    <a:extraClrScheme>
      <a:clrScheme name="business5 3">
        <a:dk1>
          <a:srgbClr val="4D4D4D"/>
        </a:dk1>
        <a:lt1>
          <a:srgbClr val="FFFFFF"/>
        </a:lt1>
        <a:dk2>
          <a:srgbClr val="61C2F3"/>
        </a:dk2>
        <a:lt2>
          <a:srgbClr val="DDDDDD"/>
        </a:lt2>
        <a:accent1>
          <a:srgbClr val="5968D7"/>
        </a:accent1>
        <a:accent2>
          <a:srgbClr val="BECDEA"/>
        </a:accent2>
        <a:accent3>
          <a:srgbClr val="FFFFFF"/>
        </a:accent3>
        <a:accent4>
          <a:srgbClr val="404040"/>
        </a:accent4>
        <a:accent5>
          <a:srgbClr val="B5B9E8"/>
        </a:accent5>
        <a:accent6>
          <a:srgbClr val="ACBAD4"/>
        </a:accent6>
        <a:hlink>
          <a:srgbClr val="93A8EB"/>
        </a:hlink>
        <a:folHlink>
          <a:srgbClr val="1300A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2aca38d-74d5-4ce7-920c-59228ba159e1">
      <Terms xmlns="http://schemas.microsoft.com/office/infopath/2007/PartnerControls"/>
    </lcf76f155ced4ddcb4097134ff3c332f>
    <TaxCatchAll xmlns="204c8fdd-6a95-4db6-9bb5-c65d7126e42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360F794EE8B7F4896CF96123B576A02" ma:contentTypeVersion="14" ma:contentTypeDescription="Create a new document." ma:contentTypeScope="" ma:versionID="a515f5e97c337ced10d4210d6ad70d57">
  <xsd:schema xmlns:xsd="http://www.w3.org/2001/XMLSchema" xmlns:xs="http://www.w3.org/2001/XMLSchema" xmlns:p="http://schemas.microsoft.com/office/2006/metadata/properties" xmlns:ns2="82aca38d-74d5-4ce7-920c-59228ba159e1" xmlns:ns3="204c8fdd-6a95-4db6-9bb5-c65d7126e426" targetNamespace="http://schemas.microsoft.com/office/2006/metadata/properties" ma:root="true" ma:fieldsID="48b2a20fcc60b9779bf550ce6025378e" ns2:_="" ns3:_="">
    <xsd:import namespace="82aca38d-74d5-4ce7-920c-59228ba159e1"/>
    <xsd:import namespace="204c8fdd-6a95-4db6-9bb5-c65d7126e4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aca38d-74d5-4ce7-920c-59228ba159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6d8ae02-67be-425d-859a-0c16ee0cf0fd"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04c8fdd-6a95-4db6-9bb5-c65d7126e42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d497cf32-f975-48ff-8ef4-ce7729ecca1e}" ma:internalName="TaxCatchAll" ma:showField="CatchAllData" ma:web="204c8fdd-6a95-4db6-9bb5-c65d7126e4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5F663D-15CA-4033-807A-3E34FD90F724}">
  <ds:schemaRefs>
    <ds:schemaRef ds:uri="http://schemas.microsoft.com/office/2006/metadata/properties"/>
    <ds:schemaRef ds:uri="http://schemas.microsoft.com/office/infopath/2007/PartnerControls"/>
    <ds:schemaRef ds:uri="82aca38d-74d5-4ce7-920c-59228ba159e1"/>
    <ds:schemaRef ds:uri="204c8fdd-6a95-4db6-9bb5-c65d7126e426"/>
  </ds:schemaRefs>
</ds:datastoreItem>
</file>

<file path=customXml/itemProps2.xml><?xml version="1.0" encoding="utf-8"?>
<ds:datastoreItem xmlns:ds="http://schemas.openxmlformats.org/officeDocument/2006/customXml" ds:itemID="{EA6627B4-AD69-4D15-B9BB-F282599518DF}">
  <ds:schemaRefs>
    <ds:schemaRef ds:uri="http://schemas.microsoft.com/sharepoint/v3/contenttype/forms"/>
  </ds:schemaRefs>
</ds:datastoreItem>
</file>

<file path=customXml/itemProps3.xml><?xml version="1.0" encoding="utf-8"?>
<ds:datastoreItem xmlns:ds="http://schemas.openxmlformats.org/officeDocument/2006/customXml" ds:itemID="{D6594EF1-7D0D-4596-A108-B842CE49AF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aca38d-74d5-4ce7-920c-59228ba159e1"/>
    <ds:schemaRef ds:uri="204c8fdd-6a95-4db6-9bb5-c65d7126e4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6594</TotalTime>
  <Words>5373</Words>
  <Application>Microsoft Office PowerPoint</Application>
  <PresentationFormat>On-screen Show (4:3)</PresentationFormat>
  <Paragraphs>698</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3_Conference1</vt:lpstr>
      <vt:lpstr>     What is Optimization?</vt:lpstr>
      <vt:lpstr>PowerPoint Presentation</vt:lpstr>
      <vt:lpstr>Code Optimization</vt:lpstr>
      <vt:lpstr>Code Transformation</vt:lpstr>
      <vt:lpstr>Techniques to follow:</vt:lpstr>
      <vt:lpstr>Mobile phones and Laptops Specs</vt:lpstr>
      <vt:lpstr>ADSP-SC587 SPEC</vt:lpstr>
      <vt:lpstr>MIPS </vt:lpstr>
      <vt:lpstr>Memory </vt:lpstr>
      <vt:lpstr>PowerPoint Presentation</vt:lpstr>
      <vt:lpstr>Sigma DSP Processor</vt:lpstr>
      <vt:lpstr>Why need to optimize?</vt:lpstr>
      <vt:lpstr>Rules for Optimization</vt:lpstr>
      <vt:lpstr>Compiler optimizations </vt:lpstr>
      <vt:lpstr>SIMD</vt:lpstr>
      <vt:lpstr>PowerPoint Presentation</vt:lpstr>
      <vt:lpstr>INLINING </vt:lpstr>
      <vt:lpstr>Loop Unrolling </vt:lpstr>
      <vt:lpstr>PowerPoint Presentation</vt:lpstr>
      <vt:lpstr>Loop Jamming</vt:lpstr>
      <vt:lpstr>Loop Collapsing </vt:lpstr>
      <vt:lpstr>PowerPoint Presentation</vt:lpstr>
      <vt:lpstr>PowerPoint Presentation</vt:lpstr>
      <vt:lpstr>PowerPoint Presentation</vt:lpstr>
      <vt:lpstr>Instruction Combining </vt:lpstr>
      <vt:lpstr>PowerPoint Presentation</vt:lpstr>
      <vt:lpstr>Code Optimization</vt:lpstr>
      <vt:lpstr>Code Optimization-Peephole</vt:lpstr>
      <vt:lpstr>Peephole Optimization Techniques: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DSP CONCEPTS: OPTIMIZATION</dc:title>
  <dc:creator>Viswanathan.G</dc:creator>
  <cp:lastModifiedBy>Preethi Marudhu</cp:lastModifiedBy>
  <cp:revision>103</cp:revision>
  <dcterms:created xsi:type="dcterms:W3CDTF">2019-06-05T05:17:47Z</dcterms:created>
  <dcterms:modified xsi:type="dcterms:W3CDTF">2025-03-24T11:05:48Z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0x010100C360F794EE8B7F4896CF96123B576A02</vt:lpwstr>
  </property>
  <property fmtid="{D5CDD505-2E9C-101B-9397-08002B2CF9AE}" pid="3" name="MediaServiceImageTags">
    <vt:lpwstr/>
  </property>
</Properties>
</file>