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24" r:id="rId2"/>
    <p:sldId id="653" r:id="rId3"/>
    <p:sldId id="659" r:id="rId4"/>
    <p:sldId id="565" r:id="rId5"/>
    <p:sldId id="638" r:id="rId6"/>
    <p:sldId id="662" r:id="rId7"/>
    <p:sldId id="641" r:id="rId8"/>
    <p:sldId id="675" r:id="rId9"/>
    <p:sldId id="669" r:id="rId10"/>
    <p:sldId id="672" r:id="rId11"/>
    <p:sldId id="667" r:id="rId12"/>
    <p:sldId id="676" r:id="rId13"/>
    <p:sldId id="666" r:id="rId14"/>
    <p:sldId id="674" r:id="rId15"/>
    <p:sldId id="673" r:id="rId16"/>
    <p:sldId id="650" r:id="rId17"/>
  </p:sldIdLst>
  <p:sldSz cx="9144000" cy="6858000" type="screen4x3"/>
  <p:notesSz cx="6888163" cy="96234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616EA"/>
    <a:srgbClr val="000076"/>
    <a:srgbClr val="000062"/>
    <a:srgbClr val="66FFFF"/>
    <a:srgbClr val="FFFF00"/>
    <a:srgbClr val="000099"/>
    <a:srgbClr val="3366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46D0D2-FA41-E8D3-1140-A65691665A93}" v="2" dt="2025-03-13T07:15:48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19" autoAdjust="0"/>
  </p:normalViewPr>
  <p:slideViewPr>
    <p:cSldViewPr>
      <p:cViewPr varScale="1">
        <p:scale>
          <a:sx n="105" d="100"/>
          <a:sy n="105" d="100"/>
        </p:scale>
        <p:origin x="171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84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Relationship Id="rId27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7DB8B48-FC49-3784-025E-6EC8CBE3D72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7CC8DEA-25F7-39AA-A7D7-8FFA84F0EE6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85A8F3FB-1F7F-F9BC-9E20-8EA4192DB3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440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D5DE25FC-BAFF-3EAB-4374-70F71D01389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1440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3AE16EE5-820C-40A8-A729-401C05EBB3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B32BBE2-3A65-AE28-E06C-3EEADE0D880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3ADB28C-5ED0-D3C7-C227-2A6599D54B7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4BE1AAA6-03D5-6DF5-955E-2CD21F252FB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687388"/>
            <a:ext cx="4873625" cy="36544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CB18096A-21ED-A5AF-010C-418C1AA7A09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572000"/>
            <a:ext cx="5029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6DA47E5F-8F87-34DF-6DEB-6805E6981BF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7C2CC966-8765-805C-8D77-6E49A84F8E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1440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F36755FF-4381-427B-BC10-D7EDF207799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1F14C0F-D7B9-792E-796B-8EE68723AB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6E8F6A7-B933-6107-377D-5F52AF561FB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6388" name="Rectangle 6">
            <a:extLst>
              <a:ext uri="{FF2B5EF4-FFF2-40B4-BE49-F238E27FC236}">
                <a16:creationId xmlns:a16="http://schemas.microsoft.com/office/drawing/2014/main" id="{34C75AAB-577A-0868-A256-5B286AB63D6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6389" name="Rectangle 7">
            <a:extLst>
              <a:ext uri="{FF2B5EF4-FFF2-40B4-BE49-F238E27FC236}">
                <a16:creationId xmlns:a16="http://schemas.microsoft.com/office/drawing/2014/main" id="{89ED9D7C-59AE-60FE-6D8E-7F110DB05F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23918675-C799-4591-9E3E-CAE7949EE584}" type="slidenum">
              <a:rPr lang="en-US" altLang="en-US" sz="1200" b="0">
                <a:latin typeface="Times New Roman" panose="02020603050405020304" pitchFamily="18" charset="0"/>
              </a:rPr>
              <a:pPr/>
              <a:t>1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6390" name="Rectangle 1026">
            <a:extLst>
              <a:ext uri="{FF2B5EF4-FFF2-40B4-BE49-F238E27FC236}">
                <a16:creationId xmlns:a16="http://schemas.microsoft.com/office/drawing/2014/main" id="{CA580653-2876-39ED-50B2-4345757D7E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1" name="Rectangle 1027">
            <a:extLst>
              <a:ext uri="{FF2B5EF4-FFF2-40B4-BE49-F238E27FC236}">
                <a16:creationId xmlns:a16="http://schemas.microsoft.com/office/drawing/2014/main" id="{911F9DD1-6ACD-4250-D861-9D3EECA025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234CA26-62E2-48DC-3715-11BD039F332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A9EC60F-BAE3-D529-29B6-C503D3CABD2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8436" name="Rectangle 6">
            <a:extLst>
              <a:ext uri="{FF2B5EF4-FFF2-40B4-BE49-F238E27FC236}">
                <a16:creationId xmlns:a16="http://schemas.microsoft.com/office/drawing/2014/main" id="{417C9FAA-63DB-CFB2-7F43-F838311DE49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8437" name="Rectangle 7">
            <a:extLst>
              <a:ext uri="{FF2B5EF4-FFF2-40B4-BE49-F238E27FC236}">
                <a16:creationId xmlns:a16="http://schemas.microsoft.com/office/drawing/2014/main" id="{74F4E558-2DE8-382C-218D-930CBB6847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BD693F08-20C7-420F-87DC-E7C6F49C4D95}" type="slidenum">
              <a:rPr lang="en-US" altLang="en-US" sz="1200" b="0">
                <a:latin typeface="Times New Roman" panose="02020603050405020304" pitchFamily="18" charset="0"/>
              </a:rPr>
              <a:pPr/>
              <a:t>2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8438" name="Rectangle 2">
            <a:extLst>
              <a:ext uri="{FF2B5EF4-FFF2-40B4-BE49-F238E27FC236}">
                <a16:creationId xmlns:a16="http://schemas.microsoft.com/office/drawing/2014/main" id="{F21778E1-5275-BE27-1DB5-38919014AE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9" name="Rectangle 3">
            <a:extLst>
              <a:ext uri="{FF2B5EF4-FFF2-40B4-BE49-F238E27FC236}">
                <a16:creationId xmlns:a16="http://schemas.microsoft.com/office/drawing/2014/main" id="{27D2F966-85F7-0A13-74EA-495A5F91DD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83A371F-9F18-D649-3906-6A8CE7E7DFE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C79140E-6F0E-8A09-0125-CD3E9CA6F6D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21508" name="Rectangle 6">
            <a:extLst>
              <a:ext uri="{FF2B5EF4-FFF2-40B4-BE49-F238E27FC236}">
                <a16:creationId xmlns:a16="http://schemas.microsoft.com/office/drawing/2014/main" id="{E079FB4B-8021-7FFA-F0F0-9C86597F067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21509" name="Rectangle 7">
            <a:extLst>
              <a:ext uri="{FF2B5EF4-FFF2-40B4-BE49-F238E27FC236}">
                <a16:creationId xmlns:a16="http://schemas.microsoft.com/office/drawing/2014/main" id="{127E85E7-6A89-EE52-135F-66313F5976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E3C76B12-5349-4F09-AA71-D085D79244CB}" type="slidenum">
              <a:rPr lang="en-US" altLang="en-US" sz="1200" b="0">
                <a:latin typeface="Times New Roman" panose="02020603050405020304" pitchFamily="18" charset="0"/>
              </a:rPr>
              <a:pPr/>
              <a:t>4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21510" name="Rectangle 2">
            <a:extLst>
              <a:ext uri="{FF2B5EF4-FFF2-40B4-BE49-F238E27FC236}">
                <a16:creationId xmlns:a16="http://schemas.microsoft.com/office/drawing/2014/main" id="{3E3FB14C-32C0-27E5-A9D7-12A97CDA19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11" name="Rectangle 3">
            <a:extLst>
              <a:ext uri="{FF2B5EF4-FFF2-40B4-BE49-F238E27FC236}">
                <a16:creationId xmlns:a16="http://schemas.microsoft.com/office/drawing/2014/main" id="{67D86BD5-C4ED-84C5-1403-3A6FFCCB45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4FF5EB9-AA83-8378-679B-B9AFDDB7DD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CC1DB87-43DD-1196-E36D-D0180158071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23556" name="Rectangle 6">
            <a:extLst>
              <a:ext uri="{FF2B5EF4-FFF2-40B4-BE49-F238E27FC236}">
                <a16:creationId xmlns:a16="http://schemas.microsoft.com/office/drawing/2014/main" id="{32AB9E45-093D-98B8-73A4-A8ECBE6E526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23557" name="Rectangle 7">
            <a:extLst>
              <a:ext uri="{FF2B5EF4-FFF2-40B4-BE49-F238E27FC236}">
                <a16:creationId xmlns:a16="http://schemas.microsoft.com/office/drawing/2014/main" id="{C63DFF2B-6FFC-A67D-4FEC-DFD990BC3B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178F08D3-0399-46BE-B2AA-98ED40DB034F}" type="slidenum">
              <a:rPr lang="en-US" altLang="en-US" sz="1200" b="0">
                <a:latin typeface="Times New Roman" panose="02020603050405020304" pitchFamily="18" charset="0"/>
              </a:rPr>
              <a:pPr/>
              <a:t>5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23558" name="Rectangle 2">
            <a:extLst>
              <a:ext uri="{FF2B5EF4-FFF2-40B4-BE49-F238E27FC236}">
                <a16:creationId xmlns:a16="http://schemas.microsoft.com/office/drawing/2014/main" id="{202F24E0-3F23-B452-AEA0-BAA7877C56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9" name="Rectangle 3">
            <a:extLst>
              <a:ext uri="{FF2B5EF4-FFF2-40B4-BE49-F238E27FC236}">
                <a16:creationId xmlns:a16="http://schemas.microsoft.com/office/drawing/2014/main" id="{AFB86AF3-9D1E-5AA0-41FC-48C673D44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5EC6915-1355-44A2-7CCA-5441EC82C46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D8E76795-5E81-C968-792F-6ABC2748609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26628" name="Rectangle 6">
            <a:extLst>
              <a:ext uri="{FF2B5EF4-FFF2-40B4-BE49-F238E27FC236}">
                <a16:creationId xmlns:a16="http://schemas.microsoft.com/office/drawing/2014/main" id="{9E6E24E0-E694-1AEB-1C2D-E960957F57E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26629" name="Rectangle 7">
            <a:extLst>
              <a:ext uri="{FF2B5EF4-FFF2-40B4-BE49-F238E27FC236}">
                <a16:creationId xmlns:a16="http://schemas.microsoft.com/office/drawing/2014/main" id="{EE9440A8-BEBA-E069-0D45-26A7C33AC2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B44E4EB9-40E9-463D-9E64-5835FAB71CB7}" type="slidenum">
              <a:rPr lang="en-US" altLang="en-US" sz="1200" b="0">
                <a:latin typeface="Times New Roman" panose="02020603050405020304" pitchFamily="18" charset="0"/>
              </a:rPr>
              <a:pPr/>
              <a:t>7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26630" name="Rectangle 2">
            <a:extLst>
              <a:ext uri="{FF2B5EF4-FFF2-40B4-BE49-F238E27FC236}">
                <a16:creationId xmlns:a16="http://schemas.microsoft.com/office/drawing/2014/main" id="{84733F45-464F-D380-A72B-84DAE8E52A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1" name="Rectangle 3">
            <a:extLst>
              <a:ext uri="{FF2B5EF4-FFF2-40B4-BE49-F238E27FC236}">
                <a16:creationId xmlns:a16="http://schemas.microsoft.com/office/drawing/2014/main" id="{B06E59E7-CF5E-D8BD-19E7-AC37CF816C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6BCEA968-BD5E-FF8E-CC97-0540808AD4C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FB04577-AEEF-4F98-8D8A-5F0BFF43CDD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28676" name="Rectangle 6">
            <a:extLst>
              <a:ext uri="{FF2B5EF4-FFF2-40B4-BE49-F238E27FC236}">
                <a16:creationId xmlns:a16="http://schemas.microsoft.com/office/drawing/2014/main" id="{046B5A28-2DA0-F65A-8DA3-96E252D54D9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28677" name="Rectangle 7">
            <a:extLst>
              <a:ext uri="{FF2B5EF4-FFF2-40B4-BE49-F238E27FC236}">
                <a16:creationId xmlns:a16="http://schemas.microsoft.com/office/drawing/2014/main" id="{50343C51-48B5-E4F1-0467-8D088ED815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CC0CC097-8659-4A32-B4BE-460658F3AE3E}" type="slidenum">
              <a:rPr lang="en-US" altLang="en-US" sz="1200" b="0">
                <a:latin typeface="Times New Roman" panose="02020603050405020304" pitchFamily="18" charset="0"/>
              </a:rPr>
              <a:pPr/>
              <a:t>8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28678" name="Rectangle 2">
            <a:extLst>
              <a:ext uri="{FF2B5EF4-FFF2-40B4-BE49-F238E27FC236}">
                <a16:creationId xmlns:a16="http://schemas.microsoft.com/office/drawing/2014/main" id="{16913E1F-0393-3B90-292D-49B14E8E0F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9" name="Rectangle 3">
            <a:extLst>
              <a:ext uri="{FF2B5EF4-FFF2-40B4-BE49-F238E27FC236}">
                <a16:creationId xmlns:a16="http://schemas.microsoft.com/office/drawing/2014/main" id="{754F0B8F-6D2A-AFA7-B6F0-2FB8B40461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31CA935E-30C2-757E-42D5-C26CE385A9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57ECFB54-87F4-6302-1412-E561F4DF0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ABDDA116-2FA7-E85C-12F6-24BC25C52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609BAECF-F364-40B9-92E9-3BC782F2DFAC}" type="slidenum">
              <a:rPr lang="en-US" altLang="en-US" sz="1200" b="0">
                <a:latin typeface="Times New Roman" panose="02020603050405020304" pitchFamily="18" charset="0"/>
              </a:rPr>
              <a:pPr/>
              <a:t>10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83EC32D-1946-6357-85B9-F11E3C47954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720FE71F-571F-CB94-00FB-302460F120A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38916" name="Rectangle 6">
            <a:extLst>
              <a:ext uri="{FF2B5EF4-FFF2-40B4-BE49-F238E27FC236}">
                <a16:creationId xmlns:a16="http://schemas.microsoft.com/office/drawing/2014/main" id="{518B171B-312E-7827-CDCE-8B1FA60EF40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38917" name="Rectangle 7">
            <a:extLst>
              <a:ext uri="{FF2B5EF4-FFF2-40B4-BE49-F238E27FC236}">
                <a16:creationId xmlns:a16="http://schemas.microsoft.com/office/drawing/2014/main" id="{617556D9-9518-0F3E-C8D4-D3792D11BE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EE75181F-8016-49CE-8AB3-B8122A1C531F}" type="slidenum">
              <a:rPr lang="en-US" altLang="en-US" sz="1200" b="0">
                <a:latin typeface="Times New Roman" panose="02020603050405020304" pitchFamily="18" charset="0"/>
              </a:rPr>
              <a:pPr/>
              <a:t>16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38918" name="Rectangle 2">
            <a:extLst>
              <a:ext uri="{FF2B5EF4-FFF2-40B4-BE49-F238E27FC236}">
                <a16:creationId xmlns:a16="http://schemas.microsoft.com/office/drawing/2014/main" id="{52620941-5E21-5771-6BC7-954E3D0666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9" name="Rectangle 3">
            <a:extLst>
              <a:ext uri="{FF2B5EF4-FFF2-40B4-BE49-F238E27FC236}">
                <a16:creationId xmlns:a16="http://schemas.microsoft.com/office/drawing/2014/main" id="{5AFC6C9F-28F0-0A86-D423-6450FD26BB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C8E718ED-7C1E-AAAA-2995-CDFB111C942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9EFAC99-FC48-4877-A4EE-BC2F4358E31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E0E20-0288-0E00-B8D1-5A3FB673BBB7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4334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6AACEA0-CABB-2230-328A-2DE092D06F9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C1D76F6-C739-4584-95D1-1AAA58E62B7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3158A-5360-A651-B4B1-E06D01A61D80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129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EE0261C2-3498-0ECF-CFC8-943071B6756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4AC14F6-B4D3-4394-8857-A0E4743A9CE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64B19-017F-F149-EA90-2F3ABB247D16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378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981200"/>
            <a:ext cx="38100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981200"/>
            <a:ext cx="38100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A08C98D-9831-24B9-3821-A77289FE83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093DD3A-35B9-41E9-917D-E015369265C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6756FAA-8F76-2AAF-3447-744D866DD46F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97513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1D7F927-51B2-568B-6FA6-BEDEBC73FA3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005DFE5-D85B-4241-909D-EF1F49486E9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51540AA-4A9A-0714-DAE0-FE72C7D6029E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2060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161FFBDD-707D-BCF9-C534-2EA51D46B44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DF2B823-C913-4C75-8246-7FB02B883DB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95C-4668-6449-1592-1FE10C4D1DE6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2599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47BFA0A9-3230-8DD5-1B6F-458823DC797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3D7E3FC-805F-446F-93A7-80893D3789B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6B3997-2A88-7A14-F8D7-FEF3556E6100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1127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C2D38BA-63D8-8C13-3198-D94A8CA0D44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2E4080-769B-492A-AD5C-8ED64BB0494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C7AE6F9-EF27-C68D-0444-60101B67A70E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63099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359049B8-AF40-690D-51DC-9C51304D4AC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A3567BE-E6A9-44E6-9C44-562358E4A3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43ACDCA-81FD-5295-C85D-A0AE7B6EFBA8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4084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9CF0B53-F1C6-9754-E24B-21D8FD3A4D5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2F15AE-7C74-46A6-A5FB-202D0B7C87C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8B0D8-6046-0EE2-4A2D-557261CEE4BA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8337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19900" y="381000"/>
            <a:ext cx="20193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59055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0F3E288-292D-69B9-3867-489535661C8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6810B5A-0BE3-4A6A-8D10-B2A5F58BA1C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6F0B3-0874-36CA-BE6D-823BCDA276F8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7205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">
            <a:extLst>
              <a:ext uri="{FF2B5EF4-FFF2-40B4-BE49-F238E27FC236}">
                <a16:creationId xmlns:a16="http://schemas.microsoft.com/office/drawing/2014/main" id="{0E2E9B43-14CF-AF2D-2D51-9385D601DFDC}"/>
              </a:ext>
            </a:extLst>
          </p:cNvPr>
          <p:cNvGrpSpPr>
            <a:grpSpLocks/>
          </p:cNvGrpSpPr>
          <p:nvPr/>
        </p:nvGrpSpPr>
        <p:grpSpPr bwMode="auto">
          <a:xfrm>
            <a:off x="28575" y="0"/>
            <a:ext cx="9115425" cy="6858000"/>
            <a:chOff x="0" y="0"/>
            <a:chExt cx="5742" cy="4320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1D023208-2678-6602-BD1C-F65A9894D4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" y="0"/>
              <a:ext cx="1008" cy="4320"/>
            </a:xfrm>
            <a:prstGeom prst="rect">
              <a:avLst/>
            </a:prstGeom>
            <a:gradFill rotWithShape="0">
              <a:gsLst>
                <a:gs pos="0">
                  <a:srgbClr val="00328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32" name="Rectangle 3">
              <a:extLst>
                <a:ext uri="{FF2B5EF4-FFF2-40B4-BE49-F238E27FC236}">
                  <a16:creationId xmlns:a16="http://schemas.microsoft.com/office/drawing/2014/main" id="{8CA3402C-D42A-489E-6657-FCD951342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2"/>
              <a:ext cx="5742" cy="96"/>
            </a:xfrm>
            <a:prstGeom prst="rect">
              <a:avLst/>
            </a:prstGeom>
            <a:gradFill rotWithShape="0">
              <a:gsLst>
                <a:gs pos="0">
                  <a:srgbClr val="FF971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027" name="Rectangle 5">
            <a:extLst>
              <a:ext uri="{FF2B5EF4-FFF2-40B4-BE49-F238E27FC236}">
                <a16:creationId xmlns:a16="http://schemas.microsoft.com/office/drawing/2014/main" id="{0075C893-782F-1B5C-2065-29E1C9C021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810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>
            <a:extLst>
              <a:ext uri="{FF2B5EF4-FFF2-40B4-BE49-F238E27FC236}">
                <a16:creationId xmlns:a16="http://schemas.microsoft.com/office/drawing/2014/main" id="{E729CFC8-EBE7-6F0A-9D5E-457358937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981200"/>
            <a:ext cx="7772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0"/>
            <a:r>
              <a:rPr lang="en-US" altLang="en-US"/>
              <a:t>   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848493FC-A209-7D71-9AAC-9C9342DB88E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905000" y="6629400"/>
            <a:ext cx="533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defRPr sz="1000" b="0">
                <a:latin typeface="Times New Roman" panose="02020603050405020304" pitchFamily="18" charset="0"/>
              </a:defRPr>
            </a:lvl1pPr>
          </a:lstStyle>
          <a:p>
            <a:fld id="{7093E353-4399-40BE-A128-3CA88324146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7CB2FF06-7F5B-F50A-6B67-601BDE6D2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6294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328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3282"/>
          </a:solidFill>
          <a:latin typeface="Arial Blac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3282"/>
          </a:solidFill>
          <a:latin typeface="Arial Blac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3282"/>
          </a:solidFill>
          <a:latin typeface="Arial Blac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3282"/>
          </a:solidFill>
          <a:latin typeface="Arial Blac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rgbClr val="003282"/>
          </a:solidFill>
          <a:latin typeface="Arial Blac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rgbClr val="003282"/>
          </a:solidFill>
          <a:latin typeface="Arial Blac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rgbClr val="003282"/>
          </a:solidFill>
          <a:latin typeface="Arial Blac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rgbClr val="003282"/>
          </a:solidFill>
          <a:latin typeface="Arial Black" pitchFamily="34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Clr>
          <a:srgbClr val="FF0011"/>
        </a:buClr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11"/>
        </a:buClr>
        <a:buFont typeface="Wingdings" panose="05000000000000000000" pitchFamily="2" charset="2"/>
        <a:buChar char="o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7">
            <a:extLst>
              <a:ext uri="{FF2B5EF4-FFF2-40B4-BE49-F238E27FC236}">
                <a16:creationId xmlns:a16="http://schemas.microsoft.com/office/drawing/2014/main" id="{CD186607-E35D-6416-1737-BCA14A54220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162800" y="152400"/>
            <a:ext cx="1809750" cy="908050"/>
            <a:chOff x="4176" y="912"/>
            <a:chExt cx="1518" cy="762"/>
          </a:xfrm>
        </p:grpSpPr>
        <p:pic>
          <p:nvPicPr>
            <p:cNvPr id="15367" name="Picture 24">
              <a:extLst>
                <a:ext uri="{FF2B5EF4-FFF2-40B4-BE49-F238E27FC236}">
                  <a16:creationId xmlns:a16="http://schemas.microsoft.com/office/drawing/2014/main" id="{5484149E-C6A5-D09C-10D5-98A647A9F7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6" y="912"/>
              <a:ext cx="708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68" name="Picture 25">
              <a:extLst>
                <a:ext uri="{FF2B5EF4-FFF2-40B4-BE49-F238E27FC236}">
                  <a16:creationId xmlns:a16="http://schemas.microsoft.com/office/drawing/2014/main" id="{7239ED28-661D-0EC7-A3DD-284C9E9DE8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4" y="912"/>
              <a:ext cx="750" cy="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5363" name="Picture 31" descr="logo_jasmin_infotech">
            <a:extLst>
              <a:ext uri="{FF2B5EF4-FFF2-40B4-BE49-F238E27FC236}">
                <a16:creationId xmlns:a16="http://schemas.microsoft.com/office/drawing/2014/main" id="{A07C3FB8-BC23-939D-8AE9-E00F3BFDC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048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32">
            <a:extLst>
              <a:ext uri="{FF2B5EF4-FFF2-40B4-BE49-F238E27FC236}">
                <a16:creationId xmlns:a16="http://schemas.microsoft.com/office/drawing/2014/main" id="{BCB35CFA-EE73-5E70-4D17-24CC4A8FE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6392863"/>
            <a:ext cx="2235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1200"/>
              <a:t>Proprietary and Confidential</a:t>
            </a:r>
            <a:endParaRPr lang="en-US" altLang="en-US" sz="2800" b="0"/>
          </a:p>
        </p:txBody>
      </p:sp>
      <p:sp>
        <p:nvSpPr>
          <p:cNvPr id="15365" name="Rectangle 33">
            <a:extLst>
              <a:ext uri="{FF2B5EF4-FFF2-40B4-BE49-F238E27FC236}">
                <a16:creationId xmlns:a16="http://schemas.microsoft.com/office/drawing/2014/main" id="{705EC881-5B25-5C61-EAF2-D50FA3722E6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br>
              <a:rPr lang="en-US" altLang="en-US" u="sng">
                <a:solidFill>
                  <a:srgbClr val="0000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Saving And Unsaving Concepts For Associated Registers, Circular Buffer, Broadcasting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1A13D6D-32FF-1622-4430-5C99B766BF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423863"/>
            <a:ext cx="5105400" cy="533400"/>
          </a:xfrm>
          <a:noFill/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pic>
        <p:nvPicPr>
          <p:cNvPr id="17411" name="Picture 4" descr="logo_jasmin_infotech">
            <a:extLst>
              <a:ext uri="{FF2B5EF4-FFF2-40B4-BE49-F238E27FC236}">
                <a16:creationId xmlns:a16="http://schemas.microsoft.com/office/drawing/2014/main" id="{A4EE4A40-3B82-31D6-093A-58A9C6D9C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Text Box 5">
            <a:extLst>
              <a:ext uri="{FF2B5EF4-FFF2-40B4-BE49-F238E27FC236}">
                <a16:creationId xmlns:a16="http://schemas.microsoft.com/office/drawing/2014/main" id="{D7F11487-76AC-F070-9643-0FA2FD910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6392863"/>
            <a:ext cx="2235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1200"/>
              <a:t>Proprietary and Confidential</a:t>
            </a:r>
            <a:endParaRPr lang="en-US" altLang="en-US" sz="2800" b="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AE643AB8-B60D-B43D-5712-131E5695B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828800"/>
            <a:ext cx="76962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419100" indent="-419100" eaLnBrk="1" hangingPunct="1">
              <a:lnSpc>
                <a:spcPct val="8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/>
              <a:defRPr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 Concepts For Associated Register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100" indent="-419100" eaLnBrk="1" hangingPunct="1">
              <a:lnSpc>
                <a:spcPct val="8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/>
              <a:defRPr/>
            </a:pPr>
            <a:r>
              <a:rPr lang="en-GB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‘C’ Runtime Environment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100" indent="-419100" eaLnBrk="1" hangingPunct="1">
              <a:lnSpc>
                <a:spcPct val="8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/>
              <a:defRPr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Unsaving Concepts For Associated Register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100" indent="-419100" eaLnBrk="1" hangingPunct="1">
              <a:lnSpc>
                <a:spcPct val="8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/>
              <a:defRPr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Buffer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/>
              <a:defRPr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Broadcasting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endParaRPr lang="en-US" sz="2000" b="0" dirty="0">
              <a:latin typeface="+mn-lt"/>
            </a:endParaRPr>
          </a:p>
          <a:p>
            <a:pPr marL="419100" indent="-419100" eaLnBrk="1" hangingPunct="1">
              <a:lnSpc>
                <a:spcPct val="80000"/>
              </a:lnSpc>
              <a:spcBef>
                <a:spcPct val="50000"/>
              </a:spcBef>
              <a:buClr>
                <a:srgbClr val="0000FF"/>
              </a:buClr>
              <a:defRPr/>
            </a:pPr>
            <a:endParaRPr lang="en-US" sz="2000" b="0" dirty="0"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18D12-B3A0-1BD3-AA1C-98C332944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838200"/>
          </a:xfrm>
        </p:spPr>
        <p:txBody>
          <a:bodyPr/>
          <a:lstStyle/>
          <a:p>
            <a:pPr>
              <a:defRPr/>
            </a:pPr>
            <a:r>
              <a:rPr lang="en-IN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Saving Concepts For Associated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EB6AC-7A00-6F32-6315-4960A29CE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76400"/>
            <a:ext cx="7620000" cy="4495800"/>
          </a:xfrm>
        </p:spPr>
        <p:txBody>
          <a:bodyPr/>
          <a:lstStyle/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en-I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Wherever compiler call C run-time environment to ASM language ensure that these registers have same value upon function for all register and instruction set of corruption from ASM to C runtime environment. </a:t>
            </a:r>
          </a:p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en-I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that we need to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run-time environment specifies a set of registers whose contents must be saved and restored.</a:t>
            </a:r>
          </a:p>
          <a:p>
            <a:pPr marL="0" indent="0"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endParaRPr lang="en-US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55600"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IN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1765732-029F-50DC-A521-2665F6A21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523875"/>
            <a:ext cx="5105400" cy="533400"/>
          </a:xfrm>
          <a:noFill/>
        </p:spPr>
        <p:txBody>
          <a:bodyPr/>
          <a:lstStyle/>
          <a:p>
            <a:pPr eaLnBrk="1" hangingPunct="1"/>
            <a:r>
              <a:rPr lang="en-GB" altLang="en-US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‘C’ Runtime Environment</a:t>
            </a:r>
            <a:endParaRPr lang="en-US" altLang="en-US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9F89147-8707-A429-E89D-64417450C6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1600200"/>
            <a:ext cx="7696200" cy="2819400"/>
          </a:xfrm>
          <a:noFill/>
        </p:spPr>
        <p:txBody>
          <a:bodyPr/>
          <a:lstStyle/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Conventions to be followed:</a:t>
            </a:r>
            <a:endParaRPr lang="en-US" altLang="en-US" sz="200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Dedicated Registers</a:t>
            </a:r>
          </a:p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of Preserved Registers</a:t>
            </a:r>
          </a:p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Scratch Registers</a:t>
            </a:r>
          </a:p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Registers</a:t>
            </a:r>
          </a:p>
        </p:txBody>
      </p:sp>
      <p:pic>
        <p:nvPicPr>
          <p:cNvPr id="20484" name="Picture 4" descr="logo_jasmin_infotech">
            <a:extLst>
              <a:ext uri="{FF2B5EF4-FFF2-40B4-BE49-F238E27FC236}">
                <a16:creationId xmlns:a16="http://schemas.microsoft.com/office/drawing/2014/main" id="{25160391-1C02-A51A-2853-4F0C9D04E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Text Box 5">
            <a:extLst>
              <a:ext uri="{FF2B5EF4-FFF2-40B4-BE49-F238E27FC236}">
                <a16:creationId xmlns:a16="http://schemas.microsoft.com/office/drawing/2014/main" id="{85771965-8089-D670-BD34-2F85B2EE5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6392863"/>
            <a:ext cx="2235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1200"/>
              <a:t>Proprietary and Confidential</a:t>
            </a:r>
            <a:endParaRPr lang="en-US" altLang="en-US" sz="2800" b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8F1196A-996E-FC3B-7B15-770BE36030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0638" y="523875"/>
            <a:ext cx="7772400" cy="533400"/>
          </a:xfrm>
          <a:noFill/>
        </p:spPr>
        <p:txBody>
          <a:bodyPr/>
          <a:lstStyle/>
          <a:p>
            <a:br>
              <a:rPr lang="en-US" altLang="en-US" b="1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b="1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b="1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b="1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Dedicated Registers</a:t>
            </a:r>
            <a:br>
              <a:rPr lang="en-US" altLang="en-US" b="1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320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</a:rPr>
            </a:br>
            <a:endParaRPr lang="en-US" altLang="en-US">
              <a:solidFill>
                <a:srgbClr val="0000FF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2531" name="Picture 4" descr="logo_jasmin_infotech">
            <a:extLst>
              <a:ext uri="{FF2B5EF4-FFF2-40B4-BE49-F238E27FC236}">
                <a16:creationId xmlns:a16="http://schemas.microsoft.com/office/drawing/2014/main" id="{7B7165AB-8180-5668-95DA-30A4DB8A3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Text Box 5">
            <a:extLst>
              <a:ext uri="{FF2B5EF4-FFF2-40B4-BE49-F238E27FC236}">
                <a16:creationId xmlns:a16="http://schemas.microsoft.com/office/drawing/2014/main" id="{A8AEB7A1-572D-B7B9-8F98-F399B75FB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6392863"/>
            <a:ext cx="2235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1200"/>
              <a:t>Proprietary and Confidential</a:t>
            </a:r>
            <a:endParaRPr lang="en-US" altLang="en-US" sz="2800" b="0"/>
          </a:p>
        </p:txBody>
      </p:sp>
      <p:graphicFrame>
        <p:nvGraphicFramePr>
          <p:cNvPr id="22533" name="Object 6">
            <a:extLst>
              <a:ext uri="{FF2B5EF4-FFF2-40B4-BE49-F238E27FC236}">
                <a16:creationId xmlns:a16="http://schemas.microsoft.com/office/drawing/2014/main" id="{F16A5CD1-0E60-CDC7-76D1-F74344A19E89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606550" y="2586038"/>
          <a:ext cx="6700838" cy="361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891528" imgH="3722329" progId="Word.Document.8">
                  <p:embed/>
                </p:oleObj>
              </mc:Choice>
              <mc:Fallback>
                <p:oleObj name="Document" r:id="rId4" imgW="6891528" imgH="3722329" progId="Word.Document.8">
                  <p:embed/>
                  <p:pic>
                    <p:nvPicPr>
                      <p:cNvPr id="22533" name="Object 6">
                        <a:extLst>
                          <a:ext uri="{FF2B5EF4-FFF2-40B4-BE49-F238E27FC236}">
                            <a16:creationId xmlns:a16="http://schemas.microsoft.com/office/drawing/2014/main" id="{F16A5CD1-0E60-CDC7-76D1-F74344A19E89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550" y="2586038"/>
                        <a:ext cx="6700838" cy="361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Box 1">
            <a:extLst>
              <a:ext uri="{FF2B5EF4-FFF2-40B4-BE49-F238E27FC236}">
                <a16:creationId xmlns:a16="http://schemas.microsoft.com/office/drawing/2014/main" id="{8EADA717-2F40-22A5-DE13-9EA0D7FA4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0638" y="1457325"/>
            <a:ext cx="7548562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C/C++ run-time environment specifies a set of registers whose contents should not be changed except in specific defined circumstances</a:t>
            </a:r>
            <a:r>
              <a:rPr lang="en-US" altLang="en-US" sz="2400" b="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altLang="en-US" sz="240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2400"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EEFAEC09-8C78-08FE-ECCB-40393767F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04813"/>
            <a:ext cx="7772400" cy="533400"/>
          </a:xfrm>
        </p:spPr>
        <p:txBody>
          <a:bodyPr/>
          <a:lstStyle/>
          <a:p>
            <a:r>
              <a:rPr lang="en-IN" altLang="en-US" b="1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Reserved Registers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2F4B4-36C8-33FC-51AD-BB35059DC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524000"/>
            <a:ext cx="7772400" cy="39624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call-reserved registers must be saved and restored if they are modified within the assembly function.</a:t>
            </a:r>
          </a:p>
          <a:p>
            <a:pPr>
              <a:defRPr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947020-C553-8CA4-A5C4-3DAB7CD00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700" y="2209800"/>
            <a:ext cx="76962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Char char="Ø"/>
              <a:defRPr/>
            </a:pPr>
            <a:r>
              <a:rPr lang="en-GB" altLang="en-US" sz="2000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Registers:</a:t>
            </a:r>
          </a:p>
          <a:p>
            <a:pPr algn="just"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None/>
              <a:defRPr/>
            </a:pPr>
            <a:r>
              <a:rPr lang="en-GB" altLang="en-US" sz="2000" b="0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b0, b1, b2, b3, b5, b8, b9, b10, b11, b14, b15,</a:t>
            </a:r>
          </a:p>
          <a:p>
            <a:pPr algn="just"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Char char="Ø"/>
              <a:defRPr/>
            </a:pPr>
            <a:r>
              <a:rPr lang="en-GB" altLang="en-US" sz="2000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 Registers:</a:t>
            </a:r>
          </a:p>
          <a:p>
            <a:pPr algn="just"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None/>
              <a:defRPr/>
            </a:pPr>
            <a:r>
              <a:rPr lang="en-GB" altLang="en-US" sz="2000" b="0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i0, i1, i2, i3, i5, i8, i9, i10, i11, i14, i15</a:t>
            </a:r>
          </a:p>
          <a:p>
            <a:pPr algn="just"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None/>
              <a:defRPr/>
            </a:pPr>
            <a:r>
              <a:rPr lang="en-GB" altLang="en-US" sz="2000" b="0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mode1, mode2</a:t>
            </a:r>
          </a:p>
          <a:p>
            <a:pPr algn="just"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Char char="Ø"/>
              <a:defRPr/>
            </a:pPr>
            <a:r>
              <a:rPr lang="en-GB" altLang="en-US" sz="2000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Modifier Register:</a:t>
            </a:r>
          </a:p>
          <a:p>
            <a:pPr algn="just"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None/>
              <a:defRPr/>
            </a:pPr>
            <a:r>
              <a:rPr lang="en-GB" altLang="en-US" sz="2000" b="0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m0, m1, m2, m3, m8, m9, m10, m11</a:t>
            </a:r>
          </a:p>
          <a:p>
            <a:pPr algn="just"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Char char="Ø"/>
              <a:defRPr/>
            </a:pPr>
            <a:r>
              <a:rPr lang="en-GB" altLang="en-US" sz="2000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Registers:</a:t>
            </a:r>
          </a:p>
          <a:p>
            <a:pPr algn="just"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None/>
              <a:defRPr/>
            </a:pPr>
            <a:r>
              <a:rPr lang="en-GB" altLang="en-US" sz="2000" b="0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r3,r5, r6, r7, r9, r10, r11, r13, r14, r15</a:t>
            </a:r>
          </a:p>
          <a:p>
            <a:pPr algn="just"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None/>
              <a:defRPr/>
            </a:pPr>
            <a:r>
              <a:rPr lang="en-GB" altLang="en-US" sz="2000" b="0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ustat1, ustat2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BB26146-A0B9-43BA-26D6-35F8C9292C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395288"/>
            <a:ext cx="5105400" cy="533400"/>
          </a:xfrm>
          <a:noFill/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Scratch Registers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A0419F1-4020-79B5-6350-01BD645D5F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1600200"/>
            <a:ext cx="7696200" cy="28194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contents of these registers are not preserved across function calls, (Scratch Register)it does not need to save and restore the register.</a:t>
            </a:r>
            <a:endParaRPr lang="it-IT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Char char="Ø"/>
              <a:defRPr/>
            </a:pPr>
            <a:r>
              <a:rPr lang="it-IT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Register</a:t>
            </a: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None/>
              <a:defRPr/>
            </a:pPr>
            <a:r>
              <a:rPr lang="it-IT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b4, b12, b13</a:t>
            </a: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Char char="Ø"/>
              <a:defRPr/>
            </a:pPr>
            <a:r>
              <a:rPr lang="it-IT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 Register and Modifier</a:t>
            </a: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None/>
              <a:defRPr/>
            </a:pPr>
            <a:r>
              <a:rPr lang="it-IT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i4, i12, m4, m12, i13</a:t>
            </a: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Char char="Ø"/>
              <a:defRPr/>
            </a:pPr>
            <a:r>
              <a:rPr lang="it-IT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Register</a:t>
            </a: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None/>
              <a:defRPr/>
            </a:pPr>
            <a:r>
              <a:rPr lang="it-IT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r0, r1, r2, r4, r8, r12</a:t>
            </a:r>
            <a:endParaRPr lang="en-US" altLang="en-US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604" name="Picture 4" descr="logo_jasmin_infotech">
            <a:extLst>
              <a:ext uri="{FF2B5EF4-FFF2-40B4-BE49-F238E27FC236}">
                <a16:creationId xmlns:a16="http://schemas.microsoft.com/office/drawing/2014/main" id="{33A717FA-52D0-C685-AB8C-9280D4B90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Text Box 5">
            <a:extLst>
              <a:ext uri="{FF2B5EF4-FFF2-40B4-BE49-F238E27FC236}">
                <a16:creationId xmlns:a16="http://schemas.microsoft.com/office/drawing/2014/main" id="{04DAD161-512D-DC12-69DA-1C08D9C6E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6392863"/>
            <a:ext cx="2235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1200"/>
              <a:t>Proprietary and Confidential</a:t>
            </a:r>
            <a:endParaRPr lang="en-US" altLang="en-US" sz="2800" b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3D278B31-8274-3FFA-9383-C38AAFA61F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381000"/>
            <a:ext cx="5105400" cy="533400"/>
          </a:xfrm>
          <a:noFill/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Registers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D3664E43-D821-765F-54C2-3C6ECFCBE6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1600200"/>
            <a:ext cx="7696200" cy="2819400"/>
          </a:xfrm>
        </p:spPr>
        <p:txBody>
          <a:bodyPr/>
          <a:lstStyle/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en-GB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run-time environment reserves a set of registers for controlling the run-time stack. </a:t>
            </a:r>
          </a:p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en-GB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registers should not</a:t>
            </a:r>
            <a:r>
              <a:rPr lang="en-GB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utilised and are classified as reserved </a:t>
            </a:r>
          </a:p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en-GB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i7 Stack pointer</a:t>
            </a:r>
          </a:p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en-GB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i6 Frame pointer</a:t>
            </a:r>
          </a:p>
          <a:p>
            <a:pPr marL="0" indent="0" eaLnBrk="1" hangingPunct="1"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endParaRPr lang="en-GB" altLang="en-US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652" name="Picture 4" descr="logo_jasmin_infotech">
            <a:extLst>
              <a:ext uri="{FF2B5EF4-FFF2-40B4-BE49-F238E27FC236}">
                <a16:creationId xmlns:a16="http://schemas.microsoft.com/office/drawing/2014/main" id="{3AD7AE69-B83A-63BB-14F9-68DF2CBCA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Text Box 5">
            <a:extLst>
              <a:ext uri="{FF2B5EF4-FFF2-40B4-BE49-F238E27FC236}">
                <a16:creationId xmlns:a16="http://schemas.microsoft.com/office/drawing/2014/main" id="{9CEDE4BC-F687-6940-DDCA-9E5FF85D4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6392863"/>
            <a:ext cx="2235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1200"/>
              <a:t>Proprietary and Confidential</a:t>
            </a:r>
            <a:endParaRPr lang="en-US" altLang="en-US" sz="2800" b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BD3FE539-0BA3-65F4-C567-9B6631A04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238" y="381000"/>
            <a:ext cx="7772400" cy="533400"/>
          </a:xfrm>
        </p:spPr>
        <p:txBody>
          <a:bodyPr/>
          <a:lstStyle/>
          <a:p>
            <a:r>
              <a:rPr lang="en-IN" altLang="en-US" b="1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MODE1 Stack Register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C3DAE557-2452-B80A-8C1B-9CA6B09E5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238" y="1447800"/>
            <a:ext cx="7772400" cy="3962400"/>
          </a:xfrm>
        </p:spPr>
        <p:txBody>
          <a:bodyPr/>
          <a:lstStyle/>
          <a:p>
            <a:pPr>
              <a:buClr>
                <a:srgbClr val="1616EA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possible to read and write the MODE1 register value in the top entry of the status stack through MODE1STK register.</a:t>
            </a:r>
            <a:endParaRPr lang="en-IN" altLang="en-US" sz="2000">
              <a:solidFill>
                <a:srgbClr val="1616E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700" name="Picture 3">
            <a:extLst>
              <a:ext uri="{FF2B5EF4-FFF2-40B4-BE49-F238E27FC236}">
                <a16:creationId xmlns:a16="http://schemas.microsoft.com/office/drawing/2014/main" id="{207733ED-F130-ACFE-4717-63E1D1B2B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0" y="2133600"/>
            <a:ext cx="6367463" cy="415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7D0E62-BAF0-E71B-F208-3CB52D9DBCA7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524000"/>
          <a:ext cx="7947026" cy="490220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651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0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9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074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dirty="0" err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S.No</a:t>
                      </a:r>
                      <a:endParaRPr lang="en-IN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17" marR="6317" marT="63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 OF OPERATION</a:t>
                      </a:r>
                    </a:p>
                  </a:txBody>
                  <a:tcPr marL="6317" marR="6317" marT="63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MODE1 BIT</a:t>
                      </a:r>
                    </a:p>
                  </a:txBody>
                  <a:tcPr marL="6317" marR="6317" marT="63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MACRO USED</a:t>
                      </a:r>
                    </a:p>
                  </a:txBody>
                  <a:tcPr marL="6317" marR="6317" marT="63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FUNCTIONALITY</a:t>
                      </a:r>
                    </a:p>
                  </a:txBody>
                  <a:tcPr marL="6317" marR="6317" marT="6318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93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17" marR="6317" marT="63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Circular buffering</a:t>
                      </a:r>
                    </a:p>
                  </a:txBody>
                  <a:tcPr marL="6317" marR="6317" marT="63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Bit 24</a:t>
                      </a:r>
                    </a:p>
                  </a:txBody>
                  <a:tcPr marL="6317" marR="6317" marT="63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CBUFEN</a:t>
                      </a:r>
                    </a:p>
                  </a:txBody>
                  <a:tcPr marL="6317" marR="6317" marT="63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Enables (if 1) or disables (if 0) circular buffering</a:t>
                      </a:r>
                    </a:p>
                  </a:txBody>
                  <a:tcPr marL="6317" marR="6317" marT="6318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93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17" marR="6317" marT="6318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Broadcast register</a:t>
                      </a:r>
                    </a:p>
                  </a:txBody>
                  <a:tcPr marL="6317" marR="6317" marT="63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Bit 23</a:t>
                      </a:r>
                    </a:p>
                  </a:txBody>
                  <a:tcPr marL="6317" marR="6317" marT="63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BDCST1</a:t>
                      </a:r>
                    </a:p>
                    <a:p>
                      <a:pPr algn="l" fontAlgn="ctr"/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(DAG1)</a:t>
                      </a:r>
                    </a:p>
                  </a:txBody>
                  <a:tcPr marL="6317" marR="6317" marT="631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Enables register broadcast loads to complementary registers from I1 or I9 indexed moves (if 1) or disables broadcast loads (if 0). </a:t>
                      </a:r>
                      <a:b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endParaRPr lang="en-IN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17" marR="6317" marT="6318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17" marR="6317" marT="6318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Bit 22</a:t>
                      </a:r>
                    </a:p>
                  </a:txBody>
                  <a:tcPr marL="6317" marR="6317" marT="63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BDCST9</a:t>
                      </a:r>
                    </a:p>
                    <a:p>
                      <a:pPr algn="l" fontAlgn="ctr"/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(dag2)</a:t>
                      </a:r>
                    </a:p>
                  </a:txBody>
                  <a:tcPr marL="6317" marR="6317" marT="6318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55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17" marR="6317" marT="63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SIMD mode </a:t>
                      </a:r>
                    </a:p>
                  </a:txBody>
                  <a:tcPr marL="6317" marR="6317" marT="63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Bit 21</a:t>
                      </a:r>
                    </a:p>
                  </a:txBody>
                  <a:tcPr marL="6317" marR="6317" marT="63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PEYEN or SIMD</a:t>
                      </a:r>
                    </a:p>
                  </a:txBody>
                  <a:tcPr marL="6317" marR="6317" marT="63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Enables computations in </a:t>
                      </a:r>
                      <a:r>
                        <a:rPr lang="en-IN" sz="2000" dirty="0" err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PEy</a:t>
                      </a:r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—SIMD mode—(if 1) or disables </a:t>
                      </a:r>
                      <a:r>
                        <a:rPr lang="en-IN" sz="2000" dirty="0" err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PEy</a:t>
                      </a:r>
                      <a:r>
                        <a:rPr lang="en-I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—SISD mode—(if 0). </a:t>
                      </a:r>
                    </a:p>
                  </a:txBody>
                  <a:tcPr marL="6317" marR="6317" marT="6318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759" name="Title 1">
            <a:extLst>
              <a:ext uri="{FF2B5EF4-FFF2-40B4-BE49-F238E27FC236}">
                <a16:creationId xmlns:a16="http://schemas.microsoft.com/office/drawing/2014/main" id="{049A8E5F-2107-DD24-64C0-296FE731C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609600"/>
            <a:ext cx="5761038" cy="404813"/>
          </a:xfrm>
        </p:spPr>
        <p:txBody>
          <a:bodyPr/>
          <a:lstStyle/>
          <a:p>
            <a:r>
              <a:rPr lang="en-US" altLang="en-US" b="1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 OF OPERATION</a:t>
            </a:r>
            <a:endParaRPr lang="en-IN" altLang="en-US" b="1">
              <a:solidFill>
                <a:srgbClr val="1616E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B82ECB96-521C-6176-8036-02ACBC2BB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700" y="381000"/>
            <a:ext cx="7772400" cy="533400"/>
          </a:xfrm>
        </p:spPr>
        <p:txBody>
          <a:bodyPr/>
          <a:lstStyle/>
          <a:p>
            <a:r>
              <a:rPr lang="en-IN" altLang="en-US" b="1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Circular</a:t>
            </a:r>
            <a:r>
              <a:rPr lang="en-IN" altLang="en-US"/>
              <a:t> </a:t>
            </a:r>
            <a:r>
              <a:rPr lang="en-IN" altLang="en-US" b="1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 in ASM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98DE48E1-BF83-4A6F-0BCA-709BC80FD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700" y="1676400"/>
            <a:ext cx="7772400" cy="3962400"/>
          </a:xfrm>
        </p:spPr>
        <p:txBody>
          <a:bodyPr/>
          <a:lstStyle/>
          <a:p>
            <a:pPr>
              <a:buClr>
                <a:srgbClr val="1616EA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addressing a data buffer at any address with predefined boundaries, wrapping around to cycle through this buffer repeatedly in a circular pattern.</a:t>
            </a:r>
          </a:p>
          <a:p>
            <a:pPr>
              <a:buClr>
                <a:srgbClr val="1616EA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circular buffering (BIT SET MODE1 CBUFEN;). This operation is only needed once in a program</a:t>
            </a:r>
          </a:p>
          <a:p>
            <a:pPr>
              <a:buClr>
                <a:srgbClr val="1616EA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the buffer’s base address into the B register. This operation   automatically loads the corresponding I register</a:t>
            </a:r>
          </a:p>
          <a:p>
            <a:pPr>
              <a:buClr>
                <a:srgbClr val="1616EA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the buffer’s length into the corresponding L register. For example, L0 corresponds to B0</a:t>
            </a:r>
          </a:p>
          <a:p>
            <a:pPr>
              <a:buClr>
                <a:srgbClr val="1616EA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Load the modify value (step size) into an M register in the corresponding DAG. For example, M0 through M7 correspond to B0. Alternatively, the program can use an immediate value for the modifier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FFE6F0B1-0378-7F4D-CC46-F0B5570DB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33400"/>
            <a:ext cx="7772400" cy="533400"/>
          </a:xfrm>
        </p:spPr>
        <p:txBody>
          <a:bodyPr/>
          <a:lstStyle/>
          <a:p>
            <a:r>
              <a:rPr lang="en-IN" altLang="en-US" b="1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of Circular Buffer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47A0-4D98-AEEC-1CD5-0202FC33F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371600"/>
            <a:ext cx="8077200" cy="45720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400" dirty="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 = 11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400" dirty="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ADDRESS = 0X55000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400" dirty="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MODIFIER = 4 </a:t>
            </a:r>
          </a:p>
          <a:p>
            <a:pPr marL="3409950" indent="-3409950">
              <a:buFont typeface="Wingdings" panose="05000000000000000000" pitchFamily="2" charset="2"/>
              <a:buNone/>
              <a:defRPr/>
            </a:pPr>
            <a:r>
              <a:rPr lang="en-US" sz="1400" dirty="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SET MODE1 CBUFEN ;                           /* ENA BLES CIRCULAR BUFFER A DDRESSIN G; JUST ON CE IN PROG RA M */</a:t>
            </a:r>
          </a:p>
          <a:p>
            <a:pPr marL="3409950" indent="-3409950">
              <a:buFont typeface="Wingdings" panose="05000000000000000000" pitchFamily="2" charset="2"/>
              <a:buNone/>
              <a:tabLst>
                <a:tab pos="182563" algn="l"/>
              </a:tabLst>
              <a:defRPr/>
            </a:pPr>
            <a:r>
              <a:rPr lang="en-US" sz="1400" dirty="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B0 = 0X55000;                                                   /* LOADS B0 AND L0 REGISTERS WITH BASE ADDRESS */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400" dirty="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L0 = 0XB;                                                           /* LOADS L0 REGISTER WITH LENGTH OF BUFFER */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400" dirty="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 = 0X4;                                                          /* LOADS M1 WITH MODIFIER OR STEP SIZE */ </a:t>
            </a:r>
          </a:p>
          <a:p>
            <a:pPr marL="3319463" indent="-3319463">
              <a:buFont typeface="Wingdings" panose="05000000000000000000" pitchFamily="2" charset="2"/>
              <a:buNone/>
              <a:defRPr/>
            </a:pPr>
            <a:r>
              <a:rPr lang="en-US" sz="1400" dirty="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LCNTR = 11, DO MY_CIR_BUFFER UNTIL LCE;        /* SETS UP A LOOP CONTAINING BUFFER ACCESSES */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400" dirty="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R0 = DM (I0,M1);            /* AN ACCESS WITHIN THE BUFFER USES POST MODIFY ADDRESSING */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400" dirty="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                                     /* OTHER INSTRUCTIONS IN THE MY_CIR_BUFFER LOOP */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400" dirty="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MY_CIR_BUFFER: NOP;                   /* END OF MY_CIR_BUFFER LOOP */</a:t>
            </a:r>
            <a:endParaRPr lang="en-IN" sz="1400" dirty="0">
              <a:solidFill>
                <a:srgbClr val="1616E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152D12DE-5F7F-E4CF-5AF3-5A3EDC4EF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92113"/>
            <a:ext cx="7772400" cy="533400"/>
          </a:xfrm>
        </p:spPr>
        <p:txBody>
          <a:bodyPr/>
          <a:lstStyle/>
          <a:p>
            <a:r>
              <a:rPr lang="en-IN" altLang="en-US" b="1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of Circular Buffer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9302F1-43A7-F103-A28A-52F2A20B11DA}"/>
              </a:ext>
            </a:extLst>
          </p:cNvPr>
          <p:cNvGraphicFramePr>
            <a:graphicFrameLocks noGrp="1"/>
          </p:cNvGraphicFramePr>
          <p:nvPr/>
        </p:nvGraphicFramePr>
        <p:xfrm>
          <a:off x="1422400" y="1600200"/>
          <a:ext cx="1803400" cy="42291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461778725"/>
                    </a:ext>
                  </a:extLst>
                </a:gridCol>
              </a:tblGrid>
              <a:tr h="42291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868368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D8B32E-F332-3236-A14A-CB96F323F0CB}"/>
              </a:ext>
            </a:extLst>
          </p:cNvPr>
          <p:cNvGraphicFramePr>
            <a:graphicFrameLocks noGrp="1"/>
          </p:cNvGraphicFramePr>
          <p:nvPr/>
        </p:nvGraphicFramePr>
        <p:xfrm>
          <a:off x="1422400" y="1981200"/>
          <a:ext cx="1803400" cy="3810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35996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27207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49CB96-04F0-9A4C-6EEC-8D25E5215BFB}"/>
              </a:ext>
            </a:extLst>
          </p:cNvPr>
          <p:cNvGraphicFramePr>
            <a:graphicFrameLocks noGrp="1"/>
          </p:cNvGraphicFramePr>
          <p:nvPr/>
        </p:nvGraphicFramePr>
        <p:xfrm>
          <a:off x="1422400" y="2374900"/>
          <a:ext cx="1803400" cy="3810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35996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27207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2AD3B6-C6B5-6EB4-858C-2012EEB73226}"/>
              </a:ext>
            </a:extLst>
          </p:cNvPr>
          <p:cNvGraphicFramePr>
            <a:graphicFrameLocks noGrp="1"/>
          </p:cNvGraphicFramePr>
          <p:nvPr/>
        </p:nvGraphicFramePr>
        <p:xfrm>
          <a:off x="1422400" y="2768600"/>
          <a:ext cx="1803400" cy="3810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35996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27207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700BA58-09F0-B810-E56D-6193DFA58ED0}"/>
              </a:ext>
            </a:extLst>
          </p:cNvPr>
          <p:cNvGraphicFramePr>
            <a:graphicFrameLocks noGrp="1"/>
          </p:cNvGraphicFramePr>
          <p:nvPr/>
        </p:nvGraphicFramePr>
        <p:xfrm>
          <a:off x="1422400" y="3149600"/>
          <a:ext cx="1803400" cy="3810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35996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27207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6967757-0058-08CC-2CFB-B82CC6FA9381}"/>
              </a:ext>
            </a:extLst>
          </p:cNvPr>
          <p:cNvGraphicFramePr>
            <a:graphicFrameLocks noGrp="1"/>
          </p:cNvGraphicFramePr>
          <p:nvPr/>
        </p:nvGraphicFramePr>
        <p:xfrm>
          <a:off x="1422400" y="3530600"/>
          <a:ext cx="1803400" cy="3810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35996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27207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321D696-CD07-C7F7-09D1-DD9B6382EA78}"/>
              </a:ext>
            </a:extLst>
          </p:cNvPr>
          <p:cNvGraphicFramePr>
            <a:graphicFrameLocks noGrp="1"/>
          </p:cNvGraphicFramePr>
          <p:nvPr/>
        </p:nvGraphicFramePr>
        <p:xfrm>
          <a:off x="1422400" y="3911600"/>
          <a:ext cx="1803400" cy="3810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35996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27207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711B40A-2C92-5235-3E8A-819317E3BAFB}"/>
              </a:ext>
            </a:extLst>
          </p:cNvPr>
          <p:cNvGraphicFramePr>
            <a:graphicFrameLocks noGrp="1"/>
          </p:cNvGraphicFramePr>
          <p:nvPr/>
        </p:nvGraphicFramePr>
        <p:xfrm>
          <a:off x="1422400" y="4292600"/>
          <a:ext cx="1803400" cy="3810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35996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27207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7844DE4-0F38-46B8-16A0-E5C89919CA5A}"/>
              </a:ext>
            </a:extLst>
          </p:cNvPr>
          <p:cNvGraphicFramePr>
            <a:graphicFrameLocks noGrp="1"/>
          </p:cNvGraphicFramePr>
          <p:nvPr/>
        </p:nvGraphicFramePr>
        <p:xfrm>
          <a:off x="1422400" y="4673600"/>
          <a:ext cx="1803400" cy="3810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35996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27207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1D64516-BA3C-5F23-73F8-78327FD3532B}"/>
              </a:ext>
            </a:extLst>
          </p:cNvPr>
          <p:cNvGraphicFramePr>
            <a:graphicFrameLocks noGrp="1"/>
          </p:cNvGraphicFramePr>
          <p:nvPr/>
        </p:nvGraphicFramePr>
        <p:xfrm>
          <a:off x="1422400" y="5067300"/>
          <a:ext cx="1803400" cy="3810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35996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27207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67ACCC7-33F7-9DE2-472F-8DA76EC2A590}"/>
              </a:ext>
            </a:extLst>
          </p:cNvPr>
          <p:cNvGraphicFramePr>
            <a:graphicFrameLocks noGrp="1"/>
          </p:cNvGraphicFramePr>
          <p:nvPr/>
        </p:nvGraphicFramePr>
        <p:xfrm>
          <a:off x="1422400" y="5448300"/>
          <a:ext cx="1803400" cy="3810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35996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272078"/>
                  </a:ext>
                </a:extLst>
              </a:tr>
            </a:tbl>
          </a:graphicData>
        </a:graphic>
      </p:graphicFrame>
      <p:sp>
        <p:nvSpPr>
          <p:cNvPr id="34885" name="TextBox 14">
            <a:extLst>
              <a:ext uri="{FF2B5EF4-FFF2-40B4-BE49-F238E27FC236}">
                <a16:creationId xmlns:a16="http://schemas.microsoft.com/office/drawing/2014/main" id="{D995A63A-A91D-AF1F-DDB8-7ED7E3260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460500"/>
            <a:ext cx="213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Base address –B0</a:t>
            </a:r>
          </a:p>
        </p:txBody>
      </p:sp>
      <p:cxnSp>
        <p:nvCxnSpPr>
          <p:cNvPr id="34886" name="Straight Arrow Connector 16">
            <a:extLst>
              <a:ext uri="{FF2B5EF4-FFF2-40B4-BE49-F238E27FC236}">
                <a16:creationId xmlns:a16="http://schemas.microsoft.com/office/drawing/2014/main" id="{E1AB9629-953B-D13E-D102-C89096EAC74B}"/>
              </a:ext>
            </a:extLst>
          </p:cNvPr>
          <p:cNvCxnSpPr>
            <a:cxnSpLocks noChangeShapeType="1"/>
            <a:stCxn id="34885" idx="1"/>
          </p:cNvCxnSpPr>
          <p:nvPr/>
        </p:nvCxnSpPr>
        <p:spPr bwMode="auto">
          <a:xfrm flipH="1">
            <a:off x="3352800" y="1644650"/>
            <a:ext cx="228600" cy="1079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87" name="TextBox 26">
            <a:extLst>
              <a:ext uri="{FF2B5EF4-FFF2-40B4-BE49-F238E27FC236}">
                <a16:creationId xmlns:a16="http://schemas.microsoft.com/office/drawing/2014/main" id="{C5647F1E-26AD-53FB-05B2-BFDAEF08F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863" y="2147888"/>
            <a:ext cx="2133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l0 = 11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m1 = 3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E4758E57-98AE-9B55-0B56-40764CC12AD5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1600200"/>
          <a:ext cx="1803400" cy="42291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461778725"/>
                    </a:ext>
                  </a:extLst>
                </a:gridCol>
              </a:tblGrid>
              <a:tr h="42291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868368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D892CCA0-911D-8E75-4305-477E25DF9EBC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1993900"/>
          <a:ext cx="1803400" cy="3810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35996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272078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4C544647-BC72-3F11-409E-1E78E7C5EDD8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2374900"/>
          <a:ext cx="1803400" cy="3810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35996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272078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BC26296F-063E-E136-E6C8-39B23E5594A1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2755900"/>
          <a:ext cx="1803400" cy="3810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35996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272078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72F27C74-B013-9B60-2E77-C1388CFD24C0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3136900"/>
          <a:ext cx="1803400" cy="3810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35996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272078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CA7870E2-B076-7531-FC40-C18454FF0DF7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3508375"/>
          <a:ext cx="1803400" cy="3810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35996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272078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4060265C-3626-0BD4-542F-15430675A028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3898900"/>
          <a:ext cx="1803400" cy="3810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35996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272078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5D68B469-C507-55B7-DAED-689FE7C1612B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4279900"/>
          <a:ext cx="1803400" cy="3810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35996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272078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E2F1317D-0DCC-CA2C-578E-26982C27CD0D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4660900"/>
          <a:ext cx="1803400" cy="3810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35996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272078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9079FB55-13D5-E25A-4AC0-0A01627A150D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5041900"/>
          <a:ext cx="1803400" cy="3810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35996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272078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62467709-339B-7FB1-B724-D5CC113E997D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5435600"/>
          <a:ext cx="1803400" cy="381000"/>
        </p:xfrm>
        <a:graphic>
          <a:graphicData uri="http://schemas.openxmlformats.org/drawingml/2006/table">
            <a:tbl>
              <a:tblPr/>
              <a:tblGrid>
                <a:gridCol w="1803400">
                  <a:extLst>
                    <a:ext uri="{9D8B030D-6E8A-4147-A177-3AD203B41FA5}">
                      <a16:colId xmlns:a16="http://schemas.microsoft.com/office/drawing/2014/main" val="235996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272078"/>
                  </a:ext>
                </a:extLst>
              </a:tr>
            </a:tbl>
          </a:graphicData>
        </a:graphic>
      </p:graphicFrame>
      <p:cxnSp>
        <p:nvCxnSpPr>
          <p:cNvPr id="34954" name="Straight Arrow Connector 40">
            <a:extLst>
              <a:ext uri="{FF2B5EF4-FFF2-40B4-BE49-F238E27FC236}">
                <a16:creationId xmlns:a16="http://schemas.microsoft.com/office/drawing/2014/main" id="{DD925AC6-ABEF-E371-64F9-27E4EECFF50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505200" y="3898900"/>
            <a:ext cx="1676400" cy="1270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955" name="TextBox 41">
            <a:extLst>
              <a:ext uri="{FF2B5EF4-FFF2-40B4-BE49-F238E27FC236}">
                <a16:creationId xmlns:a16="http://schemas.microsoft.com/office/drawing/2014/main" id="{BFB11338-6A55-D480-6E99-E7264E3C5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8900" y="5422900"/>
            <a:ext cx="1371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600">
                <a:latin typeface="Book Antiqua" panose="02040602050305030304" pitchFamily="18" charset="0"/>
              </a:rPr>
              <a:t>(0xA)</a:t>
            </a:r>
          </a:p>
        </p:txBody>
      </p:sp>
      <p:cxnSp>
        <p:nvCxnSpPr>
          <p:cNvPr id="34956" name="Straight Arrow Connector 42">
            <a:extLst>
              <a:ext uri="{FF2B5EF4-FFF2-40B4-BE49-F238E27FC236}">
                <a16:creationId xmlns:a16="http://schemas.microsoft.com/office/drawing/2014/main" id="{E9FA08E9-55E8-06E1-0E0C-5C8044FB1E2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531100" y="5621338"/>
            <a:ext cx="228600" cy="1079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957" name="Straight Arrow Connector 44">
            <a:extLst>
              <a:ext uri="{FF2B5EF4-FFF2-40B4-BE49-F238E27FC236}">
                <a16:creationId xmlns:a16="http://schemas.microsoft.com/office/drawing/2014/main" id="{4E408A6C-0F10-5AC1-3568-FC9FC4CE339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18138" y="1692275"/>
            <a:ext cx="233362" cy="13493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958" name="TextBox 14">
            <a:extLst>
              <a:ext uri="{FF2B5EF4-FFF2-40B4-BE49-F238E27FC236}">
                <a16:creationId xmlns:a16="http://schemas.microsoft.com/office/drawing/2014/main" id="{00D020B3-9974-7DC5-94A2-5A3736C6E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3" y="5349875"/>
            <a:ext cx="2133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600">
                <a:latin typeface="Book Antiqua" panose="02040602050305030304" pitchFamily="18" charset="0"/>
              </a:rPr>
              <a:t>(0xA)</a:t>
            </a:r>
          </a:p>
        </p:txBody>
      </p:sp>
      <p:cxnSp>
        <p:nvCxnSpPr>
          <p:cNvPr id="34959" name="Straight Arrow Connector 42">
            <a:extLst>
              <a:ext uri="{FF2B5EF4-FFF2-40B4-BE49-F238E27FC236}">
                <a16:creationId xmlns:a16="http://schemas.microsoft.com/office/drawing/2014/main" id="{8992E2C4-9464-CD8E-3BD8-5F7D944A5C2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302000" y="5607050"/>
            <a:ext cx="228600" cy="1079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960" name="TextBox 1">
            <a:extLst>
              <a:ext uri="{FF2B5EF4-FFF2-40B4-BE49-F238E27FC236}">
                <a16:creationId xmlns:a16="http://schemas.microsoft.com/office/drawing/2014/main" id="{E5D4941B-F99D-7EDA-5CF9-2C79727E7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863" y="3159125"/>
            <a:ext cx="1651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r0 = dm(i0,m1)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dm(i1,m6) = r0</a:t>
            </a:r>
          </a:p>
        </p:txBody>
      </p:sp>
      <p:sp>
        <p:nvSpPr>
          <p:cNvPr id="34961" name="TextBox 2">
            <a:extLst>
              <a:ext uri="{FF2B5EF4-FFF2-40B4-BE49-F238E27FC236}">
                <a16:creationId xmlns:a16="http://schemas.microsoft.com/office/drawing/2014/main" id="{23A9BEA1-D080-31D3-CDB9-8EB7E9846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2388" y="1293813"/>
            <a:ext cx="20939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Source buffer(i0</a:t>
            </a:r>
            <a:r>
              <a:rPr lang="en-IN" altLang="en-US" sz="1600">
                <a:latin typeface="Book Antiqua" panose="02040602050305030304" pitchFamily="18" charset="0"/>
              </a:rPr>
              <a:t>)</a:t>
            </a:r>
          </a:p>
        </p:txBody>
      </p:sp>
      <p:sp>
        <p:nvSpPr>
          <p:cNvPr id="34962" name="TextBox 41">
            <a:extLst>
              <a:ext uri="{FF2B5EF4-FFF2-40B4-BE49-F238E27FC236}">
                <a16:creationId xmlns:a16="http://schemas.microsoft.com/office/drawing/2014/main" id="{4B4FBF91-FBF8-B338-D522-218B7A778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7213" y="1301750"/>
            <a:ext cx="2286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1600">
                <a:latin typeface="Book Antiqua" panose="02040602050305030304" pitchFamily="18" charset="0"/>
              </a:rPr>
              <a:t>Destination buffer(i1)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AA3F1ACB-F0FE-D924-3391-5D84C9BD3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33400"/>
          </a:xfrm>
        </p:spPr>
        <p:txBody>
          <a:bodyPr/>
          <a:lstStyle/>
          <a:p>
            <a:r>
              <a:rPr lang="en-US" altLang="en-US" b="1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Broadcast registers: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23446312-4247-8384-2E97-93AA7EE64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24000"/>
            <a:ext cx="7772400" cy="4419600"/>
          </a:xfrm>
        </p:spPr>
        <p:txBody>
          <a:bodyPr/>
          <a:lstStyle/>
          <a:p>
            <a:pPr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Broadcast registers are used when there is usage of same register in the both processing elements at a time.</a:t>
            </a:r>
          </a:p>
          <a:p>
            <a:pPr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we can say that,  it can be used when the process is in SIMD mode.</a:t>
            </a:r>
          </a:p>
          <a:p>
            <a:pPr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broadcast loading is enabled, the processor core writes to complementary registers in each processing element.</a:t>
            </a:r>
          </a:p>
          <a:p>
            <a:pPr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BDCST1 and BDCST9 bits in the MODE1 register control broadcast register loading.</a:t>
            </a:r>
          </a:p>
          <a:p>
            <a:pPr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DAG1 register I1 (BDCST1) and DAG2 register I9 (BDCST9). </a:t>
            </a:r>
          </a:p>
          <a:p>
            <a:pPr>
              <a:buClr>
                <a:srgbClr val="1616EA"/>
              </a:buClr>
              <a:buFont typeface="Wingdings" panose="05000000000000000000" pitchFamily="2" charset="2"/>
              <a:buChar char="Ø"/>
            </a:pPr>
            <a:endParaRPr lang="en-US" altLang="en-US" sz="2000"/>
          </a:p>
        </p:txBody>
      </p:sp>
      <p:pic>
        <p:nvPicPr>
          <p:cNvPr id="35844" name="Picture 4" descr="logo_jasmin_infotech">
            <a:extLst>
              <a:ext uri="{FF2B5EF4-FFF2-40B4-BE49-F238E27FC236}">
                <a16:creationId xmlns:a16="http://schemas.microsoft.com/office/drawing/2014/main" id="{272592F1-35BA-0FF0-8B01-770849CB9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810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CE5D0B28-02AF-9404-9F20-17AA4ACE9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575" y="260350"/>
            <a:ext cx="8229600" cy="576263"/>
          </a:xfrm>
        </p:spPr>
        <p:txBody>
          <a:bodyPr/>
          <a:lstStyle/>
          <a:p>
            <a:r>
              <a:rPr lang="en-IN" altLang="en-US" b="1">
                <a:solidFill>
                  <a:srgbClr val="161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Broadcast MODE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AF4E6C-A4D2-B702-41C3-6262828D76A0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412875"/>
          <a:ext cx="8367714" cy="544545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4183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3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551">
                <a:tc gridSpan="2">
                  <a:txBody>
                    <a:bodyPr/>
                    <a:lstStyle/>
                    <a:p>
                      <a:pPr marL="342900" indent="-3429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>
                          <a:solidFill>
                            <a:srgbClr val="1616E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Dual Processing Element Register Load Broadcasts</a:t>
                      </a:r>
                    </a:p>
                  </a:txBody>
                  <a:tcPr marL="26390" marR="26390" marT="26385" marB="26385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1893">
                <a:tc>
                  <a:txBody>
                    <a:bodyPr/>
                    <a:lstStyle/>
                    <a:p>
                      <a:pPr marL="342900" indent="-3429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>
                          <a:solidFill>
                            <a:srgbClr val="1616E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Instruction syntax</a:t>
                      </a:r>
                    </a:p>
                  </a:txBody>
                  <a:tcPr marL="26390" marR="26390" marT="26385" marB="26385" anchor="ctr"/>
                </a:tc>
                <a:tc>
                  <a:txBody>
                    <a:bodyPr/>
                    <a:lstStyle/>
                    <a:p>
                      <a:pPr marL="342900" indent="-3429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>
                          <a:solidFill>
                            <a:srgbClr val="1616E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Rx = DM(I1,Ma); {Syntax #1}</a:t>
                      </a:r>
                    </a:p>
                    <a:p>
                      <a:pPr marL="342900" indent="-3429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>
                          <a:solidFill>
                            <a:srgbClr val="1616E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Rx = PM(I9,Mb); {Syntax #2}</a:t>
                      </a:r>
                    </a:p>
                    <a:p>
                      <a:pPr marL="342900" indent="-3429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>
                          <a:solidFill>
                            <a:srgbClr val="1616E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Rx = DM(I1,Ma), Rx = PM(I9,Mb); {Syntax #3}</a:t>
                      </a:r>
                    </a:p>
                  </a:txBody>
                  <a:tcPr marL="26390" marR="26390" marT="26385" marB="2638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1893">
                <a:tc>
                  <a:txBody>
                    <a:bodyPr/>
                    <a:lstStyle/>
                    <a:p>
                      <a:pPr marL="342900" indent="-3429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 err="1">
                          <a:solidFill>
                            <a:srgbClr val="1616E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PEx</a:t>
                      </a:r>
                      <a:r>
                        <a:rPr lang="en-IN" sz="2000" dirty="0">
                          <a:solidFill>
                            <a:srgbClr val="1616E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explicit operations</a:t>
                      </a:r>
                    </a:p>
                  </a:txBody>
                  <a:tcPr marL="26390" marR="26390" marT="26385" marB="26385" anchor="ctr"/>
                </a:tc>
                <a:tc>
                  <a:txBody>
                    <a:bodyPr/>
                    <a:lstStyle/>
                    <a:p>
                      <a:pPr marL="342900" indent="-3429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>
                          <a:solidFill>
                            <a:srgbClr val="1616E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Rx = DM(I1,Ma); {Explicit #1}</a:t>
                      </a:r>
                    </a:p>
                    <a:p>
                      <a:pPr marL="342900" indent="-3429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>
                          <a:solidFill>
                            <a:srgbClr val="1616E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Rx = PM(I9,Mb); {Explicit #2}</a:t>
                      </a:r>
                    </a:p>
                    <a:p>
                      <a:pPr marL="342900" indent="-3429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>
                          <a:solidFill>
                            <a:srgbClr val="1616E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Rx = DM(I1,Ma), Rx = PM(I9,Mb); {Explicit #3}</a:t>
                      </a:r>
                    </a:p>
                  </a:txBody>
                  <a:tcPr marL="26390" marR="26390" marT="26385" marB="2638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1893">
                <a:tc>
                  <a:txBody>
                    <a:bodyPr/>
                    <a:lstStyle/>
                    <a:p>
                      <a:pPr marL="342900" indent="-3429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 err="1">
                          <a:solidFill>
                            <a:srgbClr val="1616E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PEy</a:t>
                      </a:r>
                      <a:r>
                        <a:rPr lang="en-IN" sz="2000" dirty="0">
                          <a:solidFill>
                            <a:srgbClr val="1616E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implicit operations</a:t>
                      </a:r>
                    </a:p>
                  </a:txBody>
                  <a:tcPr marL="26390" marR="26390" marT="26385" marB="26385" anchor="ctr"/>
                </a:tc>
                <a:tc>
                  <a:txBody>
                    <a:bodyPr/>
                    <a:lstStyle/>
                    <a:p>
                      <a:pPr marL="342900" indent="-3429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 err="1">
                          <a:solidFill>
                            <a:srgbClr val="1616E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Sx</a:t>
                      </a:r>
                      <a:r>
                        <a:rPr lang="en-IN" sz="2000" dirty="0">
                          <a:solidFill>
                            <a:srgbClr val="1616E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DM(I1,Ma); {Implicit #1}</a:t>
                      </a:r>
                    </a:p>
                    <a:p>
                      <a:pPr marL="342900" indent="-3429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 err="1">
                          <a:solidFill>
                            <a:srgbClr val="1616E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Sx</a:t>
                      </a:r>
                      <a:r>
                        <a:rPr lang="en-IN" sz="2000" dirty="0">
                          <a:solidFill>
                            <a:srgbClr val="1616E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PM(I9,Mb); {Implicit #2}</a:t>
                      </a:r>
                    </a:p>
                    <a:p>
                      <a:pPr marL="342900" indent="-3429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 err="1">
                          <a:solidFill>
                            <a:srgbClr val="1616E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Sx</a:t>
                      </a:r>
                      <a:r>
                        <a:rPr lang="en-IN" sz="2000" dirty="0">
                          <a:solidFill>
                            <a:srgbClr val="1616E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DM(I1,Ma), </a:t>
                      </a:r>
                      <a:r>
                        <a:rPr lang="en-IN" sz="2000" dirty="0" err="1">
                          <a:solidFill>
                            <a:srgbClr val="1616E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Sx</a:t>
                      </a:r>
                      <a:r>
                        <a:rPr lang="en-IN" sz="2000" dirty="0">
                          <a:solidFill>
                            <a:srgbClr val="1616E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PM(I9,Mb); {Implicit #3}</a:t>
                      </a:r>
                    </a:p>
                  </a:txBody>
                  <a:tcPr marL="26390" marR="26390" marT="26385" marB="2638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1893">
                <a:tc gridSpan="2">
                  <a:txBody>
                    <a:bodyPr/>
                    <a:lstStyle/>
                    <a:p>
                      <a:pPr marL="342900" indent="-3429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>
                          <a:solidFill>
                            <a:srgbClr val="1616EA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1.Note that the letters a and b (as in Ma or Mb) indicate numbers for modify registers in DAG1 and DAG2. The letter a indicates a DAG1 register and can be replaced with 0 through 7. The letter b indicates a DAG2 register and can be replaced with 8 through 15. </a:t>
                      </a:r>
                    </a:p>
                  </a:txBody>
                  <a:tcPr marL="26390" marR="26390" marT="26385" marB="26385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885" name="Rectangle 1">
            <a:extLst>
              <a:ext uri="{FF2B5EF4-FFF2-40B4-BE49-F238E27FC236}">
                <a16:creationId xmlns:a16="http://schemas.microsoft.com/office/drawing/2014/main" id="{8BF12AF7-8590-578D-DFD3-735FD797B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2400"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56971DA9-E951-9C51-8758-AFEBB6873E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3505200"/>
            <a:ext cx="7696200" cy="914400"/>
          </a:xfrm>
          <a:noFill/>
        </p:spPr>
        <p:txBody>
          <a:bodyPr/>
          <a:lstStyle/>
          <a:p>
            <a:pPr algn="ctr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en-US" sz="4000">
                <a:solidFill>
                  <a:srgbClr val="0000FF"/>
                </a:solidFill>
              </a:rPr>
              <a:t>QUESTIONS?</a:t>
            </a:r>
          </a:p>
        </p:txBody>
      </p:sp>
      <p:pic>
        <p:nvPicPr>
          <p:cNvPr id="37891" name="Picture 4" descr="logo_jasmin_infotech">
            <a:extLst>
              <a:ext uri="{FF2B5EF4-FFF2-40B4-BE49-F238E27FC236}">
                <a16:creationId xmlns:a16="http://schemas.microsoft.com/office/drawing/2014/main" id="{8328ACAC-2D05-B88D-9487-9E2396B70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2" name="Text Box 5">
            <a:extLst>
              <a:ext uri="{FF2B5EF4-FFF2-40B4-BE49-F238E27FC236}">
                <a16:creationId xmlns:a16="http://schemas.microsoft.com/office/drawing/2014/main" id="{F1D71BE4-5282-A826-5933-A26EABCA3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6392863"/>
            <a:ext cx="2235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rgbClr val="FF0011"/>
              </a:buClr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11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1200"/>
              <a:t>Proprietary and Confidential</a:t>
            </a:r>
            <a:endParaRPr lang="en-US" altLang="en-US" sz="2800" b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Coding Guidelines">
  <a:themeElements>
    <a:clrScheme name="Coding Guidelin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oding Guidelines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66"/>
        </a:solidFill>
        <a:ln w="254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 Antiqua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66"/>
        </a:solidFill>
        <a:ln w="254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 Antiqua" pitchFamily="18" charset="0"/>
          </a:defRPr>
        </a:defPPr>
      </a:lstStyle>
    </a:lnDef>
  </a:objectDefaults>
  <a:extraClrSchemeLst>
    <a:extraClrScheme>
      <a:clrScheme name="Coding Guide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ing Guidelin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ing Guidelin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ing Guidelin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ing Guidelin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ing Guidelin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ing Guidelin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60F794EE8B7F4896CF96123B576A02" ma:contentTypeVersion="14" ma:contentTypeDescription="Create a new document." ma:contentTypeScope="" ma:versionID="a515f5e97c337ced10d4210d6ad70d57">
  <xsd:schema xmlns:xsd="http://www.w3.org/2001/XMLSchema" xmlns:xs="http://www.w3.org/2001/XMLSchema" xmlns:p="http://schemas.microsoft.com/office/2006/metadata/properties" xmlns:ns2="82aca38d-74d5-4ce7-920c-59228ba159e1" xmlns:ns3="204c8fdd-6a95-4db6-9bb5-c65d7126e426" targetNamespace="http://schemas.microsoft.com/office/2006/metadata/properties" ma:root="true" ma:fieldsID="48b2a20fcc60b9779bf550ce6025378e" ns2:_="" ns3:_="">
    <xsd:import namespace="82aca38d-74d5-4ce7-920c-59228ba159e1"/>
    <xsd:import namespace="204c8fdd-6a95-4db6-9bb5-c65d7126e4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aca38d-74d5-4ce7-920c-59228ba159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6d8ae02-67be-425d-859a-0c16ee0cf0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4c8fdd-6a95-4db6-9bb5-c65d7126e42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d497cf32-f975-48ff-8ef4-ce7729ecca1e}" ma:internalName="TaxCatchAll" ma:showField="CatchAllData" ma:web="204c8fdd-6a95-4db6-9bb5-c65d7126e4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2aca38d-74d5-4ce7-920c-59228ba159e1">
      <Terms xmlns="http://schemas.microsoft.com/office/infopath/2007/PartnerControls"/>
    </lcf76f155ced4ddcb4097134ff3c332f>
    <TaxCatchAll xmlns="204c8fdd-6a95-4db6-9bb5-c65d7126e426" xsi:nil="true"/>
  </documentManagement>
</p:properties>
</file>

<file path=customXml/itemProps1.xml><?xml version="1.0" encoding="utf-8"?>
<ds:datastoreItem xmlns:ds="http://schemas.openxmlformats.org/officeDocument/2006/customXml" ds:itemID="{1DF421F8-5B49-42E3-83FB-5824EEB2D621}"/>
</file>

<file path=customXml/itemProps2.xml><?xml version="1.0" encoding="utf-8"?>
<ds:datastoreItem xmlns:ds="http://schemas.openxmlformats.org/officeDocument/2006/customXml" ds:itemID="{EE7C555A-6721-452A-ACC8-3EEBFC2146D0}"/>
</file>

<file path=customXml/itemProps3.xml><?xml version="1.0" encoding="utf-8"?>
<ds:datastoreItem xmlns:ds="http://schemas.openxmlformats.org/officeDocument/2006/customXml" ds:itemID="{F234A79E-AA40-4DFD-A3D1-1E057BCC34DF}"/>
</file>

<file path=docProps/app.xml><?xml version="1.0" encoding="utf-8"?>
<Properties xmlns="http://schemas.openxmlformats.org/officeDocument/2006/extended-properties" xmlns:vt="http://schemas.openxmlformats.org/officeDocument/2006/docPropsVTypes">
  <Template>Coding Guidelines</Template>
  <TotalTime>3088</TotalTime>
  <Words>906</Words>
  <Application>Microsoft Office PowerPoint</Application>
  <PresentationFormat>On-screen Show (4:3)</PresentationFormat>
  <Paragraphs>162</Paragraphs>
  <Slides>16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Coding Guidelines</vt:lpstr>
      <vt:lpstr> Saving And Unsaving Concepts For Associated Registers, Circular Buffer, Broadcasting</vt:lpstr>
      <vt:lpstr>CONTENTS</vt:lpstr>
      <vt:lpstr>Saving Concepts For Associated Register</vt:lpstr>
      <vt:lpstr>‘C’ Runtime Environment</vt:lpstr>
      <vt:lpstr>   Dedicated Registers   </vt:lpstr>
      <vt:lpstr>Reserved Registers</vt:lpstr>
      <vt:lpstr>Scratch Registers</vt:lpstr>
      <vt:lpstr>Stack Registers</vt:lpstr>
      <vt:lpstr>MODE1 Stack Register</vt:lpstr>
      <vt:lpstr>MODE OF OPERATION</vt:lpstr>
      <vt:lpstr>Circular Buffer in ASM</vt:lpstr>
      <vt:lpstr>Examples of Circular Buffer</vt:lpstr>
      <vt:lpstr>Examples of Circular Buffer</vt:lpstr>
      <vt:lpstr>Broadcast registers:</vt:lpstr>
      <vt:lpstr>Broadcast MODE</vt:lpstr>
      <vt:lpstr>PowerPoint Presentation</vt:lpstr>
    </vt:vector>
  </TitlesOfParts>
  <Company>jasmin Infotech PVT.LTD.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&amp; ASM Coding (SHARC)</dc:title>
  <dc:creator>balaji.ta</dc:creator>
  <cp:lastModifiedBy>dinesh</cp:lastModifiedBy>
  <cp:revision>184</cp:revision>
  <cp:lastPrinted>2000-06-01T06:56:38Z</cp:lastPrinted>
  <dcterms:created xsi:type="dcterms:W3CDTF">2008-07-10T13:55:57Z</dcterms:created>
  <dcterms:modified xsi:type="dcterms:W3CDTF">2025-03-13T07:16:23Z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0x010100C360F794EE8B7F4896CF96123B576A02</vt:lpwstr>
  </property>
</Properties>
</file>