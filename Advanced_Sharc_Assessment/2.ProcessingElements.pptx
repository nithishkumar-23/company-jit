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656" r:id="rId2"/>
    <p:sldId id="781" r:id="rId3"/>
    <p:sldId id="810" r:id="rId4"/>
    <p:sldId id="772" r:id="rId5"/>
    <p:sldId id="812" r:id="rId6"/>
    <p:sldId id="813" r:id="rId7"/>
    <p:sldId id="814" r:id="rId8"/>
    <p:sldId id="774" r:id="rId9"/>
    <p:sldId id="792" r:id="rId10"/>
    <p:sldId id="775" r:id="rId11"/>
    <p:sldId id="793" r:id="rId12"/>
    <p:sldId id="817" r:id="rId13"/>
    <p:sldId id="794" r:id="rId14"/>
    <p:sldId id="795" r:id="rId15"/>
    <p:sldId id="798" r:id="rId16"/>
    <p:sldId id="799" r:id="rId17"/>
    <p:sldId id="804" r:id="rId18"/>
    <p:sldId id="805" r:id="rId19"/>
    <p:sldId id="806" r:id="rId20"/>
    <p:sldId id="807" r:id="rId21"/>
    <p:sldId id="808" r:id="rId22"/>
    <p:sldId id="809" r:id="rId23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76"/>
    <a:srgbClr val="000062"/>
    <a:srgbClr val="66FFFF"/>
    <a:srgbClr val="FFFF00"/>
    <a:srgbClr val="72042E"/>
    <a:srgbClr val="6699FF"/>
    <a:srgbClr val="FF3300"/>
    <a:srgbClr val="8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0C5168-56B4-24F6-26D7-DA2A890F592F}" v="1" dt="2025-03-13T07:31:14.5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00" autoAdjust="0"/>
    <p:restoredTop sz="94761" autoAdjust="0"/>
  </p:normalViewPr>
  <p:slideViewPr>
    <p:cSldViewPr>
      <p:cViewPr varScale="1">
        <p:scale>
          <a:sx n="111" d="100"/>
          <a:sy n="111" d="100"/>
        </p:scale>
        <p:origin x="-1614" y="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AE45CB1-3C1F-6D54-837E-623DACC9968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5595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17088" dir="2963922" algn="ctr" rotWithShape="0">
              <a:schemeClr val="tx1"/>
            </a:outerShdw>
          </a:effec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2C4D611D-EAEA-4815-EE39-33C183EE870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27500" y="0"/>
            <a:ext cx="315595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17088" dir="2963922" algn="ctr" rotWithShape="0">
              <a:schemeClr val="tx1"/>
            </a:outerShdw>
          </a:effec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fld id="{B9F93957-1FA4-440D-963B-823E8C7C40CB}" type="datetime5">
              <a:rPr lang="en-US"/>
              <a:pPr>
                <a:defRPr/>
              </a:pPr>
              <a:t>13-Mar-25</a:t>
            </a:fld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8997C93D-07E0-27A5-35A1-76DCE431D45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55950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17088" dir="2963922" algn="ctr" rotWithShape="0">
              <a:schemeClr val="tx1"/>
            </a:outerShdw>
          </a:effec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7B08370A-C87D-DDFA-6B38-718E02E7FA0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27500" y="9123363"/>
            <a:ext cx="3155950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17088" dir="2963922" algn="ctr" rotWithShape="0">
              <a:schemeClr val="tx1"/>
            </a:outerShdw>
          </a:effec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fld id="{F534D299-B214-4FE9-A4AE-FFF9662C9B2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33E8CF4-A2C2-E926-DAB4-3894F977766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5595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17088" dir="2963922" algn="ctr" rotWithShape="0">
              <a:schemeClr val="tx1"/>
            </a:outerShdw>
          </a:effec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51A92D2-D4AB-9ACE-DB60-AA96C58116B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27500" y="0"/>
            <a:ext cx="315595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17088" dir="2963922" algn="ctr" rotWithShape="0">
              <a:schemeClr val="tx1"/>
            </a:outerShdw>
          </a:effec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fld id="{328E4604-E463-4DA9-8663-33E2F73AD6A3}" type="datetime5">
              <a:rPr lang="en-US"/>
              <a:pPr>
                <a:defRPr/>
              </a:pPr>
              <a:t>13-Mar-25</a:t>
            </a:fld>
            <a:endParaRPr lang="en-US"/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5D2ACCD2-61E0-B292-4307-C35E9BD1827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1263" y="685800"/>
            <a:ext cx="4862512" cy="36464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B5CD8895-D705-9BC8-CB11-27709462FB3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1550" y="4560888"/>
            <a:ext cx="5340350" cy="433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17088" dir="2963922" algn="ctr" rotWithShape="0">
              <a:schemeClr val="tx1"/>
            </a:outerShdw>
          </a:effec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9D8A6C58-2D02-DACA-0E70-543B0E61834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3363"/>
            <a:ext cx="3155950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17088" dir="2963922" algn="ctr" rotWithShape="0">
              <a:schemeClr val="tx1"/>
            </a:outerShdw>
          </a:effec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521476E5-43CB-72F8-A1AA-4678FB3EC8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27500" y="9123363"/>
            <a:ext cx="3155950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17088" dir="2963922" algn="ctr" rotWithShape="0">
              <a:schemeClr val="tx1"/>
            </a:outerShdw>
          </a:effec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fld id="{EBD7C4B8-AAE6-4BE4-8E8D-B01822676B1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jasmin-infotech.com/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">
            <a:extLst>
              <a:ext uri="{FF2B5EF4-FFF2-40B4-BE49-F238E27FC236}">
                <a16:creationId xmlns:a16="http://schemas.microsoft.com/office/drawing/2014/main" id="{F5DD0236-B7DC-B096-4E90-5D73FAE7ED3A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0"/>
            <a:ext cx="9144000" cy="6858000"/>
            <a:chOff x="-6" y="0"/>
            <a:chExt cx="5760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CF1200B0-6B4F-12B3-E62A-FCEAFD04FB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6" y="0"/>
              <a:ext cx="1013" cy="4320"/>
            </a:xfrm>
            <a:prstGeom prst="rect">
              <a:avLst/>
            </a:prstGeom>
            <a:gradFill rotWithShape="0">
              <a:gsLst>
                <a:gs pos="0">
                  <a:srgbClr val="00328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B8F4A8BC-4AC6-8DB0-63E4-4124291D1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6" y="762"/>
              <a:ext cx="5760" cy="96"/>
            </a:xfrm>
            <a:prstGeom prst="rect">
              <a:avLst/>
            </a:prstGeom>
            <a:gradFill rotWithShape="0">
              <a:gsLst>
                <a:gs pos="0">
                  <a:srgbClr val="FF971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endParaRPr lang="en-US" altLang="en-US"/>
            </a:p>
          </p:txBody>
        </p:sp>
      </p:grpSp>
      <p:pic>
        <p:nvPicPr>
          <p:cNvPr id="5" name="Picture 9" descr="logo_jasmin_infotech">
            <a:extLst>
              <a:ext uri="{FF2B5EF4-FFF2-40B4-BE49-F238E27FC236}">
                <a16:creationId xmlns:a16="http://schemas.microsoft.com/office/drawing/2014/main" id="{890CBE78-EAFB-0210-4888-78A9D1746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667000"/>
            <a:ext cx="4191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0">
            <a:extLst>
              <a:ext uri="{FF2B5EF4-FFF2-40B4-BE49-F238E27FC236}">
                <a16:creationId xmlns:a16="http://schemas.microsoft.com/office/drawing/2014/main" id="{DA7F5D68-4A01-5BCA-8F5D-72B2A7A48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810000"/>
            <a:ext cx="434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itchFamily="18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2000" i="1">
                <a:latin typeface="Tahoma" pitchFamily="34" charset="0"/>
              </a:rPr>
              <a:t>Real Time Multimedia Solutions </a:t>
            </a:r>
          </a:p>
        </p:txBody>
      </p:sp>
      <p:sp>
        <p:nvSpPr>
          <p:cNvPr id="7" name="Text Box 11">
            <a:extLst>
              <a:ext uri="{FF2B5EF4-FFF2-40B4-BE49-F238E27FC236}">
                <a16:creationId xmlns:a16="http://schemas.microsoft.com/office/drawing/2014/main" id="{75C929D8-2F7F-1DA8-29FE-BCF23BD832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5957888"/>
            <a:ext cx="426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itchFamily="18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600">
                <a:solidFill>
                  <a:srgbClr val="000062"/>
                </a:solidFill>
                <a:latin typeface="Tahoma" pitchFamily="34" charset="0"/>
                <a:hlinkClick r:id="rId3"/>
              </a:rPr>
              <a:t>www.jasmin-infotech.com</a:t>
            </a:r>
            <a:r>
              <a:rPr lang="en-US" sz="2000" i="1">
                <a:solidFill>
                  <a:srgbClr val="C14916"/>
                </a:solidFill>
                <a:latin typeface="Arial" charset="0"/>
              </a:rPr>
              <a:t>	</a:t>
            </a:r>
          </a:p>
        </p:txBody>
      </p:sp>
      <p:pic>
        <p:nvPicPr>
          <p:cNvPr id="8" name="Picture 12" descr="iso_logos">
            <a:extLst>
              <a:ext uri="{FF2B5EF4-FFF2-40B4-BE49-F238E27FC236}">
                <a16:creationId xmlns:a16="http://schemas.microsoft.com/office/drawing/2014/main" id="{98DBB5AD-AC50-AB33-4743-E938DB1F1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3550" y="0"/>
            <a:ext cx="2330450" cy="120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229" name="Rectangle 5"/>
          <p:cNvSpPr>
            <a:spLocks noGrp="1" noChangeArrowheads="1"/>
          </p:cNvSpPr>
          <p:nvPr>
            <p:ph type="ctrTitle"/>
          </p:nvPr>
        </p:nvSpPr>
        <p:spPr>
          <a:xfrm>
            <a:off x="1371600" y="4572000"/>
            <a:ext cx="6705600" cy="838200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20230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905000" y="5562600"/>
            <a:ext cx="5410200" cy="457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160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341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6DD93264-EDFD-0E02-1613-1A0359D5DE9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8CE7AE-E8C5-475D-9C51-FA829EC39EA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ECA1EDAD-CCF7-B891-4729-4D0F19915093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AAC4BA-0247-49C2-97A6-7339F7DCDFC7}" type="datetime5">
              <a:rPr lang="en-US"/>
              <a:pPr>
                <a:defRPr/>
              </a:pPr>
              <a:t>13-Mar-25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818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D9790316-E399-2CF1-13A4-37349D91E40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62F508-66BA-4A9E-B25F-637F476DA26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1E1E5485-A92F-6EC8-837B-07324FDC9FBB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409FD3-59BD-4F62-864D-C80B515E99D6}" type="datetime5">
              <a:rPr lang="en-US"/>
              <a:pPr>
                <a:defRPr/>
              </a:pPr>
              <a:t>13-Mar-25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311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828800"/>
            <a:ext cx="38100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828800"/>
            <a:ext cx="38100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AA56AC7B-08FF-CF92-6AA8-8999A5705D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5A8378-8EF2-436C-94C1-09836C06600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2A9985AF-0614-2670-C7DC-461DC6D026F6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6CCDE0-5275-46FE-AAA7-76775B6793BE}" type="datetime5">
              <a:rPr lang="en-US"/>
              <a:pPr>
                <a:defRPr/>
              </a:pPr>
              <a:t>13-Mar-25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21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49176C5-DEDC-06EB-FCCD-070F04C72E4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21EED0-7731-4CA8-87AD-F78FC640301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5A31D871-69C0-6E69-0923-176990189C05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F80FE1-F29F-4CF2-947A-9DB6E52D8519}" type="datetime5">
              <a:rPr lang="en-US"/>
              <a:pPr>
                <a:defRPr/>
              </a:pPr>
              <a:t>13-Mar-25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283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01DBE15-080E-0DA6-0FD4-E2A7F19A68A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7253BB-3A55-48E3-AD52-380AE9CE3A7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F8825920-FA68-CBAC-D872-A4F586053A54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9BCE93-D2B7-4F95-BCFB-5FBEE6225B1B}" type="datetime5">
              <a:rPr lang="en-US"/>
              <a:pPr>
                <a:defRPr/>
              </a:pPr>
              <a:t>13-Mar-25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41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DD079987-D4E0-506F-E8CC-697CBBBDC3D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1407F4-1F8E-40B3-BD55-08B2DA25952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0DD7AA9B-4605-325F-CC39-3493F0AF2EE7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4B06BD-6171-4BB3-B484-E06C4E458009}" type="datetime5">
              <a:rPr lang="en-US"/>
              <a:pPr>
                <a:defRPr/>
              </a:pPr>
              <a:t>13-Mar-25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147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CE7DF1B-8C4A-C7EB-3510-548E205FAD3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C4EF1A-8E9D-4876-A423-108127EF6F0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DA2C272-4453-5F7C-580F-F2D017077299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136BC0-DE26-4C70-8537-041BA8756AAD}" type="datetime5">
              <a:rPr lang="en-US"/>
              <a:pPr>
                <a:defRPr/>
              </a:pPr>
              <a:t>13-Mar-25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330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2AEE966-6B38-BC28-8112-537011B0FA8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165ED3-43CC-4A3A-A22E-987A57C3968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E7FA5EB5-E612-D61C-95D8-83906B7AD55F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8C060-85A0-435D-AAF8-D5ABFFD49FEB}" type="datetime5">
              <a:rPr lang="en-US"/>
              <a:pPr>
                <a:defRPr/>
              </a:pPr>
              <a:t>13-Mar-25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54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28A3ACED-E3A4-106D-39CB-75E06A0CAAE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4B09F0-E099-4A50-BB1E-5ECCC7AC65E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47FA436E-9D83-B404-AA76-D3CA1280580F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3BBA56-7F02-4DE6-84B2-5BA3FC6FF97B}" type="datetime5">
              <a:rPr lang="en-US"/>
              <a:pPr>
                <a:defRPr/>
              </a:pPr>
              <a:t>13-Mar-25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475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685800"/>
            <a:ext cx="1943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685800"/>
            <a:ext cx="5676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2FA9CBB1-021F-C3E7-B150-F80CF71C528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4A7CCC-AC5C-422D-BDDE-8D3723FD7AC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790DB464-57F6-75B1-3CB0-67C5076A1E3A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CF865C-D495-44E9-8CDC-21FD95A5D951}" type="datetime5">
              <a:rPr lang="en-US"/>
              <a:pPr>
                <a:defRPr/>
              </a:pPr>
              <a:t>13-Mar-25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655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762000" y="685800"/>
            <a:ext cx="77724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132ECBC6-90EF-34E8-FC55-7EB75D9BC11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A674EB-083D-4993-9460-FCD0AB11D1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5FCC0D1F-90B3-3846-27F2-3D192545ECB7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26C083-B1A4-4D31-AAA1-E690A151739F}" type="datetime5">
              <a:rPr lang="en-US"/>
              <a:pPr>
                <a:defRPr/>
              </a:pPr>
              <a:t>13-Mar-25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339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1">
            <a:extLst>
              <a:ext uri="{FF2B5EF4-FFF2-40B4-BE49-F238E27FC236}">
                <a16:creationId xmlns:a16="http://schemas.microsoft.com/office/drawing/2014/main" id="{6D4256A8-7FE3-380D-750E-33BADA394974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0"/>
            <a:ext cx="9124950" cy="6858000"/>
            <a:chOff x="-6" y="0"/>
            <a:chExt cx="5748" cy="4320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A490B4F0-5150-CCB7-839F-11BED57CC3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6" y="0"/>
              <a:ext cx="1011" cy="4320"/>
            </a:xfrm>
            <a:prstGeom prst="rect">
              <a:avLst/>
            </a:prstGeom>
            <a:gradFill rotWithShape="0">
              <a:gsLst>
                <a:gs pos="0">
                  <a:srgbClr val="00328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34" name="Rectangle 3">
              <a:extLst>
                <a:ext uri="{FF2B5EF4-FFF2-40B4-BE49-F238E27FC236}">
                  <a16:creationId xmlns:a16="http://schemas.microsoft.com/office/drawing/2014/main" id="{FB531441-8A2A-7416-E64E-E48A3A8E7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6" y="762"/>
              <a:ext cx="5748" cy="96"/>
            </a:xfrm>
            <a:prstGeom prst="rect">
              <a:avLst/>
            </a:prstGeom>
            <a:gradFill rotWithShape="0">
              <a:gsLst>
                <a:gs pos="0">
                  <a:srgbClr val="FF971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027" name="Rectangle 5">
            <a:extLst>
              <a:ext uri="{FF2B5EF4-FFF2-40B4-BE49-F238E27FC236}">
                <a16:creationId xmlns:a16="http://schemas.microsoft.com/office/drawing/2014/main" id="{F436146F-6B27-4A7A-0A13-90C2DDB593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685800"/>
            <a:ext cx="6096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>
            <a:extLst>
              <a:ext uri="{FF2B5EF4-FFF2-40B4-BE49-F238E27FC236}">
                <a16:creationId xmlns:a16="http://schemas.microsoft.com/office/drawing/2014/main" id="{DD483EE4-0E3E-5C26-42DF-FDEFBF4A62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828800"/>
            <a:ext cx="77724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51494B01-2AE8-55D9-3ECF-FE41F8A6CD7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629400"/>
            <a:ext cx="533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>
              <a:defRPr sz="1000" b="0">
                <a:latin typeface="Times New Roman" panose="02020603050405020304" pitchFamily="18" charset="0"/>
              </a:defRPr>
            </a:lvl1pPr>
          </a:lstStyle>
          <a:p>
            <a:fld id="{30FDC2CE-95C7-4729-9F34-02AF83350BB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3B528732-F147-8C12-4483-54D9FE0A1E5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6294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fld id="{0CF51B65-D943-4781-B5CB-590744631D3E}" type="datetime5">
              <a:rPr lang="en-US"/>
              <a:pPr>
                <a:defRPr/>
              </a:pPr>
              <a:t>13-Mar-25</a:t>
            </a:fld>
            <a:endParaRPr lang="en-US"/>
          </a:p>
        </p:txBody>
      </p:sp>
      <p:pic>
        <p:nvPicPr>
          <p:cNvPr id="3" name="Picture 17" descr="logo_jasmin_infotech">
            <a:extLst>
              <a:ext uri="{FF2B5EF4-FFF2-40B4-BE49-F238E27FC236}">
                <a16:creationId xmlns:a16="http://schemas.microsoft.com/office/drawing/2014/main" id="{297AA586-6850-4C42-A521-93D1337F4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150" y="314325"/>
            <a:ext cx="1752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Text Box 18">
            <a:extLst>
              <a:ext uri="{FF2B5EF4-FFF2-40B4-BE49-F238E27FC236}">
                <a16:creationId xmlns:a16="http://schemas.microsoft.com/office/drawing/2014/main" id="{AE6D4888-69C9-B952-2917-0DC937C64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338" y="6392863"/>
            <a:ext cx="2235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itchFamily="18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200">
                <a:latin typeface="Arial" charset="0"/>
              </a:rPr>
              <a:t>Proprietary and Confidential</a:t>
            </a:r>
            <a:endParaRPr lang="en-US" sz="2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u="sng">
          <a:solidFill>
            <a:srgbClr val="C14916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 u="sng">
          <a:solidFill>
            <a:srgbClr val="C14916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 u="sng">
          <a:solidFill>
            <a:srgbClr val="C14916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 u="sng">
          <a:solidFill>
            <a:srgbClr val="C14916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 u="sng">
          <a:solidFill>
            <a:srgbClr val="C14916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 u="sng">
          <a:solidFill>
            <a:srgbClr val="C14916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 u="sng">
          <a:solidFill>
            <a:srgbClr val="C14916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 u="sng">
          <a:solidFill>
            <a:srgbClr val="C14916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 u="sng">
          <a:solidFill>
            <a:srgbClr val="C14916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Clr>
          <a:srgbClr val="FF0011"/>
        </a:buClr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11"/>
        </a:buClr>
        <a:buFont typeface="Wingdings" panose="05000000000000000000" pitchFamily="2" charset="2"/>
        <a:buChar char="o"/>
        <a:defRPr sz="1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2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3FFE65BE-67CF-39C3-0CF5-F7AF6D6757F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  <a:latin typeface="Times New Roman" panose="02020603050405020304" pitchFamily="18" charset="0"/>
              </a:rPr>
              <a:t>Processing Elements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3">
            <a:extLst>
              <a:ext uri="{FF2B5EF4-FFF2-40B4-BE49-F238E27FC236}">
                <a16:creationId xmlns:a16="http://schemas.microsoft.com/office/drawing/2014/main" id="{EC1F7ED8-CA59-7369-05C7-05EDB3E77B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CB023CBA-A46F-495C-8E89-E514AAF8D944}" type="slidenum">
              <a:rPr lang="en-US" altLang="en-US" sz="1000" b="0">
                <a:latin typeface="Times New Roman" panose="02020603050405020304" pitchFamily="18" charset="0"/>
              </a:rPr>
              <a:pPr/>
              <a:t>2</a:t>
            </a:fld>
            <a:endParaRPr lang="en-US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4099" name="Date Placeholder 4">
            <a:extLst>
              <a:ext uri="{FF2B5EF4-FFF2-40B4-BE49-F238E27FC236}">
                <a16:creationId xmlns:a16="http://schemas.microsoft.com/office/drawing/2014/main" id="{3F6DFEE9-3CB4-FA0B-A116-159119128B7B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89F390E8-E7B9-4C83-B472-13A1883BDECC}" type="datetime5">
              <a:rPr lang="en-US" altLang="en-US" sz="1400" b="0" smtClean="0">
                <a:latin typeface="Times New Roman" panose="02020603050405020304" pitchFamily="18" charset="0"/>
              </a:rPr>
              <a:pPr/>
              <a:t>13-Mar-25</a:t>
            </a:fld>
            <a:endParaRPr lang="en-US" altLang="en-US" sz="1400" b="0">
              <a:latin typeface="Times New Roman" panose="02020603050405020304" pitchFamily="18" charset="0"/>
            </a:endParaRPr>
          </a:p>
        </p:txBody>
      </p:sp>
      <p:sp>
        <p:nvSpPr>
          <p:cNvPr id="4100" name="Text Box 2">
            <a:extLst>
              <a:ext uri="{FF2B5EF4-FFF2-40B4-BE49-F238E27FC236}">
                <a16:creationId xmlns:a16="http://schemas.microsoft.com/office/drawing/2014/main" id="{F68E2EA4-6F6B-DB74-066A-68A5EACA8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652463"/>
            <a:ext cx="540543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r>
              <a:rPr lang="en-US" altLang="en-US" sz="3000">
                <a:solidFill>
                  <a:srgbClr val="CC3300"/>
                </a:solidFill>
                <a:latin typeface="Times New Roman" panose="02020603050405020304" pitchFamily="18" charset="0"/>
              </a:rPr>
              <a:t>Processing Elements - Overview</a:t>
            </a:r>
          </a:p>
        </p:txBody>
      </p:sp>
      <p:sp>
        <p:nvSpPr>
          <p:cNvPr id="4101" name="Text Box 3">
            <a:extLst>
              <a:ext uri="{FF2B5EF4-FFF2-40B4-BE49-F238E27FC236}">
                <a16:creationId xmlns:a16="http://schemas.microsoft.com/office/drawing/2014/main" id="{79A26108-A9E0-5492-85B1-D324B0FAA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1690688"/>
            <a:ext cx="7712075" cy="317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r>
              <a:rPr lang="en-US" altLang="en-US" sz="2000" b="0">
                <a:latin typeface="Times New Roman" panose="02020603050405020304" pitchFamily="18" charset="0"/>
              </a:rPr>
              <a:t>Two Processing Elements:</a:t>
            </a:r>
          </a:p>
          <a:p>
            <a:r>
              <a:rPr lang="en-US" altLang="en-US" sz="2000" b="0">
                <a:latin typeface="Times New Roman" panose="02020603050405020304" pitchFamily="18" charset="0"/>
              </a:rPr>
              <a:t>	- PEx (Primary Processing Element)</a:t>
            </a:r>
          </a:p>
          <a:p>
            <a:r>
              <a:rPr lang="en-US" altLang="en-US" sz="2000" b="0">
                <a:latin typeface="Times New Roman" panose="02020603050405020304" pitchFamily="18" charset="0"/>
              </a:rPr>
              <a:t>	- PEy (Secondary Processing Element)</a:t>
            </a:r>
          </a:p>
          <a:p>
            <a:endParaRPr lang="en-US" altLang="en-US" sz="2000" b="0">
              <a:latin typeface="Times New Roman" panose="02020603050405020304" pitchFamily="18" charset="0"/>
            </a:endParaRPr>
          </a:p>
          <a:p>
            <a:r>
              <a:rPr lang="en-US" altLang="en-US" sz="2000" b="0">
                <a:latin typeface="Times New Roman" panose="02020603050405020304" pitchFamily="18" charset="0"/>
              </a:rPr>
              <a:t>Each Processing Element consist of,</a:t>
            </a:r>
          </a:p>
          <a:p>
            <a:r>
              <a:rPr lang="en-US" altLang="en-US" sz="2000" b="0">
                <a:latin typeface="Times New Roman" panose="02020603050405020304" pitchFamily="18" charset="0"/>
              </a:rPr>
              <a:t>	- Data Registers</a:t>
            </a:r>
          </a:p>
          <a:p>
            <a:r>
              <a:rPr lang="en-US" altLang="en-US" sz="2000" b="0">
                <a:latin typeface="Times New Roman" panose="02020603050405020304" pitchFamily="18" charset="0"/>
              </a:rPr>
              <a:t>	- ALU (Arithmetic Logic Unit)</a:t>
            </a:r>
          </a:p>
          <a:p>
            <a:r>
              <a:rPr lang="en-US" altLang="en-US" sz="2000" b="0">
                <a:latin typeface="Times New Roman" panose="02020603050405020304" pitchFamily="18" charset="0"/>
              </a:rPr>
              <a:t>	- Multiplier</a:t>
            </a:r>
          </a:p>
          <a:p>
            <a:r>
              <a:rPr lang="en-US" altLang="en-US" sz="2000" b="0">
                <a:latin typeface="Times New Roman" panose="02020603050405020304" pitchFamily="18" charset="0"/>
              </a:rPr>
              <a:t>	- Shifter</a:t>
            </a:r>
          </a:p>
          <a:p>
            <a:r>
              <a:rPr lang="en-US" altLang="en-US" sz="2000" b="0">
                <a:latin typeface="Times New Roman" panose="02020603050405020304" pitchFamily="18" charset="0"/>
              </a:rPr>
              <a:t>	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45CBC026-CC94-7D86-8C41-D00B9D39E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495EFBEB-F432-AFD0-2229-DDEECFDF7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sz="1400"/>
              <a:t>Data Formats</a:t>
            </a:r>
            <a:r>
              <a:rPr lang="en-IN" altLang="en-US" sz="1400" b="0"/>
              <a:t>. The units support 32-bit fixed and floating point single precision IEEE 32-bit and extended precision IEEE 40-bit. </a:t>
            </a:r>
          </a:p>
          <a:p>
            <a:r>
              <a:rPr lang="en-IN" altLang="en-US" sz="1400"/>
              <a:t>Arithmetic/logic unit</a:t>
            </a:r>
            <a:r>
              <a:rPr lang="en-IN" altLang="en-US" sz="1400" b="0"/>
              <a:t>. The ALU performs arithmetic and logic operations on fixed-point and floating-point data.</a:t>
            </a:r>
          </a:p>
          <a:p>
            <a:r>
              <a:rPr lang="en-IN" altLang="en-US" sz="1400"/>
              <a:t>Multiplier</a:t>
            </a:r>
            <a:r>
              <a:rPr lang="en-IN" altLang="en-US" sz="1400" b="0"/>
              <a:t>. The multiplier performs floating-point and fixed-point multiplication and executes fixed-point multiply/add and multiply/subtract operations. </a:t>
            </a:r>
          </a:p>
          <a:p>
            <a:r>
              <a:rPr lang="en-IN" altLang="en-US" sz="1400"/>
              <a:t>Barrel Shifter</a:t>
            </a:r>
            <a:r>
              <a:rPr lang="en-IN" altLang="en-US" sz="1400" b="0"/>
              <a:t>. The barrel shifter performs bit shifts, bit, bit field, and bit stream manipulation on 32-bit operands. The shifter can also derive exponents</a:t>
            </a:r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0C93ABF5-6ABA-5943-6EEA-7B8DCCCB16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9A3D77E8-3F80-45DC-9194-E92A1539CE30}" type="slidenum">
              <a:rPr lang="en-US" altLang="en-US" sz="1000" b="0">
                <a:latin typeface="Times New Roman" panose="02020603050405020304" pitchFamily="18" charset="0"/>
              </a:rPr>
              <a:pPr/>
              <a:t>3</a:t>
            </a:fld>
            <a:endParaRPr lang="en-US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5125" name="Date Placeholder 4">
            <a:extLst>
              <a:ext uri="{FF2B5EF4-FFF2-40B4-BE49-F238E27FC236}">
                <a16:creationId xmlns:a16="http://schemas.microsoft.com/office/drawing/2014/main" id="{EE82015E-D2FB-CF0D-AFC1-1F284CAA0B16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7792B6F6-3927-4533-B9BF-679555ABB26D}" type="datetime5">
              <a:rPr lang="en-US" altLang="en-US" sz="1400" b="0" smtClean="0">
                <a:latin typeface="Times New Roman" panose="02020603050405020304" pitchFamily="18" charset="0"/>
              </a:rPr>
              <a:pPr/>
              <a:t>13-Mar-25</a:t>
            </a:fld>
            <a:endParaRPr lang="en-US" altLang="en-US" sz="14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>
            <a:extLst>
              <a:ext uri="{FF2B5EF4-FFF2-40B4-BE49-F238E27FC236}">
                <a16:creationId xmlns:a16="http://schemas.microsoft.com/office/drawing/2014/main" id="{6A2EDAAC-A448-7E42-43D3-B6272D41E3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77B79D55-C62C-40F0-8453-6A58BD6EEB0F}" type="slidenum">
              <a:rPr lang="en-US" altLang="en-US" sz="1000" b="0">
                <a:latin typeface="Times New Roman" panose="02020603050405020304" pitchFamily="18" charset="0"/>
              </a:rPr>
              <a:pPr/>
              <a:t>4</a:t>
            </a:fld>
            <a:endParaRPr lang="en-US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6147" name="Date Placeholder 4">
            <a:extLst>
              <a:ext uri="{FF2B5EF4-FFF2-40B4-BE49-F238E27FC236}">
                <a16:creationId xmlns:a16="http://schemas.microsoft.com/office/drawing/2014/main" id="{CC12BD98-9DB2-B9CC-9A22-E409A84170E1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9D6D34FC-196D-468E-8EF4-A34E8E7A2171}" type="datetime5">
              <a:rPr lang="en-US" altLang="en-US" sz="1400" b="0" smtClean="0">
                <a:latin typeface="Times New Roman" panose="02020603050405020304" pitchFamily="18" charset="0"/>
              </a:rPr>
              <a:pPr/>
              <a:t>13-Mar-25</a:t>
            </a:fld>
            <a:endParaRPr lang="en-US" altLang="en-US" sz="1400" b="0">
              <a:latin typeface="Times New Roman" panose="02020603050405020304" pitchFamily="18" charset="0"/>
            </a:endParaRPr>
          </a:p>
        </p:txBody>
      </p:sp>
      <p:sp>
        <p:nvSpPr>
          <p:cNvPr id="6148" name="Text Box 9">
            <a:extLst>
              <a:ext uri="{FF2B5EF4-FFF2-40B4-BE49-F238E27FC236}">
                <a16:creationId xmlns:a16="http://schemas.microsoft.com/office/drawing/2014/main" id="{592A6628-BD75-A27C-5E85-E32B72B7D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652463"/>
            <a:ext cx="69596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r>
              <a:rPr lang="en-US" altLang="en-US" sz="3000">
                <a:solidFill>
                  <a:srgbClr val="CC3300"/>
                </a:solidFill>
                <a:latin typeface="Times New Roman" panose="02020603050405020304" pitchFamily="18" charset="0"/>
              </a:rPr>
              <a:t>Processing Elements – Overview (Cont’d)</a:t>
            </a:r>
          </a:p>
        </p:txBody>
      </p:sp>
      <p:pic>
        <p:nvPicPr>
          <p:cNvPr id="6149" name="Picture 10">
            <a:extLst>
              <a:ext uri="{FF2B5EF4-FFF2-40B4-BE49-F238E27FC236}">
                <a16:creationId xmlns:a16="http://schemas.microsoft.com/office/drawing/2014/main" id="{0265ADFA-2B18-A366-03F1-E2D6E35B5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24000"/>
            <a:ext cx="5478463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B45B8B97-D76E-68C9-4904-6E1E9AC43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Universal Registers (Ureg) 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ACDFF79-29DF-71FF-E56D-0191419DA7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06500" y="1938338"/>
          <a:ext cx="6883400" cy="404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1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4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u="none" strike="noStrike" dirty="0">
                          <a:effectLst/>
                        </a:rPr>
                        <a:t>Register Type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u="none" strike="noStrike">
                          <a:effectLst/>
                        </a:rPr>
                        <a:t> Register(s)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u="none" strike="noStrike" dirty="0">
                          <a:effectLst/>
                        </a:rPr>
                        <a:t> Function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100" b="1" u="none" strike="noStrike" dirty="0">
                          <a:effectLst/>
                        </a:rPr>
                        <a:t>Dreg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R0 – R15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Processing element X register file locations, fixed-point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F0 – F15 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Processing element X register file locations, floating-point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100" b="1" u="none" strike="noStrike" dirty="0" err="1">
                          <a:effectLst/>
                        </a:rPr>
                        <a:t>cdreg</a:t>
                      </a:r>
                      <a:r>
                        <a:rPr lang="en-IN" sz="1100" b="1" u="none" strike="noStrike" dirty="0">
                          <a:effectLst/>
                        </a:rPr>
                        <a:t> 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S0 – S15 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Processing element Y register file locations, fixed-point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SF0 – SF15 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Processing element Y register file locations, floating-point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IN" sz="1100" b="1" u="none" strike="noStrike" dirty="0">
                          <a:effectLst/>
                        </a:rPr>
                        <a:t>Program Sequencer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PC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Program counter (read-only)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PCSTK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Top of PC stack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PCSTKP 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PC stack pointer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FADDR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Fetch address (read-only)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DADDR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Decode address (read-only)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LADDR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Loop termination address, code; top of loop address stack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CURLCNTR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Current loop counter; top of loop count stack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02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LCNTR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Loop count for next nested counter-controlled loop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IN" sz="1100" b="1" u="none" strike="noStrike" dirty="0">
                          <a:effectLst/>
                        </a:rPr>
                        <a:t>Data Address Generators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I0 – I7 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DAG1 index registers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M0 – M7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DAG1 modify registers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L0 – L7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DAG1 length registers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B0 – B7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DAG1 base registers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I8  – I15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DAG2 index registers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M8 – M15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DAG2 modify registers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L8 – L15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DAG2 length registers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002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B8 – B15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 dirty="0">
                          <a:effectLst/>
                        </a:rPr>
                        <a:t> DAG2 base registers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7245" name="Slide Number Placeholder 3">
            <a:extLst>
              <a:ext uri="{FF2B5EF4-FFF2-40B4-BE49-F238E27FC236}">
                <a16:creationId xmlns:a16="http://schemas.microsoft.com/office/drawing/2014/main" id="{8EABEC38-F352-1D2B-8803-31C9180ABB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F6FADD12-4A13-4F60-B583-3081077E0958}" type="slidenum">
              <a:rPr lang="en-US" altLang="en-US" sz="1000" b="0">
                <a:latin typeface="Times New Roman" panose="02020603050405020304" pitchFamily="18" charset="0"/>
              </a:rPr>
              <a:pPr/>
              <a:t>5</a:t>
            </a:fld>
            <a:endParaRPr lang="en-US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7246" name="Date Placeholder 4">
            <a:extLst>
              <a:ext uri="{FF2B5EF4-FFF2-40B4-BE49-F238E27FC236}">
                <a16:creationId xmlns:a16="http://schemas.microsoft.com/office/drawing/2014/main" id="{BFD35C30-DABE-5BDF-4336-C6116618D7AC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C8C83422-A431-4FE3-BAA2-6E37E1AC5144}" type="datetime5">
              <a:rPr lang="en-US" altLang="en-US" sz="1400" b="0" smtClean="0">
                <a:latin typeface="Times New Roman" panose="02020603050405020304" pitchFamily="18" charset="0"/>
              </a:rPr>
              <a:pPr/>
              <a:t>13-Mar-25</a:t>
            </a:fld>
            <a:endParaRPr lang="en-US" altLang="en-US" sz="14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A38EBAB5-48D6-B1A7-FBEE-D6ACF2EBC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Universal Registers (Ureg) 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C70B8A5-C7D6-B5F1-95BA-35B3DA31F6D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06500" y="2138363"/>
          <a:ext cx="6883400" cy="39561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1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4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9993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u="none" strike="noStrike" dirty="0">
                          <a:effectLst/>
                        </a:rPr>
                        <a:t>Register Type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u="none" strike="noStrike">
                          <a:effectLst/>
                        </a:rPr>
                        <a:t> Register(s)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u="none" strike="noStrike" dirty="0">
                          <a:effectLst/>
                        </a:rPr>
                        <a:t> Function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46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100" b="1" u="none" strike="noStrike" dirty="0">
                          <a:effectLst/>
                        </a:rPr>
                        <a:t>Timer 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TPERIOD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Timer period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99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TCOUNT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Timer counter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469">
                <a:tc rowSpan="16">
                  <a:txBody>
                    <a:bodyPr/>
                    <a:lstStyle/>
                    <a:p>
                      <a:pPr algn="ctr" fontAlgn="ctr"/>
                      <a:r>
                        <a:rPr lang="en-IN" sz="1100" b="1" u="none" strike="noStrike" dirty="0" err="1">
                          <a:effectLst/>
                        </a:rPr>
                        <a:t>sreg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MODE1 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Mode control &amp; status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46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MODE2 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Mode control &amp; status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46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IRPTL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Interrupt latch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46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IMASK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Interrupt mask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46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IMASKP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Interrupt mask pointer (for nesting)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46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MMASK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Mode mask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46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FLAGS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Flag pins input/output state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46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LIRPTL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Link Port interrupt latch, mask, and pointer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46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ASTATx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Element x arithmetic status flags, bit test flag, etc.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475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STKYx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Element x sticky arithmetic status flags, stack status flags, and so on.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46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USTAT1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User status register 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46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USTAT3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User status register 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46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csreg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ASTATy Element y arithmetic status flags, bit test flag, etc.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4475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STKYy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Element y sticky arithmetic status flags, stack status flags, and so on.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046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USTAT2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User status register 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999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USTAT4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 dirty="0">
                          <a:effectLst/>
                        </a:rPr>
                        <a:t> User status register 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8261" name="Slide Number Placeholder 3">
            <a:extLst>
              <a:ext uri="{FF2B5EF4-FFF2-40B4-BE49-F238E27FC236}">
                <a16:creationId xmlns:a16="http://schemas.microsoft.com/office/drawing/2014/main" id="{3117B028-372E-0955-D18D-1D31DA446B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E71651CA-5FFD-45DB-B4D8-2A8FE635A4E2}" type="slidenum">
              <a:rPr lang="en-US" altLang="en-US" sz="1000" b="0">
                <a:latin typeface="Times New Roman" panose="02020603050405020304" pitchFamily="18" charset="0"/>
              </a:rPr>
              <a:pPr/>
              <a:t>6</a:t>
            </a:fld>
            <a:endParaRPr lang="en-US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8262" name="Date Placeholder 4">
            <a:extLst>
              <a:ext uri="{FF2B5EF4-FFF2-40B4-BE49-F238E27FC236}">
                <a16:creationId xmlns:a16="http://schemas.microsoft.com/office/drawing/2014/main" id="{D6CDEDF1-B4F1-5253-B6C7-78C31A417E41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7F72B7BA-65D2-4C33-96D4-02AB6638A525}" type="datetime5">
              <a:rPr lang="en-US" altLang="en-US" sz="1400" b="0" smtClean="0">
                <a:latin typeface="Times New Roman" panose="02020603050405020304" pitchFamily="18" charset="0"/>
              </a:rPr>
              <a:pPr/>
              <a:t>13-Mar-25</a:t>
            </a:fld>
            <a:endParaRPr lang="en-US" altLang="en-US" sz="14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2">
            <a:extLst>
              <a:ext uri="{FF2B5EF4-FFF2-40B4-BE49-F238E27FC236}">
                <a16:creationId xmlns:a16="http://schemas.microsoft.com/office/drawing/2014/main" id="{F6021EC2-2644-B9EA-75AC-9E78B86C6D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46775505-DEF4-4A9F-9354-A8A73D267669}" type="slidenum">
              <a:rPr lang="en-US" altLang="en-US" sz="1000" b="0">
                <a:latin typeface="Times New Roman" panose="02020603050405020304" pitchFamily="18" charset="0"/>
              </a:rPr>
              <a:pPr/>
              <a:t>7</a:t>
            </a:fld>
            <a:endParaRPr lang="en-US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10243" name="Date Placeholder 3">
            <a:extLst>
              <a:ext uri="{FF2B5EF4-FFF2-40B4-BE49-F238E27FC236}">
                <a16:creationId xmlns:a16="http://schemas.microsoft.com/office/drawing/2014/main" id="{958F4873-31C6-313A-C59E-3CA92DDE6869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2528658A-6FA6-4C99-B69B-1CD1C26D31E8}" type="datetime5">
              <a:rPr lang="en-US" altLang="en-US" sz="1400" b="0" smtClean="0">
                <a:latin typeface="Times New Roman" panose="02020603050405020304" pitchFamily="18" charset="0"/>
              </a:rPr>
              <a:pPr/>
              <a:t>13-Mar-25</a:t>
            </a:fld>
            <a:endParaRPr lang="en-US" altLang="en-US" sz="1400" b="0">
              <a:latin typeface="Times New Roman" panose="02020603050405020304" pitchFamily="18" charset="0"/>
            </a:endParaRPr>
          </a:p>
        </p:txBody>
      </p:sp>
      <p:sp>
        <p:nvSpPr>
          <p:cNvPr id="10244" name="Text Box 2">
            <a:extLst>
              <a:ext uri="{FF2B5EF4-FFF2-40B4-BE49-F238E27FC236}">
                <a16:creationId xmlns:a16="http://schemas.microsoft.com/office/drawing/2014/main" id="{D789F822-C386-CB19-B633-B31B17517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688975"/>
            <a:ext cx="2546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r>
              <a:rPr lang="en-US" altLang="en-US" sz="2800">
                <a:solidFill>
                  <a:srgbClr val="CC3300"/>
                </a:solidFill>
              </a:rPr>
              <a:t>Data Registers</a:t>
            </a:r>
            <a:endParaRPr lang="en-US" altLang="en-US" sz="280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5" name="Text Box 3">
            <a:extLst>
              <a:ext uri="{FF2B5EF4-FFF2-40B4-BE49-F238E27FC236}">
                <a16:creationId xmlns:a16="http://schemas.microsoft.com/office/drawing/2014/main" id="{9714DA6A-499A-D166-7B4A-53B6A881A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752600"/>
            <a:ext cx="7788275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Two set of Data Registers.</a:t>
            </a:r>
          </a:p>
          <a:p>
            <a:pPr lvl="2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 R0 – R15 / f0 – f15 (Primary Data Registers)</a:t>
            </a:r>
          </a:p>
          <a:p>
            <a:pPr lvl="2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S0 – S15 (Secondary Data Registers)</a:t>
            </a:r>
          </a:p>
          <a:p>
            <a:pPr>
              <a:buClr>
                <a:srgbClr val="FF3300"/>
              </a:buClr>
              <a:buFont typeface="Wingdings" panose="05000000000000000000" pitchFamily="2" charset="2"/>
              <a:buChar char="Ø"/>
            </a:pPr>
            <a:endParaRPr lang="en-US" altLang="en-US" sz="2000" b="0">
              <a:latin typeface="Times New Roman" panose="02020603050405020304" pitchFamily="18" charset="0"/>
            </a:endParaRPr>
          </a:p>
          <a:p>
            <a:pPr>
              <a:buClr>
                <a:srgbClr val="FF3300"/>
              </a:buClr>
              <a:buFont typeface="Wingdings" panose="05000000000000000000" pitchFamily="2" charset="2"/>
              <a:buChar char="Ø"/>
            </a:pPr>
            <a:endParaRPr lang="en-US" altLang="en-US" sz="2000" b="0">
              <a:latin typeface="Times New Roman" panose="02020603050405020304" pitchFamily="18" charset="0"/>
            </a:endParaRPr>
          </a:p>
          <a:p>
            <a:pPr>
              <a:buClr>
                <a:srgbClr val="FF3300"/>
              </a:buClr>
              <a:buFont typeface="Wingdings" panose="05000000000000000000" pitchFamily="2" charset="2"/>
              <a:buChar char="Ø"/>
            </a:pPr>
            <a:endParaRPr lang="en-US" altLang="en-US" sz="2000" b="0">
              <a:latin typeface="Times New Roman" panose="02020603050405020304" pitchFamily="18" charset="0"/>
            </a:endParaRPr>
          </a:p>
          <a:p>
            <a:pPr>
              <a:buClr>
                <a:srgbClr val="FF3300"/>
              </a:buClr>
              <a:buFont typeface="Wingdings" panose="05000000000000000000" pitchFamily="2" charset="2"/>
              <a:buChar char="Ø"/>
            </a:pPr>
            <a:endParaRPr lang="en-US" altLang="en-US" sz="2000" b="0">
              <a:latin typeface="Times New Roman" panose="02020603050405020304" pitchFamily="18" charset="0"/>
            </a:endParaRPr>
          </a:p>
          <a:p>
            <a:pPr lvl="1">
              <a:buClr>
                <a:srgbClr val="FF3300"/>
              </a:buClr>
            </a:pPr>
            <a:r>
              <a:rPr lang="pt-BR" altLang="en-US" sz="2000" b="0">
                <a:latin typeface="Times New Roman" panose="02020603050405020304" pitchFamily="18" charset="0"/>
              </a:rPr>
              <a:t>r0=r1+r2, r0=dm(i0,m0), r0=pm(i8,m8);  /* r0 is loaded from i0*/ r0=r1+r2, r0=pm(i8,m8);    /* r0 is loaded from i8 */</a:t>
            </a:r>
            <a:endParaRPr lang="en-US" altLang="en-US" sz="2000" b="0">
              <a:latin typeface="Times New Roman" panose="02020603050405020304" pitchFamily="18" charset="0"/>
            </a:endParaRPr>
          </a:p>
          <a:p>
            <a:pPr>
              <a:buClr>
                <a:srgbClr val="FF3300"/>
              </a:buClr>
              <a:buFont typeface="Wingdings" panose="05000000000000000000" pitchFamily="2" charset="2"/>
              <a:buChar char="Ø"/>
            </a:pPr>
            <a:endParaRPr lang="en-US" altLang="en-US" sz="2000" b="0">
              <a:latin typeface="Times New Roman" panose="02020603050405020304" pitchFamily="18" charset="0"/>
            </a:endParaRPr>
          </a:p>
          <a:p>
            <a:pPr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Multiplier Registers.</a:t>
            </a:r>
          </a:p>
          <a:p>
            <a:pPr lvl="2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 MRF Register (Foreground)</a:t>
            </a:r>
          </a:p>
          <a:p>
            <a:pPr lvl="2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MFB Register (Background)</a:t>
            </a:r>
          </a:p>
          <a:p>
            <a:pPr lvl="2">
              <a:buClr>
                <a:srgbClr val="FF3300"/>
              </a:buClr>
            </a:pPr>
            <a:endParaRPr lang="en-US" altLang="en-US" sz="2000" b="0">
              <a:latin typeface="Times New Roman" panose="02020603050405020304" pitchFamily="18" charset="0"/>
            </a:endParaRPr>
          </a:p>
        </p:txBody>
      </p:sp>
      <p:pic>
        <p:nvPicPr>
          <p:cNvPr id="10246" name="Picture 5">
            <a:extLst>
              <a:ext uri="{FF2B5EF4-FFF2-40B4-BE49-F238E27FC236}">
                <a16:creationId xmlns:a16="http://schemas.microsoft.com/office/drawing/2014/main" id="{E6FE2CB6-7E6C-027E-7984-6053CE732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154363"/>
            <a:ext cx="4354513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2">
            <a:extLst>
              <a:ext uri="{FF2B5EF4-FFF2-40B4-BE49-F238E27FC236}">
                <a16:creationId xmlns:a16="http://schemas.microsoft.com/office/drawing/2014/main" id="{3A7DE474-EA63-CCB5-6F21-907B25B4FA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50D5C31E-3815-46EE-A904-4DD597E578C7}" type="slidenum">
              <a:rPr lang="en-US" altLang="en-US" sz="1000" b="0">
                <a:latin typeface="Times New Roman" panose="02020603050405020304" pitchFamily="18" charset="0"/>
              </a:rPr>
              <a:pPr/>
              <a:t>8</a:t>
            </a:fld>
            <a:endParaRPr lang="en-US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11267" name="Date Placeholder 3">
            <a:extLst>
              <a:ext uri="{FF2B5EF4-FFF2-40B4-BE49-F238E27FC236}">
                <a16:creationId xmlns:a16="http://schemas.microsoft.com/office/drawing/2014/main" id="{DE25120C-A44F-6B89-8FBD-E2A597B7B526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265F799B-BB2F-4E48-9EA1-A27F6D9DBB75}" type="datetime5">
              <a:rPr lang="en-US" altLang="en-US" sz="1400" b="0" smtClean="0">
                <a:latin typeface="Times New Roman" panose="02020603050405020304" pitchFamily="18" charset="0"/>
              </a:rPr>
              <a:pPr/>
              <a:t>13-Mar-25</a:t>
            </a:fld>
            <a:endParaRPr lang="en-US" altLang="en-US" sz="1400" b="0">
              <a:latin typeface="Times New Roman" panose="02020603050405020304" pitchFamily="18" charset="0"/>
            </a:endParaRPr>
          </a:p>
        </p:txBody>
      </p:sp>
      <p:sp>
        <p:nvSpPr>
          <p:cNvPr id="11268" name="Text Box 16">
            <a:extLst>
              <a:ext uri="{FF2B5EF4-FFF2-40B4-BE49-F238E27FC236}">
                <a16:creationId xmlns:a16="http://schemas.microsoft.com/office/drawing/2014/main" id="{15002F1D-6BAF-8AE3-E455-0BDBFA4949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652463"/>
            <a:ext cx="381317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r>
              <a:rPr lang="en-US" altLang="en-US" sz="3000">
                <a:solidFill>
                  <a:srgbClr val="CC3300"/>
                </a:solidFill>
                <a:latin typeface="Times New Roman" panose="02020603050405020304" pitchFamily="18" charset="0"/>
              </a:rPr>
              <a:t>Computational Modes</a:t>
            </a:r>
          </a:p>
        </p:txBody>
      </p:sp>
      <p:sp>
        <p:nvSpPr>
          <p:cNvPr id="11269" name="Text Box 17">
            <a:extLst>
              <a:ext uri="{FF2B5EF4-FFF2-40B4-BE49-F238E27FC236}">
                <a16:creationId xmlns:a16="http://schemas.microsoft.com/office/drawing/2014/main" id="{C5432BCB-0A16-0CEB-A2EB-640AF2F3B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1538288"/>
            <a:ext cx="6383338" cy="374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Mode1 Register</a:t>
            </a:r>
            <a:r>
              <a:rPr lang="en-US" altLang="en-US" sz="2000" b="0">
                <a:latin typeface="Times New Roman" panose="02020603050405020304" pitchFamily="18" charset="0"/>
              </a:rPr>
              <a:t>:</a:t>
            </a:r>
          </a:p>
          <a:p>
            <a:r>
              <a:rPr lang="en-US" altLang="en-US" sz="2000" b="0">
                <a:latin typeface="Times New Roman" panose="02020603050405020304" pitchFamily="18" charset="0"/>
              </a:rPr>
              <a:t>	- Controls the Operating modes of Processing</a:t>
            </a:r>
          </a:p>
          <a:p>
            <a:r>
              <a:rPr lang="en-US" altLang="en-US" sz="2000" b="0">
                <a:latin typeface="Times New Roman" panose="02020603050405020304" pitchFamily="18" charset="0"/>
              </a:rPr>
              <a:t>Elements.</a:t>
            </a:r>
          </a:p>
          <a:p>
            <a:endParaRPr lang="en-US" altLang="en-US" sz="2000" b="0">
              <a:latin typeface="Times New Roman" panose="02020603050405020304" pitchFamily="18" charset="0"/>
            </a:endParaRPr>
          </a:p>
          <a:p>
            <a:endParaRPr lang="en-US" altLang="en-US" sz="2000" b="0">
              <a:latin typeface="Times New Roman" panose="02020603050405020304" pitchFamily="18" charset="0"/>
            </a:endParaRPr>
          </a:p>
          <a:p>
            <a:endParaRPr lang="en-US" altLang="en-US" sz="2000" b="0">
              <a:latin typeface="Times New Roman" panose="02020603050405020304" pitchFamily="18" charset="0"/>
            </a:endParaRPr>
          </a:p>
          <a:p>
            <a:r>
              <a:rPr lang="en-US" altLang="en-US" sz="2000" b="0">
                <a:latin typeface="Times New Roman" panose="02020603050405020304" pitchFamily="18" charset="0"/>
              </a:rPr>
              <a:t>The following Mode1 Bit Control the Computational Modes.</a:t>
            </a:r>
          </a:p>
          <a:p>
            <a:r>
              <a:rPr lang="en-US" altLang="en-US" sz="2000" b="0">
                <a:latin typeface="Times New Roman" panose="02020603050405020304" pitchFamily="18" charset="0"/>
              </a:rPr>
              <a:t>	1. Floating Point Data format (RND32)</a:t>
            </a:r>
          </a:p>
          <a:p>
            <a:r>
              <a:rPr lang="en-US" altLang="en-US" sz="2000" b="0">
                <a:latin typeface="Times New Roman" panose="02020603050405020304" pitchFamily="18" charset="0"/>
              </a:rPr>
              <a:t>	2. Rounding Mode (TRUNC)</a:t>
            </a:r>
          </a:p>
          <a:p>
            <a:r>
              <a:rPr lang="en-US" altLang="en-US" sz="2000" b="0">
                <a:latin typeface="Times New Roman" panose="02020603050405020304" pitchFamily="18" charset="0"/>
              </a:rPr>
              <a:t>	3. ALU Saturation (ALUSAT)</a:t>
            </a:r>
          </a:p>
          <a:p>
            <a:r>
              <a:rPr lang="en-US" altLang="en-US" sz="2000" b="0">
                <a:latin typeface="Times New Roman" panose="02020603050405020304" pitchFamily="18" charset="0"/>
              </a:rPr>
              <a:t>	4. Short word Sign Extension (SSE)</a:t>
            </a:r>
          </a:p>
          <a:p>
            <a:r>
              <a:rPr lang="en-US" altLang="en-US" sz="2000" b="0">
                <a:latin typeface="Times New Roman" panose="02020603050405020304" pitchFamily="18" charset="0"/>
              </a:rPr>
              <a:t>	5. Secondary Processing Element (PEy).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2">
            <a:extLst>
              <a:ext uri="{FF2B5EF4-FFF2-40B4-BE49-F238E27FC236}">
                <a16:creationId xmlns:a16="http://schemas.microsoft.com/office/drawing/2014/main" id="{25871557-7888-FC20-8DEF-58B783CE8F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26264CF0-887E-478C-BA35-2B7F7AE545FF}" type="slidenum">
              <a:rPr lang="en-US" altLang="en-US" sz="1000" b="0">
                <a:latin typeface="Times New Roman" panose="02020603050405020304" pitchFamily="18" charset="0"/>
              </a:rPr>
              <a:pPr/>
              <a:t>9</a:t>
            </a:fld>
            <a:endParaRPr lang="en-US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12291" name="Date Placeholder 3">
            <a:extLst>
              <a:ext uri="{FF2B5EF4-FFF2-40B4-BE49-F238E27FC236}">
                <a16:creationId xmlns:a16="http://schemas.microsoft.com/office/drawing/2014/main" id="{5D54359D-2711-C68C-843A-08E75BB8C2C5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0F1ACFA0-1F9F-4BE0-BE8B-2097D365E5CF}" type="datetime5">
              <a:rPr lang="en-US" altLang="en-US" sz="1400" b="0" smtClean="0">
                <a:latin typeface="Times New Roman" panose="02020603050405020304" pitchFamily="18" charset="0"/>
              </a:rPr>
              <a:pPr/>
              <a:t>13-Mar-25</a:t>
            </a:fld>
            <a:endParaRPr lang="en-US" altLang="en-US" sz="1400" b="0">
              <a:latin typeface="Times New Roman" panose="02020603050405020304" pitchFamily="18" charset="0"/>
            </a:endParaRPr>
          </a:p>
        </p:txBody>
      </p:sp>
      <p:sp>
        <p:nvSpPr>
          <p:cNvPr id="12292" name="Text Box 2">
            <a:extLst>
              <a:ext uri="{FF2B5EF4-FFF2-40B4-BE49-F238E27FC236}">
                <a16:creationId xmlns:a16="http://schemas.microsoft.com/office/drawing/2014/main" id="{8EF41BB2-294E-5C3D-F37B-39D80C793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652463"/>
            <a:ext cx="381317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r>
              <a:rPr lang="en-US" altLang="en-US" sz="3000">
                <a:solidFill>
                  <a:srgbClr val="CC3300"/>
                </a:solidFill>
                <a:latin typeface="Times New Roman" panose="02020603050405020304" pitchFamily="18" charset="0"/>
              </a:rPr>
              <a:t>Computational Modes</a:t>
            </a:r>
          </a:p>
        </p:txBody>
      </p:sp>
      <p:sp>
        <p:nvSpPr>
          <p:cNvPr id="12293" name="Text Box 3">
            <a:extLst>
              <a:ext uri="{FF2B5EF4-FFF2-40B4-BE49-F238E27FC236}">
                <a16:creationId xmlns:a16="http://schemas.microsoft.com/office/drawing/2014/main" id="{27DA2AC9-FB38-A6EE-0086-FD87BF1B3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600200"/>
            <a:ext cx="7940675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r>
              <a:rPr lang="en-US" altLang="en-US" sz="2000" b="0">
                <a:solidFill>
                  <a:srgbClr val="72042E"/>
                </a:solidFill>
                <a:latin typeface="Times New Roman" panose="02020603050405020304" pitchFamily="18" charset="0"/>
              </a:rPr>
              <a:t>Floating Point Data format (RND32)</a:t>
            </a:r>
          </a:p>
          <a:p>
            <a:r>
              <a:rPr lang="en-US" altLang="en-US" sz="2000" b="0">
                <a:latin typeface="Times New Roman" panose="02020603050405020304" pitchFamily="18" charset="0"/>
              </a:rPr>
              <a:t>	Bit16, rounds floating-point data to 32 bits (if 1)or rounds to 40 bits (if 0)</a:t>
            </a:r>
          </a:p>
          <a:p>
            <a:r>
              <a:rPr lang="en-US" altLang="en-US" sz="2000" b="0">
                <a:solidFill>
                  <a:srgbClr val="72042E"/>
                </a:solidFill>
                <a:latin typeface="Times New Roman" panose="02020603050405020304" pitchFamily="18" charset="0"/>
              </a:rPr>
              <a:t>Rounding Mode (TRUNC)</a:t>
            </a:r>
          </a:p>
          <a:p>
            <a:r>
              <a:rPr lang="en-US" altLang="en-US" sz="2000" b="0">
                <a:latin typeface="Times New Roman" panose="02020603050405020304" pitchFamily="18" charset="0"/>
              </a:rPr>
              <a:t>	Bit15,  rounds results with round-to-zero (if 1) or round-to-nearest (if 0).</a:t>
            </a:r>
          </a:p>
          <a:p>
            <a:r>
              <a:rPr lang="en-US" altLang="en-US" sz="2000" b="0">
                <a:solidFill>
                  <a:srgbClr val="72042E"/>
                </a:solidFill>
                <a:latin typeface="Times New Roman" panose="02020603050405020304" pitchFamily="18" charset="0"/>
              </a:rPr>
              <a:t>ALU Saturation (ALUSAT)</a:t>
            </a:r>
          </a:p>
          <a:p>
            <a:r>
              <a:rPr lang="en-US" altLang="en-US" sz="2000" b="0">
                <a:latin typeface="Times New Roman" panose="02020603050405020304" pitchFamily="18" charset="0"/>
              </a:rPr>
              <a:t>	Bit13, saturates results on positive or negative fixed-point overflows (if 1) or returns unsaturated results (if 0).</a:t>
            </a:r>
          </a:p>
          <a:p>
            <a:r>
              <a:rPr lang="en-US" altLang="en-US" sz="2000" b="0">
                <a:solidFill>
                  <a:srgbClr val="72042E"/>
                </a:solidFill>
                <a:latin typeface="Times New Roman" panose="02020603050405020304" pitchFamily="18" charset="0"/>
              </a:rPr>
              <a:t>Short word Sign Extension (SSE)</a:t>
            </a:r>
          </a:p>
          <a:p>
            <a:r>
              <a:rPr lang="en-US" altLang="en-US" sz="2000" b="0">
                <a:latin typeface="Times New Roman" panose="02020603050405020304" pitchFamily="18" charset="0"/>
              </a:rPr>
              <a:t>	Bit 14, sign extends short word 16-bit data (if 1) or zero-fill the upper 16 bits (if 0).</a:t>
            </a:r>
          </a:p>
          <a:p>
            <a:r>
              <a:rPr lang="en-US" altLang="en-US" sz="2000" b="0">
                <a:solidFill>
                  <a:srgbClr val="72042E"/>
                </a:solidFill>
                <a:latin typeface="Times New Roman" panose="02020603050405020304" pitchFamily="18" charset="0"/>
              </a:rPr>
              <a:t>Secondary Processing Element (PEy)</a:t>
            </a:r>
          </a:p>
          <a:p>
            <a:r>
              <a:rPr lang="en-US" altLang="en-US" sz="2000" b="0">
                <a:latin typeface="Times New Roman" panose="02020603050405020304" pitchFamily="18" charset="0"/>
              </a:rPr>
              <a:t>	Bit21, enables computations in PEy (SIMD mode) (if 1) or disables PEy (SISD mode) (if 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2">
            <a:extLst>
              <a:ext uri="{FF2B5EF4-FFF2-40B4-BE49-F238E27FC236}">
                <a16:creationId xmlns:a16="http://schemas.microsoft.com/office/drawing/2014/main" id="{5DB994FC-16FD-B0A7-B6B2-4731128291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F5D21C47-25CA-4D0B-A68D-80A5074B4E6E}" type="slidenum">
              <a:rPr lang="en-US" altLang="en-US" sz="1000" b="0">
                <a:latin typeface="Times New Roman" panose="02020603050405020304" pitchFamily="18" charset="0"/>
              </a:rPr>
              <a:pPr/>
              <a:t>10</a:t>
            </a:fld>
            <a:endParaRPr lang="en-US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13315" name="Date Placeholder 3">
            <a:extLst>
              <a:ext uri="{FF2B5EF4-FFF2-40B4-BE49-F238E27FC236}">
                <a16:creationId xmlns:a16="http://schemas.microsoft.com/office/drawing/2014/main" id="{546C9C2A-86BD-C31B-163E-DBD7227EACD4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03C41E85-7960-42DA-BBBD-65D79CAD1B0E}" type="datetime5">
              <a:rPr lang="en-US" altLang="en-US" sz="1400" b="0" smtClean="0">
                <a:latin typeface="Times New Roman" panose="02020603050405020304" pitchFamily="18" charset="0"/>
              </a:rPr>
              <a:pPr/>
              <a:t>13-Mar-25</a:t>
            </a:fld>
            <a:endParaRPr lang="en-US" altLang="en-US" sz="1400" b="0">
              <a:latin typeface="Times New Roman" panose="02020603050405020304" pitchFamily="18" charset="0"/>
            </a:endParaRPr>
          </a:p>
        </p:txBody>
      </p:sp>
      <p:sp>
        <p:nvSpPr>
          <p:cNvPr id="13316" name="Text Box 2">
            <a:extLst>
              <a:ext uri="{FF2B5EF4-FFF2-40B4-BE49-F238E27FC236}">
                <a16:creationId xmlns:a16="http://schemas.microsoft.com/office/drawing/2014/main" id="{8B46C53A-3A1F-F314-545D-B31ABC961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676275"/>
            <a:ext cx="4619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r>
              <a:rPr lang="en-US" altLang="en-US" sz="2800">
                <a:solidFill>
                  <a:srgbClr val="CC3300"/>
                </a:solidFill>
                <a:latin typeface="Times New Roman" panose="02020603050405020304" pitchFamily="18" charset="0"/>
              </a:rPr>
              <a:t>Arithmetic Logic Unit (ALU)</a:t>
            </a:r>
          </a:p>
        </p:txBody>
      </p:sp>
      <p:sp>
        <p:nvSpPr>
          <p:cNvPr id="13317" name="Text Box 6">
            <a:extLst>
              <a:ext uri="{FF2B5EF4-FFF2-40B4-BE49-F238E27FC236}">
                <a16:creationId xmlns:a16="http://schemas.microsoft.com/office/drawing/2014/main" id="{0FAA153E-4500-5EE6-2EDA-F4B7A24041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736725"/>
            <a:ext cx="8053388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ALU Performs the following operations,</a:t>
            </a:r>
          </a:p>
          <a:p>
            <a:pPr>
              <a:buClr>
                <a:srgbClr val="FF3300"/>
              </a:buClr>
              <a:buFont typeface="Wingdings" panose="05000000000000000000" pitchFamily="2" charset="2"/>
              <a:buNone/>
            </a:pPr>
            <a:endParaRPr lang="en-US" altLang="en-US" sz="2000" b="0">
              <a:latin typeface="Times New Roman" panose="02020603050405020304" pitchFamily="18" charset="0"/>
            </a:endParaRP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Floating-point addition, subtraction, add/subtract, average</a:t>
            </a: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Fixed-point addition, subtraction, add/subtract, average</a:t>
            </a: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Floating-point manipulation: binary log, scale, mantissa</a:t>
            </a: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Fixed-point add with carry, subtract with borrow, increment,decrement</a:t>
            </a: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Logical And, Or, Xor, Not</a:t>
            </a: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Functions: ABS, PASS, MIN, MAX, CLIP, COMPARE</a:t>
            </a: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Format conversion</a:t>
            </a: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Reciprocal and reciprocal square root primitives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2">
            <a:extLst>
              <a:ext uri="{FF2B5EF4-FFF2-40B4-BE49-F238E27FC236}">
                <a16:creationId xmlns:a16="http://schemas.microsoft.com/office/drawing/2014/main" id="{5BEC012F-D17F-401E-943F-DE58EA8416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6C2A4BC0-B008-4099-99A6-795E69FC24F5}" type="slidenum">
              <a:rPr lang="en-US" altLang="en-US" sz="1000" b="0">
                <a:latin typeface="Times New Roman" panose="02020603050405020304" pitchFamily="18" charset="0"/>
              </a:rPr>
              <a:pPr/>
              <a:t>11</a:t>
            </a:fld>
            <a:endParaRPr lang="en-US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14339" name="Date Placeholder 3">
            <a:extLst>
              <a:ext uri="{FF2B5EF4-FFF2-40B4-BE49-F238E27FC236}">
                <a16:creationId xmlns:a16="http://schemas.microsoft.com/office/drawing/2014/main" id="{2ED26A6F-0D2F-CD20-018A-53580163AA03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BF0EB1AC-D7A8-4682-872C-20D5AE59E0C6}" type="datetime5">
              <a:rPr lang="en-US" altLang="en-US" sz="1400" b="0" smtClean="0">
                <a:latin typeface="Times New Roman" panose="02020603050405020304" pitchFamily="18" charset="0"/>
              </a:rPr>
              <a:pPr/>
              <a:t>13-Mar-25</a:t>
            </a:fld>
            <a:endParaRPr lang="en-US" altLang="en-US" sz="1400" b="0">
              <a:latin typeface="Times New Roman" panose="02020603050405020304" pitchFamily="18" charset="0"/>
            </a:endParaRPr>
          </a:p>
        </p:txBody>
      </p:sp>
      <p:sp>
        <p:nvSpPr>
          <p:cNvPr id="14340" name="Text Box 2">
            <a:extLst>
              <a:ext uri="{FF2B5EF4-FFF2-40B4-BE49-F238E27FC236}">
                <a16:creationId xmlns:a16="http://schemas.microsoft.com/office/drawing/2014/main" id="{B850D9C0-9B89-CDAD-0ABF-2477D3B40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676275"/>
            <a:ext cx="2735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r>
              <a:rPr lang="en-US" altLang="en-US" sz="2800">
                <a:solidFill>
                  <a:srgbClr val="CC3300"/>
                </a:solidFill>
                <a:latin typeface="Times New Roman" panose="02020603050405020304" pitchFamily="18" charset="0"/>
              </a:rPr>
              <a:t>ALU Status Flag</a:t>
            </a:r>
          </a:p>
        </p:txBody>
      </p:sp>
      <p:sp>
        <p:nvSpPr>
          <p:cNvPr id="14341" name="Text Box 3">
            <a:extLst>
              <a:ext uri="{FF2B5EF4-FFF2-40B4-BE49-F238E27FC236}">
                <a16:creationId xmlns:a16="http://schemas.microsoft.com/office/drawing/2014/main" id="{09698A5D-771D-F761-3348-742B8BF85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1736725"/>
            <a:ext cx="7864475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ALU operations update seven status flags in the processing element’s arithmetic status (ASTATx and ASTATy) registers.</a:t>
            </a:r>
          </a:p>
          <a:p>
            <a:endParaRPr lang="en-US" altLang="en-US" sz="2000" b="0">
              <a:latin typeface="Times New Roman" panose="02020603050405020304" pitchFamily="18" charset="0"/>
            </a:endParaRP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ALU result zero or floating-point underflow, bit 0 (AZ)</a:t>
            </a: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ALU overflow, bit 1 (AV)</a:t>
            </a: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ALU result negative, bit 2 (AN)</a:t>
            </a: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ALU fixed-point carry, bit 3 (AC)</a:t>
            </a: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ALU X input sign for ABS, MANT operations, bit 4 (AS)</a:t>
            </a: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ALU floating-point invalid operation, bit 5 (AI)</a:t>
            </a: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Last ALU operation was a floating-point operation, bit 10 (AF)</a:t>
            </a: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Compare accumulation register results of last eight compare operations,</a:t>
            </a: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bits 31-24 (CACC)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2">
            <a:extLst>
              <a:ext uri="{FF2B5EF4-FFF2-40B4-BE49-F238E27FC236}">
                <a16:creationId xmlns:a16="http://schemas.microsoft.com/office/drawing/2014/main" id="{A906E1B6-9597-26A4-C72C-0B5B05852F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F92ACFF6-A54A-480D-A6D4-0BE26E3352B0}" type="slidenum">
              <a:rPr lang="en-US" altLang="en-US" sz="1000" b="0">
                <a:latin typeface="Times New Roman" panose="02020603050405020304" pitchFamily="18" charset="0"/>
              </a:rPr>
              <a:pPr/>
              <a:t>12</a:t>
            </a:fld>
            <a:endParaRPr lang="en-US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15363" name="Date Placeholder 3">
            <a:extLst>
              <a:ext uri="{FF2B5EF4-FFF2-40B4-BE49-F238E27FC236}">
                <a16:creationId xmlns:a16="http://schemas.microsoft.com/office/drawing/2014/main" id="{34BD99EF-3DB0-878B-D288-0F003BCA1920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AD52CD95-26B3-450D-9937-5F00C6514D9E}" type="datetime5">
              <a:rPr lang="en-US" altLang="en-US" sz="1400" b="0" smtClean="0">
                <a:latin typeface="Times New Roman" panose="02020603050405020304" pitchFamily="18" charset="0"/>
              </a:rPr>
              <a:pPr/>
              <a:t>13-Mar-25</a:t>
            </a:fld>
            <a:endParaRPr lang="en-US" altLang="en-US" sz="1400" b="0">
              <a:latin typeface="Times New Roman" panose="02020603050405020304" pitchFamily="18" charset="0"/>
            </a:endParaRPr>
          </a:p>
        </p:txBody>
      </p:sp>
      <p:sp>
        <p:nvSpPr>
          <p:cNvPr id="15364" name="Text Box 2">
            <a:extLst>
              <a:ext uri="{FF2B5EF4-FFF2-40B4-BE49-F238E27FC236}">
                <a16:creationId xmlns:a16="http://schemas.microsoft.com/office/drawing/2014/main" id="{A79B6214-C1AD-7AE4-394A-208CC9291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676275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endParaRPr lang="en-US" altLang="en-US" sz="280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5" name="Text Box 3">
            <a:extLst>
              <a:ext uri="{FF2B5EF4-FFF2-40B4-BE49-F238E27FC236}">
                <a16:creationId xmlns:a16="http://schemas.microsoft.com/office/drawing/2014/main" id="{7D8F9A61-25BC-7FFA-918C-C0B8F6CAD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1736725"/>
            <a:ext cx="7864475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IN" altLang="en-US" sz="2000" b="0">
                <a:latin typeface="Times New Roman" panose="02020603050405020304" pitchFamily="18" charset="0"/>
              </a:rPr>
              <a:t>Fixed-to-Float Conversion Instructions</a:t>
            </a:r>
          </a:p>
          <a:p>
            <a:pPr>
              <a:buClr>
                <a:srgbClr val="FF3300"/>
              </a:buClr>
            </a:pPr>
            <a:r>
              <a:rPr lang="en-IN" altLang="en-US" sz="2000" b="0">
                <a:latin typeface="Times New Roman" panose="02020603050405020304" pitchFamily="18" charset="0"/>
              </a:rPr>
              <a:t>	The ALU supports conversion between floating and fixed point as shown in the following example.</a:t>
            </a:r>
          </a:p>
          <a:p>
            <a:pPr lvl="1">
              <a:buClr>
                <a:srgbClr val="FF3300"/>
              </a:buClr>
            </a:pPr>
            <a:r>
              <a:rPr lang="en-IN" altLang="en-US" sz="2000" b="0">
                <a:latin typeface="Times New Roman" panose="02020603050405020304" pitchFamily="18" charset="0"/>
              </a:rPr>
              <a:t>Fn = FLOAT Rx;   /* floating-point */ </a:t>
            </a:r>
          </a:p>
          <a:p>
            <a:pPr lvl="1">
              <a:buClr>
                <a:srgbClr val="FF3300"/>
              </a:buClr>
            </a:pPr>
            <a:r>
              <a:rPr lang="en-IN" altLang="en-US" sz="2000" b="0">
                <a:latin typeface="Times New Roman" panose="02020603050405020304" pitchFamily="18" charset="0"/>
              </a:rPr>
              <a:t>Rn = FIX Fx;     /* fixed-point */ </a:t>
            </a:r>
          </a:p>
          <a:p>
            <a:pPr lvl="1">
              <a:buClr>
                <a:srgbClr val="FF3300"/>
              </a:buClr>
            </a:pPr>
            <a:endParaRPr lang="en-IN" altLang="en-US" sz="2000" b="0">
              <a:latin typeface="Times New Roman" panose="02020603050405020304" pitchFamily="18" charset="0"/>
            </a:endParaRPr>
          </a:p>
          <a:p>
            <a:pPr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IN" altLang="en-US" sz="2000" b="0">
                <a:latin typeface="Times New Roman" panose="02020603050405020304" pitchFamily="18" charset="0"/>
              </a:rPr>
              <a:t>Fixed-to-Float Conversion Instructions with Scaling</a:t>
            </a:r>
          </a:p>
          <a:p>
            <a:pPr>
              <a:buClr>
                <a:srgbClr val="FF3300"/>
              </a:buClr>
            </a:pPr>
            <a:r>
              <a:rPr lang="en-IN" altLang="en-US" sz="2000" b="0">
                <a:latin typeface="Times New Roman" panose="02020603050405020304" pitchFamily="18" charset="0"/>
              </a:rPr>
              <a:t>	The ALU supports conversion between floating- and fixed-point by using a scaling factor as shown in the following example.</a:t>
            </a:r>
          </a:p>
          <a:p>
            <a:pPr>
              <a:buClr>
                <a:srgbClr val="FF3300"/>
              </a:buClr>
            </a:pPr>
            <a:r>
              <a:rPr lang="en-IN" altLang="en-US" sz="2000" b="0">
                <a:latin typeface="Times New Roman" panose="02020603050405020304" pitchFamily="18" charset="0"/>
              </a:rPr>
              <a:t>	Fn = FLOAT Rx by 31;    /* floating-point [-1.0 to 1.0] */ </a:t>
            </a:r>
          </a:p>
          <a:p>
            <a:pPr>
              <a:buClr>
                <a:srgbClr val="FF3300"/>
              </a:buClr>
            </a:pPr>
            <a:r>
              <a:rPr lang="en-IN" altLang="en-US" sz="2000" b="0">
                <a:latin typeface="Times New Roman" panose="02020603050405020304" pitchFamily="18" charset="0"/>
              </a:rPr>
              <a:t>	Rn = FIX Fx by 31       /* fixed-point 1.31 format */</a:t>
            </a:r>
            <a:endParaRPr lang="en-US" altLang="en-US" sz="20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2">
            <a:extLst>
              <a:ext uri="{FF2B5EF4-FFF2-40B4-BE49-F238E27FC236}">
                <a16:creationId xmlns:a16="http://schemas.microsoft.com/office/drawing/2014/main" id="{5D93BFFD-026A-3715-F291-09F4E624A4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A925B7BD-2216-4B53-A374-D7C48A4FFB35}" type="slidenum">
              <a:rPr lang="en-US" altLang="en-US" sz="1000" b="0">
                <a:latin typeface="Times New Roman" panose="02020603050405020304" pitchFamily="18" charset="0"/>
              </a:rPr>
              <a:pPr/>
              <a:t>13</a:t>
            </a:fld>
            <a:endParaRPr lang="en-US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16387" name="Date Placeholder 3">
            <a:extLst>
              <a:ext uri="{FF2B5EF4-FFF2-40B4-BE49-F238E27FC236}">
                <a16:creationId xmlns:a16="http://schemas.microsoft.com/office/drawing/2014/main" id="{60773695-983F-3B27-24F9-CFC3E478A2C7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82D22253-F33A-4C79-943C-06F952D81E16}" type="datetime5">
              <a:rPr lang="en-US" altLang="en-US" sz="1400" b="0" smtClean="0">
                <a:latin typeface="Times New Roman" panose="02020603050405020304" pitchFamily="18" charset="0"/>
              </a:rPr>
              <a:pPr/>
              <a:t>13-Mar-25</a:t>
            </a:fld>
            <a:endParaRPr lang="en-US" altLang="en-US" sz="1400" b="0">
              <a:latin typeface="Times New Roman" panose="02020603050405020304" pitchFamily="18" charset="0"/>
            </a:endParaRPr>
          </a:p>
        </p:txBody>
      </p:sp>
      <p:sp>
        <p:nvSpPr>
          <p:cNvPr id="16388" name="Text Box 2">
            <a:extLst>
              <a:ext uri="{FF2B5EF4-FFF2-40B4-BE49-F238E27FC236}">
                <a16:creationId xmlns:a16="http://schemas.microsoft.com/office/drawing/2014/main" id="{8027C2BD-6A65-CA3B-660B-26164B0B8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676275"/>
            <a:ext cx="2862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r>
              <a:rPr lang="en-US" altLang="en-US" sz="2800">
                <a:solidFill>
                  <a:srgbClr val="CC3300"/>
                </a:solidFill>
                <a:latin typeface="Times New Roman" panose="02020603050405020304" pitchFamily="18" charset="0"/>
              </a:rPr>
              <a:t>ALU Instructions</a:t>
            </a:r>
          </a:p>
        </p:txBody>
      </p:sp>
      <p:pic>
        <p:nvPicPr>
          <p:cNvPr id="16389" name="Picture 5">
            <a:extLst>
              <a:ext uri="{FF2B5EF4-FFF2-40B4-BE49-F238E27FC236}">
                <a16:creationId xmlns:a16="http://schemas.microsoft.com/office/drawing/2014/main" id="{35085937-AF4E-9894-8511-16CF0475B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0" y="1295400"/>
            <a:ext cx="24638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6390" name="Picture 6">
            <a:extLst>
              <a:ext uri="{FF2B5EF4-FFF2-40B4-BE49-F238E27FC236}">
                <a16:creationId xmlns:a16="http://schemas.microsoft.com/office/drawing/2014/main" id="{734B89E6-614E-18E8-0C0B-66794198B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0" y="5583238"/>
            <a:ext cx="2463800" cy="1046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6391" name="Picture 7">
            <a:extLst>
              <a:ext uri="{FF2B5EF4-FFF2-40B4-BE49-F238E27FC236}">
                <a16:creationId xmlns:a16="http://schemas.microsoft.com/office/drawing/2014/main" id="{E207CE50-2A4F-82D8-6000-A7D088D6A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1371600"/>
            <a:ext cx="19240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6392" name="Picture 8">
            <a:extLst>
              <a:ext uri="{FF2B5EF4-FFF2-40B4-BE49-F238E27FC236}">
                <a16:creationId xmlns:a16="http://schemas.microsoft.com/office/drawing/2014/main" id="{12536D79-CF0D-D116-3484-467090B09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5486400"/>
            <a:ext cx="19240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2">
            <a:extLst>
              <a:ext uri="{FF2B5EF4-FFF2-40B4-BE49-F238E27FC236}">
                <a16:creationId xmlns:a16="http://schemas.microsoft.com/office/drawing/2014/main" id="{C8C38157-9A5A-6895-5582-291DCB46E5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F9FA8992-635F-4FE3-9EE6-03B5F27B9D6D}" type="slidenum">
              <a:rPr lang="en-US" altLang="en-US" sz="1000" b="0">
                <a:latin typeface="Times New Roman" panose="02020603050405020304" pitchFamily="18" charset="0"/>
              </a:rPr>
              <a:pPr/>
              <a:t>14</a:t>
            </a:fld>
            <a:endParaRPr lang="en-US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17411" name="Date Placeholder 3">
            <a:extLst>
              <a:ext uri="{FF2B5EF4-FFF2-40B4-BE49-F238E27FC236}">
                <a16:creationId xmlns:a16="http://schemas.microsoft.com/office/drawing/2014/main" id="{B021673C-17D8-6C30-B75D-A46B3CF30276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AF2F69C9-F2DB-46E4-9EE9-CCA3CB28C3AB}" type="datetime5">
              <a:rPr lang="en-US" altLang="en-US" sz="1400" b="0" smtClean="0">
                <a:latin typeface="Times New Roman" panose="02020603050405020304" pitchFamily="18" charset="0"/>
              </a:rPr>
              <a:pPr/>
              <a:t>13-Mar-25</a:t>
            </a:fld>
            <a:endParaRPr lang="en-US" altLang="en-US" sz="1400" b="0">
              <a:latin typeface="Times New Roman" panose="02020603050405020304" pitchFamily="18" charset="0"/>
            </a:endParaRPr>
          </a:p>
        </p:txBody>
      </p:sp>
      <p:sp>
        <p:nvSpPr>
          <p:cNvPr id="17412" name="Text Box 2">
            <a:extLst>
              <a:ext uri="{FF2B5EF4-FFF2-40B4-BE49-F238E27FC236}">
                <a16:creationId xmlns:a16="http://schemas.microsoft.com/office/drawing/2014/main" id="{D318671C-0DD0-56CA-0D5C-A85B7844F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676275"/>
            <a:ext cx="1743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r>
              <a:rPr lang="en-US" altLang="en-US" sz="2800">
                <a:solidFill>
                  <a:srgbClr val="CC3300"/>
                </a:solidFill>
                <a:latin typeface="Times New Roman" panose="02020603050405020304" pitchFamily="18" charset="0"/>
              </a:rPr>
              <a:t>Multiplier</a:t>
            </a:r>
          </a:p>
        </p:txBody>
      </p:sp>
      <p:sp>
        <p:nvSpPr>
          <p:cNvPr id="17413" name="Text Box 7">
            <a:extLst>
              <a:ext uri="{FF2B5EF4-FFF2-40B4-BE49-F238E27FC236}">
                <a16:creationId xmlns:a16="http://schemas.microsoft.com/office/drawing/2014/main" id="{89C96626-CC17-07AE-D732-C226F3770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538288"/>
            <a:ext cx="7515225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Multiplier Performs the following operations,</a:t>
            </a:r>
          </a:p>
          <a:p>
            <a:pPr>
              <a:buClr>
                <a:srgbClr val="FF3300"/>
              </a:buClr>
              <a:buFont typeface="Wingdings" panose="05000000000000000000" pitchFamily="2" charset="2"/>
              <a:buChar char="Ø"/>
            </a:pPr>
            <a:endParaRPr lang="en-US" altLang="en-US" sz="2000" b="0">
              <a:latin typeface="Times New Roman" panose="02020603050405020304" pitchFamily="18" charset="0"/>
            </a:endParaRP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Floating-point multiplication</a:t>
            </a: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Fixed-point multiplication</a:t>
            </a: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Fixed-point multiply/accumulate with addition, rounding optional</a:t>
            </a: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Fixed-point multiply/accumulate with subtraction, rounding</a:t>
            </a: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optional</a:t>
            </a: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Rounding multiplier result register</a:t>
            </a: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Saturating multiplier result register</a:t>
            </a: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Clearing multiplier result register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2">
            <a:extLst>
              <a:ext uri="{FF2B5EF4-FFF2-40B4-BE49-F238E27FC236}">
                <a16:creationId xmlns:a16="http://schemas.microsoft.com/office/drawing/2014/main" id="{5AD9E97E-265D-6813-BDF2-A12C56F77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A88E5279-3EC3-4293-B100-E929612503F4}" type="slidenum">
              <a:rPr lang="en-US" altLang="en-US" sz="1000" b="0">
                <a:latin typeface="Times New Roman" panose="02020603050405020304" pitchFamily="18" charset="0"/>
              </a:rPr>
              <a:pPr/>
              <a:t>15</a:t>
            </a:fld>
            <a:endParaRPr lang="en-US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18435" name="Date Placeholder 3">
            <a:extLst>
              <a:ext uri="{FF2B5EF4-FFF2-40B4-BE49-F238E27FC236}">
                <a16:creationId xmlns:a16="http://schemas.microsoft.com/office/drawing/2014/main" id="{B6743B16-DFAE-C888-3735-D9C089427469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0DCDCA44-7338-4C04-A47F-A1CB5E2FC202}" type="datetime5">
              <a:rPr lang="en-US" altLang="en-US" sz="1400" b="0" smtClean="0">
                <a:latin typeface="Times New Roman" panose="02020603050405020304" pitchFamily="18" charset="0"/>
              </a:rPr>
              <a:pPr/>
              <a:t>13-Mar-25</a:t>
            </a:fld>
            <a:endParaRPr lang="en-US" altLang="en-US" sz="1400" b="0">
              <a:latin typeface="Times New Roman" panose="02020603050405020304" pitchFamily="18" charset="0"/>
            </a:endParaRPr>
          </a:p>
        </p:txBody>
      </p:sp>
      <p:sp>
        <p:nvSpPr>
          <p:cNvPr id="18436" name="Text Box 2">
            <a:extLst>
              <a:ext uri="{FF2B5EF4-FFF2-40B4-BE49-F238E27FC236}">
                <a16:creationId xmlns:a16="http://schemas.microsoft.com/office/drawing/2014/main" id="{5CFC111D-C348-2FF4-90F6-A145F1FD8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688975"/>
            <a:ext cx="3800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r>
              <a:rPr lang="en-US" altLang="en-US" sz="2800">
                <a:solidFill>
                  <a:srgbClr val="CC3300"/>
                </a:solidFill>
              </a:rPr>
              <a:t>Multiplier</a:t>
            </a:r>
            <a:r>
              <a:rPr lang="en-US" altLang="en-US"/>
              <a:t> </a:t>
            </a:r>
            <a:r>
              <a:rPr lang="en-US" altLang="en-US" sz="2800">
                <a:solidFill>
                  <a:srgbClr val="CC3300"/>
                </a:solidFill>
                <a:latin typeface="Times New Roman" panose="02020603050405020304" pitchFamily="18" charset="0"/>
              </a:rPr>
              <a:t>Instructions</a:t>
            </a:r>
          </a:p>
        </p:txBody>
      </p:sp>
      <p:pic>
        <p:nvPicPr>
          <p:cNvPr id="18437" name="Picture 4">
            <a:extLst>
              <a:ext uri="{FF2B5EF4-FFF2-40B4-BE49-F238E27FC236}">
                <a16:creationId xmlns:a16="http://schemas.microsoft.com/office/drawing/2014/main" id="{645B0835-391C-C0FA-BDE8-60A8AD149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447800"/>
            <a:ext cx="2058988" cy="5097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8438" name="Picture 5">
            <a:extLst>
              <a:ext uri="{FF2B5EF4-FFF2-40B4-BE49-F238E27FC236}">
                <a16:creationId xmlns:a16="http://schemas.microsoft.com/office/drawing/2014/main" id="{F33363DC-A307-7332-C9D7-3EAD809C1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447800"/>
            <a:ext cx="2058988" cy="134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2">
            <a:extLst>
              <a:ext uri="{FF2B5EF4-FFF2-40B4-BE49-F238E27FC236}">
                <a16:creationId xmlns:a16="http://schemas.microsoft.com/office/drawing/2014/main" id="{25A44146-9E83-51B3-A27B-CFB0FA14FB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213377D4-512D-4DAA-8020-ACD6F7BD7579}" type="slidenum">
              <a:rPr lang="en-US" altLang="en-US" sz="1000" b="0">
                <a:latin typeface="Times New Roman" panose="02020603050405020304" pitchFamily="18" charset="0"/>
              </a:rPr>
              <a:pPr/>
              <a:t>16</a:t>
            </a:fld>
            <a:endParaRPr lang="en-US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19459" name="Date Placeholder 3">
            <a:extLst>
              <a:ext uri="{FF2B5EF4-FFF2-40B4-BE49-F238E27FC236}">
                <a16:creationId xmlns:a16="http://schemas.microsoft.com/office/drawing/2014/main" id="{FAFBD2D7-EA92-EAF5-59CB-F3877AFEA448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56CBD4D3-9377-481B-BF9F-BEBFBBC70DA6}" type="datetime5">
              <a:rPr lang="en-US" altLang="en-US" sz="1400" b="0" smtClean="0">
                <a:latin typeface="Times New Roman" panose="02020603050405020304" pitchFamily="18" charset="0"/>
              </a:rPr>
              <a:pPr/>
              <a:t>13-Mar-25</a:t>
            </a:fld>
            <a:endParaRPr lang="en-US" altLang="en-US" sz="1400" b="0">
              <a:latin typeface="Times New Roman" panose="02020603050405020304" pitchFamily="18" charset="0"/>
            </a:endParaRPr>
          </a:p>
        </p:txBody>
      </p:sp>
      <p:sp>
        <p:nvSpPr>
          <p:cNvPr id="19460" name="Text Box 2">
            <a:extLst>
              <a:ext uri="{FF2B5EF4-FFF2-40B4-BE49-F238E27FC236}">
                <a16:creationId xmlns:a16="http://schemas.microsoft.com/office/drawing/2014/main" id="{E82C4D57-5ACC-4B3F-058B-B55B7A6D4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688975"/>
            <a:ext cx="2387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r>
              <a:rPr lang="en-US" altLang="en-US" sz="2800">
                <a:solidFill>
                  <a:srgbClr val="CC3300"/>
                </a:solidFill>
              </a:rPr>
              <a:t>Barrel Shifter</a:t>
            </a:r>
            <a:endParaRPr lang="en-US" altLang="en-US" sz="280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61" name="Text Box 5">
            <a:extLst>
              <a:ext uri="{FF2B5EF4-FFF2-40B4-BE49-F238E27FC236}">
                <a16:creationId xmlns:a16="http://schemas.microsoft.com/office/drawing/2014/main" id="{9438221C-1DF5-6D06-A322-73D5CB180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7861300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The shifter performs bit-wise operations on 32-bit fixed-point operands.</a:t>
            </a:r>
          </a:p>
          <a:p>
            <a:pPr>
              <a:buClr>
                <a:srgbClr val="FF3300"/>
              </a:buClr>
              <a:buFont typeface="Wingdings" panose="05000000000000000000" pitchFamily="2" charset="2"/>
              <a:buNone/>
            </a:pPr>
            <a:endParaRPr lang="en-US" altLang="en-US" sz="2000" b="0">
              <a:latin typeface="Times New Roman" panose="02020603050405020304" pitchFamily="18" charset="0"/>
            </a:endParaRPr>
          </a:p>
          <a:p>
            <a:pPr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Shifter operations include:</a:t>
            </a:r>
          </a:p>
          <a:p>
            <a:pPr>
              <a:buClr>
                <a:srgbClr val="FF3300"/>
              </a:buClr>
              <a:buFont typeface="Wingdings" panose="05000000000000000000" pitchFamily="2" charset="2"/>
              <a:buNone/>
            </a:pPr>
            <a:endParaRPr lang="en-US" altLang="en-US" sz="2000" b="0">
              <a:latin typeface="Times New Roman" panose="02020603050405020304" pitchFamily="18" charset="0"/>
            </a:endParaRP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Shifts and rotates from off-scale left to off-scale right</a:t>
            </a: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Bit manipulation operations, including bit set, clear, toggle, and test</a:t>
            </a: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Bit field manipulation operations, including extract and deposit </a:t>
            </a: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Fixed-point/floating-point conversion operations, including exponent</a:t>
            </a:r>
          </a:p>
          <a:p>
            <a:pPr lvl="1"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extract, number of leading 1s or 0s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2">
            <a:extLst>
              <a:ext uri="{FF2B5EF4-FFF2-40B4-BE49-F238E27FC236}">
                <a16:creationId xmlns:a16="http://schemas.microsoft.com/office/drawing/2014/main" id="{4256A88D-C179-9B58-94CF-59A51FC988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20C99607-910D-4669-AFEE-A3438B0D8313}" type="slidenum">
              <a:rPr lang="en-US" altLang="en-US" sz="1000" b="0">
                <a:latin typeface="Times New Roman" panose="02020603050405020304" pitchFamily="18" charset="0"/>
              </a:rPr>
              <a:pPr/>
              <a:t>17</a:t>
            </a:fld>
            <a:endParaRPr lang="en-US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20483" name="Date Placeholder 3">
            <a:extLst>
              <a:ext uri="{FF2B5EF4-FFF2-40B4-BE49-F238E27FC236}">
                <a16:creationId xmlns:a16="http://schemas.microsoft.com/office/drawing/2014/main" id="{AEB5E16A-3BAE-6086-5746-7727923F11A2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61AF4D3E-A5A7-4C6A-926F-2E27B8A645C0}" type="datetime5">
              <a:rPr lang="en-US" altLang="en-US" sz="1400" b="0" smtClean="0">
                <a:latin typeface="Times New Roman" panose="02020603050405020304" pitchFamily="18" charset="0"/>
              </a:rPr>
              <a:pPr/>
              <a:t>13-Mar-25</a:t>
            </a:fld>
            <a:endParaRPr lang="en-US" altLang="en-US" sz="1400" b="0">
              <a:latin typeface="Times New Roman" panose="02020603050405020304" pitchFamily="18" charset="0"/>
            </a:endParaRPr>
          </a:p>
        </p:txBody>
      </p:sp>
      <p:sp>
        <p:nvSpPr>
          <p:cNvPr id="20484" name="Text Box 2">
            <a:extLst>
              <a:ext uri="{FF2B5EF4-FFF2-40B4-BE49-F238E27FC236}">
                <a16:creationId xmlns:a16="http://schemas.microsoft.com/office/drawing/2014/main" id="{669C68BE-49C7-8C95-B713-4BD5E27D9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688975"/>
            <a:ext cx="4745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r>
              <a:rPr lang="en-US" altLang="en-US" sz="2800">
                <a:solidFill>
                  <a:srgbClr val="CC3300"/>
                </a:solidFill>
              </a:rPr>
              <a:t>Multifunction Computation</a:t>
            </a:r>
            <a:endParaRPr lang="en-US" altLang="en-US" sz="280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5" name="Text Box 5">
            <a:extLst>
              <a:ext uri="{FF2B5EF4-FFF2-40B4-BE49-F238E27FC236}">
                <a16:creationId xmlns:a16="http://schemas.microsoft.com/office/drawing/2014/main" id="{953FA34E-53BE-F1E7-47DE-AE0556122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828800"/>
            <a:ext cx="7559675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Supports multiple parallel (multifunction) computations by using the parallel data paths within its computational units.</a:t>
            </a:r>
          </a:p>
          <a:p>
            <a:pPr>
              <a:buClr>
                <a:srgbClr val="FF3300"/>
              </a:buClr>
              <a:buFont typeface="Wingdings" panose="05000000000000000000" pitchFamily="2" charset="2"/>
              <a:buChar char="Ø"/>
            </a:pPr>
            <a:endParaRPr lang="en-US" altLang="en-US" sz="2000" b="0">
              <a:latin typeface="Times New Roman" panose="02020603050405020304" pitchFamily="18" charset="0"/>
            </a:endParaRPr>
          </a:p>
          <a:p>
            <a:pPr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Complete in a single cycle.</a:t>
            </a:r>
          </a:p>
          <a:p>
            <a:pPr>
              <a:buClr>
                <a:srgbClr val="FF3300"/>
              </a:buClr>
              <a:buFont typeface="Wingdings" panose="05000000000000000000" pitchFamily="2" charset="2"/>
              <a:buChar char="Ø"/>
            </a:pPr>
            <a:endParaRPr lang="en-US" altLang="en-US" sz="2000" b="0">
              <a:latin typeface="Times New Roman" panose="02020603050405020304" pitchFamily="18" charset="0"/>
            </a:endParaRPr>
          </a:p>
          <a:p>
            <a:pPr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Combine parallel operation of the multiplier and the ALU or dual ALU functions.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2">
            <a:extLst>
              <a:ext uri="{FF2B5EF4-FFF2-40B4-BE49-F238E27FC236}">
                <a16:creationId xmlns:a16="http://schemas.microsoft.com/office/drawing/2014/main" id="{06996FD1-D55D-8BBC-DF7C-88EB943525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BE1647AF-5D8A-41E2-B989-D3B74F05A81C}" type="slidenum">
              <a:rPr lang="en-US" altLang="en-US" sz="1000" b="0">
                <a:latin typeface="Times New Roman" panose="02020603050405020304" pitchFamily="18" charset="0"/>
              </a:rPr>
              <a:pPr/>
              <a:t>18</a:t>
            </a:fld>
            <a:endParaRPr lang="en-US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21507" name="Date Placeholder 3">
            <a:extLst>
              <a:ext uri="{FF2B5EF4-FFF2-40B4-BE49-F238E27FC236}">
                <a16:creationId xmlns:a16="http://schemas.microsoft.com/office/drawing/2014/main" id="{A3FD9EFA-7460-8325-98C1-C1CAFC4E299D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86AC95AD-0A9C-40F4-97BE-C7D6E43A678E}" type="datetime5">
              <a:rPr lang="en-US" altLang="en-US" sz="1400" b="0" smtClean="0">
                <a:latin typeface="Times New Roman" panose="02020603050405020304" pitchFamily="18" charset="0"/>
              </a:rPr>
              <a:pPr/>
              <a:t>13-Mar-25</a:t>
            </a:fld>
            <a:endParaRPr lang="en-US" altLang="en-US" sz="1400" b="0">
              <a:latin typeface="Times New Roman" panose="02020603050405020304" pitchFamily="18" charset="0"/>
            </a:endParaRPr>
          </a:p>
        </p:txBody>
      </p:sp>
      <p:sp>
        <p:nvSpPr>
          <p:cNvPr id="21508" name="Text Box 2">
            <a:extLst>
              <a:ext uri="{FF2B5EF4-FFF2-40B4-BE49-F238E27FC236}">
                <a16:creationId xmlns:a16="http://schemas.microsoft.com/office/drawing/2014/main" id="{E9EA46C2-25F5-FCC0-E33A-8BE1783BC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688975"/>
            <a:ext cx="4745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r>
              <a:rPr lang="en-US" altLang="en-US" sz="2800">
                <a:solidFill>
                  <a:srgbClr val="CC3300"/>
                </a:solidFill>
              </a:rPr>
              <a:t>Multifunction Computation</a:t>
            </a:r>
            <a:endParaRPr lang="en-US" altLang="en-US" sz="280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1509" name="Picture 4">
            <a:extLst>
              <a:ext uri="{FF2B5EF4-FFF2-40B4-BE49-F238E27FC236}">
                <a16:creationId xmlns:a16="http://schemas.microsoft.com/office/drawing/2014/main" id="{0DCCDC4B-AC84-B68F-7A6C-FD2633205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447800"/>
            <a:ext cx="5973763" cy="500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2">
            <a:extLst>
              <a:ext uri="{FF2B5EF4-FFF2-40B4-BE49-F238E27FC236}">
                <a16:creationId xmlns:a16="http://schemas.microsoft.com/office/drawing/2014/main" id="{DE0263DC-BE1B-51FC-0189-C8486B73FE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E3CBD914-7156-4253-81AF-DDBD9B4A1A2A}" type="slidenum">
              <a:rPr lang="en-US" altLang="en-US" sz="1000" b="0">
                <a:latin typeface="Times New Roman" panose="02020603050405020304" pitchFamily="18" charset="0"/>
              </a:rPr>
              <a:pPr/>
              <a:t>19</a:t>
            </a:fld>
            <a:endParaRPr lang="en-US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22531" name="Date Placeholder 3">
            <a:extLst>
              <a:ext uri="{FF2B5EF4-FFF2-40B4-BE49-F238E27FC236}">
                <a16:creationId xmlns:a16="http://schemas.microsoft.com/office/drawing/2014/main" id="{53702914-89D8-C120-08D4-C240B5667749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06D52FC9-BDD1-4AF9-929D-7D24A627F27B}" type="datetime5">
              <a:rPr lang="en-US" altLang="en-US" sz="1400" b="0" smtClean="0">
                <a:latin typeface="Times New Roman" panose="02020603050405020304" pitchFamily="18" charset="0"/>
              </a:rPr>
              <a:pPr/>
              <a:t>13-Mar-25</a:t>
            </a:fld>
            <a:endParaRPr lang="en-US" altLang="en-US" sz="1400" b="0">
              <a:latin typeface="Times New Roman" panose="02020603050405020304" pitchFamily="18" charset="0"/>
            </a:endParaRPr>
          </a:p>
        </p:txBody>
      </p:sp>
      <p:sp>
        <p:nvSpPr>
          <p:cNvPr id="22532" name="Text Box 2">
            <a:extLst>
              <a:ext uri="{FF2B5EF4-FFF2-40B4-BE49-F238E27FC236}">
                <a16:creationId xmlns:a16="http://schemas.microsoft.com/office/drawing/2014/main" id="{5F7DED00-9769-4CAF-91AE-6B1DFA4D2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688975"/>
            <a:ext cx="4745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r>
              <a:rPr lang="en-US" altLang="en-US" sz="2800">
                <a:solidFill>
                  <a:srgbClr val="CC3300"/>
                </a:solidFill>
              </a:rPr>
              <a:t>Multifunction Computation</a:t>
            </a:r>
            <a:endParaRPr lang="en-US" altLang="en-US" sz="280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2533" name="Picture 4">
            <a:extLst>
              <a:ext uri="{FF2B5EF4-FFF2-40B4-BE49-F238E27FC236}">
                <a16:creationId xmlns:a16="http://schemas.microsoft.com/office/drawing/2014/main" id="{34945BE7-8EE8-3A5B-D0A2-46089D88E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524000"/>
            <a:ext cx="6919913" cy="478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2">
            <a:extLst>
              <a:ext uri="{FF2B5EF4-FFF2-40B4-BE49-F238E27FC236}">
                <a16:creationId xmlns:a16="http://schemas.microsoft.com/office/drawing/2014/main" id="{7EF041E1-4841-1E10-A0E8-C0745B2EFD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58459965-49A3-4012-811A-39D794CB452C}" type="slidenum">
              <a:rPr lang="en-US" altLang="en-US" sz="1000" b="0">
                <a:latin typeface="Times New Roman" panose="02020603050405020304" pitchFamily="18" charset="0"/>
              </a:rPr>
              <a:pPr/>
              <a:t>20</a:t>
            </a:fld>
            <a:endParaRPr lang="en-US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23555" name="Date Placeholder 3">
            <a:extLst>
              <a:ext uri="{FF2B5EF4-FFF2-40B4-BE49-F238E27FC236}">
                <a16:creationId xmlns:a16="http://schemas.microsoft.com/office/drawing/2014/main" id="{4F9269E1-A576-9199-6253-BC2EB5FD33BC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1A6D0647-59CC-4D7F-9AB3-B8399A26957D}" type="datetime5">
              <a:rPr lang="en-US" altLang="en-US" sz="1400" b="0" smtClean="0">
                <a:latin typeface="Times New Roman" panose="02020603050405020304" pitchFamily="18" charset="0"/>
              </a:rPr>
              <a:pPr/>
              <a:t>13-Mar-25</a:t>
            </a:fld>
            <a:endParaRPr lang="en-US" altLang="en-US" sz="1400" b="0">
              <a:latin typeface="Times New Roman" panose="02020603050405020304" pitchFamily="18" charset="0"/>
            </a:endParaRPr>
          </a:p>
        </p:txBody>
      </p:sp>
      <p:sp>
        <p:nvSpPr>
          <p:cNvPr id="23556" name="Text Box 2">
            <a:extLst>
              <a:ext uri="{FF2B5EF4-FFF2-40B4-BE49-F238E27FC236}">
                <a16:creationId xmlns:a16="http://schemas.microsoft.com/office/drawing/2014/main" id="{FE40C56E-0B8B-C2E4-EE38-FB2FD97ACC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688975"/>
            <a:ext cx="5302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r>
              <a:rPr lang="en-US" altLang="en-US" sz="2800">
                <a:solidFill>
                  <a:srgbClr val="CC3300"/>
                </a:solidFill>
              </a:rPr>
              <a:t>Secondary Processing Elements</a:t>
            </a:r>
            <a:endParaRPr lang="en-US" altLang="en-US" sz="280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7" name="Text Box 4">
            <a:extLst>
              <a:ext uri="{FF2B5EF4-FFF2-40B4-BE49-F238E27FC236}">
                <a16:creationId xmlns:a16="http://schemas.microsoft.com/office/drawing/2014/main" id="{22D6F8C2-18D0-B1FC-62D6-420E28063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1422400"/>
            <a:ext cx="79406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Supports SIMD (Single Instruction Multiple Data)</a:t>
            </a:r>
          </a:p>
          <a:p>
            <a:pPr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n-US" altLang="en-US" sz="2000" b="0">
                <a:latin typeface="Times New Roman" panose="02020603050405020304" pitchFamily="18" charset="0"/>
              </a:rPr>
              <a:t>To perform SIMD, enable the PEy bit in MODE1 Register</a:t>
            </a: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815B8818-BEB0-F7A5-DAA2-883C60AB4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560638"/>
            <a:ext cx="5164138" cy="429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2">
            <a:extLst>
              <a:ext uri="{FF2B5EF4-FFF2-40B4-BE49-F238E27FC236}">
                <a16:creationId xmlns:a16="http://schemas.microsoft.com/office/drawing/2014/main" id="{C6FB957C-0AFF-6BD2-CA49-AD486A18B0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BEF518F4-DE18-4D00-A641-1B5D4A749C43}" type="slidenum">
              <a:rPr lang="en-US" altLang="en-US" sz="1000" b="0">
                <a:latin typeface="Times New Roman" panose="02020603050405020304" pitchFamily="18" charset="0"/>
              </a:rPr>
              <a:pPr/>
              <a:t>21</a:t>
            </a:fld>
            <a:endParaRPr lang="en-US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24579" name="Date Placeholder 3">
            <a:extLst>
              <a:ext uri="{FF2B5EF4-FFF2-40B4-BE49-F238E27FC236}">
                <a16:creationId xmlns:a16="http://schemas.microsoft.com/office/drawing/2014/main" id="{752C2D47-3F46-9EB6-7547-73A7AABBF8AE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D81098E7-5D5C-495B-A188-2E37874F9167}" type="datetime5">
              <a:rPr lang="en-US" altLang="en-US" sz="1400" b="0" smtClean="0">
                <a:latin typeface="Times New Roman" panose="02020603050405020304" pitchFamily="18" charset="0"/>
              </a:rPr>
              <a:pPr/>
              <a:t>13-Mar-25</a:t>
            </a:fld>
            <a:endParaRPr lang="en-US" altLang="en-US" sz="1400" b="0">
              <a:latin typeface="Times New Roman" panose="02020603050405020304" pitchFamily="18" charset="0"/>
            </a:endParaRPr>
          </a:p>
        </p:txBody>
      </p:sp>
      <p:sp>
        <p:nvSpPr>
          <p:cNvPr id="24580" name="Text Box 2">
            <a:extLst>
              <a:ext uri="{FF2B5EF4-FFF2-40B4-BE49-F238E27FC236}">
                <a16:creationId xmlns:a16="http://schemas.microsoft.com/office/drawing/2014/main" id="{D63F4C96-E737-2CA0-2A91-121BAD8BB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688975"/>
            <a:ext cx="5302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r>
              <a:rPr lang="en-US" altLang="en-US" sz="2800">
                <a:solidFill>
                  <a:srgbClr val="CC3300"/>
                </a:solidFill>
              </a:rPr>
              <a:t>Secondary Processing Elements</a:t>
            </a:r>
            <a:endParaRPr lang="en-US" altLang="en-US" sz="280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4581" name="Picture 5">
            <a:extLst>
              <a:ext uri="{FF2B5EF4-FFF2-40B4-BE49-F238E27FC236}">
                <a16:creationId xmlns:a16="http://schemas.microsoft.com/office/drawing/2014/main" id="{C46E33A2-9229-8402-53E7-5509CAFE5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447800"/>
            <a:ext cx="5073650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2">
            <a:extLst>
              <a:ext uri="{FF2B5EF4-FFF2-40B4-BE49-F238E27FC236}">
                <a16:creationId xmlns:a16="http://schemas.microsoft.com/office/drawing/2014/main" id="{44BF406E-6018-A4F0-B314-1CC8684C96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B5087C23-29EE-4153-AD1D-A332706C83A5}" type="slidenum">
              <a:rPr lang="en-US" altLang="en-US" sz="1000" b="0">
                <a:latin typeface="Times New Roman" panose="02020603050405020304" pitchFamily="18" charset="0"/>
              </a:rPr>
              <a:pPr/>
              <a:t>22</a:t>
            </a:fld>
            <a:endParaRPr lang="en-US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25603" name="Date Placeholder 3">
            <a:extLst>
              <a:ext uri="{FF2B5EF4-FFF2-40B4-BE49-F238E27FC236}">
                <a16:creationId xmlns:a16="http://schemas.microsoft.com/office/drawing/2014/main" id="{DB5BED1B-4C76-14F8-4CE1-AB8E4EFB65EF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D302D10D-CECB-4726-8B75-FB9BFD15B44C}" type="datetime5">
              <a:rPr lang="en-US" altLang="en-US" sz="1400" b="0" smtClean="0">
                <a:latin typeface="Times New Roman" panose="02020603050405020304" pitchFamily="18" charset="0"/>
              </a:rPr>
              <a:pPr/>
              <a:t>13-Mar-25</a:t>
            </a:fld>
            <a:endParaRPr lang="en-US" altLang="en-US" sz="1400" b="0">
              <a:latin typeface="Times New Roman" panose="02020603050405020304" pitchFamily="18" charset="0"/>
            </a:endParaRPr>
          </a:p>
        </p:txBody>
      </p:sp>
      <p:sp>
        <p:nvSpPr>
          <p:cNvPr id="25604" name="Text Box 4">
            <a:extLst>
              <a:ext uri="{FF2B5EF4-FFF2-40B4-BE49-F238E27FC236}">
                <a16:creationId xmlns:a16="http://schemas.microsoft.com/office/drawing/2014/main" id="{D560E6C1-2EAA-711F-F295-7A18532B8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990850"/>
            <a:ext cx="37576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en-US" altLang="en-US" sz="3200">
                <a:solidFill>
                  <a:srgbClr val="72042E"/>
                </a:solidFill>
                <a:latin typeface="Times New Roman" panose="02020603050405020304" pitchFamily="18" charset="0"/>
              </a:rPr>
              <a:t>Thank 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ral_Jasmin_Presentation_Template">
  <a:themeElements>
    <a:clrScheme name="General_Jasmin_Presentation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General_Jasmin_Presentation_Templat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 Antiqua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 Antiqua" pitchFamily="18" charset="0"/>
          </a:defRPr>
        </a:defPPr>
      </a:lstStyle>
    </a:lnDef>
  </a:objectDefaults>
  <a:extraClrSchemeLst>
    <a:extraClrScheme>
      <a:clrScheme name="General_Jasmin_Presentation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neral_Jasmin_Presentation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neral_Jasmin_Presentation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neral_Jasmin_Presentation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neral_Jasmin_Presentation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neral_Jasmin_Presentation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neral_Jasmin_Presentation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60F794EE8B7F4896CF96123B576A02" ma:contentTypeVersion="14" ma:contentTypeDescription="Create a new document." ma:contentTypeScope="" ma:versionID="a515f5e97c337ced10d4210d6ad70d57">
  <xsd:schema xmlns:xsd="http://www.w3.org/2001/XMLSchema" xmlns:xs="http://www.w3.org/2001/XMLSchema" xmlns:p="http://schemas.microsoft.com/office/2006/metadata/properties" xmlns:ns2="82aca38d-74d5-4ce7-920c-59228ba159e1" xmlns:ns3="204c8fdd-6a95-4db6-9bb5-c65d7126e426" targetNamespace="http://schemas.microsoft.com/office/2006/metadata/properties" ma:root="true" ma:fieldsID="48b2a20fcc60b9779bf550ce6025378e" ns2:_="" ns3:_="">
    <xsd:import namespace="82aca38d-74d5-4ce7-920c-59228ba159e1"/>
    <xsd:import namespace="204c8fdd-6a95-4db6-9bb5-c65d7126e4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aca38d-74d5-4ce7-920c-59228ba159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6d8ae02-67be-425d-859a-0c16ee0cf0f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4c8fdd-6a95-4db6-9bb5-c65d7126e42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d497cf32-f975-48ff-8ef4-ce7729ecca1e}" ma:internalName="TaxCatchAll" ma:showField="CatchAllData" ma:web="204c8fdd-6a95-4db6-9bb5-c65d7126e4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2aca38d-74d5-4ce7-920c-59228ba159e1">
      <Terms xmlns="http://schemas.microsoft.com/office/infopath/2007/PartnerControls"/>
    </lcf76f155ced4ddcb4097134ff3c332f>
    <TaxCatchAll xmlns="204c8fdd-6a95-4db6-9bb5-c65d7126e426" xsi:nil="true"/>
  </documentManagement>
</p:properties>
</file>

<file path=customXml/itemProps1.xml><?xml version="1.0" encoding="utf-8"?>
<ds:datastoreItem xmlns:ds="http://schemas.openxmlformats.org/officeDocument/2006/customXml" ds:itemID="{48A4A664-B953-4FEA-8899-152181F504A9}"/>
</file>

<file path=customXml/itemProps2.xml><?xml version="1.0" encoding="utf-8"?>
<ds:datastoreItem xmlns:ds="http://schemas.openxmlformats.org/officeDocument/2006/customXml" ds:itemID="{9EFB2AFA-6A8B-4B29-90B2-5EB3C4B37F22}"/>
</file>

<file path=customXml/itemProps3.xml><?xml version="1.0" encoding="utf-8"?>
<ds:datastoreItem xmlns:ds="http://schemas.openxmlformats.org/officeDocument/2006/customXml" ds:itemID="{3D3EA40F-EFE0-4CBA-834E-AD3FF287BAF2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4532</TotalTime>
  <Words>983</Words>
  <Application>Microsoft Office PowerPoint</Application>
  <PresentationFormat>On-screen Show (4:3)</PresentationFormat>
  <Paragraphs>267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General_Jasmin_Presentation_Template</vt:lpstr>
      <vt:lpstr>Processing Elements</vt:lpstr>
      <vt:lpstr>PowerPoint Presentation</vt:lpstr>
      <vt:lpstr>PowerPoint Presentation</vt:lpstr>
      <vt:lpstr>PowerPoint Presentation</vt:lpstr>
      <vt:lpstr>Universal Registers (Ureg) </vt:lpstr>
      <vt:lpstr>Universal Registers (Ureg)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jasmin Infotech PVT.LTD.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Float vs Fixed</dc:title>
  <dc:creator>shanmuga pandian.A</dc:creator>
  <dc:description>Only for Jasmin usage and not intended for external usage.</dc:description>
  <cp:lastModifiedBy>Amutha</cp:lastModifiedBy>
  <cp:revision>380</cp:revision>
  <cp:lastPrinted>2000-06-01T06:56:38Z</cp:lastPrinted>
  <dcterms:created xsi:type="dcterms:W3CDTF">2008-05-15T10:29:04Z</dcterms:created>
  <dcterms:modified xsi:type="dcterms:W3CDTF">2025-03-13T07:32:54Z</dcterms:modified>
  <cp:category>General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0x010100C360F794EE8B7F4896CF96123B576A02</vt:lpwstr>
  </property>
</Properties>
</file>