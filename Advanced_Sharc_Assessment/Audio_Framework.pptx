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media/image2.jpeg" ContentType="image/jpeg"/>
  <Override PartName="/ppt/media/image8.png" ContentType="image/png"/>
  <Override PartName="/ppt/media/image3.jpeg" ContentType="image/jpeg"/>
  <Override PartName="/ppt/media/image4.png" ContentType="image/png"/>
  <Override PartName="/ppt/media/image11.png" ContentType="image/png"/>
  <Override PartName="/ppt/media/image5.jpeg" ContentType="image/jpeg"/>
  <Override PartName="/ppt/media/image7.png" ContentType="image/png"/>
  <Override PartName="/ppt/media/image6.png" ContentType="image/png"/>
  <Override PartName="/ppt/media/image9.png" ContentType="image/png"/>
  <Override PartName="/ppt/media/image10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_rels/presentation.xml.rels" ContentType="application/vnd.openxmlformats-package.relationships+xml"/>
  <Override PartName="/customXml/itemProps6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3" Type="http://schemas.openxmlformats.org/officeDocument/2006/relationships/slideMaster" Target="slideMasters/slideMaster2.xml"/><Relationship Id="rId7" Type="http://schemas.openxmlformats.org/officeDocument/2006/relationships/slideMaster" Target="slideMasters/slideMaster6.xml"/><Relationship Id="rId12" Type="http://schemas.openxmlformats.org/officeDocument/2006/relationships/slide" Target="slides/slide5.xml"/><Relationship Id="rId17" Type="http://schemas.openxmlformats.org/officeDocument/2006/relationships/customXml" Target="../customXml/item6.xml"/><Relationship Id="rId2" Type="http://schemas.openxmlformats.org/officeDocument/2006/relationships/slideMaster" Target="slideMasters/slideMaster1.xml"/><Relationship Id="rId16" Type="http://schemas.openxmlformats.org/officeDocument/2006/relationships/customXml" Target="../customXml/item5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5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4.xml"/><Relationship Id="rId15" Type="http://schemas.openxmlformats.org/officeDocument/2006/relationships/customXml" Target="../customXml/item4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314CB6E-CE72-45E8-953F-8FC311152F7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0C9D58-03A4-420B-BC7F-8AEE6810E3F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8D7E33-05E6-47A9-A6FD-7FAA0A3C7B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12C4C4-D1B1-45FA-BCC3-0D57D681585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C089778-F5C9-4761-A7B7-BDC9656B768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1905120" y="6652080"/>
            <a:ext cx="236124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CONFIDENTIAL : JI Internal Use Only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TextBox 3"/>
          <p:cNvSpPr/>
          <p:nvPr/>
        </p:nvSpPr>
        <p:spPr>
          <a:xfrm>
            <a:off x="0" y="6652080"/>
            <a:ext cx="205632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©2023 Jasmin Infotech Private Limited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" name="Straight Connector 11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sp>
        <p:nvSpPr>
          <p:cNvPr id="3" name="Text Box 16"/>
          <p:cNvSpPr/>
          <p:nvPr/>
        </p:nvSpPr>
        <p:spPr>
          <a:xfrm>
            <a:off x="5337720" y="6411960"/>
            <a:ext cx="1675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524"/>
              </a:spcBef>
            </a:pPr>
            <a:r>
              <a:rPr b="0" lang="en-US" sz="1050" strike="noStrike" u="sng">
                <a:solidFill>
                  <a:srgbClr val="000099"/>
                </a:solidFill>
                <a:uFillTx/>
                <a:latin typeface="Calibri"/>
              </a:rPr>
              <a:t>www.jasmin-infotech.com</a:t>
            </a:r>
            <a:endParaRPr b="0" lang="en-IN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1" descr=""/>
          <p:cNvPicPr/>
          <p:nvPr/>
        </p:nvPicPr>
        <p:blipFill>
          <a:blip r:embed="rId2"/>
          <a:stretch/>
        </p:blipFill>
        <p:spPr>
          <a:xfrm>
            <a:off x="4224960" y="2298960"/>
            <a:ext cx="3740760" cy="11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2"/>
          <p:cNvSpPr/>
          <p:nvPr/>
        </p:nvSpPr>
        <p:spPr>
          <a:xfrm>
            <a:off x="4963320" y="3499200"/>
            <a:ext cx="24242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IN" sz="2000" strike="noStrike" u="none">
                <a:solidFill>
                  <a:srgbClr val="000000"/>
                </a:solidFill>
                <a:uFillTx/>
                <a:latin typeface="Calibri"/>
              </a:rPr>
              <a:t>Helping you innovate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" name="Picture 3" descr="A picture containing text, font, logo, graphics&#10;&#10;Description automatically generated"/>
          <p:cNvPicPr/>
          <p:nvPr/>
        </p:nvPicPr>
        <p:blipFill>
          <a:blip r:embed="rId3"/>
          <a:stretch/>
        </p:blipFill>
        <p:spPr>
          <a:xfrm>
            <a:off x="4997160" y="247320"/>
            <a:ext cx="2196720" cy="177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0134720" y="6422760"/>
            <a:ext cx="1218240" cy="2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D4F086-6FC6-4CC8-8305-23ADC52A3194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/>
          <p:nvPr/>
        </p:nvSpPr>
        <p:spPr>
          <a:xfrm>
            <a:off x="1905120" y="6652080"/>
            <a:ext cx="236124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CONFIDENTIAL : JI Internal Use Only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Box 3"/>
          <p:cNvSpPr/>
          <p:nvPr/>
        </p:nvSpPr>
        <p:spPr>
          <a:xfrm>
            <a:off x="0" y="6652080"/>
            <a:ext cx="205632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©2023 Jasmin Infotech Private Limited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13" name="Straight Connector 7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14" name="Straight Connector 13"/>
          <p:cNvCxnSpPr/>
          <p:nvPr/>
        </p:nvCxnSpPr>
        <p:spPr>
          <a:xfrm>
            <a:off x="448560" y="1064520"/>
            <a:ext cx="11336040" cy="1080"/>
          </a:xfrm>
          <a:prstGeom prst="straightConnector1">
            <a:avLst/>
          </a:prstGeom>
          <a:ln w="19050">
            <a:solidFill>
              <a:srgbClr val="000087"/>
            </a:solidFill>
            <a:round/>
          </a:ln>
        </p:spPr>
      </p:cxnSp>
      <p:pic>
        <p:nvPicPr>
          <p:cNvPr id="15" name="Picture 14" descr=""/>
          <p:cNvPicPr/>
          <p:nvPr/>
        </p:nvPicPr>
        <p:blipFill>
          <a:blip r:embed="rId2"/>
          <a:stretch/>
        </p:blipFill>
        <p:spPr>
          <a:xfrm>
            <a:off x="10679040" y="209880"/>
            <a:ext cx="673920" cy="7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Box 15"/>
          <p:cNvSpPr/>
          <p:nvPr/>
        </p:nvSpPr>
        <p:spPr>
          <a:xfrm>
            <a:off x="448560" y="390600"/>
            <a:ext cx="10229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10086"/>
                </a:solidFill>
                <a:uFillTx/>
                <a:latin typeface="Century Gothic"/>
              </a:rPr>
              <a:t>Document history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sldNum" idx="2"/>
          </p:nvPr>
        </p:nvSpPr>
        <p:spPr>
          <a:xfrm>
            <a:off x="10134720" y="6422760"/>
            <a:ext cx="1218240" cy="2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1B6237-FC10-4A81-A0F0-7CF62ADD6F6F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1905120" y="6652080"/>
            <a:ext cx="236124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CONFIDENTIAL : JI Internal Use Only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0" y="6652080"/>
            <a:ext cx="205632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©2023 Jasmin Infotech Private Limited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11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21" name="Straight Connector 6"/>
          <p:cNvCxnSpPr/>
          <p:nvPr/>
        </p:nvCxnSpPr>
        <p:spPr>
          <a:xfrm>
            <a:off x="838080" y="3455640"/>
            <a:ext cx="11354760" cy="1080"/>
          </a:xfrm>
          <a:prstGeom prst="straightConnector1">
            <a:avLst/>
          </a:prstGeom>
          <a:ln w="38100">
            <a:solidFill>
              <a:srgbClr val="000087"/>
            </a:solidFill>
            <a:round/>
          </a:ln>
        </p:spPr>
      </p:cxnSp>
      <p:cxnSp>
        <p:nvCxnSpPr>
          <p:cNvPr id="22" name="Straight Connector 8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pic>
        <p:nvPicPr>
          <p:cNvPr id="23" name="Picture 10" descr=""/>
          <p:cNvPicPr/>
          <p:nvPr/>
        </p:nvPicPr>
        <p:blipFill>
          <a:blip r:embed="rId2"/>
          <a:stretch/>
        </p:blipFill>
        <p:spPr>
          <a:xfrm>
            <a:off x="10679040" y="209880"/>
            <a:ext cx="673920" cy="7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4"/>
          </p:nvPr>
        </p:nvSpPr>
        <p:spPr>
          <a:xfrm>
            <a:off x="10134720" y="6422760"/>
            <a:ext cx="1218240" cy="2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9DEB63-809C-4417-8FA2-03FB28F9B58A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3"/>
          <p:cNvSpPr/>
          <p:nvPr/>
        </p:nvSpPr>
        <p:spPr>
          <a:xfrm>
            <a:off x="1905120" y="6652080"/>
            <a:ext cx="236124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CONFIDENTIAL : JI Internal Use Only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TextBox 3"/>
          <p:cNvSpPr/>
          <p:nvPr/>
        </p:nvSpPr>
        <p:spPr>
          <a:xfrm>
            <a:off x="0" y="6652080"/>
            <a:ext cx="205632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©2023 Jasmin Infotech Private Limited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9" name="Straight Connector 11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30" name="Straight Connector 7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31" name="Straight Connector 10"/>
          <p:cNvCxnSpPr/>
          <p:nvPr/>
        </p:nvCxnSpPr>
        <p:spPr>
          <a:xfrm>
            <a:off x="448560" y="1064520"/>
            <a:ext cx="11336040" cy="1080"/>
          </a:xfrm>
          <a:prstGeom prst="straightConnector1">
            <a:avLst/>
          </a:prstGeom>
          <a:ln w="19050">
            <a:solidFill>
              <a:srgbClr val="000087"/>
            </a:solidFill>
            <a:round/>
          </a:ln>
        </p:spPr>
      </p:cxnSp>
      <p:pic>
        <p:nvPicPr>
          <p:cNvPr id="32" name="Picture 13" descr=""/>
          <p:cNvPicPr/>
          <p:nvPr/>
        </p:nvPicPr>
        <p:blipFill>
          <a:blip r:embed="rId2"/>
          <a:stretch/>
        </p:blipFill>
        <p:spPr>
          <a:xfrm>
            <a:off x="10679040" y="209880"/>
            <a:ext cx="673920" cy="7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sldNum" idx="6"/>
          </p:nvPr>
        </p:nvSpPr>
        <p:spPr>
          <a:xfrm>
            <a:off x="10134720" y="6422760"/>
            <a:ext cx="1218240" cy="2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95FE45-BDDC-439A-B68C-37035EDDF0CA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1905120" y="6652080"/>
            <a:ext cx="236124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CONFIDENTIAL : JI Internal Use Only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Box 3"/>
          <p:cNvSpPr/>
          <p:nvPr/>
        </p:nvSpPr>
        <p:spPr>
          <a:xfrm>
            <a:off x="0" y="6652080"/>
            <a:ext cx="205632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©2023 Jasmin Infotech Private Limited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" name="Straight Connector 11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39" name="Straight Connector 7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cxnSp>
        <p:nvCxnSpPr>
          <p:cNvPr id="40" name="Straight Connector 13"/>
          <p:cNvCxnSpPr/>
          <p:nvPr/>
        </p:nvCxnSpPr>
        <p:spPr>
          <a:xfrm>
            <a:off x="448560" y="1064520"/>
            <a:ext cx="11336040" cy="1080"/>
          </a:xfrm>
          <a:prstGeom prst="straightConnector1">
            <a:avLst/>
          </a:prstGeom>
          <a:ln w="19050">
            <a:solidFill>
              <a:srgbClr val="000087"/>
            </a:solidFill>
            <a:round/>
          </a:ln>
        </p:spPr>
      </p:cxnSp>
      <p:pic>
        <p:nvPicPr>
          <p:cNvPr id="41" name="Picture 14" descr=""/>
          <p:cNvPicPr/>
          <p:nvPr/>
        </p:nvPicPr>
        <p:blipFill>
          <a:blip r:embed="rId2"/>
          <a:stretch/>
        </p:blipFill>
        <p:spPr>
          <a:xfrm>
            <a:off x="10679040" y="209880"/>
            <a:ext cx="673920" cy="7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sldNum" idx="7"/>
          </p:nvPr>
        </p:nvSpPr>
        <p:spPr>
          <a:xfrm>
            <a:off x="10134720" y="6422760"/>
            <a:ext cx="1218240" cy="2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0C35DF-6E07-4D96-8DAB-33608B6543C9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3"/>
          <p:cNvSpPr/>
          <p:nvPr/>
        </p:nvSpPr>
        <p:spPr>
          <a:xfrm>
            <a:off x="1905120" y="6652080"/>
            <a:ext cx="236124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CONFIDENTIAL : JI Internal Use Only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3"/>
          <p:cNvSpPr/>
          <p:nvPr/>
        </p:nvSpPr>
        <p:spPr>
          <a:xfrm>
            <a:off x="0" y="6652080"/>
            <a:ext cx="2056320" cy="195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7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Calibri"/>
              </a:rPr>
              <a:t>©2023 Jasmin Infotech Private Limited</a:t>
            </a:r>
            <a:endParaRPr b="0" lang="en-IN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5" name="Straight Connector 11"/>
          <p:cNvCxnSpPr/>
          <p:nvPr/>
        </p:nvCxnSpPr>
        <p:spPr>
          <a:xfrm>
            <a:off x="2057400" y="6629400"/>
            <a:ext cx="1080" cy="229680"/>
          </a:xfrm>
          <a:prstGeom prst="straightConnector1">
            <a:avLst/>
          </a:prstGeom>
          <a:ln w="0">
            <a:solidFill>
              <a:srgbClr val="595959"/>
            </a:solidFill>
          </a:ln>
        </p:spPr>
      </p:cxnSp>
      <p:sp>
        <p:nvSpPr>
          <p:cNvPr id="46" name="Subtitle 2"/>
          <p:cNvSpPr/>
          <p:nvPr/>
        </p:nvSpPr>
        <p:spPr>
          <a:xfrm>
            <a:off x="4917240" y="5337360"/>
            <a:ext cx="6093360" cy="8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50" strike="noStrike" u="none">
                <a:solidFill>
                  <a:schemeClr val="accent2"/>
                </a:solidFill>
                <a:uFillTx/>
                <a:latin typeface="Calibri"/>
              </a:rPr>
              <a:t>THANK YOU!</a:t>
            </a:r>
            <a:endParaRPr b="0" lang="en-IN" sz="4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7" name="Picture 10" descr=""/>
          <p:cNvPicPr/>
          <p:nvPr/>
        </p:nvPicPr>
        <p:blipFill>
          <a:blip r:embed="rId2"/>
          <a:stretch/>
        </p:blipFill>
        <p:spPr>
          <a:xfrm>
            <a:off x="4617000" y="2485080"/>
            <a:ext cx="3466080" cy="111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Freeform: Shape 12"/>
          <p:cNvSpPr/>
          <p:nvPr/>
        </p:nvSpPr>
        <p:spPr>
          <a:xfrm>
            <a:off x="11144160" y="4221720"/>
            <a:ext cx="208440" cy="208440"/>
          </a:xfrm>
          <a:custGeom>
            <a:avLst/>
            <a:gdLst>
              <a:gd name="textAreaLeft" fmla="*/ 0 w 208440"/>
              <a:gd name="textAreaRight" fmla="*/ 209520 w 208440"/>
              <a:gd name="textAreaTop" fmla="*/ 0 h 208440"/>
              <a:gd name="textAreaBottom" fmla="*/ 209520 h 208440"/>
            </a:gdLst>
            <a:ahLst/>
            <a:rect l="textAreaLeft" t="textAreaTop" r="textAreaRight" b="textAreaBottom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100000"/>
              </a:lnSpc>
            </a:pPr>
            <a:endParaRPr b="0" lang="en-US" sz="1010" strike="noStrike" u="none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9" name="Freeform: Shape 13"/>
          <p:cNvSpPr/>
          <p:nvPr/>
        </p:nvSpPr>
        <p:spPr>
          <a:xfrm>
            <a:off x="11144160" y="4561560"/>
            <a:ext cx="208440" cy="189360"/>
          </a:xfrm>
          <a:custGeom>
            <a:avLst/>
            <a:gdLst>
              <a:gd name="textAreaLeft" fmla="*/ 0 w 208440"/>
              <a:gd name="textAreaRight" fmla="*/ 209520 w 208440"/>
              <a:gd name="textAreaTop" fmla="*/ 0 h 189360"/>
              <a:gd name="textAreaBottom" fmla="*/ 190440 h 189360"/>
            </a:gdLst>
            <a:ahLst/>
            <a:rect l="textAreaLeft" t="textAreaTop" r="textAreaRight" b="textAreaBottom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100000"/>
              </a:lnSpc>
            </a:pPr>
            <a:endParaRPr b="0" lang="en-US" sz="1010" strike="noStrike" u="none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0" name="Freeform: Shape 14"/>
          <p:cNvSpPr/>
          <p:nvPr/>
        </p:nvSpPr>
        <p:spPr>
          <a:xfrm>
            <a:off x="11172960" y="4897080"/>
            <a:ext cx="151200" cy="208440"/>
          </a:xfrm>
          <a:custGeom>
            <a:avLst/>
            <a:gdLst>
              <a:gd name="textAreaLeft" fmla="*/ 0 w 151200"/>
              <a:gd name="textAreaRight" fmla="*/ 152280 w 151200"/>
              <a:gd name="textAreaTop" fmla="*/ 0 h 208440"/>
              <a:gd name="textAreaBottom" fmla="*/ 209520 h 208440"/>
            </a:gdLst>
            <a:ahLst/>
            <a:rect l="textAreaLeft" t="textAreaTop" r="textAreaRight" b="textAreaBottom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100000"/>
              </a:lnSpc>
            </a:pPr>
            <a:endParaRPr b="0" lang="en-US" sz="1010" strike="noStrike" u="none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1" name="Text Placeholder 5"/>
          <p:cNvSpPr/>
          <p:nvPr/>
        </p:nvSpPr>
        <p:spPr>
          <a:xfrm>
            <a:off x="8010360" y="4069080"/>
            <a:ext cx="3000240" cy="10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spAutoFit/>
          </a:bodyPr>
          <a:p>
            <a:pPr algn="r" defTabSz="685800">
              <a:lnSpc>
                <a:spcPct val="2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chemeClr val="dk1"/>
                </a:solidFill>
                <a:uFillTx/>
                <a:latin typeface="Calibri Light"/>
                <a:ea typeface="Roboto"/>
              </a:rPr>
              <a:t>India, Germany, Japan, USA &amp; China</a:t>
            </a:r>
            <a:endParaRPr b="0" lang="en-IN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685800">
              <a:lnSpc>
                <a:spcPct val="2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chemeClr val="dk1"/>
                </a:solidFill>
                <a:uFillTx/>
                <a:latin typeface="Calibri Light"/>
                <a:ea typeface="Roboto"/>
              </a:rPr>
              <a:t>+91 44 6666 9600</a:t>
            </a:r>
            <a:endParaRPr b="0" lang="en-IN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685800">
              <a:lnSpc>
                <a:spcPct val="2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chemeClr val="dk1"/>
                </a:solidFill>
                <a:uFillTx/>
                <a:latin typeface="Calibri Light"/>
                <a:ea typeface="Roboto"/>
              </a:rPr>
              <a:t>www.jasmin-infotech.com</a:t>
            </a:r>
            <a:endParaRPr b="0" lang="en-IN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2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5658840" cy="456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Isosceles Triangle 17"/>
          <p:cNvSpPr/>
          <p:nvPr/>
        </p:nvSpPr>
        <p:spPr>
          <a:xfrm rot="5400000">
            <a:off x="-465480" y="4482720"/>
            <a:ext cx="1971720" cy="10368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54" name="Picture 1" descr="A picture containing text, font, logo, graphics&#10;&#10;Description automatically generated"/>
          <p:cNvPicPr/>
          <p:nvPr/>
        </p:nvPicPr>
        <p:blipFill>
          <a:blip r:embed="rId4"/>
          <a:stretch/>
        </p:blipFill>
        <p:spPr>
          <a:xfrm>
            <a:off x="9469080" y="195480"/>
            <a:ext cx="1855080" cy="149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3"/>
          <p:cNvSpPr/>
          <p:nvPr/>
        </p:nvSpPr>
        <p:spPr>
          <a:xfrm>
            <a:off x="1393200" y="4060080"/>
            <a:ext cx="9822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i="1" lang="en-US" sz="2400" strike="noStrike" u="sng">
                <a:solidFill>
                  <a:srgbClr val="000076"/>
                </a:solidFill>
                <a:uFillTx/>
                <a:latin typeface="Calibri"/>
              </a:rPr>
              <a:t>Audio Framework (Autodetection, Buffer flow, Data flow)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Rectangle 2"/>
          <p:cNvSpPr/>
          <p:nvPr/>
        </p:nvSpPr>
        <p:spPr>
          <a:xfrm>
            <a:off x="407160" y="5262840"/>
            <a:ext cx="2652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i="1" lang="en-US" sz="2400" strike="noStrike" u="sng">
                <a:solidFill>
                  <a:srgbClr val="000076"/>
                </a:solidFill>
                <a:uFillTx/>
                <a:latin typeface="Calibri"/>
              </a:rPr>
              <a:t>Mukeshkumar M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i="1" lang="en-US" sz="2400" strike="noStrike" u="sng">
                <a:solidFill>
                  <a:srgbClr val="000076"/>
                </a:solidFill>
                <a:uFillTx/>
                <a:latin typeface="Calibri"/>
              </a:rPr>
              <a:t>Ajithprabhu ST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5299E51-DEBB-4228-9380-5A7A0CC0EE48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448560" y="1218960"/>
            <a:ext cx="11333880" cy="513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Rectangle 6"/>
          <p:cNvSpPr/>
          <p:nvPr/>
        </p:nvSpPr>
        <p:spPr>
          <a:xfrm>
            <a:off x="2514600" y="2286000"/>
            <a:ext cx="7695000" cy="2818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Autofit/>
          </a:bodyPr>
          <a:p>
            <a:pPr marL="419040" indent="-41904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9040" indent="-41904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9040" indent="-41904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Rectangle 5"/>
          <p:cNvSpPr/>
          <p:nvPr/>
        </p:nvSpPr>
        <p:spPr>
          <a:xfrm>
            <a:off x="1839960" y="2286000"/>
            <a:ext cx="989640" cy="37980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</a:t>
            </a: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HDMI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Rectangle 15"/>
          <p:cNvSpPr/>
          <p:nvPr/>
        </p:nvSpPr>
        <p:spPr>
          <a:xfrm>
            <a:off x="3198960" y="2257560"/>
            <a:ext cx="989640" cy="40356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IN" sz="1600" strike="noStrike" u="none">
                <a:solidFill>
                  <a:schemeClr val="dk1"/>
                </a:solidFill>
                <a:uFillTx/>
                <a:latin typeface="Book Antiqua"/>
              </a:rPr>
              <a:t>DAI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Rectangle 16"/>
          <p:cNvSpPr/>
          <p:nvPr/>
        </p:nvSpPr>
        <p:spPr>
          <a:xfrm>
            <a:off x="4489560" y="2133720"/>
            <a:ext cx="1065600" cy="53244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</a:t>
            </a: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SPORT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        </a:t>
            </a: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Rx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      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Rectangle 17"/>
          <p:cNvSpPr/>
          <p:nvPr/>
        </p:nvSpPr>
        <p:spPr>
          <a:xfrm>
            <a:off x="5954760" y="2133720"/>
            <a:ext cx="1294200" cy="53244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DMA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Rx Buffer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Rectangle 18"/>
          <p:cNvSpPr/>
          <p:nvPr/>
        </p:nvSpPr>
        <p:spPr>
          <a:xfrm>
            <a:off x="7478640" y="2209680"/>
            <a:ext cx="1294200" cy="30384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Auto Detection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Rectangle 19"/>
          <p:cNvSpPr/>
          <p:nvPr/>
        </p:nvSpPr>
        <p:spPr>
          <a:xfrm>
            <a:off x="7631280" y="3429000"/>
            <a:ext cx="1294200" cy="68472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Pack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Buffer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Flowchart: Decision 12"/>
          <p:cNvSpPr/>
          <p:nvPr/>
        </p:nvSpPr>
        <p:spPr>
          <a:xfrm>
            <a:off x="9231480" y="1828800"/>
            <a:ext cx="1218240" cy="1141920"/>
          </a:xfrm>
          <a:prstGeom prst="flowChartDecision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050" strike="noStrike" u="none">
                <a:solidFill>
                  <a:schemeClr val="dk1"/>
                </a:solidFill>
                <a:uFillTx/>
                <a:latin typeface="Calibri"/>
              </a:rPr>
              <a:t>Check</a:t>
            </a:r>
            <a:endParaRPr b="0" lang="en-IN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050" strike="noStrike" u="none">
                <a:solidFill>
                  <a:schemeClr val="dk1"/>
                </a:solidFill>
                <a:uFillTx/>
                <a:latin typeface="Calibri"/>
              </a:rPr>
              <a:t>Valid </a:t>
            </a:r>
            <a:endParaRPr b="0" lang="en-IN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Rectangle 22"/>
          <p:cNvSpPr/>
          <p:nvPr/>
        </p:nvSpPr>
        <p:spPr>
          <a:xfrm>
            <a:off x="5802480" y="3581280"/>
            <a:ext cx="1294200" cy="45612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Book Antiqua"/>
              </a:rPr>
              <a:t> </a:t>
            </a:r>
            <a:r>
              <a:rPr b="0" lang="en-IN" sz="2000" strike="noStrike" u="none">
                <a:solidFill>
                  <a:schemeClr val="dk1"/>
                </a:solidFill>
                <a:uFillTx/>
                <a:latin typeface="Book Antiqua"/>
              </a:rPr>
              <a:t>Decoder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Rectangle 23"/>
          <p:cNvSpPr/>
          <p:nvPr/>
        </p:nvSpPr>
        <p:spPr>
          <a:xfrm>
            <a:off x="4049640" y="3429000"/>
            <a:ext cx="1294200" cy="68472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Post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Processing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Rectangle 24"/>
          <p:cNvSpPr/>
          <p:nvPr/>
        </p:nvSpPr>
        <p:spPr>
          <a:xfrm>
            <a:off x="2297160" y="3429000"/>
            <a:ext cx="1294200" cy="68472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Predac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Buffer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Rectangle 28"/>
          <p:cNvSpPr/>
          <p:nvPr/>
        </p:nvSpPr>
        <p:spPr>
          <a:xfrm>
            <a:off x="2297160" y="4952880"/>
            <a:ext cx="1294200" cy="53244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DMA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      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Tx Buffer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Rectangle 30"/>
          <p:cNvSpPr/>
          <p:nvPr/>
        </p:nvSpPr>
        <p:spPr>
          <a:xfrm>
            <a:off x="3897360" y="4952880"/>
            <a:ext cx="1065600" cy="53244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</a:t>
            </a: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SPORT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        </a:t>
            </a: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Tx      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Rectangle 31"/>
          <p:cNvSpPr/>
          <p:nvPr/>
        </p:nvSpPr>
        <p:spPr>
          <a:xfrm>
            <a:off x="5345280" y="4952880"/>
            <a:ext cx="1065600" cy="45612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  </a:t>
            </a: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DAI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Rectangle 32"/>
          <p:cNvSpPr/>
          <p:nvPr/>
        </p:nvSpPr>
        <p:spPr>
          <a:xfrm>
            <a:off x="6716880" y="4952880"/>
            <a:ext cx="989640" cy="37980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600" strike="noStrike" u="none">
                <a:solidFill>
                  <a:schemeClr val="dk1"/>
                </a:solidFill>
                <a:uFillTx/>
                <a:latin typeface="Book Antiqua"/>
              </a:rPr>
              <a:t> </a:t>
            </a: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CODEC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Rectangle 33"/>
          <p:cNvSpPr/>
          <p:nvPr/>
        </p:nvSpPr>
        <p:spPr>
          <a:xfrm>
            <a:off x="7935840" y="4952880"/>
            <a:ext cx="1141920" cy="379800"/>
          </a:xfrm>
          <a:prstGeom prst="rect">
            <a:avLst/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Book Antiqua"/>
              </a:rPr>
              <a:t>Audio O/P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Diagonal Stripe 21"/>
          <p:cNvSpPr/>
          <p:nvPr/>
        </p:nvSpPr>
        <p:spPr>
          <a:xfrm rot="19141800">
            <a:off x="9437040" y="4710240"/>
            <a:ext cx="761040" cy="913320"/>
          </a:xfrm>
          <a:prstGeom prst="diagStripe">
            <a:avLst>
              <a:gd name="adj" fmla="val 50000"/>
            </a:avLst>
          </a:prstGeom>
          <a:solidFill>
            <a:srgbClr val="ffff66"/>
          </a:solidFill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77" name="Straight Arrow Connector 47"/>
          <p:cNvCxnSpPr>
            <a:stCxn id="63" idx="3"/>
            <a:endCxn id="64" idx="1"/>
          </p:cNvCxnSpPr>
          <p:nvPr/>
        </p:nvCxnSpPr>
        <p:spPr>
          <a:xfrm>
            <a:off x="5555160" y="2399760"/>
            <a:ext cx="3999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78" name="Elbow Connector 69"/>
          <p:cNvCxnSpPr>
            <a:stCxn id="67" idx="0"/>
          </p:cNvCxnSpPr>
          <p:nvPr/>
        </p:nvCxnSpPr>
        <p:spPr>
          <a:xfrm flipV="1" rot="16200000">
            <a:off x="7684200" y="-327600"/>
            <a:ext cx="154440" cy="4158720"/>
          </a:xfrm>
          <a:prstGeom prst="bentConnector3">
            <a:avLst>
              <a:gd name="adj1" fmla="val 100000"/>
            </a:avLst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79" name="Straight Arrow Connector 72"/>
          <p:cNvCxnSpPr/>
          <p:nvPr/>
        </p:nvCxnSpPr>
        <p:spPr>
          <a:xfrm>
            <a:off x="5682240" y="1674720"/>
            <a:ext cx="1080" cy="7264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0" name="Straight Connector 90"/>
          <p:cNvCxnSpPr>
            <a:stCxn id="67" idx="2"/>
          </p:cNvCxnSpPr>
          <p:nvPr/>
        </p:nvCxnSpPr>
        <p:spPr>
          <a:xfrm>
            <a:off x="9840600" y="2970720"/>
            <a:ext cx="360" cy="84024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81" name="Straight Arrow Connector 94"/>
          <p:cNvCxnSpPr/>
          <p:nvPr/>
        </p:nvCxnSpPr>
        <p:spPr>
          <a:xfrm flipH="1">
            <a:off x="8926200" y="3798000"/>
            <a:ext cx="91548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2" name="Straight Arrow Connector 100"/>
          <p:cNvCxnSpPr>
            <a:endCxn id="68" idx="3"/>
          </p:cNvCxnSpPr>
          <p:nvPr/>
        </p:nvCxnSpPr>
        <p:spPr>
          <a:xfrm flipH="1" flipV="1">
            <a:off x="7096680" y="3809160"/>
            <a:ext cx="524160" cy="180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3" name="Straight Arrow Connector 104"/>
          <p:cNvCxnSpPr>
            <a:endCxn id="69" idx="3"/>
          </p:cNvCxnSpPr>
          <p:nvPr/>
        </p:nvCxnSpPr>
        <p:spPr>
          <a:xfrm flipH="1" flipV="1">
            <a:off x="5343840" y="3771360"/>
            <a:ext cx="44820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4" name="Straight Arrow Connector 107"/>
          <p:cNvCxnSpPr>
            <a:stCxn id="69" idx="1"/>
            <a:endCxn id="70" idx="3"/>
          </p:cNvCxnSpPr>
          <p:nvPr/>
        </p:nvCxnSpPr>
        <p:spPr>
          <a:xfrm flipH="1">
            <a:off x="3591360" y="3771360"/>
            <a:ext cx="45864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5" name="Shape 123"/>
          <p:cNvCxnSpPr/>
          <p:nvPr/>
        </p:nvCxnSpPr>
        <p:spPr>
          <a:xfrm rot="5400000">
            <a:off x="1427400" y="4272840"/>
            <a:ext cx="1434600" cy="305640"/>
          </a:xfrm>
          <a:prstGeom prst="bentConnector3">
            <a:avLst>
              <a:gd name="adj1" fmla="val -426"/>
            </a:avLst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86" name="Straight Arrow Connector 127"/>
          <p:cNvCxnSpPr>
            <a:stCxn id="71" idx="3"/>
            <a:endCxn id="72" idx="1"/>
          </p:cNvCxnSpPr>
          <p:nvPr/>
        </p:nvCxnSpPr>
        <p:spPr>
          <a:xfrm>
            <a:off x="3591360" y="5218920"/>
            <a:ext cx="3063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7" name="Straight Arrow Connector 133"/>
          <p:cNvCxnSpPr>
            <a:stCxn id="74" idx="3"/>
            <a:endCxn id="75" idx="1"/>
          </p:cNvCxnSpPr>
          <p:nvPr/>
        </p:nvCxnSpPr>
        <p:spPr>
          <a:xfrm>
            <a:off x="7706520" y="5142600"/>
            <a:ext cx="22968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88" name="Straight Arrow Connector 135"/>
          <p:cNvCxnSpPr>
            <a:stCxn id="75" idx="3"/>
            <a:endCxn id="76" idx="2"/>
          </p:cNvCxnSpPr>
          <p:nvPr/>
        </p:nvCxnSpPr>
        <p:spPr>
          <a:xfrm>
            <a:off x="9077760" y="5142600"/>
            <a:ext cx="1048320" cy="37944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89" name="TextBox 137"/>
          <p:cNvSpPr/>
          <p:nvPr/>
        </p:nvSpPr>
        <p:spPr>
          <a:xfrm>
            <a:off x="9942840" y="1573920"/>
            <a:ext cx="456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NO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Box 139"/>
          <p:cNvSpPr/>
          <p:nvPr/>
        </p:nvSpPr>
        <p:spPr>
          <a:xfrm>
            <a:off x="9840960" y="3048120"/>
            <a:ext cx="53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Book Antiqua"/>
              </a:rPr>
              <a:t>YES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Rectangle 41"/>
          <p:cNvSpPr/>
          <p:nvPr/>
        </p:nvSpPr>
        <p:spPr>
          <a:xfrm>
            <a:off x="265680" y="422280"/>
            <a:ext cx="5977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trike="noStrike" u="none">
                <a:solidFill>
                  <a:schemeClr val="dk1"/>
                </a:solidFill>
                <a:uFillTx/>
                <a:latin typeface="Times New Roman"/>
              </a:rPr>
              <a:t>Audio Framework Basic Flow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2" name="Straight Connector 5"/>
          <p:cNvCxnSpPr>
            <a:stCxn id="72" idx="0"/>
            <a:endCxn id="72" idx="0"/>
          </p:cNvCxnSpPr>
          <p:nvPr/>
        </p:nvCxnSpPr>
        <p:spPr>
          <a:xfrm>
            <a:off x="4430160" y="4952880"/>
            <a:ext cx="3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93" name="Straight Arrow Connector 133"/>
          <p:cNvCxnSpPr/>
          <p:nvPr/>
        </p:nvCxnSpPr>
        <p:spPr>
          <a:xfrm>
            <a:off x="6405480" y="5167080"/>
            <a:ext cx="30564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94" name="Straight Arrow Connector 133"/>
          <p:cNvCxnSpPr/>
          <p:nvPr/>
        </p:nvCxnSpPr>
        <p:spPr>
          <a:xfrm>
            <a:off x="7250040" y="2358720"/>
            <a:ext cx="22968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95" name="Straight Arrow Connector 133"/>
          <p:cNvCxnSpPr/>
          <p:nvPr/>
        </p:nvCxnSpPr>
        <p:spPr>
          <a:xfrm>
            <a:off x="4213080" y="2439720"/>
            <a:ext cx="27720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96" name="Straight Arrow Connector 133"/>
          <p:cNvCxnSpPr/>
          <p:nvPr/>
        </p:nvCxnSpPr>
        <p:spPr>
          <a:xfrm>
            <a:off x="2830320" y="2474640"/>
            <a:ext cx="36936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97" name="Straight Arrow Connector 133"/>
          <p:cNvCxnSpPr/>
          <p:nvPr/>
        </p:nvCxnSpPr>
        <p:spPr>
          <a:xfrm>
            <a:off x="8783280" y="2400120"/>
            <a:ext cx="43308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98" name="Straight Arrow Connector 133"/>
          <p:cNvCxnSpPr/>
          <p:nvPr/>
        </p:nvCxnSpPr>
        <p:spPr>
          <a:xfrm>
            <a:off x="4968720" y="5182920"/>
            <a:ext cx="36612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99" name="Straight Arrow Connector 127"/>
          <p:cNvCxnSpPr/>
          <p:nvPr/>
        </p:nvCxnSpPr>
        <p:spPr>
          <a:xfrm>
            <a:off x="1979280" y="5155920"/>
            <a:ext cx="306000" cy="108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100" name="TextBox 49"/>
          <p:cNvSpPr/>
          <p:nvPr/>
        </p:nvSpPr>
        <p:spPr>
          <a:xfrm>
            <a:off x="5755320" y="1274400"/>
            <a:ext cx="355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imes New Roman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Times New Roman"/>
              </a:rPr>
              <a:t>Wait for next data from receiver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F228F1-1E9A-477E-B14D-6B90A2A3D9B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/>
          <p:nvPr/>
        </p:nvSpPr>
        <p:spPr>
          <a:xfrm>
            <a:off x="293040" y="61920"/>
            <a:ext cx="12191040" cy="10278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5760" rIns="365760" tIns="182880" bIns="9144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Times New Roman"/>
              </a:rPr>
              <a:t>Realtime Framework – Buffer Flow 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Slide Number Placeholder 3"/>
          <p:cNvSpPr/>
          <p:nvPr/>
        </p:nvSpPr>
        <p:spPr>
          <a:xfrm>
            <a:off x="355680" y="6327000"/>
            <a:ext cx="33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fld id="{01CCD41C-DE52-4173-9527-4284DE0A6AD9}" type="slidenum">
              <a:rPr b="1" lang="en-IN" sz="1000" strike="noStrike" u="none">
                <a:solidFill>
                  <a:srgbClr val="000000"/>
                </a:solidFill>
                <a:uFillTx/>
                <a:latin typeface="Arial"/>
              </a:rPr>
              <a:t>3</a:t>
            </a:fld>
            <a:endParaRPr b="0" lang="en-IN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Slide Number Placeholder 3"/>
          <p:cNvSpPr/>
          <p:nvPr/>
        </p:nvSpPr>
        <p:spPr>
          <a:xfrm>
            <a:off x="355680" y="6327000"/>
            <a:ext cx="33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fld id="{6A4BF428-B307-4BAE-9E73-31DCC0D7F74E}" type="slidenum">
              <a:rPr b="1" lang="en-US" sz="1000" strike="noStrike" u="none">
                <a:solidFill>
                  <a:srgbClr val="000000"/>
                </a:solidFill>
                <a:uFillTx/>
                <a:latin typeface="Arial"/>
              </a:rPr>
              <a:t>3</a:t>
            </a:fld>
            <a:endParaRPr b="0" lang="en-IN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Rectangle 133"/>
          <p:cNvSpPr/>
          <p:nvPr/>
        </p:nvSpPr>
        <p:spPr>
          <a:xfrm>
            <a:off x="1086480" y="1795320"/>
            <a:ext cx="594360" cy="45612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Rectangle 134"/>
          <p:cNvSpPr/>
          <p:nvPr/>
        </p:nvSpPr>
        <p:spPr>
          <a:xfrm>
            <a:off x="1238760" y="1947600"/>
            <a:ext cx="594360" cy="45612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6" name="Rectangle 135"/>
          <p:cNvSpPr/>
          <p:nvPr/>
        </p:nvSpPr>
        <p:spPr>
          <a:xfrm>
            <a:off x="1391400" y="2099880"/>
            <a:ext cx="594360" cy="45612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Rectangle 136"/>
          <p:cNvSpPr/>
          <p:nvPr/>
        </p:nvSpPr>
        <p:spPr>
          <a:xfrm>
            <a:off x="1543680" y="2252520"/>
            <a:ext cx="594360" cy="45612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Rx DMA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Frame 137"/>
          <p:cNvSpPr/>
          <p:nvPr/>
        </p:nvSpPr>
        <p:spPr>
          <a:xfrm>
            <a:off x="2885760" y="1965600"/>
            <a:ext cx="1514520" cy="608400"/>
          </a:xfrm>
          <a:prstGeom prst="frame">
            <a:avLst>
              <a:gd name="adj1" fmla="val 12500"/>
            </a:avLst>
          </a:prstGeom>
          <a:solidFill>
            <a:srgbClr val="9feab5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Auto Detection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Rectangle 138"/>
          <p:cNvSpPr/>
          <p:nvPr/>
        </p:nvSpPr>
        <p:spPr>
          <a:xfrm>
            <a:off x="4816080" y="1317960"/>
            <a:ext cx="728640" cy="1150560"/>
          </a:xfrm>
          <a:prstGeom prst="rect">
            <a:avLst/>
          </a:prstGeom>
          <a:solidFill>
            <a:srgbClr val="98d9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Rectangle 139"/>
          <p:cNvSpPr/>
          <p:nvPr/>
        </p:nvSpPr>
        <p:spPr>
          <a:xfrm>
            <a:off x="4942080" y="2137320"/>
            <a:ext cx="734400" cy="1188000"/>
          </a:xfrm>
          <a:prstGeom prst="rect">
            <a:avLst/>
          </a:prstGeom>
          <a:solidFill>
            <a:srgbClr val="98d9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Frame 140"/>
          <p:cNvSpPr/>
          <p:nvPr/>
        </p:nvSpPr>
        <p:spPr>
          <a:xfrm>
            <a:off x="6294960" y="1994400"/>
            <a:ext cx="1618200" cy="608400"/>
          </a:xfrm>
          <a:prstGeom prst="frame">
            <a:avLst>
              <a:gd name="adj1" fmla="val 12500"/>
            </a:avLst>
          </a:prstGeom>
          <a:solidFill>
            <a:srgbClr val="9feab5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Decoder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Rectangle 141"/>
          <p:cNvSpPr/>
          <p:nvPr/>
        </p:nvSpPr>
        <p:spPr>
          <a:xfrm>
            <a:off x="4708440" y="3308760"/>
            <a:ext cx="1347120" cy="333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Pack Buffer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Rounded Rectangle 30"/>
          <p:cNvSpPr/>
          <p:nvPr/>
        </p:nvSpPr>
        <p:spPr>
          <a:xfrm>
            <a:off x="293040" y="1186200"/>
            <a:ext cx="11214720" cy="51397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803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Right Arrow 37"/>
          <p:cNvSpPr/>
          <p:nvPr/>
        </p:nvSpPr>
        <p:spPr>
          <a:xfrm>
            <a:off x="2108520" y="2246400"/>
            <a:ext cx="789120" cy="105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8280" bIns="8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Right Arrow 38"/>
          <p:cNvSpPr/>
          <p:nvPr/>
        </p:nvSpPr>
        <p:spPr>
          <a:xfrm>
            <a:off x="5677560" y="2270520"/>
            <a:ext cx="616320" cy="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Right Arrow 39"/>
          <p:cNvSpPr/>
          <p:nvPr/>
        </p:nvSpPr>
        <p:spPr>
          <a:xfrm>
            <a:off x="4401000" y="2228040"/>
            <a:ext cx="410040" cy="9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Rounded Rectangle 46"/>
          <p:cNvSpPr/>
          <p:nvPr/>
        </p:nvSpPr>
        <p:spPr>
          <a:xfrm>
            <a:off x="2485440" y="1074600"/>
            <a:ext cx="1042200" cy="49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SINGLECORE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Rectangle 147"/>
          <p:cNvSpPr/>
          <p:nvPr/>
        </p:nvSpPr>
        <p:spPr>
          <a:xfrm>
            <a:off x="1094760" y="4055400"/>
            <a:ext cx="738720" cy="901440"/>
          </a:xfrm>
          <a:prstGeom prst="rect">
            <a:avLst/>
          </a:prstGeom>
          <a:solidFill>
            <a:srgbClr val="f6cad6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Rectangle 148"/>
          <p:cNvSpPr/>
          <p:nvPr/>
        </p:nvSpPr>
        <p:spPr>
          <a:xfrm>
            <a:off x="1317960" y="4371480"/>
            <a:ext cx="667800" cy="901440"/>
          </a:xfrm>
          <a:prstGeom prst="rect">
            <a:avLst/>
          </a:prstGeom>
          <a:solidFill>
            <a:srgbClr val="f6cad6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Frame 149"/>
          <p:cNvSpPr/>
          <p:nvPr/>
        </p:nvSpPr>
        <p:spPr>
          <a:xfrm>
            <a:off x="4268880" y="4698360"/>
            <a:ext cx="1549800" cy="518040"/>
          </a:xfrm>
          <a:prstGeom prst="frame">
            <a:avLst>
              <a:gd name="adj1" fmla="val 12500"/>
            </a:avLst>
          </a:prstGeom>
          <a:solidFill>
            <a:srgbClr val="9feab5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Frame 150"/>
          <p:cNvSpPr/>
          <p:nvPr/>
        </p:nvSpPr>
        <p:spPr>
          <a:xfrm>
            <a:off x="7646760" y="4681800"/>
            <a:ext cx="1715760" cy="490320"/>
          </a:xfrm>
          <a:prstGeom prst="frame">
            <a:avLst>
              <a:gd name="adj1" fmla="val 12500"/>
            </a:avLst>
          </a:prstGeom>
          <a:solidFill>
            <a:srgbClr val="9feab5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Post Decoder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Rectangle 151"/>
          <p:cNvSpPr/>
          <p:nvPr/>
        </p:nvSpPr>
        <p:spPr>
          <a:xfrm>
            <a:off x="6293160" y="4352760"/>
            <a:ext cx="711360" cy="1204200"/>
          </a:xfrm>
          <a:prstGeom prst="rect">
            <a:avLst/>
          </a:prstGeom>
          <a:solidFill>
            <a:srgbClr val="e6d8ea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Rectangle 152"/>
          <p:cNvSpPr/>
          <p:nvPr/>
        </p:nvSpPr>
        <p:spPr>
          <a:xfrm>
            <a:off x="482040" y="5924160"/>
            <a:ext cx="2704320" cy="401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Predac Buffer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Rectangle 153"/>
          <p:cNvSpPr/>
          <p:nvPr/>
        </p:nvSpPr>
        <p:spPr>
          <a:xfrm>
            <a:off x="5545800" y="5704200"/>
            <a:ext cx="2422440" cy="338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Processing buffer 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Right Arrow 42"/>
          <p:cNvSpPr/>
          <p:nvPr/>
        </p:nvSpPr>
        <p:spPr>
          <a:xfrm rot="10800000">
            <a:off x="5820840" y="4900680"/>
            <a:ext cx="472320" cy="117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Right Arrow 51"/>
          <p:cNvSpPr/>
          <p:nvPr/>
        </p:nvSpPr>
        <p:spPr>
          <a:xfrm>
            <a:off x="7923600" y="2214720"/>
            <a:ext cx="558000" cy="110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0440" bIns="10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Rectangle 156"/>
          <p:cNvSpPr/>
          <p:nvPr/>
        </p:nvSpPr>
        <p:spPr>
          <a:xfrm>
            <a:off x="1580760" y="4854960"/>
            <a:ext cx="683640" cy="901440"/>
          </a:xfrm>
          <a:prstGeom prst="rect">
            <a:avLst/>
          </a:prstGeom>
          <a:solidFill>
            <a:srgbClr val="f6cad6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Rectangle 157"/>
          <p:cNvSpPr/>
          <p:nvPr/>
        </p:nvSpPr>
        <p:spPr>
          <a:xfrm>
            <a:off x="3031920" y="4352760"/>
            <a:ext cx="711360" cy="1204200"/>
          </a:xfrm>
          <a:prstGeom prst="rect">
            <a:avLst/>
          </a:prstGeom>
          <a:solidFill>
            <a:srgbClr val="e6d8ea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Rectangle 158"/>
          <p:cNvSpPr/>
          <p:nvPr/>
        </p:nvSpPr>
        <p:spPr>
          <a:xfrm>
            <a:off x="2316960" y="5587920"/>
            <a:ext cx="2422440" cy="338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Processing buffer 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Right Arrow 59"/>
          <p:cNvSpPr/>
          <p:nvPr/>
        </p:nvSpPr>
        <p:spPr>
          <a:xfrm rot="10800000">
            <a:off x="2266560" y="4871880"/>
            <a:ext cx="765360" cy="117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Right Arrow 60"/>
          <p:cNvSpPr/>
          <p:nvPr/>
        </p:nvSpPr>
        <p:spPr>
          <a:xfrm rot="10800000">
            <a:off x="7006320" y="4900680"/>
            <a:ext cx="640440" cy="88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Right Arrow 61"/>
          <p:cNvSpPr/>
          <p:nvPr/>
        </p:nvSpPr>
        <p:spPr>
          <a:xfrm rot="10800000">
            <a:off x="3785040" y="4884840"/>
            <a:ext cx="483840" cy="8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080" bIns="-1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3" name="Group 162"/>
          <p:cNvGrpSpPr/>
          <p:nvPr/>
        </p:nvGrpSpPr>
        <p:grpSpPr>
          <a:xfrm>
            <a:off x="478080" y="3023280"/>
            <a:ext cx="1802160" cy="524160"/>
            <a:chOff x="478080" y="3023280"/>
            <a:chExt cx="1802160" cy="524160"/>
          </a:xfrm>
        </p:grpSpPr>
        <p:sp>
          <p:nvSpPr>
            <p:cNvPr id="134" name="Rectangle 163"/>
            <p:cNvSpPr/>
            <p:nvPr/>
          </p:nvSpPr>
          <p:spPr>
            <a:xfrm>
              <a:off x="478080" y="3023280"/>
              <a:ext cx="995760" cy="255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5" name="Rectangle 164"/>
            <p:cNvSpPr/>
            <p:nvPr/>
          </p:nvSpPr>
          <p:spPr>
            <a:xfrm>
              <a:off x="693720" y="3092400"/>
              <a:ext cx="995760" cy="255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6" name="Rectangle 165"/>
            <p:cNvSpPr/>
            <p:nvPr/>
          </p:nvSpPr>
          <p:spPr>
            <a:xfrm>
              <a:off x="831600" y="3161520"/>
              <a:ext cx="995760" cy="255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7" name="Rectangle 166"/>
            <p:cNvSpPr/>
            <p:nvPr/>
          </p:nvSpPr>
          <p:spPr>
            <a:xfrm>
              <a:off x="981360" y="3233160"/>
              <a:ext cx="995760" cy="255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8" name="Rectangle 167"/>
            <p:cNvSpPr/>
            <p:nvPr/>
          </p:nvSpPr>
          <p:spPr>
            <a:xfrm>
              <a:off x="1284480" y="3291480"/>
              <a:ext cx="995760" cy="25596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uFillTx/>
                  <a:latin typeface="Arial"/>
                </a:rPr>
                <a:t>TX DMA</a:t>
              </a:r>
              <a:endParaRPr b="0" lang="en-IN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39" name="Right Arrow 69"/>
          <p:cNvSpPr/>
          <p:nvPr/>
        </p:nvSpPr>
        <p:spPr>
          <a:xfrm rot="16200000">
            <a:off x="1410840" y="3785400"/>
            <a:ext cx="489600" cy="5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080" bIns="-19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Rectangle 169"/>
          <p:cNvSpPr/>
          <p:nvPr/>
        </p:nvSpPr>
        <p:spPr>
          <a:xfrm>
            <a:off x="4430160" y="4819680"/>
            <a:ext cx="1086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Customer PP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Rectangle 170"/>
          <p:cNvSpPr/>
          <p:nvPr/>
        </p:nvSpPr>
        <p:spPr>
          <a:xfrm>
            <a:off x="9307440" y="2793240"/>
            <a:ext cx="1400760" cy="338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Processing buffer 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Rectangle 171"/>
          <p:cNvSpPr/>
          <p:nvPr/>
        </p:nvSpPr>
        <p:spPr>
          <a:xfrm>
            <a:off x="8475480" y="2144160"/>
            <a:ext cx="711360" cy="1204200"/>
          </a:xfrm>
          <a:prstGeom prst="rect">
            <a:avLst/>
          </a:prstGeom>
          <a:solidFill>
            <a:srgbClr val="e6d8ea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Right Arrow 54"/>
          <p:cNvSpPr/>
          <p:nvPr/>
        </p:nvSpPr>
        <p:spPr>
          <a:xfrm rot="5400000">
            <a:off x="8244360" y="3911760"/>
            <a:ext cx="1171800" cy="16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3" descr="A white rectangular object with black text&#10;&#10;Description automatically generated"/>
          <p:cNvPicPr/>
          <p:nvPr/>
        </p:nvPicPr>
        <p:blipFill>
          <a:blip r:embed="rId1"/>
          <a:stretch/>
        </p:blipFill>
        <p:spPr>
          <a:xfrm>
            <a:off x="6622200" y="1200960"/>
            <a:ext cx="2682360" cy="26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Content Placeholder 2"/>
          <p:cNvSpPr/>
          <p:nvPr/>
        </p:nvSpPr>
        <p:spPr>
          <a:xfrm>
            <a:off x="140040" y="1272240"/>
            <a:ext cx="6494760" cy="47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 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Pack Buffer: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 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Is an input buffer which receives the samples from Auto detection.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Pack buffer size in the framework will be Sample block * No of input channels * No of Halfs.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The sample block and Number of Half's will vary based on decoders.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This works in a circular fashion.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When the Pack is filled, This will be sent to next flow i.e, Decoding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Predac Buffer: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Is an output buffer which gets the output samples from the decoder.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Predac buffer size in the framework will be Sample block * No of Output channels * No of half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Factors like the Number of Cores and decoder latency decides the Number of Half.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This works in a circular fashion.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When the Predac is filled, This will be sent to next flow i.e, Transmitter.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Processing Buffer: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Is an internal buffer used to store the intermediate results.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Size of the buffer is usually sample block * No of input channels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 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This can be reused in the audio chain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lide Number Placeholder 3"/>
          <p:cNvSpPr/>
          <p:nvPr/>
        </p:nvSpPr>
        <p:spPr>
          <a:xfrm>
            <a:off x="355680" y="6327000"/>
            <a:ext cx="33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fld id="{09ED9280-03DA-494E-907E-239A7F2B248F}" type="slidenum">
              <a:rPr b="1" lang="en-IN" sz="10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7" name="Picture 7" descr="A pink rectangle with black text&#10;&#10;Description automatically generated"/>
          <p:cNvPicPr/>
          <p:nvPr/>
        </p:nvPicPr>
        <p:blipFill>
          <a:blip r:embed="rId2"/>
          <a:stretch/>
        </p:blipFill>
        <p:spPr>
          <a:xfrm>
            <a:off x="8137440" y="4711680"/>
            <a:ext cx="1008720" cy="14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8" descr=""/>
          <p:cNvPicPr/>
          <p:nvPr/>
        </p:nvPicPr>
        <p:blipFill>
          <a:blip r:embed="rId3"/>
          <a:stretch/>
        </p:blipFill>
        <p:spPr>
          <a:xfrm>
            <a:off x="9138960" y="1492920"/>
            <a:ext cx="2690640" cy="333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10"/>
          <p:cNvSpPr/>
          <p:nvPr/>
        </p:nvSpPr>
        <p:spPr>
          <a:xfrm>
            <a:off x="408240" y="457200"/>
            <a:ext cx="6094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Times New Roman"/>
              </a:rPr>
              <a:t>Realtime Framework – Buffer Flow 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7803000" y="6116040"/>
            <a:ext cx="1912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Processing Buffer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9787320" y="4859640"/>
            <a:ext cx="1912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Predac Buffer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TextBox 13"/>
          <p:cNvSpPr/>
          <p:nvPr/>
        </p:nvSpPr>
        <p:spPr>
          <a:xfrm>
            <a:off x="7461720" y="3881160"/>
            <a:ext cx="1912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Pack Buffer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D22E47-A4B5-40CA-BFE4-F0542C8552E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ontent Placeholder 2"/>
          <p:cNvSpPr/>
          <p:nvPr/>
        </p:nvSpPr>
        <p:spPr>
          <a:xfrm>
            <a:off x="408240" y="1222920"/>
            <a:ext cx="5177880" cy="46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Input / Output Data flow of the audio framework includes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Sample block :  256 , 128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Bit Rate : 24 bit / 32 bit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Data Format : Floating / Fixed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Data Organization: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    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Block based  -  Processes data in larger chunks or blocks.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        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Interleaved  -  Combines multiple channels into a single stream.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When Factors copying the Data between buffers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Source and Destination Buffer pointers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No of samples to be copied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85800" indent="-228600" defTabSz="457200">
              <a:lnSpc>
                <a:spcPct val="90000"/>
              </a:lnSpc>
              <a:spcBef>
                <a:spcPts val="281"/>
              </a:spcBef>
              <a:buClr>
                <a:srgbClr val="1e4056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Buffer Stride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Circular Pointer update :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Whenever a data copied to or from a circular buffer, the respective read and write pointers to be updated for the next processing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Empty Space and Filled Space checking: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This is to check a valid sample is available to process and enough space is available to fill data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457200">
              <a:lnSpc>
                <a:spcPct val="90000"/>
              </a:lnSpc>
              <a:spcBef>
                <a:spcPts val="281"/>
              </a:spcBef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4" name="Picture 4" descr="A grid of blue letters&#10;&#10;Description automatically generated"/>
          <p:cNvPicPr/>
          <p:nvPr/>
        </p:nvPicPr>
        <p:blipFill>
          <a:blip r:embed="rId1"/>
          <a:stretch/>
        </p:blipFill>
        <p:spPr>
          <a:xfrm>
            <a:off x="9805320" y="1222920"/>
            <a:ext cx="1651320" cy="19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5" descr=""/>
          <p:cNvPicPr/>
          <p:nvPr/>
        </p:nvPicPr>
        <p:blipFill>
          <a:blip r:embed="rId2"/>
          <a:stretch/>
        </p:blipFill>
        <p:spPr>
          <a:xfrm>
            <a:off x="7044840" y="1224360"/>
            <a:ext cx="1733760" cy="193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6" descr="A diagram of a process&#10;&#10;Description automatically generated"/>
          <p:cNvPicPr/>
          <p:nvPr/>
        </p:nvPicPr>
        <p:blipFill>
          <a:blip r:embed="rId3"/>
          <a:stretch/>
        </p:blipFill>
        <p:spPr>
          <a:xfrm>
            <a:off x="7396920" y="3499920"/>
            <a:ext cx="3657240" cy="307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7"/>
          <p:cNvSpPr/>
          <p:nvPr/>
        </p:nvSpPr>
        <p:spPr>
          <a:xfrm>
            <a:off x="408240" y="457200"/>
            <a:ext cx="6094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Times New Roman"/>
              </a:rPr>
              <a:t>Realtime Framework – Data Flow 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6920640" y="3159720"/>
            <a:ext cx="238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b0f0"/>
                </a:solidFill>
                <a:uFillTx/>
                <a:latin typeface="Calibri"/>
              </a:rPr>
              <a:t>Interleaved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9830880" y="3165840"/>
            <a:ext cx="238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b0f0"/>
                </a:solidFill>
                <a:uFillTx/>
                <a:latin typeface="Calibri"/>
              </a:rPr>
              <a:t>Block based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F471D9-2004-43EB-B257-CC3790628A88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6202B8-187E-4248-9A5D-622BBDF8F1A2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D33652BA1EC4AA3AB9DE1879285AC" ma:contentTypeVersion="5" ma:contentTypeDescription="Create a new document." ma:contentTypeScope="" ma:versionID="5bca5fe49313e4fe83c9eb59cedd1456">
  <xsd:schema xmlns:xsd="http://www.w3.org/2001/XMLSchema" xmlns:xs="http://www.w3.org/2001/XMLSchema" xmlns:p="http://schemas.microsoft.com/office/2006/metadata/properties" xmlns:ns2="060a8a9f-d048-4cae-94ae-42ad8fd36d05" xmlns:ns3="c683474e-3566-459e-a8fa-b9191d46e53e" targetNamespace="http://schemas.microsoft.com/office/2006/metadata/properties" ma:root="true" ma:fieldsID="9e621353ac25fe9b19fe1d83cda1a4ac" ns2:_="" ns3:_="">
    <xsd:import namespace="060a8a9f-d048-4cae-94ae-42ad8fd36d05"/>
    <xsd:import namespace="c683474e-3566-459e-a8fa-b9191d46e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a8a9f-d048-4cae-94ae-42ad8fd36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474e-3566-459e-a8fa-b9191d46e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60F794EE8B7F4896CF96123B576A02" ma:contentTypeVersion="14" ma:contentTypeDescription="Create a new document." ma:contentTypeScope="" ma:versionID="a515f5e97c337ced10d4210d6ad70d57">
  <xsd:schema xmlns:xsd="http://www.w3.org/2001/XMLSchema" xmlns:xs="http://www.w3.org/2001/XMLSchema" xmlns:p="http://schemas.microsoft.com/office/2006/metadata/properties" xmlns:ns2="82aca38d-74d5-4ce7-920c-59228ba159e1" xmlns:ns3="204c8fdd-6a95-4db6-9bb5-c65d7126e426" targetNamespace="http://schemas.microsoft.com/office/2006/metadata/properties" ma:root="true" ma:fieldsID="48b2a20fcc60b9779bf550ce6025378e" ns2:_="" ns3:_="">
    <xsd:import namespace="82aca38d-74d5-4ce7-920c-59228ba159e1"/>
    <xsd:import namespace="204c8fdd-6a95-4db6-9bb5-c65d7126e4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aca38d-74d5-4ce7-920c-59228ba15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d8ae02-67be-425d-859a-0c16ee0cf0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c8fdd-6a95-4db6-9bb5-c65d7126e4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497cf32-f975-48ff-8ef4-ce7729ecca1e}" ma:internalName="TaxCatchAll" ma:showField="CatchAllData" ma:web="204c8fdd-6a95-4db6-9bb5-c65d7126e4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aca38d-74d5-4ce7-920c-59228ba159e1">
      <Terms xmlns="http://schemas.microsoft.com/office/infopath/2007/PartnerControls"/>
    </lcf76f155ced4ddcb4097134ff3c332f>
    <TaxCatchAll xmlns="204c8fdd-6a95-4db6-9bb5-c65d7126e426" xsi:nil="true"/>
  </documentManagement>
</p:properties>
</file>

<file path=customXml/itemProps1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45B0B0-FE97-4451-B830-7323F42E9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0a8a9f-d048-4cae-94ae-42ad8fd36d05"/>
    <ds:schemaRef ds:uri="c683474e-3566-459e-a8fa-b9191d46e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187D3E-E3C9-48EC-BAD4-E06D13CA9AE4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e933229d-620e-44f3-8d4c-aad19ceeb56e"/>
    <ds:schemaRef ds:uri="57aa52b6-b85e-408e-a3c3-28bdc26b35a0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B80A83D8-1B4B-4991-A98C-BF2B4C5D2CC6}"/>
</file>

<file path=customXml/itemProps5.xml><?xml version="1.0" encoding="utf-8"?>
<ds:datastoreItem xmlns:ds="http://schemas.openxmlformats.org/officeDocument/2006/customXml" ds:itemID="{F6744D37-908B-4BEB-A8A7-381D489FABED}"/>
</file>

<file path=customXml/itemProps6.xml><?xml version="1.0" encoding="utf-8"?>
<ds:datastoreItem xmlns:ds="http://schemas.openxmlformats.org/officeDocument/2006/customXml" ds:itemID="{B7321A1F-FC7F-4B5E-A181-7CAD7176E81D}"/>
</file>

<file path=docProps/app.xml><?xml version="1.0" encoding="utf-8"?>
<Properties xmlns="http://schemas.openxmlformats.org/officeDocument/2006/extended-properties" xmlns:vt="http://schemas.openxmlformats.org/officeDocument/2006/docPropsVTypes">
  <Template>Peripherals Configuration - (SPORTs, DAI, SPI, GPIO)</Template>
  <TotalTime>588</TotalTime>
  <Application>LibreOffice/24.8.4.2$Windows_X86_64 LibreOffice_project/bb3cfa12c7b1bf994ecc5649a80400d06cd71002</Application>
  <AppVersion>15.0000</AppVersion>
  <Words>1631</Words>
  <Paragraphs>290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Praveen Sivashanmugam</dc:creator>
  <dc:description/>
  <cp:lastModifiedBy/>
  <cp:revision>116</cp:revision>
  <dcterms:created xsi:type="dcterms:W3CDTF">2024-09-19T07:26:49Z</dcterms:created>
  <dcterms:modified xsi:type="dcterms:W3CDTF">2025-02-24T13:16:35Z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0x010100C360F794EE8B7F4896CF96123B576A02</vt:lpwstr>
  </property>
  <property fmtid="{D5CDD505-2E9C-101B-9397-08002B2CF9AE}" pid="3" name="PresentationFormat">
    <vt:lpwstr>Widescreen</vt:lpwstr>
  </property>
  <property fmtid="{D5CDD505-2E9C-101B-9397-08002B2CF9AE}" pid="4" name="Slides">
    <vt:i4>23</vt:i4>
  </property>
</Properties>
</file>