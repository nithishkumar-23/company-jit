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48" r:id="rId5"/>
  </p:sldMasterIdLst>
  <p:notesMasterIdLst>
    <p:notesMasterId r:id="rId16"/>
  </p:notesMasterIdLst>
  <p:sldIdLst>
    <p:sldId id="256" r:id="rId6"/>
    <p:sldId id="338" r:id="rId7"/>
    <p:sldId id="333" r:id="rId8"/>
    <p:sldId id="329" r:id="rId9"/>
    <p:sldId id="326" r:id="rId10"/>
    <p:sldId id="342" r:id="rId11"/>
    <p:sldId id="320" r:id="rId12"/>
    <p:sldId id="343" r:id="rId13"/>
    <p:sldId id="330"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4FF162-B20D-0E9F-FF77-55307C7322A1}" name="Vishnuchandran.Ravi" initials="Vi" userId="S::vishnuchandran.ravi@jasmin-infotech.com::b7ca43b6-59a4-4780-8f6c-4c292c33d9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FFFF"/>
    <a:srgbClr val="010086"/>
    <a:srgbClr val="074C59"/>
    <a:srgbClr val="D9D9D9"/>
    <a:srgbClr val="0707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4E93F3-3C5E-2E02-91F2-216C4DDE61A1}" v="908" dt="2025-03-25T15:36:58.462"/>
    <p1510:client id="{85427221-8945-98B7-CDC3-78AF613F0220}" v="635" dt="2025-03-25T15:54:38.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6F84F-415A-4DAA-9779-B90E19A84FF0}" type="datetimeFigureOut">
              <a:rPr lang="en-IN" smtClean="0"/>
              <a:t>25-03-2025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E07B7-A532-4025-953D-57EC5826ED7E}" type="slidenum">
              <a:rPr lang="en-IN" smtClean="0"/>
              <a:t>‹#›</a:t>
            </a:fld>
            <a:endParaRPr lang="en-IN"/>
          </a:p>
        </p:txBody>
      </p:sp>
    </p:spTree>
    <p:extLst>
      <p:ext uri="{BB962C8B-B14F-4D97-AF65-F5344CB8AC3E}">
        <p14:creationId xmlns:p14="http://schemas.microsoft.com/office/powerpoint/2010/main" val="76045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225129" y="2298963"/>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963435" y="3499292"/>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pic>
        <p:nvPicPr>
          <p:cNvPr id="4" name="Picture 3" descr="A picture containing text, font, logo, graphics&#10;&#10;Description automatically generated">
            <a:extLst>
              <a:ext uri="{FF2B5EF4-FFF2-40B4-BE49-F238E27FC236}">
                <a16:creationId xmlns:a16="http://schemas.microsoft.com/office/drawing/2014/main" id="{FE7E01E8-D30E-15CC-EEBD-2C36403598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7054" y="247217"/>
            <a:ext cx="2197891" cy="1774759"/>
          </a:xfrm>
          <a:prstGeom prst="rect">
            <a:avLst/>
          </a:prstGeom>
        </p:spPr>
      </p:pic>
    </p:spTree>
    <p:extLst>
      <p:ext uri="{BB962C8B-B14F-4D97-AF65-F5344CB8AC3E}">
        <p14:creationId xmlns:p14="http://schemas.microsoft.com/office/powerpoint/2010/main" val="397028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2258546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D500-044D-4F8A-9311-1D19A1E0D640}"/>
              </a:ext>
            </a:extLst>
          </p:cNvPr>
          <p:cNvSpPr>
            <a:spLocks noGrp="1"/>
          </p:cNvSpPr>
          <p:nvPr>
            <p:ph type="title"/>
          </p:nvPr>
        </p:nvSpPr>
        <p:spPr>
          <a:xfrm>
            <a:off x="831850" y="1709739"/>
            <a:ext cx="10515600" cy="1719262"/>
          </a:xfrm>
        </p:spPr>
        <p:txBody>
          <a:bodyPr anchor="b">
            <a:normAutofit/>
          </a:bodyPr>
          <a:lstStyle>
            <a:lvl1pPr>
              <a:defRPr sz="2800">
                <a:latin typeface="Century Gothic" panose="020B0502020202020204" pitchFamily="34" charset="0"/>
              </a:defRPr>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A8A540-5472-4C45-9471-5968D6BC44BB}"/>
              </a:ext>
            </a:extLst>
          </p:cNvPr>
          <p:cNvSpPr>
            <a:spLocks noGrp="1"/>
          </p:cNvSpPr>
          <p:nvPr>
            <p:ph type="body" idx="1"/>
          </p:nvPr>
        </p:nvSpPr>
        <p:spPr>
          <a:xfrm>
            <a:off x="838200" y="3839370"/>
            <a:ext cx="10515600" cy="1500187"/>
          </a:xfrm>
        </p:spPr>
        <p:txBody>
          <a:bodyPr/>
          <a:lstStyle>
            <a:lvl1pPr marL="0" indent="0">
              <a:buNone/>
              <a:defRPr sz="2400">
                <a:solidFill>
                  <a:schemeClr val="tx1">
                    <a:tint val="75000"/>
                  </a:schemeClr>
                </a:solidFill>
                <a:latin typeface="Century Gothic" panose="020B0502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hidden="1">
            <a:extLst>
              <a:ext uri="{FF2B5EF4-FFF2-40B4-BE49-F238E27FC236}">
                <a16:creationId xmlns:a16="http://schemas.microsoft.com/office/drawing/2014/main" id="{470DE521-D3F7-4AC9-95DC-EFEFD3DE8597}"/>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hidden="1">
            <a:extLst>
              <a:ext uri="{FF2B5EF4-FFF2-40B4-BE49-F238E27FC236}">
                <a16:creationId xmlns:a16="http://schemas.microsoft.com/office/drawing/2014/main" id="{4B1DF27C-CA9A-40E8-A56A-2B7A4035CDE7}"/>
              </a:ext>
            </a:extLst>
          </p:cNvPr>
          <p:cNvSpPr>
            <a:spLocks noGrp="1"/>
          </p:cNvSpPr>
          <p:nvPr>
            <p:ph type="ftr" sz="quarter" idx="11"/>
          </p:nvPr>
        </p:nvSpPr>
        <p:spPr>
          <a:xfrm>
            <a:off x="4038600" y="6356350"/>
            <a:ext cx="4114800" cy="365125"/>
          </a:xfrm>
          <a:prstGeom prst="rect">
            <a:avLst/>
          </a:prstGeom>
        </p:spPr>
        <p:txBody>
          <a:bodyPr/>
          <a:lstStyle/>
          <a:p>
            <a:r>
              <a:rPr lang="en-US"/>
              <a:t>CONFIDENTIAL I Shared under NDA</a:t>
            </a:r>
            <a:endParaRPr lang="en-IN"/>
          </a:p>
        </p:txBody>
      </p:sp>
      <p:cxnSp>
        <p:nvCxnSpPr>
          <p:cNvPr id="7" name="Straight Connector 6">
            <a:extLst>
              <a:ext uri="{FF2B5EF4-FFF2-40B4-BE49-F238E27FC236}">
                <a16:creationId xmlns:a16="http://schemas.microsoft.com/office/drawing/2014/main" id="{61B7E32C-6A60-4344-8FB2-6251996B6247}"/>
              </a:ext>
            </a:extLst>
          </p:cNvPr>
          <p:cNvCxnSpPr>
            <a:cxnSpLocks/>
          </p:cNvCxnSpPr>
          <p:nvPr userDrawn="1"/>
        </p:nvCxnSpPr>
        <p:spPr>
          <a:xfrm>
            <a:off x="838200" y="3455687"/>
            <a:ext cx="11353800" cy="0"/>
          </a:xfrm>
          <a:prstGeom prst="line">
            <a:avLst/>
          </a:prstGeom>
          <a:ln w="38100">
            <a:solidFill>
              <a:srgbClr val="00008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39106E4-29D0-496D-9A43-CB891643C286}"/>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A42DA796-DA88-4A79-99C5-26352F6730FB}"/>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1" name="Picture 10">
            <a:extLst>
              <a:ext uri="{FF2B5EF4-FFF2-40B4-BE49-F238E27FC236}">
                <a16:creationId xmlns:a16="http://schemas.microsoft.com/office/drawing/2014/main" id="{1B906B2E-F395-462F-BCAA-5B24E2A416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583404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402335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26379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picture containing text, font, logo, graphics&#10;&#10;Description automatically generated">
            <a:extLst>
              <a:ext uri="{FF2B5EF4-FFF2-40B4-BE49-F238E27FC236}">
                <a16:creationId xmlns:a16="http://schemas.microsoft.com/office/drawing/2014/main" id="{F8BB3D50-38BC-132C-82A7-E5447A2A64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69253" y="195459"/>
            <a:ext cx="1855980" cy="1498672"/>
          </a:xfrm>
          <a:prstGeom prst="rect">
            <a:avLst/>
          </a:prstGeom>
        </p:spPr>
      </p:pic>
    </p:spTree>
    <p:extLst>
      <p:ext uri="{BB962C8B-B14F-4D97-AF65-F5344CB8AC3E}">
        <p14:creationId xmlns:p14="http://schemas.microsoft.com/office/powerpoint/2010/main" val="830994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3267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2469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1" y="6422755"/>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369934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1D1BC-3BF8-4FCC-BF21-07D616F2B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11023-BBB9-4E1B-95EF-F874370A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ABAD75D-4AC3-4D94-8260-13C2633BD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735547-B499-4273-BF07-F756EAEC2F73}" type="slidenum">
              <a:rPr lang="en-IN" smtClean="0"/>
              <a:t>‹#›</a:t>
            </a:fld>
            <a:endParaRPr lang="en-IN"/>
          </a:p>
        </p:txBody>
      </p:sp>
      <p:sp>
        <p:nvSpPr>
          <p:cNvPr id="10" name="TextBox 3">
            <a:extLst>
              <a:ext uri="{FF2B5EF4-FFF2-40B4-BE49-F238E27FC236}">
                <a16:creationId xmlns:a16="http://schemas.microsoft.com/office/drawing/2014/main" id="{22C2E77A-5381-4121-9A7B-139FB8F4E5F7}"/>
              </a:ext>
            </a:extLst>
          </p:cNvPr>
          <p:cNvSpPr txBox="1">
            <a:spLocks noChangeArrowheads="1"/>
          </p:cNvSpPr>
          <p:nvPr userDrawn="1"/>
        </p:nvSpPr>
        <p:spPr bwMode="auto">
          <a:xfrm>
            <a:off x="1905000" y="6650257"/>
            <a:ext cx="23622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CONFIDENTIAL : JI Internal Use Only</a:t>
            </a:r>
          </a:p>
        </p:txBody>
      </p:sp>
      <p:sp>
        <p:nvSpPr>
          <p:cNvPr id="11" name="TextBox 3">
            <a:extLst>
              <a:ext uri="{FF2B5EF4-FFF2-40B4-BE49-F238E27FC236}">
                <a16:creationId xmlns:a16="http://schemas.microsoft.com/office/drawing/2014/main" id="{E25A6030-3380-4898-819C-D2BD1C737462}"/>
              </a:ext>
            </a:extLst>
          </p:cNvPr>
          <p:cNvSpPr txBox="1">
            <a:spLocks noChangeArrowheads="1"/>
          </p:cNvSpPr>
          <p:nvPr userDrawn="1"/>
        </p:nvSpPr>
        <p:spPr bwMode="auto">
          <a:xfrm>
            <a:off x="0" y="6650257"/>
            <a:ext cx="20574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©2023 Jasmin Infotech</a:t>
            </a:r>
            <a:r>
              <a:rPr lang="en-US" sz="700" b="1" baseline="0">
                <a:solidFill>
                  <a:schemeClr val="tx1">
                    <a:lumMod val="65000"/>
                    <a:lumOff val="35000"/>
                  </a:schemeClr>
                </a:solidFill>
                <a:latin typeface="+mj-lt"/>
              </a:rPr>
              <a:t> Private Limited</a:t>
            </a:r>
            <a:endParaRPr lang="en-US" sz="700" b="1">
              <a:solidFill>
                <a:schemeClr val="tx1">
                  <a:lumMod val="65000"/>
                  <a:lumOff val="35000"/>
                </a:schemeClr>
              </a:solidFill>
              <a:latin typeface="+mj-lt"/>
            </a:endParaRPr>
          </a:p>
        </p:txBody>
      </p:sp>
      <p:cxnSp>
        <p:nvCxnSpPr>
          <p:cNvPr id="12" name="Straight Connector 11">
            <a:extLst>
              <a:ext uri="{FF2B5EF4-FFF2-40B4-BE49-F238E27FC236}">
                <a16:creationId xmlns:a16="http://schemas.microsoft.com/office/drawing/2014/main" id="{9C95BBBE-8BDA-46C2-B17F-5F1D256C0269}"/>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046269"/>
      </p:ext>
    </p:extLst>
  </p:cSld>
  <p:clrMap bg1="lt1" tx1="dk1" bg2="lt2" tx2="dk2" accent1="accent1" accent2="accent2" accent3="accent3" accent4="accent4" accent5="accent5" accent6="accent6" hlink="hlink" folHlink="folHlink"/>
  <p:sldLayoutIdLst>
    <p:sldLayoutId id="2147483673" r:id="rId1"/>
    <p:sldLayoutId id="2147483691" r:id="rId2"/>
    <p:sldLayoutId id="2147483678" r:id="rId3"/>
    <p:sldLayoutId id="2147483692" r:id="rId4"/>
    <p:sldLayoutId id="2147483674" r:id="rId5"/>
    <p:sldLayoutId id="2147483690" r:id="rId6"/>
    <p:sldLayoutId id="2147483693" r:id="rId7"/>
    <p:sldLayoutId id="2147483694" r:id="rId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3/25/2025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www.analog.com/en/products/adsp-21569.html" TargetMode="External"/><Relationship Id="rId2" Type="http://schemas.openxmlformats.org/officeDocument/2006/relationships/hyperlink" Target="https://www.analog.com/media/en/technical-documentation/application-notes/ee-340_rev1.pdf" TargetMode="External"/><Relationship Id="rId1" Type="http://schemas.openxmlformats.org/officeDocument/2006/relationships/slideLayout" Target="../slideLayouts/slideLayout4.xml"/><Relationship Id="rId4" Type="http://schemas.openxmlformats.org/officeDocument/2006/relationships/hyperlink" Target="https://www.analog.com/en/products/adsp-bf524.html"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5.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jpeg"/><Relationship Id="rId4" Type="http://schemas.openxmlformats.org/officeDocument/2006/relationships/image" Target="../media/image12.sv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74804-7A65-49B5-A06B-DEC0F4770309}"/>
              </a:ext>
            </a:extLst>
          </p:cNvPr>
          <p:cNvSpPr>
            <a:spLocks noGrp="1"/>
          </p:cNvSpPr>
          <p:nvPr>
            <p:ph type="sldNum" sz="quarter" idx="12"/>
          </p:nvPr>
        </p:nvSpPr>
        <p:spPr/>
        <p:txBody>
          <a:bodyPr/>
          <a:lstStyle/>
          <a:p>
            <a:fld id="{83735547-B499-4273-BF07-F756EAEC2F73}" type="slidenum">
              <a:rPr lang="en-IN" smtClean="0"/>
              <a:t>1</a:t>
            </a:fld>
            <a:endParaRPr lang="en-IN"/>
          </a:p>
        </p:txBody>
      </p:sp>
      <p:sp>
        <p:nvSpPr>
          <p:cNvPr id="4" name="Rectangle 3">
            <a:extLst>
              <a:ext uri="{FF2B5EF4-FFF2-40B4-BE49-F238E27FC236}">
                <a16:creationId xmlns:a16="http://schemas.microsoft.com/office/drawing/2014/main" id="{2A91F374-12C3-45EB-99A5-33CBA53EFC64}"/>
              </a:ext>
            </a:extLst>
          </p:cNvPr>
          <p:cNvSpPr/>
          <p:nvPr/>
        </p:nvSpPr>
        <p:spPr>
          <a:xfrm>
            <a:off x="116688" y="4140233"/>
            <a:ext cx="11724513" cy="1200329"/>
          </a:xfrm>
          <a:prstGeom prst="rect">
            <a:avLst/>
          </a:prstGeom>
        </p:spPr>
        <p:txBody>
          <a:bodyPr wrap="square" lIns="91440" tIns="45720" rIns="91440" bIns="45720" anchor="t">
            <a:spAutoFit/>
          </a:bodyPr>
          <a:lstStyle/>
          <a:p>
            <a:pPr algn="ctr"/>
            <a:r>
              <a:rPr lang="en-US" sz="2400" b="1" i="1" u="sng" dirty="0">
                <a:solidFill>
                  <a:srgbClr val="000076"/>
                </a:solidFill>
                <a:cs typeface="Calibri" panose="020F0502020204030204"/>
              </a:rPr>
              <a:t>Title : </a:t>
            </a:r>
            <a:r>
              <a:rPr lang="en-US" sz="2400" b="1" i="1" u="sng" dirty="0">
                <a:solidFill>
                  <a:srgbClr val="000076"/>
                </a:solidFill>
                <a:ea typeface="+mn-lt"/>
                <a:cs typeface="+mn-lt"/>
              </a:rPr>
              <a:t>Host Communication Protocol</a:t>
            </a:r>
            <a:endParaRPr lang="en-US" dirty="0"/>
          </a:p>
          <a:p>
            <a:pPr algn="ctr"/>
            <a:endParaRPr lang="en-US" sz="2400" b="1" i="1" u="sng" dirty="0">
              <a:solidFill>
                <a:srgbClr val="000076"/>
              </a:solidFill>
              <a:ea typeface="Calibri"/>
              <a:cs typeface="Calibri"/>
            </a:endParaRPr>
          </a:p>
          <a:p>
            <a:pPr algn="ctr"/>
            <a:r>
              <a:rPr lang="en-US" sz="2400" b="1" i="1" dirty="0">
                <a:solidFill>
                  <a:srgbClr val="000076"/>
                </a:solidFill>
                <a:ea typeface="Calibri"/>
                <a:cs typeface="Calibri"/>
              </a:rPr>
              <a:t>26 Mar 2025</a:t>
            </a:r>
            <a:endParaRPr lang="en-US" sz="2400" b="1" i="1" u="sng" dirty="0">
              <a:solidFill>
                <a:srgbClr val="000076"/>
              </a:solidFill>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1C2F6D2-BE68-7AF9-D10C-D3678F277F52}"/>
              </a:ext>
            </a:extLst>
          </p:cNvPr>
          <p:cNvPicPr>
            <a:picLocks noGrp="1" noChangeAspect="1"/>
          </p:cNvPicPr>
          <p:nvPr>
            <p:ph idx="1"/>
          </p:nvPr>
        </p:nvPicPr>
        <p:blipFill>
          <a:blip r:embed="rId2"/>
          <a:stretch>
            <a:fillRect/>
          </a:stretch>
        </p:blipFill>
        <p:spPr>
          <a:xfrm>
            <a:off x="2218114" y="2002122"/>
            <a:ext cx="7755772" cy="2853756"/>
          </a:xfrm>
        </p:spPr>
      </p:pic>
      <p:sp>
        <p:nvSpPr>
          <p:cNvPr id="3" name="Slide Number Placeholder 2">
            <a:extLst>
              <a:ext uri="{FF2B5EF4-FFF2-40B4-BE49-F238E27FC236}">
                <a16:creationId xmlns:a16="http://schemas.microsoft.com/office/drawing/2014/main" id="{FC9C333A-C08B-85D8-DDA1-C3D9EAE3997B}"/>
              </a:ext>
            </a:extLst>
          </p:cNvPr>
          <p:cNvSpPr>
            <a:spLocks noGrp="1"/>
          </p:cNvSpPr>
          <p:nvPr>
            <p:ph type="sldNum" sz="quarter" idx="12"/>
          </p:nvPr>
        </p:nvSpPr>
        <p:spPr/>
        <p:txBody>
          <a:bodyPr/>
          <a:lstStyle/>
          <a:p>
            <a:fld id="{83735547-B499-4273-BF07-F756EAEC2F73}" type="slidenum">
              <a:rPr lang="en-IN" smtClean="0"/>
              <a:t>2</a:t>
            </a:fld>
            <a:endParaRPr lang="en-IN"/>
          </a:p>
        </p:txBody>
      </p:sp>
      <p:sp>
        <p:nvSpPr>
          <p:cNvPr id="5" name="TextBox 4">
            <a:extLst>
              <a:ext uri="{FF2B5EF4-FFF2-40B4-BE49-F238E27FC236}">
                <a16:creationId xmlns:a16="http://schemas.microsoft.com/office/drawing/2014/main" id="{56A5B50B-565B-2855-A6E6-AC09EABE357E}"/>
              </a:ext>
            </a:extLst>
          </p:cNvPr>
          <p:cNvSpPr txBox="1"/>
          <p:nvPr/>
        </p:nvSpPr>
        <p:spPr>
          <a:xfrm>
            <a:off x="445868" y="515921"/>
            <a:ext cx="52560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SPI Communication Physical Layout</a:t>
            </a:r>
            <a:endParaRPr lang="en-US" sz="2400" b="1" dirty="0">
              <a:latin typeface="Times New Roman"/>
            </a:endParaRPr>
          </a:p>
        </p:txBody>
      </p:sp>
    </p:spTree>
    <p:extLst>
      <p:ext uri="{BB962C8B-B14F-4D97-AF65-F5344CB8AC3E}">
        <p14:creationId xmlns:p14="http://schemas.microsoft.com/office/powerpoint/2010/main" val="1050382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E3244A-600C-AFA0-21DA-7F089386DA25}"/>
              </a:ext>
            </a:extLst>
          </p:cNvPr>
          <p:cNvSpPr>
            <a:spLocks noGrp="1"/>
          </p:cNvSpPr>
          <p:nvPr>
            <p:ph type="sldNum" sz="quarter" idx="12"/>
          </p:nvPr>
        </p:nvSpPr>
        <p:spPr/>
        <p:txBody>
          <a:bodyPr/>
          <a:lstStyle/>
          <a:p>
            <a:fld id="{83735547-B499-4273-BF07-F756EAEC2F73}" type="slidenum">
              <a:rPr lang="en-IN" smtClean="0"/>
              <a:t>3</a:t>
            </a:fld>
            <a:endParaRPr lang="en-IN"/>
          </a:p>
        </p:txBody>
      </p:sp>
      <p:sp>
        <p:nvSpPr>
          <p:cNvPr id="4" name="TextBox 3">
            <a:extLst>
              <a:ext uri="{FF2B5EF4-FFF2-40B4-BE49-F238E27FC236}">
                <a16:creationId xmlns:a16="http://schemas.microsoft.com/office/drawing/2014/main" id="{E5117B06-130A-50C0-BA57-EDFC9622E706}"/>
              </a:ext>
            </a:extLst>
          </p:cNvPr>
          <p:cNvSpPr txBox="1"/>
          <p:nvPr/>
        </p:nvSpPr>
        <p:spPr>
          <a:xfrm>
            <a:off x="445868" y="515921"/>
            <a:ext cx="656260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BF-524 – SPI Master</a:t>
            </a:r>
            <a:endParaRPr lang="en-US" sz="2400" b="1" dirty="0">
              <a:latin typeface="Times New Roman"/>
            </a:endParaRPr>
          </a:p>
        </p:txBody>
      </p:sp>
      <p:pic>
        <p:nvPicPr>
          <p:cNvPr id="8" name="Content Placeholder 7" descr="A diagram of a computer system&#10;&#10;AI-generated content may be incorrect.">
            <a:extLst>
              <a:ext uri="{FF2B5EF4-FFF2-40B4-BE49-F238E27FC236}">
                <a16:creationId xmlns:a16="http://schemas.microsoft.com/office/drawing/2014/main" id="{FBDFA8B6-4F9D-2113-30FA-4A11E50E3732}"/>
              </a:ext>
            </a:extLst>
          </p:cNvPr>
          <p:cNvPicPr>
            <a:picLocks noGrp="1" noChangeAspect="1"/>
          </p:cNvPicPr>
          <p:nvPr>
            <p:ph idx="1"/>
          </p:nvPr>
        </p:nvPicPr>
        <p:blipFill>
          <a:blip r:embed="rId2"/>
          <a:srcRect l="6074" t="63" r="4889"/>
          <a:stretch/>
        </p:blipFill>
        <p:spPr>
          <a:xfrm>
            <a:off x="442937" y="1297207"/>
            <a:ext cx="5391394" cy="4438253"/>
          </a:xfrm>
        </p:spPr>
      </p:pic>
      <p:sp>
        <p:nvSpPr>
          <p:cNvPr id="7" name="Content Placeholder 1">
            <a:extLst>
              <a:ext uri="{FF2B5EF4-FFF2-40B4-BE49-F238E27FC236}">
                <a16:creationId xmlns:a16="http://schemas.microsoft.com/office/drawing/2014/main" id="{B290DA03-7217-AB79-EDD0-FBD562A8B942}"/>
              </a:ext>
            </a:extLst>
          </p:cNvPr>
          <p:cNvSpPr txBox="1">
            <a:spLocks/>
          </p:cNvSpPr>
          <p:nvPr/>
        </p:nvSpPr>
        <p:spPr>
          <a:xfrm>
            <a:off x="6093019" y="1585885"/>
            <a:ext cx="5690664" cy="460113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Calibri"/>
                <a:cs typeface="Calibri"/>
              </a:rPr>
              <a:t>The following steps to be followed to Configure SPI Master in BF-524 processor.</a:t>
            </a:r>
            <a:endParaRPr lang="en-US" b="1" dirty="0"/>
          </a:p>
          <a:p>
            <a:r>
              <a:rPr lang="en-US" dirty="0">
                <a:ea typeface="Calibri"/>
                <a:cs typeface="Calibri"/>
              </a:rPr>
              <a:t>Pin Mux Configuration to be done for the required SPI device.</a:t>
            </a:r>
          </a:p>
          <a:p>
            <a:r>
              <a:rPr lang="en-US" dirty="0">
                <a:ea typeface="Calibri"/>
                <a:cs typeface="Calibri"/>
              </a:rPr>
              <a:t>Selected SPI DMA need to be secured using SPU (</a:t>
            </a:r>
            <a:r>
              <a:rPr lang="en-US" dirty="0" err="1">
                <a:ea typeface="Calibri"/>
                <a:cs typeface="Calibri"/>
              </a:rPr>
              <a:t>SystemProtectionUnit</a:t>
            </a:r>
            <a:r>
              <a:rPr lang="en-US" dirty="0">
                <a:ea typeface="Calibri"/>
                <a:cs typeface="Calibri"/>
              </a:rPr>
              <a:t>)</a:t>
            </a:r>
          </a:p>
          <a:p>
            <a:pPr algn="just"/>
            <a:r>
              <a:rPr lang="en-US" dirty="0">
                <a:ea typeface="Calibri"/>
                <a:cs typeface="Calibri"/>
              </a:rPr>
              <a:t>The following configuration need to be configured in </a:t>
            </a:r>
            <a:r>
              <a:rPr lang="en-US" b="1" dirty="0">
                <a:ea typeface="Calibri"/>
                <a:cs typeface="Calibri"/>
              </a:rPr>
              <a:t>SPI_CTL</a:t>
            </a:r>
            <a:r>
              <a:rPr lang="en-US" dirty="0">
                <a:ea typeface="Calibri"/>
                <a:cs typeface="Calibri"/>
              </a:rPr>
              <a:t> MMR Register and should be same as SPI Slave Config.</a:t>
            </a:r>
          </a:p>
          <a:p>
            <a:pPr lvl="1" algn="just"/>
            <a:r>
              <a:rPr lang="en-US" dirty="0">
                <a:ea typeface="Calibri"/>
                <a:cs typeface="Calibri"/>
              </a:rPr>
              <a:t>CPHA – Clock Phase</a:t>
            </a:r>
          </a:p>
          <a:p>
            <a:pPr lvl="1" algn="just"/>
            <a:r>
              <a:rPr lang="en-US" dirty="0">
                <a:ea typeface="Calibri"/>
                <a:cs typeface="Calibri"/>
              </a:rPr>
              <a:t>CPOL – Clock Polarity</a:t>
            </a:r>
            <a:endParaRPr lang="en-US" dirty="0"/>
          </a:p>
          <a:p>
            <a:r>
              <a:rPr lang="en-US" b="1" dirty="0">
                <a:ea typeface="Calibri"/>
                <a:cs typeface="Calibri"/>
              </a:rPr>
              <a:t>SPI_BAUD</a:t>
            </a:r>
            <a:r>
              <a:rPr lang="en-US" dirty="0">
                <a:ea typeface="Calibri"/>
                <a:cs typeface="Calibri"/>
              </a:rPr>
              <a:t> MMR register used to configure the SPI Clock Speed.</a:t>
            </a:r>
          </a:p>
          <a:p>
            <a:r>
              <a:rPr lang="en-US" b="1" dirty="0">
                <a:ea typeface="Calibri"/>
                <a:cs typeface="Calibri"/>
              </a:rPr>
              <a:t>SPI_FLG</a:t>
            </a:r>
            <a:r>
              <a:rPr lang="en-US" dirty="0">
                <a:ea typeface="Calibri"/>
                <a:cs typeface="Calibri"/>
              </a:rPr>
              <a:t> MMR register need to configured and this is for </a:t>
            </a:r>
            <a:r>
              <a:rPr lang="en-US" dirty="0" err="1">
                <a:ea typeface="Calibri"/>
                <a:cs typeface="Calibri"/>
              </a:rPr>
              <a:t>SlaveSelect</a:t>
            </a:r>
            <a:r>
              <a:rPr lang="en-US" dirty="0">
                <a:ea typeface="Calibri"/>
                <a:cs typeface="Calibri"/>
              </a:rPr>
              <a:t>.</a:t>
            </a:r>
          </a:p>
          <a:p>
            <a:endParaRPr lang="en-US" dirty="0">
              <a:ea typeface="Calibri"/>
              <a:cs typeface="Calibri"/>
            </a:endParaRPr>
          </a:p>
          <a:p>
            <a:endParaRPr lang="en-US" dirty="0">
              <a:ea typeface="Calibri"/>
              <a:cs typeface="Calibri"/>
            </a:endParaRPr>
          </a:p>
          <a:p>
            <a:pPr marL="0" indent="0">
              <a:buNone/>
            </a:pPr>
            <a:r>
              <a:rPr lang="en-US" dirty="0">
                <a:ea typeface="Calibri"/>
                <a:cs typeface="Calibri"/>
              </a:rPr>
              <a:t> SPI Clock Frequency = (Peripheral Clock Frequency SCLK)/(2*SPI_BAUD)</a:t>
            </a:r>
          </a:p>
          <a:p>
            <a:pPr marL="0" indent="0">
              <a:buNone/>
            </a:pPr>
            <a:r>
              <a:rPr lang="en-US" sz="1000" dirty="0">
                <a:ea typeface="Calibri"/>
                <a:cs typeface="Calibri"/>
              </a:rPr>
              <a:t>Peripheral Clock Frequency = 100Mhz.</a:t>
            </a:r>
          </a:p>
          <a:p>
            <a:endParaRPr lang="en-US" dirty="0">
              <a:ea typeface="Calibri"/>
              <a:cs typeface="Calibri"/>
            </a:endParaRPr>
          </a:p>
        </p:txBody>
      </p:sp>
    </p:spTree>
    <p:extLst>
      <p:ext uri="{BB962C8B-B14F-4D97-AF65-F5344CB8AC3E}">
        <p14:creationId xmlns:p14="http://schemas.microsoft.com/office/powerpoint/2010/main" val="1195197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BFE0D5-8454-6572-6152-0DFA1DED7237}"/>
              </a:ext>
            </a:extLst>
          </p:cNvPr>
          <p:cNvSpPr>
            <a:spLocks noGrp="1"/>
          </p:cNvSpPr>
          <p:nvPr>
            <p:ph type="sldNum" sz="quarter" idx="12"/>
          </p:nvPr>
        </p:nvSpPr>
        <p:spPr/>
        <p:txBody>
          <a:bodyPr/>
          <a:lstStyle/>
          <a:p>
            <a:fld id="{83735547-B499-4273-BF07-F756EAEC2F73}" type="slidenum">
              <a:rPr lang="en-IN" smtClean="0"/>
              <a:t>4</a:t>
            </a:fld>
            <a:endParaRPr lang="en-IN"/>
          </a:p>
        </p:txBody>
      </p:sp>
      <p:sp>
        <p:nvSpPr>
          <p:cNvPr id="4" name="TextBox 3">
            <a:extLst>
              <a:ext uri="{FF2B5EF4-FFF2-40B4-BE49-F238E27FC236}">
                <a16:creationId xmlns:a16="http://schemas.microsoft.com/office/drawing/2014/main" id="{C38376C6-2764-D088-2D5F-8F7DF2228FBD}"/>
              </a:ext>
            </a:extLst>
          </p:cNvPr>
          <p:cNvSpPr txBox="1"/>
          <p:nvPr/>
        </p:nvSpPr>
        <p:spPr>
          <a:xfrm>
            <a:off x="446989" y="498543"/>
            <a:ext cx="46905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ADSP-21569/21593 – SPI Slave</a:t>
            </a:r>
            <a:endParaRPr lang="en-US" sz="2400" b="1" dirty="0">
              <a:latin typeface="Times New Roman"/>
            </a:endParaRPr>
          </a:p>
        </p:txBody>
      </p:sp>
      <p:pic>
        <p:nvPicPr>
          <p:cNvPr id="8" name="Picture 7">
            <a:extLst>
              <a:ext uri="{FF2B5EF4-FFF2-40B4-BE49-F238E27FC236}">
                <a16:creationId xmlns:a16="http://schemas.microsoft.com/office/drawing/2014/main" id="{FADD993F-C1EF-168D-50D8-7635378BBB36}"/>
              </a:ext>
            </a:extLst>
          </p:cNvPr>
          <p:cNvPicPr>
            <a:picLocks noChangeAspect="1"/>
          </p:cNvPicPr>
          <p:nvPr/>
        </p:nvPicPr>
        <p:blipFill>
          <a:blip r:embed="rId2"/>
          <a:stretch>
            <a:fillRect/>
          </a:stretch>
        </p:blipFill>
        <p:spPr>
          <a:xfrm>
            <a:off x="444029" y="1340655"/>
            <a:ext cx="5551359" cy="4628246"/>
          </a:xfrm>
          <a:prstGeom prst="rect">
            <a:avLst/>
          </a:prstGeom>
        </p:spPr>
      </p:pic>
      <p:sp>
        <p:nvSpPr>
          <p:cNvPr id="6" name="Content Placeholder 1">
            <a:extLst>
              <a:ext uri="{FF2B5EF4-FFF2-40B4-BE49-F238E27FC236}">
                <a16:creationId xmlns:a16="http://schemas.microsoft.com/office/drawing/2014/main" id="{55BC48CD-67A0-E94B-7056-FBD64148AFCB}"/>
              </a:ext>
            </a:extLst>
          </p:cNvPr>
          <p:cNvSpPr>
            <a:spLocks noGrp="1"/>
          </p:cNvSpPr>
          <p:nvPr>
            <p:ph idx="1"/>
          </p:nvPr>
        </p:nvSpPr>
        <p:spPr>
          <a:xfrm>
            <a:off x="5998945" y="1717588"/>
            <a:ext cx="5784738" cy="4469427"/>
          </a:xfrm>
        </p:spPr>
        <p:txBody>
          <a:bodyPr vert="horz" lIns="91440" tIns="45720" rIns="91440" bIns="45720" rtlCol="0" anchor="t">
            <a:normAutofit/>
          </a:bodyPr>
          <a:lstStyle/>
          <a:p>
            <a:pPr marL="0" indent="0" algn="just">
              <a:buNone/>
            </a:pPr>
            <a:r>
              <a:rPr lang="en-US" b="1" dirty="0">
                <a:ea typeface="Calibri"/>
                <a:cs typeface="Calibri"/>
              </a:rPr>
              <a:t>The following steps to be followed to Configure SPI device in SHARC processor.</a:t>
            </a:r>
            <a:endParaRPr lang="en-US" b="1">
              <a:ea typeface="Calibri" panose="020F0502020204030204"/>
              <a:cs typeface="Calibri" panose="020F0502020204030204"/>
            </a:endParaRPr>
          </a:p>
          <a:p>
            <a:pPr algn="just"/>
            <a:r>
              <a:rPr lang="en-US" dirty="0">
                <a:ea typeface="Calibri"/>
                <a:cs typeface="Calibri"/>
              </a:rPr>
              <a:t>Pin Mux Configuration to be done for the required SPI device.</a:t>
            </a:r>
          </a:p>
          <a:p>
            <a:pPr algn="just"/>
            <a:r>
              <a:rPr lang="en-US" dirty="0">
                <a:ea typeface="Calibri"/>
                <a:cs typeface="Calibri"/>
              </a:rPr>
              <a:t>Selected SPI DMA need to be secured using SPU (</a:t>
            </a:r>
            <a:r>
              <a:rPr lang="en-US" err="1">
                <a:ea typeface="Calibri"/>
                <a:cs typeface="Calibri"/>
              </a:rPr>
              <a:t>SystemProtectionUnit</a:t>
            </a:r>
            <a:r>
              <a:rPr lang="en-US" dirty="0">
                <a:ea typeface="Calibri"/>
                <a:cs typeface="Calibri"/>
              </a:rPr>
              <a:t>).</a:t>
            </a:r>
          </a:p>
          <a:p>
            <a:pPr algn="just"/>
            <a:r>
              <a:rPr lang="en-US" dirty="0">
                <a:ea typeface="Calibri"/>
                <a:cs typeface="Calibri"/>
              </a:rPr>
              <a:t>The following configuration should be same as SPI Master Configuration and it is configured in </a:t>
            </a:r>
            <a:r>
              <a:rPr lang="en-US" b="1">
                <a:ea typeface="Calibri"/>
                <a:cs typeface="Calibri"/>
              </a:rPr>
              <a:t>SPI_CTL</a:t>
            </a:r>
            <a:r>
              <a:rPr lang="en-US" dirty="0">
                <a:ea typeface="Calibri"/>
                <a:cs typeface="Calibri"/>
              </a:rPr>
              <a:t> MMR Register.</a:t>
            </a:r>
          </a:p>
          <a:p>
            <a:pPr lvl="1" algn="just"/>
            <a:r>
              <a:rPr lang="en-US" dirty="0">
                <a:ea typeface="Calibri"/>
                <a:cs typeface="Calibri"/>
              </a:rPr>
              <a:t>CPHA – Clock Phase</a:t>
            </a:r>
          </a:p>
          <a:p>
            <a:pPr lvl="1" algn="just"/>
            <a:r>
              <a:rPr lang="en-US" dirty="0">
                <a:ea typeface="Calibri"/>
                <a:cs typeface="Calibri"/>
              </a:rPr>
              <a:t>CPOL – Clock Polarity</a:t>
            </a:r>
          </a:p>
          <a:p>
            <a:r>
              <a:rPr lang="en-US" b="1">
                <a:ea typeface="Calibri"/>
                <a:cs typeface="Calibri"/>
              </a:rPr>
              <a:t>SPI_CLK</a:t>
            </a:r>
            <a:r>
              <a:rPr lang="en-US">
                <a:ea typeface="Calibri"/>
                <a:cs typeface="Calibri"/>
              </a:rPr>
              <a:t> MMR register will not configured and ignored for SLAVE devices.</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751555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7E48DB-CC14-38DF-FFA9-20A0381DFC3A}"/>
              </a:ext>
            </a:extLst>
          </p:cNvPr>
          <p:cNvSpPr>
            <a:spLocks noGrp="1"/>
          </p:cNvSpPr>
          <p:nvPr>
            <p:ph type="sldNum" sz="quarter" idx="12"/>
          </p:nvPr>
        </p:nvSpPr>
        <p:spPr/>
        <p:txBody>
          <a:bodyPr/>
          <a:lstStyle/>
          <a:p>
            <a:fld id="{83735547-B499-4273-BF07-F756EAEC2F73}" type="slidenum">
              <a:rPr lang="en-IN" smtClean="0"/>
              <a:t>5</a:t>
            </a:fld>
            <a:endParaRPr lang="en-IN"/>
          </a:p>
        </p:txBody>
      </p:sp>
      <p:sp>
        <p:nvSpPr>
          <p:cNvPr id="2" name="TextBox 1">
            <a:extLst>
              <a:ext uri="{FF2B5EF4-FFF2-40B4-BE49-F238E27FC236}">
                <a16:creationId xmlns:a16="http://schemas.microsoft.com/office/drawing/2014/main" id="{5F4C9383-D089-14E5-2285-09ECE14FB1B6}"/>
              </a:ext>
            </a:extLst>
          </p:cNvPr>
          <p:cNvSpPr txBox="1"/>
          <p:nvPr/>
        </p:nvSpPr>
        <p:spPr>
          <a:xfrm>
            <a:off x="540639" y="511246"/>
            <a:ext cx="68028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FLAG0 is used as interrupt to Host micro </a:t>
            </a:r>
            <a:endParaRPr lang="en-US" sz="2400" b="1" dirty="0">
              <a:latin typeface="Times New Roman"/>
              <a:cs typeface="Times New Roman"/>
            </a:endParaRPr>
          </a:p>
        </p:txBody>
      </p:sp>
      <p:sp>
        <p:nvSpPr>
          <p:cNvPr id="9" name="Content Placeholder 1">
            <a:extLst>
              <a:ext uri="{FF2B5EF4-FFF2-40B4-BE49-F238E27FC236}">
                <a16:creationId xmlns:a16="http://schemas.microsoft.com/office/drawing/2014/main" id="{8EC9226F-4AA3-CAB0-7A0D-BEC882303F9A}"/>
              </a:ext>
            </a:extLst>
          </p:cNvPr>
          <p:cNvSpPr>
            <a:spLocks noGrp="1"/>
          </p:cNvSpPr>
          <p:nvPr>
            <p:ph idx="1"/>
          </p:nvPr>
        </p:nvSpPr>
        <p:spPr>
          <a:xfrm>
            <a:off x="6459907" y="2225588"/>
            <a:ext cx="5323776" cy="3961427"/>
          </a:xfrm>
        </p:spPr>
        <p:txBody>
          <a:bodyPr vert="horz" lIns="91440" tIns="45720" rIns="91440" bIns="45720" rtlCol="0" anchor="t">
            <a:normAutofit/>
          </a:bodyPr>
          <a:lstStyle/>
          <a:p>
            <a:pPr marL="285750" indent="-285750" algn="just"/>
            <a:r>
              <a:rPr lang="en-US">
                <a:ea typeface="Calibri"/>
                <a:cs typeface="Calibri"/>
              </a:rPr>
              <a:t>Memory Buffer is defined in the ADSP-21569/ADSP-21593.</a:t>
            </a:r>
            <a:endParaRPr lang="en-US" dirty="0">
              <a:ea typeface="Calibri"/>
              <a:cs typeface="Calibri"/>
            </a:endParaRPr>
          </a:p>
          <a:p>
            <a:pPr marL="285750" indent="-285750" algn="just"/>
            <a:r>
              <a:rPr lang="en-US">
                <a:ea typeface="Calibri"/>
                <a:cs typeface="Calibri"/>
              </a:rPr>
              <a:t>ADSP Periodically update the STATUS and RESERVED Bytes by Comparing its previous value. If any changes found, the DSP will make the FLAG0 pin status as HIGH to raise interrupt in HOST micro.</a:t>
            </a:r>
            <a:endParaRPr lang="en-US"/>
          </a:p>
          <a:p>
            <a:pPr marL="285750" indent="-285750" algn="just"/>
            <a:endParaRPr lang="en-US" dirty="0">
              <a:ea typeface="Calibri"/>
              <a:cs typeface="Calibri"/>
            </a:endParaRPr>
          </a:p>
          <a:p>
            <a:pPr marL="0" indent="0">
              <a:buNone/>
            </a:pPr>
            <a:r>
              <a:rPr lang="en-US" b="1">
                <a:ea typeface="Calibri"/>
                <a:cs typeface="Calibri"/>
              </a:rPr>
              <a:t>Example:-</a:t>
            </a:r>
            <a:endParaRPr lang="en-US" b="1" dirty="0">
              <a:ea typeface="Calibri"/>
              <a:cs typeface="Calibri"/>
            </a:endParaRPr>
          </a:p>
          <a:p>
            <a:pPr marL="285750" indent="-285750"/>
            <a:r>
              <a:rPr lang="en-US" dirty="0">
                <a:ea typeface="Calibri"/>
                <a:cs typeface="Calibri"/>
              </a:rPr>
              <a:t>If Stream Type is switched from PCM to DD, the STATUS_BYTE1 will be </a:t>
            </a:r>
            <a:r>
              <a:rPr lang="en-US">
                <a:ea typeface="Calibri"/>
                <a:cs typeface="Calibri"/>
              </a:rPr>
              <a:t>updated as 0x8002 from0x8001, and the FLAG0 pin.</a:t>
            </a:r>
            <a:endParaRPr lang="en-US" dirty="0">
              <a:ea typeface="Calibri"/>
              <a:cs typeface="Calibri"/>
            </a:endParaRPr>
          </a:p>
          <a:p>
            <a:endParaRPr lang="en-US" dirty="0">
              <a:ea typeface="Calibri"/>
              <a:cs typeface="Calibri"/>
            </a:endParaRPr>
          </a:p>
          <a:p>
            <a:endParaRPr lang="en-US" dirty="0">
              <a:ea typeface="Calibri"/>
              <a:cs typeface="Calibri"/>
            </a:endParaRPr>
          </a:p>
        </p:txBody>
      </p:sp>
      <p:grpSp>
        <p:nvGrpSpPr>
          <p:cNvPr id="16" name="Group 15">
            <a:extLst>
              <a:ext uri="{FF2B5EF4-FFF2-40B4-BE49-F238E27FC236}">
                <a16:creationId xmlns:a16="http://schemas.microsoft.com/office/drawing/2014/main" id="{835FC7A4-EDB8-B6D3-FA24-C2CA839CB17D}"/>
              </a:ext>
            </a:extLst>
          </p:cNvPr>
          <p:cNvGrpSpPr/>
          <p:nvPr/>
        </p:nvGrpSpPr>
        <p:grpSpPr>
          <a:xfrm>
            <a:off x="703180" y="2860706"/>
            <a:ext cx="5004936" cy="1131025"/>
            <a:chOff x="703180" y="2860706"/>
            <a:chExt cx="5004936" cy="1131025"/>
          </a:xfrm>
        </p:grpSpPr>
        <p:grpSp>
          <p:nvGrpSpPr>
            <p:cNvPr id="14" name="Group 13">
              <a:extLst>
                <a:ext uri="{FF2B5EF4-FFF2-40B4-BE49-F238E27FC236}">
                  <a16:creationId xmlns:a16="http://schemas.microsoft.com/office/drawing/2014/main" id="{BDB1E899-F668-46FF-45AB-6064407AA785}"/>
                </a:ext>
              </a:extLst>
            </p:cNvPr>
            <p:cNvGrpSpPr/>
            <p:nvPr/>
          </p:nvGrpSpPr>
          <p:grpSpPr>
            <a:xfrm>
              <a:off x="703180" y="2860706"/>
              <a:ext cx="5004936" cy="1131025"/>
              <a:chOff x="703180" y="2860706"/>
              <a:chExt cx="5004936" cy="1131025"/>
            </a:xfrm>
          </p:grpSpPr>
          <p:sp>
            <p:nvSpPr>
              <p:cNvPr id="4" name="Rectangle: Rounded Corners 3">
                <a:extLst>
                  <a:ext uri="{FF2B5EF4-FFF2-40B4-BE49-F238E27FC236}">
                    <a16:creationId xmlns:a16="http://schemas.microsoft.com/office/drawing/2014/main" id="{4F9EAF52-5EA4-965A-53E7-48ED973DE4F0}"/>
                  </a:ext>
                </a:extLst>
              </p:cNvPr>
              <p:cNvSpPr/>
              <p:nvPr/>
            </p:nvSpPr>
            <p:spPr>
              <a:xfrm>
                <a:off x="703180" y="2860706"/>
                <a:ext cx="1900492" cy="11310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ea typeface="Calibri"/>
                    <a:cs typeface="Calibri"/>
                  </a:rPr>
                  <a:t>Host</a:t>
                </a:r>
              </a:p>
            </p:txBody>
          </p:sp>
          <p:sp>
            <p:nvSpPr>
              <p:cNvPr id="5" name="Rectangle: Rounded Corners 4">
                <a:extLst>
                  <a:ext uri="{FF2B5EF4-FFF2-40B4-BE49-F238E27FC236}">
                    <a16:creationId xmlns:a16="http://schemas.microsoft.com/office/drawing/2014/main" id="{28A552F7-AF1D-C8EA-1524-BB879B669B50}"/>
                  </a:ext>
                </a:extLst>
              </p:cNvPr>
              <p:cNvSpPr/>
              <p:nvPr/>
            </p:nvSpPr>
            <p:spPr>
              <a:xfrm>
                <a:off x="3807624" y="2860706"/>
                <a:ext cx="1900492" cy="113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Calibri"/>
                    <a:cs typeface="Calibri"/>
                  </a:rPr>
                  <a:t>ADSP-21569</a:t>
                </a:r>
                <a:endParaRPr lang="en-US" dirty="0">
                  <a:solidFill>
                    <a:schemeClr val="tx1"/>
                  </a:solidFill>
                  <a:ea typeface="Calibri"/>
                  <a:cs typeface="Calibri"/>
                </a:endParaRPr>
              </a:p>
              <a:p>
                <a:endParaRPr lang="en-US" dirty="0">
                  <a:solidFill>
                    <a:schemeClr val="tx1"/>
                  </a:solidFill>
                  <a:ea typeface="Calibri"/>
                  <a:cs typeface="Calibri"/>
                </a:endParaRPr>
              </a:p>
              <a:p>
                <a:r>
                  <a:rPr lang="en-US">
                    <a:solidFill>
                      <a:schemeClr val="tx1"/>
                    </a:solidFill>
                    <a:ea typeface="Calibri"/>
                    <a:cs typeface="Calibri"/>
                  </a:rPr>
                  <a:t>FLG0</a:t>
                </a:r>
                <a:endParaRPr lang="en-US">
                  <a:solidFill>
                    <a:schemeClr val="tx1"/>
                  </a:solidFill>
                </a:endParaRPr>
              </a:p>
            </p:txBody>
          </p:sp>
          <p:cxnSp>
            <p:nvCxnSpPr>
              <p:cNvPr id="12" name="Connector: Elbow 11">
                <a:extLst>
                  <a:ext uri="{FF2B5EF4-FFF2-40B4-BE49-F238E27FC236}">
                    <a16:creationId xmlns:a16="http://schemas.microsoft.com/office/drawing/2014/main" id="{ABAB6901-177E-181A-59E6-23864EEBFB84}"/>
                  </a:ext>
                </a:extLst>
              </p:cNvPr>
              <p:cNvCxnSpPr/>
              <p:nvPr/>
            </p:nvCxnSpPr>
            <p:spPr>
              <a:xfrm>
                <a:off x="2581603" y="3425671"/>
                <a:ext cx="1210111" cy="319690"/>
              </a:xfrm>
              <a:prstGeom prst="bentConnector3">
                <a:avLst/>
              </a:prstGeom>
              <a:ln w="127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D308859-B6A6-83D4-3813-98C813584C21}"/>
                  </a:ext>
                </a:extLst>
              </p:cNvPr>
              <p:cNvCxnSpPr/>
              <p:nvPr/>
            </p:nvCxnSpPr>
            <p:spPr>
              <a:xfrm flipH="1" flipV="1">
                <a:off x="3176568" y="3422913"/>
                <a:ext cx="137" cy="30038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FE18304F-EA70-B4BE-6BE7-3E1DF6131A3D}"/>
                </a:ext>
              </a:extLst>
            </p:cNvPr>
            <p:cNvCxnSpPr/>
            <p:nvPr/>
          </p:nvCxnSpPr>
          <p:spPr>
            <a:xfrm flipV="1">
              <a:off x="2596068" y="3736224"/>
              <a:ext cx="565239" cy="140"/>
            </a:xfrm>
            <a:prstGeom prst="straightConnector1">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8536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25D6041-B7E5-AF76-741F-4BB84FA275E4}"/>
              </a:ext>
            </a:extLst>
          </p:cNvPr>
          <p:cNvPicPr>
            <a:picLocks noGrp="1" noChangeAspect="1"/>
          </p:cNvPicPr>
          <p:nvPr>
            <p:ph idx="1"/>
          </p:nvPr>
        </p:nvPicPr>
        <p:blipFill>
          <a:blip r:embed="rId2"/>
          <a:stretch>
            <a:fillRect/>
          </a:stretch>
        </p:blipFill>
        <p:spPr>
          <a:xfrm>
            <a:off x="3065245" y="1136243"/>
            <a:ext cx="6061510" cy="5435871"/>
          </a:xfrm>
        </p:spPr>
      </p:pic>
      <p:sp>
        <p:nvSpPr>
          <p:cNvPr id="3" name="Slide Number Placeholder 2">
            <a:extLst>
              <a:ext uri="{FF2B5EF4-FFF2-40B4-BE49-F238E27FC236}">
                <a16:creationId xmlns:a16="http://schemas.microsoft.com/office/drawing/2014/main" id="{9B13D2D9-CEC6-1905-2D92-2A387B8178D8}"/>
              </a:ext>
            </a:extLst>
          </p:cNvPr>
          <p:cNvSpPr>
            <a:spLocks noGrp="1"/>
          </p:cNvSpPr>
          <p:nvPr>
            <p:ph type="sldNum" sz="quarter" idx="12"/>
          </p:nvPr>
        </p:nvSpPr>
        <p:spPr/>
        <p:txBody>
          <a:bodyPr/>
          <a:lstStyle/>
          <a:p>
            <a:fld id="{83735547-B499-4273-BF07-F756EAEC2F73}" type="slidenum">
              <a:rPr lang="en-IN" smtClean="0"/>
              <a:t>6</a:t>
            </a:fld>
            <a:endParaRPr lang="en-IN"/>
          </a:p>
        </p:txBody>
      </p:sp>
      <p:sp>
        <p:nvSpPr>
          <p:cNvPr id="4" name="TextBox 3">
            <a:extLst>
              <a:ext uri="{FF2B5EF4-FFF2-40B4-BE49-F238E27FC236}">
                <a16:creationId xmlns:a16="http://schemas.microsoft.com/office/drawing/2014/main" id="{AC6DB439-E497-275B-9DE1-12B81943C65F}"/>
              </a:ext>
            </a:extLst>
          </p:cNvPr>
          <p:cNvSpPr txBox="1"/>
          <p:nvPr/>
        </p:nvSpPr>
        <p:spPr>
          <a:xfrm>
            <a:off x="540639" y="511246"/>
            <a:ext cx="68028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err="1">
                <a:latin typeface="Times New Roman"/>
                <a:cs typeface="Calibri"/>
              </a:rPr>
              <a:t>Interrupt_Description</a:t>
            </a:r>
            <a:r>
              <a:rPr lang="en-US" sz="2400" b="1" dirty="0">
                <a:latin typeface="Times New Roman"/>
                <a:cs typeface="Calibri"/>
              </a:rPr>
              <a:t> (</a:t>
            </a:r>
            <a:r>
              <a:rPr lang="en-US" sz="1100" err="1">
                <a:latin typeface="Aptos Narrow"/>
                <a:cs typeface="Calibri"/>
              </a:rPr>
              <a:t>Frmwk.Spi.INTR_DESC_LOCN</a:t>
            </a:r>
            <a:r>
              <a:rPr lang="en-US" sz="1100" dirty="0">
                <a:latin typeface="Aptos Narrow"/>
                <a:cs typeface="Calibri"/>
              </a:rPr>
              <a:t> – Variable in DSP</a:t>
            </a:r>
            <a:r>
              <a:rPr lang="en-US" sz="2400" b="1" dirty="0">
                <a:latin typeface="Times New Roman"/>
                <a:cs typeface="Calibri"/>
              </a:rPr>
              <a:t>)</a:t>
            </a:r>
            <a:endParaRPr lang="en-US" sz="2400" b="1" dirty="0">
              <a:latin typeface="Times New Roman"/>
              <a:cs typeface="Times New Roman"/>
            </a:endParaRPr>
          </a:p>
        </p:txBody>
      </p:sp>
    </p:spTree>
    <p:extLst>
      <p:ext uri="{BB962C8B-B14F-4D97-AF65-F5344CB8AC3E}">
        <p14:creationId xmlns:p14="http://schemas.microsoft.com/office/powerpoint/2010/main" val="3051647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5973D6-4B69-0E46-9435-303364E48CF4}"/>
              </a:ext>
            </a:extLst>
          </p:cNvPr>
          <p:cNvSpPr>
            <a:spLocks noGrp="1"/>
          </p:cNvSpPr>
          <p:nvPr>
            <p:ph type="sldNum" sz="quarter" idx="12"/>
          </p:nvPr>
        </p:nvSpPr>
        <p:spPr/>
        <p:txBody>
          <a:bodyPr/>
          <a:lstStyle/>
          <a:p>
            <a:fld id="{83735547-B499-4273-BF07-F756EAEC2F73}" type="slidenum">
              <a:rPr lang="en-IN" smtClean="0"/>
              <a:t>7</a:t>
            </a:fld>
            <a:endParaRPr lang="en-IN"/>
          </a:p>
        </p:txBody>
      </p:sp>
      <p:sp>
        <p:nvSpPr>
          <p:cNvPr id="2" name="TextBox 1">
            <a:extLst>
              <a:ext uri="{FF2B5EF4-FFF2-40B4-BE49-F238E27FC236}">
                <a16:creationId xmlns:a16="http://schemas.microsoft.com/office/drawing/2014/main" id="{14CA01A9-01FD-0EA5-E051-33296BEF3569}"/>
              </a:ext>
            </a:extLst>
          </p:cNvPr>
          <p:cNvSpPr txBox="1"/>
          <p:nvPr/>
        </p:nvSpPr>
        <p:spPr>
          <a:xfrm>
            <a:off x="540639" y="511246"/>
            <a:ext cx="68028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Command and Status Handling in ADSP-21569</a:t>
            </a:r>
            <a:endParaRPr lang="en-US" sz="2400" b="1" dirty="0">
              <a:latin typeface="Times New Roman"/>
              <a:cs typeface="Times New Roman"/>
            </a:endParaRPr>
          </a:p>
        </p:txBody>
      </p:sp>
      <p:graphicFrame>
        <p:nvGraphicFramePr>
          <p:cNvPr id="13" name="Table 12">
            <a:extLst>
              <a:ext uri="{FF2B5EF4-FFF2-40B4-BE49-F238E27FC236}">
                <a16:creationId xmlns:a16="http://schemas.microsoft.com/office/drawing/2014/main" id="{5448C572-5A25-11F0-441E-AAD000C0E2B8}"/>
              </a:ext>
            </a:extLst>
          </p:cNvPr>
          <p:cNvGraphicFramePr>
            <a:graphicFrameLocks noGrp="1"/>
          </p:cNvGraphicFramePr>
          <p:nvPr>
            <p:extLst>
              <p:ext uri="{D42A27DB-BD31-4B8C-83A1-F6EECF244321}">
                <p14:modId xmlns:p14="http://schemas.microsoft.com/office/powerpoint/2010/main" val="2308201954"/>
              </p:ext>
            </p:extLst>
          </p:nvPr>
        </p:nvGraphicFramePr>
        <p:xfrm>
          <a:off x="1083969" y="1463699"/>
          <a:ext cx="4737100" cy="4739640"/>
        </p:xfrm>
        <a:graphic>
          <a:graphicData uri="http://schemas.openxmlformats.org/drawingml/2006/table">
            <a:tbl>
              <a:tblPr bandRow="1">
                <a:tableStyleId>{5C22544A-7EE6-4342-B048-85BDC9FD1C3A}</a:tableStyleId>
              </a:tblPr>
              <a:tblGrid>
                <a:gridCol w="1553565">
                  <a:extLst>
                    <a:ext uri="{9D8B030D-6E8A-4147-A177-3AD203B41FA5}">
                      <a16:colId xmlns:a16="http://schemas.microsoft.com/office/drawing/2014/main" val="824588220"/>
                    </a:ext>
                  </a:extLst>
                </a:gridCol>
                <a:gridCol w="1324351">
                  <a:extLst>
                    <a:ext uri="{9D8B030D-6E8A-4147-A177-3AD203B41FA5}">
                      <a16:colId xmlns:a16="http://schemas.microsoft.com/office/drawing/2014/main" val="3388785607"/>
                    </a:ext>
                  </a:extLst>
                </a:gridCol>
                <a:gridCol w="1859184">
                  <a:extLst>
                    <a:ext uri="{9D8B030D-6E8A-4147-A177-3AD203B41FA5}">
                      <a16:colId xmlns:a16="http://schemas.microsoft.com/office/drawing/2014/main" val="2638598728"/>
                    </a:ext>
                  </a:extLst>
                </a:gridCol>
              </a:tblGrid>
              <a:tr h="504825">
                <a:tc>
                  <a:txBody>
                    <a:bodyPr/>
                    <a:lstStyle/>
                    <a:p>
                      <a:pPr algn="ctr" fontAlgn="ctr"/>
                      <a:r>
                        <a:rPr lang="en-US" sz="1100" b="1">
                          <a:effectLst/>
                          <a:latin typeface="Aptos Narrow" panose="020B0004020202020204" pitchFamily="34" charset="0"/>
                        </a:rPr>
                        <a:t>Command Buffer Location</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Name</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Variable in ADSP21569/21593</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484612120"/>
                  </a:ext>
                </a:extLst>
              </a:tr>
              <a:tr h="190500">
                <a:tc>
                  <a:txBody>
                    <a:bodyPr/>
                    <a:lstStyle/>
                    <a:p>
                      <a:pPr algn="ctr" fontAlgn="ctr"/>
                      <a:r>
                        <a:rPr lang="en-US" sz="1100" b="1">
                          <a:effectLst/>
                          <a:latin typeface="Aptos Narrow" panose="020B0004020202020204" pitchFamily="34" charset="0"/>
                        </a:rPr>
                        <a:t>0x0</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Command Register</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Frmwk.Spi.COMMAND_BYTE</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928664118"/>
                  </a:ext>
                </a:extLst>
              </a:tr>
              <a:tr h="190500">
                <a:tc>
                  <a:txBody>
                    <a:bodyPr/>
                    <a:lstStyle/>
                    <a:p>
                      <a:pPr algn="ctr" fontAlgn="ctr"/>
                      <a:r>
                        <a:rPr lang="en-US" sz="1100">
                          <a:effectLst/>
                          <a:latin typeface="Aptos Narrow" panose="020B0004020202020204" pitchFamily="34" charset="0"/>
                        </a:rPr>
                        <a:t>0x1</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Parameter#1</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Frmwk.Spi.PARAMETER_1</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841617173"/>
                  </a:ext>
                </a:extLst>
              </a:tr>
              <a:tr h="190500">
                <a:tc>
                  <a:txBody>
                    <a:bodyPr/>
                    <a:lstStyle/>
                    <a:p>
                      <a:pPr algn="ctr" fontAlgn="ctr"/>
                      <a:r>
                        <a:rPr lang="en-US" sz="1100">
                          <a:effectLst/>
                          <a:latin typeface="Aptos Narrow" panose="020B0004020202020204" pitchFamily="34" charset="0"/>
                        </a:rPr>
                        <a:t>0x2</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Parameter#2</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Frmwk.Spi.PARAMETER_2</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990926187"/>
                  </a:ext>
                </a:extLst>
              </a:tr>
              <a:tr h="190500">
                <a:tc>
                  <a:txBody>
                    <a:bodyPr/>
                    <a:lstStyle/>
                    <a:p>
                      <a:pPr algn="ctr" fontAlgn="ctr"/>
                      <a:r>
                        <a:rPr lang="en-US" sz="1100">
                          <a:effectLst/>
                          <a:latin typeface="Aptos Narrow" panose="020B0004020202020204" pitchFamily="34" charset="0"/>
                        </a:rPr>
                        <a:t>0x3</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Parameter#3</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Frmwk.Spi.PARAMETER_3</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732391214"/>
                  </a:ext>
                </a:extLst>
              </a:tr>
              <a:tr h="190500">
                <a:tc>
                  <a:txBody>
                    <a:bodyPr/>
                    <a:lstStyle/>
                    <a:p>
                      <a:pPr algn="ctr" fontAlgn="ctr"/>
                      <a:r>
                        <a:rPr lang="en-US" sz="1100">
                          <a:effectLst/>
                          <a:latin typeface="Aptos Narrow" panose="020B0004020202020204" pitchFamily="34" charset="0"/>
                        </a:rPr>
                        <a:t>0x4</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Parameter#4</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Frmwk.Spi.PARAMETER_4</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474312193"/>
                  </a:ext>
                </a:extLst>
              </a:tr>
              <a:tr h="190500">
                <a:tc>
                  <a:txBody>
                    <a:bodyPr/>
                    <a:lstStyle/>
                    <a:p>
                      <a:pPr algn="ctr" fontAlgn="ctr"/>
                      <a:r>
                        <a:rPr lang="en-US" sz="1100">
                          <a:effectLst/>
                          <a:latin typeface="Aptos Narrow" panose="020B0004020202020204" pitchFamily="34" charset="0"/>
                        </a:rPr>
                        <a:t>0x5</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Parameter#5</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Frmwk.Spi.PARAMETER_5</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025193059"/>
                  </a:ext>
                </a:extLst>
              </a:tr>
              <a:tr h="190500">
                <a:tc>
                  <a:txBody>
                    <a:bodyPr/>
                    <a:lstStyle/>
                    <a:p>
                      <a:pPr algn="ctr" fontAlgn="ctr"/>
                      <a:r>
                        <a:rPr lang="en-US" sz="1100">
                          <a:effectLst/>
                          <a:latin typeface="Aptos Narrow" panose="020B0004020202020204" pitchFamily="34" charset="0"/>
                        </a:rPr>
                        <a:t>...</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190651946"/>
                  </a:ext>
                </a:extLst>
              </a:tr>
              <a:tr h="190500">
                <a:tc>
                  <a:txBody>
                    <a:bodyPr/>
                    <a:lstStyle/>
                    <a:p>
                      <a:pPr algn="ctr" fontAlgn="ctr"/>
                      <a:r>
                        <a:rPr lang="en-US" sz="1100">
                          <a:effectLst/>
                          <a:latin typeface="Aptos Narrow" panose="020B0004020202020204" pitchFamily="34" charset="0"/>
                        </a:rPr>
                        <a:t>0x1E</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Parameter#30</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Frmwk.Spi.PARAMETER_30</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4059604202"/>
                  </a:ext>
                </a:extLst>
              </a:tr>
              <a:tr h="190500">
                <a:tc>
                  <a:txBody>
                    <a:bodyPr/>
                    <a:lstStyle/>
                    <a:p>
                      <a:pPr algn="ctr" fontAlgn="ctr"/>
                      <a:r>
                        <a:rPr lang="en-US" sz="1100">
                          <a:effectLst/>
                          <a:latin typeface="Aptos Narrow" panose="020B0004020202020204" pitchFamily="34" charset="0"/>
                        </a:rPr>
                        <a:t>0x1F</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Parameter#31</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Frmwk.Spi.PARAMETER_31</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806133502"/>
                  </a:ext>
                </a:extLst>
              </a:tr>
              <a:tr h="190500">
                <a:tc>
                  <a:txBody>
                    <a:bodyPr/>
                    <a:lstStyle/>
                    <a:p>
                      <a:pPr algn="ctr" fontAlgn="ctr"/>
                      <a:endParaRPr lang="en-US" sz="1100">
                        <a:effectLst/>
                        <a:latin typeface="Aptos Narrow" panose="020B0004020202020204" pitchFamily="34" charset="0"/>
                      </a:endParaRP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endParaRPr lang="en-US" sz="1100">
                        <a:effectLst/>
                        <a:latin typeface="Aptos Narrow" panose="020B0004020202020204" pitchFamily="34" charset="0"/>
                      </a:endParaRP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endParaRPr lang="en-US" sz="1100">
                        <a:effectLst/>
                        <a:latin typeface="Aptos Narrow" panose="020B0004020202020204" pitchFamily="34" charset="0"/>
                      </a:endParaRP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079931939"/>
                  </a:ext>
                </a:extLst>
              </a:tr>
              <a:tr h="190500">
                <a:tc>
                  <a:txBody>
                    <a:bodyPr/>
                    <a:lstStyle/>
                    <a:p>
                      <a:pPr algn="ctr" fontAlgn="ctr"/>
                      <a:r>
                        <a:rPr lang="en-US" sz="1100" b="1">
                          <a:effectLst/>
                          <a:latin typeface="Aptos Narrow" panose="020B0004020202020204" pitchFamily="34" charset="0"/>
                        </a:rPr>
                        <a:t>0x20</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Status#1</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a:effectLst/>
                          <a:latin typeface="Aptos Narrow" panose="020B0004020202020204" pitchFamily="34" charset="0"/>
                        </a:rPr>
                        <a:t>Frmwk.Spi.STATUS_BYTE1</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828234024"/>
                  </a:ext>
                </a:extLst>
              </a:tr>
              <a:tr h="190500">
                <a:tc>
                  <a:txBody>
                    <a:bodyPr/>
                    <a:lstStyle/>
                    <a:p>
                      <a:pPr algn="ctr" fontAlgn="ctr"/>
                      <a:r>
                        <a:rPr lang="en-US" sz="1100">
                          <a:effectLst/>
                          <a:latin typeface="Aptos Narrow" panose="020B0004020202020204" pitchFamily="34" charset="0"/>
                        </a:rPr>
                        <a:t>0x21</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Status#2</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Frmwk.Spi.STATUS_BYTE2</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867010378"/>
                  </a:ext>
                </a:extLst>
              </a:tr>
              <a:tr h="190500">
                <a:tc>
                  <a:txBody>
                    <a:bodyPr/>
                    <a:lstStyle/>
                    <a:p>
                      <a:pPr algn="ctr" fontAlgn="ctr"/>
                      <a:r>
                        <a:rPr lang="en-US" sz="1100">
                          <a:effectLst/>
                          <a:latin typeface="Aptos Narrow" panose="020B0004020202020204" pitchFamily="34" charset="0"/>
                        </a:rPr>
                        <a:t>0x22</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Status#3</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Frmwk.Spi.STATUS_BYTE3</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851785909"/>
                  </a:ext>
                </a:extLst>
              </a:tr>
              <a:tr h="190500">
                <a:tc>
                  <a:txBody>
                    <a:bodyPr/>
                    <a:lstStyle/>
                    <a:p>
                      <a:pPr algn="ctr" fontAlgn="ctr"/>
                      <a:r>
                        <a:rPr lang="en-US" sz="1100">
                          <a:effectLst/>
                          <a:latin typeface="Aptos Narrow" panose="020B0004020202020204" pitchFamily="34" charset="0"/>
                        </a:rPr>
                        <a:t>0x23</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Status#4</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Frmwk.Spi.STATUS_BYTE4</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039015979"/>
                  </a:ext>
                </a:extLst>
              </a:tr>
              <a:tr h="190500">
                <a:tc>
                  <a:txBody>
                    <a:bodyPr/>
                    <a:lstStyle/>
                    <a:p>
                      <a:pPr algn="ctr" fontAlgn="ctr"/>
                      <a:r>
                        <a:rPr lang="en-US" sz="1100">
                          <a:effectLst/>
                          <a:latin typeface="Aptos Narrow" panose="020B0004020202020204" pitchFamily="34" charset="0"/>
                        </a:rPr>
                        <a:t>0x24</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Status#5</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Frmwk.Spi.STATUS_BYTE5</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584547238"/>
                  </a:ext>
                </a:extLst>
              </a:tr>
              <a:tr h="190500">
                <a:tc>
                  <a:txBody>
                    <a:bodyPr/>
                    <a:lstStyle/>
                    <a:p>
                      <a:pPr algn="ctr" fontAlgn="ctr"/>
                      <a:r>
                        <a:rPr lang="en-US" sz="1100">
                          <a:effectLst/>
                          <a:latin typeface="Aptos Narrow" panose="020B0004020202020204" pitchFamily="34" charset="0"/>
                        </a:rPr>
                        <a:t>0x25</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Status#6</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Frmwk.Spi.STATUS_BYTE6</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455342984"/>
                  </a:ext>
                </a:extLst>
              </a:tr>
              <a:tr h="190500">
                <a:tc>
                  <a:txBody>
                    <a:bodyPr/>
                    <a:lstStyle/>
                    <a:p>
                      <a:pPr algn="ctr" fontAlgn="ctr"/>
                      <a:r>
                        <a:rPr lang="en-US" sz="1100">
                          <a:effectLst/>
                          <a:latin typeface="Aptos Narrow" panose="020B0004020202020204" pitchFamily="34" charset="0"/>
                        </a:rPr>
                        <a:t>...</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464298875"/>
                  </a:ext>
                </a:extLst>
              </a:tr>
              <a:tr h="190500">
                <a:tc>
                  <a:txBody>
                    <a:bodyPr/>
                    <a:lstStyle/>
                    <a:p>
                      <a:pPr algn="ctr" fontAlgn="ctr"/>
                      <a:r>
                        <a:rPr lang="en-US" sz="1100">
                          <a:effectLst/>
                          <a:latin typeface="Aptos Narrow" panose="020B0004020202020204" pitchFamily="34" charset="0"/>
                        </a:rPr>
                        <a:t>0x2E</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Status#15</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a:effectLst/>
                          <a:latin typeface="Aptos Narrow" panose="020B0004020202020204" pitchFamily="34" charset="0"/>
                        </a:rPr>
                        <a:t>Frmwk.Spi.STATUS_BYTE15</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586229362"/>
                  </a:ext>
                </a:extLst>
              </a:tr>
              <a:tr h="190500">
                <a:tc>
                  <a:txBody>
                    <a:bodyPr/>
                    <a:lstStyle/>
                    <a:p>
                      <a:pPr algn="ctr" fontAlgn="ctr"/>
                      <a:r>
                        <a:rPr lang="en-US" sz="1100">
                          <a:effectLst/>
                          <a:latin typeface="Aptos Narrow" panose="020B0004020202020204" pitchFamily="34" charset="0"/>
                        </a:rPr>
                        <a:t>0x2F</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28575">
                      <a:solidFill>
                        <a:schemeClr val="tx1"/>
                      </a:solidFill>
                    </a:lnB>
                    <a:noFill/>
                  </a:tcPr>
                </a:tc>
                <a:tc>
                  <a:txBody>
                    <a:bodyPr/>
                    <a:lstStyle/>
                    <a:p>
                      <a:pPr algn="ctr" fontAlgn="ctr"/>
                      <a:r>
                        <a:rPr lang="en-US" sz="1100">
                          <a:effectLst/>
                          <a:latin typeface="Aptos Narrow" panose="020B0004020202020204" pitchFamily="34" charset="0"/>
                        </a:rPr>
                        <a:t>Status#16</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28575">
                      <a:solidFill>
                        <a:schemeClr val="tx1"/>
                      </a:solidFill>
                    </a:lnB>
                    <a:noFill/>
                  </a:tcPr>
                </a:tc>
                <a:tc>
                  <a:txBody>
                    <a:bodyPr/>
                    <a:lstStyle/>
                    <a:p>
                      <a:pPr algn="ctr" fontAlgn="ctr"/>
                      <a:r>
                        <a:rPr lang="en-US" sz="1100">
                          <a:effectLst/>
                          <a:latin typeface="Aptos Narrow" panose="020B0004020202020204" pitchFamily="34" charset="0"/>
                        </a:rPr>
                        <a:t>Frmwk.Spi.STATUS_BYTE16</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28575">
                      <a:solidFill>
                        <a:schemeClr val="tx1"/>
                      </a:solidFill>
                    </a:lnB>
                    <a:noFill/>
                  </a:tcPr>
                </a:tc>
                <a:extLst>
                  <a:ext uri="{0D108BD9-81ED-4DB2-BD59-A6C34878D82A}">
                    <a16:rowId xmlns:a16="http://schemas.microsoft.com/office/drawing/2014/main" val="999210707"/>
                  </a:ext>
                </a:extLst>
              </a:tr>
            </a:tbl>
          </a:graphicData>
        </a:graphic>
      </p:graphicFrame>
      <p:graphicFrame>
        <p:nvGraphicFramePr>
          <p:cNvPr id="15" name="Table 14">
            <a:extLst>
              <a:ext uri="{FF2B5EF4-FFF2-40B4-BE49-F238E27FC236}">
                <a16:creationId xmlns:a16="http://schemas.microsoft.com/office/drawing/2014/main" id="{3BC9D3FD-3AEF-E1CD-6E51-E54A3EE95FAB}"/>
              </a:ext>
            </a:extLst>
          </p:cNvPr>
          <p:cNvGraphicFramePr>
            <a:graphicFrameLocks noGrp="1"/>
          </p:cNvGraphicFramePr>
          <p:nvPr>
            <p:extLst>
              <p:ext uri="{D42A27DB-BD31-4B8C-83A1-F6EECF244321}">
                <p14:modId xmlns:p14="http://schemas.microsoft.com/office/powerpoint/2010/main" val="2561764195"/>
              </p:ext>
            </p:extLst>
          </p:nvPr>
        </p:nvGraphicFramePr>
        <p:xfrm>
          <a:off x="6436783" y="2062162"/>
          <a:ext cx="4737100" cy="2733675"/>
        </p:xfrm>
        <a:graphic>
          <a:graphicData uri="http://schemas.openxmlformats.org/drawingml/2006/table">
            <a:tbl>
              <a:tblPr bandRow="1">
                <a:tableStyleId>{5C22544A-7EE6-4342-B048-85BDC9FD1C3A}</a:tableStyleId>
              </a:tblPr>
              <a:tblGrid>
                <a:gridCol w="1553565">
                  <a:extLst>
                    <a:ext uri="{9D8B030D-6E8A-4147-A177-3AD203B41FA5}">
                      <a16:colId xmlns:a16="http://schemas.microsoft.com/office/drawing/2014/main" val="2162222329"/>
                    </a:ext>
                  </a:extLst>
                </a:gridCol>
                <a:gridCol w="1324351">
                  <a:extLst>
                    <a:ext uri="{9D8B030D-6E8A-4147-A177-3AD203B41FA5}">
                      <a16:colId xmlns:a16="http://schemas.microsoft.com/office/drawing/2014/main" val="2646411377"/>
                    </a:ext>
                  </a:extLst>
                </a:gridCol>
                <a:gridCol w="1859184">
                  <a:extLst>
                    <a:ext uri="{9D8B030D-6E8A-4147-A177-3AD203B41FA5}">
                      <a16:colId xmlns:a16="http://schemas.microsoft.com/office/drawing/2014/main" val="2943371899"/>
                    </a:ext>
                  </a:extLst>
                </a:gridCol>
              </a:tblGrid>
              <a:tr h="504825">
                <a:tc>
                  <a:txBody>
                    <a:bodyPr/>
                    <a:lstStyle/>
                    <a:p>
                      <a:pPr algn="ctr" fontAlgn="ctr"/>
                      <a:r>
                        <a:rPr lang="en-US" sz="1100" b="1" dirty="0">
                          <a:effectLst/>
                          <a:latin typeface="Aptos Narrow"/>
                        </a:rPr>
                        <a:t>Command Buffer Location</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dirty="0">
                          <a:effectLst/>
                          <a:latin typeface="Aptos Narrow"/>
                        </a:rPr>
                        <a:t>Name</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dirty="0">
                          <a:effectLst/>
                          <a:latin typeface="Aptos Narrow"/>
                        </a:rPr>
                        <a:t>Variable in ADSP21569/21593</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610161462"/>
                  </a:ext>
                </a:extLst>
              </a:tr>
              <a:tr h="190500">
                <a:tc>
                  <a:txBody>
                    <a:bodyPr/>
                    <a:lstStyle/>
                    <a:p>
                      <a:pPr algn="ctr" fontAlgn="ctr"/>
                      <a:r>
                        <a:rPr lang="en-US" sz="1100" b="1" dirty="0">
                          <a:effectLst/>
                          <a:latin typeface="Aptos Narrow"/>
                        </a:rPr>
                        <a:t>0x30</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b="1" dirty="0">
                          <a:effectLst/>
                          <a:latin typeface="Aptos Narrow"/>
                        </a:rPr>
                        <a:t>Frmwk.Spi.RESERVED_BYTE1</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205648584"/>
                  </a:ext>
                </a:extLst>
              </a:tr>
              <a:tr h="190500">
                <a:tc>
                  <a:txBody>
                    <a:bodyPr/>
                    <a:lstStyle/>
                    <a:p>
                      <a:pPr algn="ctr" fontAlgn="ctr"/>
                      <a:r>
                        <a:rPr lang="en-US" sz="1100" dirty="0">
                          <a:effectLst/>
                          <a:latin typeface="Aptos Narrow"/>
                        </a:rPr>
                        <a:t>0x31</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Frmwk.Spi.RESERVED_BYTE2</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202378296"/>
                  </a:ext>
                </a:extLst>
              </a:tr>
              <a:tr h="190500">
                <a:tc>
                  <a:txBody>
                    <a:bodyPr/>
                    <a:lstStyle/>
                    <a:p>
                      <a:pPr algn="ctr" fontAlgn="ctr"/>
                      <a:r>
                        <a:rPr lang="en-US" sz="1100" dirty="0">
                          <a:effectLst/>
                          <a:latin typeface="Aptos Narrow"/>
                        </a:rPr>
                        <a:t>0x32</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Frmwk.Spi.RESERVED_BYTE3</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334113057"/>
                  </a:ext>
                </a:extLst>
              </a:tr>
              <a:tr h="190500">
                <a:tc>
                  <a:txBody>
                    <a:bodyPr/>
                    <a:lstStyle/>
                    <a:p>
                      <a:pPr algn="ctr" fontAlgn="ctr"/>
                      <a:r>
                        <a:rPr lang="en-US" sz="1100" dirty="0">
                          <a:effectLst/>
                          <a:latin typeface="Aptos Narrow"/>
                        </a:rPr>
                        <a:t>0x33</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Frmwk.Spi.RESERVED_BYTE4</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951508907"/>
                  </a:ext>
                </a:extLst>
              </a:tr>
              <a:tr h="190500">
                <a:tc>
                  <a:txBody>
                    <a:bodyPr/>
                    <a:lstStyle/>
                    <a:p>
                      <a:pPr algn="ctr" fontAlgn="ctr"/>
                      <a:r>
                        <a:rPr lang="en-US" sz="1100" dirty="0">
                          <a:effectLst/>
                          <a:latin typeface="Aptos Narrow"/>
                        </a:rPr>
                        <a:t>0x34</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Frmwk.Spi.RESERVED_BYTE5</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385090779"/>
                  </a:ext>
                </a:extLst>
              </a:tr>
              <a:tr h="190500">
                <a:tc>
                  <a:txBody>
                    <a:bodyPr/>
                    <a:lstStyle/>
                    <a:p>
                      <a:pPr algn="ctr" fontAlgn="ctr"/>
                      <a:r>
                        <a:rPr lang="en-US" sz="1100" dirty="0">
                          <a:effectLst/>
                          <a:latin typeface="Aptos Narrow"/>
                        </a:rPr>
                        <a:t>0x35</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Frmwk.Spi.RESERVED_BYTE6</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1011940761"/>
                  </a:ext>
                </a:extLst>
              </a:tr>
              <a:tr h="190500">
                <a:tc>
                  <a:txBody>
                    <a:bodyPr/>
                    <a:lstStyle/>
                    <a:p>
                      <a:pPr algn="ctr" fontAlgn="ctr"/>
                      <a:r>
                        <a:rPr lang="en-US" sz="1100" dirty="0">
                          <a:effectLst/>
                          <a:latin typeface="Aptos Narrow"/>
                        </a:rPr>
                        <a:t>...</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154815669"/>
                  </a:ext>
                </a:extLst>
              </a:tr>
              <a:tr h="190500">
                <a:tc>
                  <a:txBody>
                    <a:bodyPr/>
                    <a:lstStyle/>
                    <a:p>
                      <a:pPr algn="ctr" fontAlgn="ctr"/>
                      <a:r>
                        <a:rPr lang="en-US" sz="1100" dirty="0">
                          <a:effectLst/>
                          <a:latin typeface="Aptos Narrow"/>
                        </a:rPr>
                        <a:t>0x3E</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Reserved</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r>
                        <a:rPr lang="en-US" sz="1100" dirty="0">
                          <a:effectLst/>
                          <a:latin typeface="Aptos Narrow"/>
                        </a:rPr>
                        <a:t>Frmwk.Spi.RESERVED_BYTE15</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450067749"/>
                  </a:ext>
                </a:extLst>
              </a:tr>
              <a:tr h="190500">
                <a:tc>
                  <a:txBody>
                    <a:bodyPr/>
                    <a:lstStyle/>
                    <a:p>
                      <a:pPr algn="ctr" fontAlgn="ctr"/>
                      <a:endParaRPr lang="en-US" sz="1100">
                        <a:effectLst/>
                        <a:latin typeface="Aptos Narrow" panose="020B0004020202020204" pitchFamily="34" charset="0"/>
                      </a:endParaRP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endParaRPr lang="en-US" sz="1100">
                        <a:effectLst/>
                        <a:latin typeface="Aptos Narrow" panose="020B0004020202020204" pitchFamily="34" charset="0"/>
                      </a:endParaRP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fontAlgn="ctr"/>
                      <a:endParaRPr lang="en-US" sz="1100">
                        <a:effectLst/>
                        <a:latin typeface="Aptos Narrow" panose="020B0004020202020204" pitchFamily="34" charset="0"/>
                      </a:endParaRP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690633570"/>
                  </a:ext>
                </a:extLst>
              </a:tr>
              <a:tr h="190500">
                <a:tc>
                  <a:txBody>
                    <a:bodyPr/>
                    <a:lstStyle/>
                    <a:p>
                      <a:pPr algn="ctr" fontAlgn="ctr"/>
                      <a:r>
                        <a:rPr lang="en-US" sz="1100" b="1" dirty="0">
                          <a:effectLst/>
                          <a:latin typeface="Aptos Narrow"/>
                        </a:rPr>
                        <a:t>0x3F</a:t>
                      </a:r>
                    </a:p>
                  </a:txBody>
                  <a:tcPr marL="9525" marR="9525" marT="9525" anchor="ctr">
                    <a:lnL w="28575"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ctr"/>
                      <a:r>
                        <a:rPr lang="en-US" sz="1100" b="1" dirty="0">
                          <a:effectLst/>
                          <a:latin typeface="Aptos Narrow"/>
                        </a:rPr>
                        <a:t>Interrupt Description</a:t>
                      </a:r>
                    </a:p>
                  </a:txBody>
                  <a:tcPr marL="9525" marR="9525" marT="952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ctr"/>
                      <a:r>
                        <a:rPr lang="en-US" sz="1100" b="1" dirty="0" err="1">
                          <a:effectLst/>
                          <a:latin typeface="Aptos Narrow"/>
                        </a:rPr>
                        <a:t>Frmwk.Spi.INTR_DESC_LOCN</a:t>
                      </a:r>
                    </a:p>
                  </a:txBody>
                  <a:tcPr marL="9525" marR="9525" marT="9525" anchor="ctr">
                    <a:lnL w="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058291"/>
                  </a:ext>
                </a:extLst>
              </a:tr>
            </a:tbl>
          </a:graphicData>
        </a:graphic>
      </p:graphicFrame>
    </p:spTree>
    <p:extLst>
      <p:ext uri="{BB962C8B-B14F-4D97-AF65-F5344CB8AC3E}">
        <p14:creationId xmlns:p14="http://schemas.microsoft.com/office/powerpoint/2010/main" val="3481460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C9FBFCB-BB10-0FEE-69E7-FFCCB7210CE7}"/>
              </a:ext>
            </a:extLst>
          </p:cNvPr>
          <p:cNvGraphicFramePr>
            <a:graphicFrameLocks noGrp="1"/>
          </p:cNvGraphicFramePr>
          <p:nvPr>
            <p:ph idx="1"/>
            <p:extLst>
              <p:ext uri="{D42A27DB-BD31-4B8C-83A1-F6EECF244321}">
                <p14:modId xmlns:p14="http://schemas.microsoft.com/office/powerpoint/2010/main" val="3087501902"/>
              </p:ext>
            </p:extLst>
          </p:nvPr>
        </p:nvGraphicFramePr>
        <p:xfrm>
          <a:off x="543337" y="1567274"/>
          <a:ext cx="11334725" cy="445770"/>
        </p:xfrm>
        <a:graphic>
          <a:graphicData uri="http://schemas.openxmlformats.org/drawingml/2006/table">
            <a:tbl>
              <a:tblPr bandRow="1">
                <a:tableStyleId>{5C22544A-7EE6-4342-B048-85BDC9FD1C3A}</a:tableStyleId>
              </a:tblPr>
              <a:tblGrid>
                <a:gridCol w="334229">
                  <a:extLst>
                    <a:ext uri="{9D8B030D-6E8A-4147-A177-3AD203B41FA5}">
                      <a16:colId xmlns:a16="http://schemas.microsoft.com/office/drawing/2014/main" val="274988200"/>
                    </a:ext>
                  </a:extLst>
                </a:gridCol>
                <a:gridCol w="465015">
                  <a:extLst>
                    <a:ext uri="{9D8B030D-6E8A-4147-A177-3AD203B41FA5}">
                      <a16:colId xmlns:a16="http://schemas.microsoft.com/office/drawing/2014/main" val="2990162621"/>
                    </a:ext>
                  </a:extLst>
                </a:gridCol>
                <a:gridCol w="842840">
                  <a:extLst>
                    <a:ext uri="{9D8B030D-6E8A-4147-A177-3AD203B41FA5}">
                      <a16:colId xmlns:a16="http://schemas.microsoft.com/office/drawing/2014/main" val="1136256874"/>
                    </a:ext>
                  </a:extLst>
                </a:gridCol>
                <a:gridCol w="334229">
                  <a:extLst>
                    <a:ext uri="{9D8B030D-6E8A-4147-A177-3AD203B41FA5}">
                      <a16:colId xmlns:a16="http://schemas.microsoft.com/office/drawing/2014/main" val="2689370797"/>
                    </a:ext>
                  </a:extLst>
                </a:gridCol>
                <a:gridCol w="334229">
                  <a:extLst>
                    <a:ext uri="{9D8B030D-6E8A-4147-A177-3AD203B41FA5}">
                      <a16:colId xmlns:a16="http://schemas.microsoft.com/office/drawing/2014/main" val="2262909873"/>
                    </a:ext>
                  </a:extLst>
                </a:gridCol>
                <a:gridCol w="334229">
                  <a:extLst>
                    <a:ext uri="{9D8B030D-6E8A-4147-A177-3AD203B41FA5}">
                      <a16:colId xmlns:a16="http://schemas.microsoft.com/office/drawing/2014/main" val="3699079811"/>
                    </a:ext>
                  </a:extLst>
                </a:gridCol>
                <a:gridCol w="334229">
                  <a:extLst>
                    <a:ext uri="{9D8B030D-6E8A-4147-A177-3AD203B41FA5}">
                      <a16:colId xmlns:a16="http://schemas.microsoft.com/office/drawing/2014/main" val="645821724"/>
                    </a:ext>
                  </a:extLst>
                </a:gridCol>
                <a:gridCol w="334229">
                  <a:extLst>
                    <a:ext uri="{9D8B030D-6E8A-4147-A177-3AD203B41FA5}">
                      <a16:colId xmlns:a16="http://schemas.microsoft.com/office/drawing/2014/main" val="1273366006"/>
                    </a:ext>
                  </a:extLst>
                </a:gridCol>
                <a:gridCol w="334229">
                  <a:extLst>
                    <a:ext uri="{9D8B030D-6E8A-4147-A177-3AD203B41FA5}">
                      <a16:colId xmlns:a16="http://schemas.microsoft.com/office/drawing/2014/main" val="1837552998"/>
                    </a:ext>
                  </a:extLst>
                </a:gridCol>
                <a:gridCol w="334229">
                  <a:extLst>
                    <a:ext uri="{9D8B030D-6E8A-4147-A177-3AD203B41FA5}">
                      <a16:colId xmlns:a16="http://schemas.microsoft.com/office/drawing/2014/main" val="3216979653"/>
                    </a:ext>
                  </a:extLst>
                </a:gridCol>
                <a:gridCol w="334229">
                  <a:extLst>
                    <a:ext uri="{9D8B030D-6E8A-4147-A177-3AD203B41FA5}">
                      <a16:colId xmlns:a16="http://schemas.microsoft.com/office/drawing/2014/main" val="2713077396"/>
                    </a:ext>
                  </a:extLst>
                </a:gridCol>
                <a:gridCol w="334229">
                  <a:extLst>
                    <a:ext uri="{9D8B030D-6E8A-4147-A177-3AD203B41FA5}">
                      <a16:colId xmlns:a16="http://schemas.microsoft.com/office/drawing/2014/main" val="1243544474"/>
                    </a:ext>
                  </a:extLst>
                </a:gridCol>
                <a:gridCol w="334229">
                  <a:extLst>
                    <a:ext uri="{9D8B030D-6E8A-4147-A177-3AD203B41FA5}">
                      <a16:colId xmlns:a16="http://schemas.microsoft.com/office/drawing/2014/main" val="3167532255"/>
                    </a:ext>
                  </a:extLst>
                </a:gridCol>
                <a:gridCol w="334229">
                  <a:extLst>
                    <a:ext uri="{9D8B030D-6E8A-4147-A177-3AD203B41FA5}">
                      <a16:colId xmlns:a16="http://schemas.microsoft.com/office/drawing/2014/main" val="2594059846"/>
                    </a:ext>
                  </a:extLst>
                </a:gridCol>
                <a:gridCol w="334229">
                  <a:extLst>
                    <a:ext uri="{9D8B030D-6E8A-4147-A177-3AD203B41FA5}">
                      <a16:colId xmlns:a16="http://schemas.microsoft.com/office/drawing/2014/main" val="3727014899"/>
                    </a:ext>
                  </a:extLst>
                </a:gridCol>
                <a:gridCol w="334229">
                  <a:extLst>
                    <a:ext uri="{9D8B030D-6E8A-4147-A177-3AD203B41FA5}">
                      <a16:colId xmlns:a16="http://schemas.microsoft.com/office/drawing/2014/main" val="2148155404"/>
                    </a:ext>
                  </a:extLst>
                </a:gridCol>
                <a:gridCol w="334229">
                  <a:extLst>
                    <a:ext uri="{9D8B030D-6E8A-4147-A177-3AD203B41FA5}">
                      <a16:colId xmlns:a16="http://schemas.microsoft.com/office/drawing/2014/main" val="301980853"/>
                    </a:ext>
                  </a:extLst>
                </a:gridCol>
                <a:gridCol w="334229">
                  <a:extLst>
                    <a:ext uri="{9D8B030D-6E8A-4147-A177-3AD203B41FA5}">
                      <a16:colId xmlns:a16="http://schemas.microsoft.com/office/drawing/2014/main" val="131582872"/>
                    </a:ext>
                  </a:extLst>
                </a:gridCol>
                <a:gridCol w="334229">
                  <a:extLst>
                    <a:ext uri="{9D8B030D-6E8A-4147-A177-3AD203B41FA5}">
                      <a16:colId xmlns:a16="http://schemas.microsoft.com/office/drawing/2014/main" val="839432007"/>
                    </a:ext>
                  </a:extLst>
                </a:gridCol>
                <a:gridCol w="334229">
                  <a:extLst>
                    <a:ext uri="{9D8B030D-6E8A-4147-A177-3AD203B41FA5}">
                      <a16:colId xmlns:a16="http://schemas.microsoft.com/office/drawing/2014/main" val="2295332156"/>
                    </a:ext>
                  </a:extLst>
                </a:gridCol>
                <a:gridCol w="334229">
                  <a:extLst>
                    <a:ext uri="{9D8B030D-6E8A-4147-A177-3AD203B41FA5}">
                      <a16:colId xmlns:a16="http://schemas.microsoft.com/office/drawing/2014/main" val="571833389"/>
                    </a:ext>
                  </a:extLst>
                </a:gridCol>
                <a:gridCol w="334229">
                  <a:extLst>
                    <a:ext uri="{9D8B030D-6E8A-4147-A177-3AD203B41FA5}">
                      <a16:colId xmlns:a16="http://schemas.microsoft.com/office/drawing/2014/main" val="4283307532"/>
                    </a:ext>
                  </a:extLst>
                </a:gridCol>
                <a:gridCol w="334229">
                  <a:extLst>
                    <a:ext uri="{9D8B030D-6E8A-4147-A177-3AD203B41FA5}">
                      <a16:colId xmlns:a16="http://schemas.microsoft.com/office/drawing/2014/main" val="284124633"/>
                    </a:ext>
                  </a:extLst>
                </a:gridCol>
                <a:gridCol w="334229">
                  <a:extLst>
                    <a:ext uri="{9D8B030D-6E8A-4147-A177-3AD203B41FA5}">
                      <a16:colId xmlns:a16="http://schemas.microsoft.com/office/drawing/2014/main" val="2645242029"/>
                    </a:ext>
                  </a:extLst>
                </a:gridCol>
                <a:gridCol w="334229">
                  <a:extLst>
                    <a:ext uri="{9D8B030D-6E8A-4147-A177-3AD203B41FA5}">
                      <a16:colId xmlns:a16="http://schemas.microsoft.com/office/drawing/2014/main" val="939011582"/>
                    </a:ext>
                  </a:extLst>
                </a:gridCol>
                <a:gridCol w="334229">
                  <a:extLst>
                    <a:ext uri="{9D8B030D-6E8A-4147-A177-3AD203B41FA5}">
                      <a16:colId xmlns:a16="http://schemas.microsoft.com/office/drawing/2014/main" val="3503391227"/>
                    </a:ext>
                  </a:extLst>
                </a:gridCol>
                <a:gridCol w="334229">
                  <a:extLst>
                    <a:ext uri="{9D8B030D-6E8A-4147-A177-3AD203B41FA5}">
                      <a16:colId xmlns:a16="http://schemas.microsoft.com/office/drawing/2014/main" val="3881569506"/>
                    </a:ext>
                  </a:extLst>
                </a:gridCol>
                <a:gridCol w="334229">
                  <a:extLst>
                    <a:ext uri="{9D8B030D-6E8A-4147-A177-3AD203B41FA5}">
                      <a16:colId xmlns:a16="http://schemas.microsoft.com/office/drawing/2014/main" val="2140841186"/>
                    </a:ext>
                  </a:extLst>
                </a:gridCol>
                <a:gridCol w="334229">
                  <a:extLst>
                    <a:ext uri="{9D8B030D-6E8A-4147-A177-3AD203B41FA5}">
                      <a16:colId xmlns:a16="http://schemas.microsoft.com/office/drawing/2014/main" val="3288961473"/>
                    </a:ext>
                  </a:extLst>
                </a:gridCol>
                <a:gridCol w="334229">
                  <a:extLst>
                    <a:ext uri="{9D8B030D-6E8A-4147-A177-3AD203B41FA5}">
                      <a16:colId xmlns:a16="http://schemas.microsoft.com/office/drawing/2014/main" val="2429469029"/>
                    </a:ext>
                  </a:extLst>
                </a:gridCol>
                <a:gridCol w="334229">
                  <a:extLst>
                    <a:ext uri="{9D8B030D-6E8A-4147-A177-3AD203B41FA5}">
                      <a16:colId xmlns:a16="http://schemas.microsoft.com/office/drawing/2014/main" val="1670154461"/>
                    </a:ext>
                  </a:extLst>
                </a:gridCol>
                <a:gridCol w="334229">
                  <a:extLst>
                    <a:ext uri="{9D8B030D-6E8A-4147-A177-3AD203B41FA5}">
                      <a16:colId xmlns:a16="http://schemas.microsoft.com/office/drawing/2014/main" val="1408439256"/>
                    </a:ext>
                  </a:extLst>
                </a:gridCol>
              </a:tblGrid>
              <a:tr h="222421">
                <a:tc>
                  <a:txBody>
                    <a:bodyPr/>
                    <a:lstStyle/>
                    <a:p>
                      <a:pPr algn="ctr" fontAlgn="b"/>
                      <a:r>
                        <a:rPr lang="en-US" sz="1100" b="0" i="0" u="none" strike="noStrike" dirty="0">
                          <a:solidFill>
                            <a:srgbClr val="000000"/>
                          </a:solidFill>
                          <a:effectLst/>
                          <a:latin typeface="Aptos Narrow"/>
                        </a:rPr>
                        <a:t>31</a:t>
                      </a:r>
                    </a:p>
                  </a:txBody>
                  <a:tcPr marL="9525" marR="9525" marT="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30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a:rPr>
                        <a:t>0</a:t>
                      </a:r>
                    </a:p>
                  </a:txBody>
                  <a:tcPr marL="9525" marR="9525" marT="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130134"/>
                  </a:ext>
                </a:extLst>
              </a:tr>
              <a:tr h="190500">
                <a:tc gridSpan="2">
                  <a:txBody>
                    <a:bodyPr/>
                    <a:lstStyle/>
                    <a:p>
                      <a:pPr algn="ctr" fontAlgn="b"/>
                      <a:r>
                        <a:rPr lang="en-US" sz="1100" b="0" i="0" u="none" strike="noStrike" dirty="0">
                          <a:solidFill>
                            <a:srgbClr val="000000"/>
                          </a:solidFill>
                          <a:effectLst/>
                          <a:latin typeface="Aptos Narrow"/>
                        </a:rPr>
                        <a:t>Reserved</a:t>
                      </a:r>
                    </a:p>
                  </a:txBody>
                  <a:tcPr marL="9525" marR="9525" marT="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b"/>
                      <a:r>
                        <a:rPr lang="en-US" sz="1100" b="0" i="0" u="none" strike="noStrike" dirty="0">
                          <a:solidFill>
                            <a:srgbClr val="000000"/>
                          </a:solidFill>
                          <a:effectLst/>
                          <a:latin typeface="Aptos Narrow"/>
                        </a:rPr>
                        <a:t>Read/Write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7">
                  <a:txBody>
                    <a:bodyPr/>
                    <a:lstStyle/>
                    <a:p>
                      <a:pPr algn="ctr" fontAlgn="b"/>
                      <a:r>
                        <a:rPr lang="en-US" sz="1100" b="0" i="0" u="none" strike="noStrike" dirty="0">
                          <a:solidFill>
                            <a:srgbClr val="000000"/>
                          </a:solidFill>
                          <a:effectLst/>
                          <a:latin typeface="Aptos Narrow"/>
                        </a:rPr>
                        <a:t>Reserved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algn="ctr" fontAlgn="b"/>
                      <a:r>
                        <a:rPr lang="en-US" sz="1100" b="0" i="0" u="none" strike="noStrike" dirty="0">
                          <a:solidFill>
                            <a:srgbClr val="000000"/>
                          </a:solidFill>
                          <a:effectLst/>
                          <a:latin typeface="Aptos Narrow"/>
                        </a:rPr>
                        <a:t>Address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6">
                  <a:txBody>
                    <a:bodyPr/>
                    <a:lstStyle/>
                    <a:p>
                      <a:pPr algn="ctr" fontAlgn="b"/>
                      <a:r>
                        <a:rPr lang="en-US" sz="1100" b="0" i="0" u="none" strike="noStrike" dirty="0">
                          <a:solidFill>
                            <a:srgbClr val="000000"/>
                          </a:solidFill>
                          <a:effectLst/>
                          <a:latin typeface="Aptos Narrow"/>
                        </a:rPr>
                        <a:t>Data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09332326"/>
                  </a:ext>
                </a:extLst>
              </a:tr>
            </a:tbl>
          </a:graphicData>
        </a:graphic>
      </p:graphicFrame>
      <p:sp>
        <p:nvSpPr>
          <p:cNvPr id="3" name="Slide Number Placeholder 2">
            <a:extLst>
              <a:ext uri="{FF2B5EF4-FFF2-40B4-BE49-F238E27FC236}">
                <a16:creationId xmlns:a16="http://schemas.microsoft.com/office/drawing/2014/main" id="{A7C74FBA-405B-48F9-5F51-9B4661A1C260}"/>
              </a:ext>
            </a:extLst>
          </p:cNvPr>
          <p:cNvSpPr>
            <a:spLocks noGrp="1"/>
          </p:cNvSpPr>
          <p:nvPr>
            <p:ph type="sldNum" sz="quarter" idx="12"/>
          </p:nvPr>
        </p:nvSpPr>
        <p:spPr/>
        <p:txBody>
          <a:bodyPr/>
          <a:lstStyle/>
          <a:p>
            <a:fld id="{83735547-B499-4273-BF07-F756EAEC2F73}" type="slidenum">
              <a:rPr lang="en-IN" smtClean="0"/>
              <a:t>8</a:t>
            </a:fld>
            <a:endParaRPr lang="en-IN"/>
          </a:p>
        </p:txBody>
      </p:sp>
      <p:sp>
        <p:nvSpPr>
          <p:cNvPr id="7" name="TextBox 6">
            <a:extLst>
              <a:ext uri="{FF2B5EF4-FFF2-40B4-BE49-F238E27FC236}">
                <a16:creationId xmlns:a16="http://schemas.microsoft.com/office/drawing/2014/main" id="{7F7FA607-97D3-B7C8-7102-56804496FCC0}"/>
              </a:ext>
            </a:extLst>
          </p:cNvPr>
          <p:cNvSpPr txBox="1"/>
          <p:nvPr/>
        </p:nvSpPr>
        <p:spPr>
          <a:xfrm>
            <a:off x="540639" y="511246"/>
            <a:ext cx="68028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Command and Status bit Allocation – 32bit</a:t>
            </a:r>
            <a:endParaRPr lang="en-US" sz="2400" b="1" dirty="0">
              <a:latin typeface="Times New Roman"/>
              <a:cs typeface="Times New Roman"/>
            </a:endParaRPr>
          </a:p>
        </p:txBody>
      </p:sp>
      <p:sp>
        <p:nvSpPr>
          <p:cNvPr id="8" name="TextBox 7">
            <a:extLst>
              <a:ext uri="{FF2B5EF4-FFF2-40B4-BE49-F238E27FC236}">
                <a16:creationId xmlns:a16="http://schemas.microsoft.com/office/drawing/2014/main" id="{7B72FC2D-206E-275B-11B3-FE876C34B771}"/>
              </a:ext>
            </a:extLst>
          </p:cNvPr>
          <p:cNvSpPr txBox="1"/>
          <p:nvPr/>
        </p:nvSpPr>
        <p:spPr>
          <a:xfrm>
            <a:off x="540639" y="2618505"/>
            <a:ext cx="721676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Times New Roman"/>
                <a:cs typeface="Calibri"/>
              </a:rPr>
              <a:t>Example:- </a:t>
            </a:r>
            <a:endParaRPr lang="en-US" sz="1400">
              <a:ea typeface="Calibri"/>
              <a:cs typeface="Calibri"/>
            </a:endParaRPr>
          </a:p>
          <a:p>
            <a:endParaRPr lang="en-US" sz="1400" dirty="0">
              <a:ea typeface="Calibri"/>
              <a:cs typeface="Calibri"/>
            </a:endParaRPr>
          </a:p>
          <a:p>
            <a:r>
              <a:rPr lang="en-US" sz="1400" b="1" dirty="0">
                <a:ea typeface="Calibri"/>
                <a:cs typeface="Calibri"/>
              </a:rPr>
              <a:t>SPI Write </a:t>
            </a:r>
            <a:r>
              <a:rPr lang="en-US" sz="1400" dirty="0">
                <a:ea typeface="Calibri"/>
                <a:cs typeface="Calibri"/>
              </a:rPr>
              <a:t>(from Host to DSP):</a:t>
            </a:r>
          </a:p>
          <a:p>
            <a:r>
              <a:rPr lang="en-US" sz="1400" dirty="0">
                <a:ea typeface="Calibri"/>
                <a:cs typeface="Calibri"/>
              </a:rPr>
              <a:t>Mute Command – 0x20000003 [29th bit - Write]</a:t>
            </a:r>
          </a:p>
          <a:p>
            <a:r>
              <a:rPr lang="en-US" sz="1400" dirty="0">
                <a:ea typeface="Calibri"/>
                <a:cs typeface="Calibri"/>
              </a:rPr>
              <a:t>Parameter_1 – 0x20010410 [29th bit - Write]</a:t>
            </a:r>
          </a:p>
          <a:p>
            <a:endParaRPr lang="en-US" sz="1400" b="1" dirty="0">
              <a:ea typeface="Calibri"/>
              <a:cs typeface="Calibri"/>
            </a:endParaRPr>
          </a:p>
          <a:p>
            <a:r>
              <a:rPr lang="en-US" sz="1400" b="1" dirty="0">
                <a:ea typeface="Calibri"/>
                <a:cs typeface="Calibri"/>
              </a:rPr>
              <a:t>SPI Read</a:t>
            </a:r>
            <a:r>
              <a:rPr lang="en-US" sz="1400" dirty="0">
                <a:ea typeface="Calibri"/>
                <a:cs typeface="Calibri"/>
              </a:rPr>
              <a:t> (Command from Host to DSP followed by dummy Zero to Readback the DSP status):</a:t>
            </a:r>
          </a:p>
          <a:p>
            <a:r>
              <a:rPr lang="en-US" sz="1400" dirty="0">
                <a:ea typeface="Calibri"/>
                <a:cs typeface="Calibri"/>
              </a:rPr>
              <a:t>Parameter#1 – </a:t>
            </a:r>
            <a:r>
              <a:rPr lang="en-US" sz="1400" dirty="0">
                <a:ea typeface="+mn-lt"/>
                <a:cs typeface="+mn-lt"/>
              </a:rPr>
              <a:t>0x00010000 [29th bit - Read]</a:t>
            </a:r>
            <a:endParaRPr lang="en-US" sz="1400" dirty="0">
              <a:ea typeface="Calibri"/>
              <a:cs typeface="Calibri"/>
            </a:endParaRPr>
          </a:p>
          <a:p>
            <a:r>
              <a:rPr lang="en-US" sz="1400" dirty="0">
                <a:ea typeface="Calibri"/>
                <a:cs typeface="Calibri"/>
              </a:rPr>
              <a:t>StatusByte#1 – 0x00200000 [29th bit - Read]</a:t>
            </a:r>
          </a:p>
        </p:txBody>
      </p:sp>
    </p:spTree>
    <p:extLst>
      <p:ext uri="{BB962C8B-B14F-4D97-AF65-F5344CB8AC3E}">
        <p14:creationId xmlns:p14="http://schemas.microsoft.com/office/powerpoint/2010/main" val="223469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B20C7-1397-9403-5F3F-DB533FA14BD1}"/>
              </a:ext>
            </a:extLst>
          </p:cNvPr>
          <p:cNvSpPr>
            <a:spLocks noGrp="1"/>
          </p:cNvSpPr>
          <p:nvPr>
            <p:ph idx="1"/>
          </p:nvPr>
        </p:nvSpPr>
        <p:spPr>
          <a:xfrm>
            <a:off x="448575" y="1462836"/>
            <a:ext cx="11335108" cy="4893512"/>
          </a:xfrm>
        </p:spPr>
        <p:txBody>
          <a:bodyPr vert="horz" lIns="91440" tIns="45720" rIns="91440" bIns="45720" rtlCol="0" anchor="t">
            <a:normAutofit/>
          </a:bodyPr>
          <a:lstStyle/>
          <a:p>
            <a:r>
              <a:rPr lang="en-US" dirty="0">
                <a:hlinkClick r:id="rId2"/>
              </a:rPr>
              <a:t>Connecting SHARC® and Blackfin® Processors over SPI Application Note (EE-340)</a:t>
            </a:r>
            <a:endParaRPr lang="en-US" dirty="0"/>
          </a:p>
          <a:p>
            <a:r>
              <a:rPr lang="en-IN" dirty="0" err="1"/>
              <a:t>ADI_SoundBar_SDK_Host_Interface</a:t>
            </a:r>
            <a:r>
              <a:rPr lang="en-IN" dirty="0"/>
              <a:t>_ Protocol_Guide_EVAL-MELODY-8</a:t>
            </a:r>
            <a:r>
              <a:rPr lang="en-US" dirty="0"/>
              <a:t>.pdf</a:t>
            </a:r>
            <a:endParaRPr lang="en-US" dirty="0">
              <a:cs typeface="Calibri"/>
            </a:endParaRPr>
          </a:p>
          <a:p>
            <a:r>
              <a:rPr lang="en-US" dirty="0">
                <a:hlinkClick r:id="rId3"/>
              </a:rPr>
              <a:t>ADSP-21569 Datasheet and Product Info | Analog Devices</a:t>
            </a:r>
            <a:endParaRPr lang="en-US" dirty="0">
              <a:cs typeface="Calibri"/>
            </a:endParaRPr>
          </a:p>
          <a:p>
            <a:r>
              <a:rPr lang="en-US" dirty="0">
                <a:hlinkClick r:id="rId4"/>
              </a:rPr>
              <a:t>ADSP-BF524 Datasheet and Product Info | Analog Devices</a:t>
            </a:r>
            <a:endParaRPr lang="en-US" dirty="0">
              <a:cs typeface="Calibri"/>
            </a:endParaRPr>
          </a:p>
          <a:p>
            <a:endParaRPr lang="en-US" dirty="0">
              <a:cs typeface="Calibri"/>
            </a:endParaRPr>
          </a:p>
        </p:txBody>
      </p:sp>
      <p:sp>
        <p:nvSpPr>
          <p:cNvPr id="3" name="Slide Number Placeholder 2">
            <a:extLst>
              <a:ext uri="{FF2B5EF4-FFF2-40B4-BE49-F238E27FC236}">
                <a16:creationId xmlns:a16="http://schemas.microsoft.com/office/drawing/2014/main" id="{90AE2D20-7A38-29B8-6601-C1DA07D39DAD}"/>
              </a:ext>
            </a:extLst>
          </p:cNvPr>
          <p:cNvSpPr>
            <a:spLocks noGrp="1"/>
          </p:cNvSpPr>
          <p:nvPr>
            <p:ph type="sldNum" sz="quarter" idx="12"/>
          </p:nvPr>
        </p:nvSpPr>
        <p:spPr/>
        <p:txBody>
          <a:bodyPr/>
          <a:lstStyle/>
          <a:p>
            <a:fld id="{83735547-B499-4273-BF07-F756EAEC2F73}" type="slidenum">
              <a:rPr lang="en-IN" smtClean="0"/>
              <a:t>9</a:t>
            </a:fld>
            <a:endParaRPr lang="en-IN"/>
          </a:p>
        </p:txBody>
      </p:sp>
      <p:sp>
        <p:nvSpPr>
          <p:cNvPr id="5" name="TextBox 4">
            <a:extLst>
              <a:ext uri="{FF2B5EF4-FFF2-40B4-BE49-F238E27FC236}">
                <a16:creationId xmlns:a16="http://schemas.microsoft.com/office/drawing/2014/main" id="{01F62A3E-F10C-686A-671C-AC7A2D6D4F5B}"/>
              </a:ext>
            </a:extLst>
          </p:cNvPr>
          <p:cNvSpPr txBox="1"/>
          <p:nvPr/>
        </p:nvSpPr>
        <p:spPr>
          <a:xfrm>
            <a:off x="444030" y="519288"/>
            <a:ext cx="243275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rPr>
              <a:t>References</a:t>
            </a:r>
            <a:endParaRPr lang="en-US" dirty="0"/>
          </a:p>
        </p:txBody>
      </p:sp>
    </p:spTree>
    <p:extLst>
      <p:ext uri="{BB962C8B-B14F-4D97-AF65-F5344CB8AC3E}">
        <p14:creationId xmlns:p14="http://schemas.microsoft.com/office/powerpoint/2010/main" val="3373996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93111" y="5583428"/>
            <a:ext cx="3205779" cy="56425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4374"/>
              </a:lnSpc>
            </a:pPr>
            <a:r>
              <a:rPr lang="en-US" sz="4050">
                <a:solidFill>
                  <a:srgbClr val="E97132"/>
                </a:solidFill>
                <a:latin typeface="Arimo"/>
                <a:ea typeface="Arimo"/>
                <a:cs typeface="Arimo"/>
                <a:sym typeface="Arimo"/>
              </a:rPr>
              <a:t>THANK YOU!</a:t>
            </a:r>
          </a:p>
        </p:txBody>
      </p:sp>
      <p:sp>
        <p:nvSpPr>
          <p:cNvPr id="3" name="Freeform 3"/>
          <p:cNvSpPr/>
          <p:nvPr/>
        </p:nvSpPr>
        <p:spPr>
          <a:xfrm>
            <a:off x="4617128" y="2485236"/>
            <a:ext cx="3467080" cy="1112219"/>
          </a:xfrm>
          <a:custGeom>
            <a:avLst/>
            <a:gdLst/>
            <a:ahLst/>
            <a:cxnLst/>
            <a:rect l="l" t="t" r="r" b="b"/>
            <a:pathLst>
              <a:path w="5200620" h="1668328">
                <a:moveTo>
                  <a:pt x="0" y="0"/>
                </a:moveTo>
                <a:lnTo>
                  <a:pt x="5200620" y="0"/>
                </a:lnTo>
                <a:lnTo>
                  <a:pt x="5200620" y="1668328"/>
                </a:lnTo>
                <a:lnTo>
                  <a:pt x="0" y="1668328"/>
                </a:lnTo>
                <a:lnTo>
                  <a:pt x="0" y="0"/>
                </a:lnTo>
                <a:close/>
              </a:path>
            </a:pathLst>
          </a:custGeom>
          <a:blipFill>
            <a:blip r:embed="rId2"/>
            <a:stretch>
              <a:fillRect/>
            </a:stretch>
          </a:blipFill>
        </p:spPr>
      </p:sp>
      <p:sp>
        <p:nvSpPr>
          <p:cNvPr id="4" name="Freeform 4"/>
          <p:cNvSpPr/>
          <p:nvPr/>
        </p:nvSpPr>
        <p:spPr>
          <a:xfrm>
            <a:off x="11144304" y="4221882"/>
            <a:ext cx="209496" cy="209496"/>
          </a:xfrm>
          <a:custGeom>
            <a:avLst/>
            <a:gdLst/>
            <a:ahLst/>
            <a:cxnLst/>
            <a:rect l="l" t="t" r="r" b="b"/>
            <a:pathLst>
              <a:path w="314244" h="314244">
                <a:moveTo>
                  <a:pt x="0" y="0"/>
                </a:moveTo>
                <a:lnTo>
                  <a:pt x="314244" y="0"/>
                </a:lnTo>
                <a:lnTo>
                  <a:pt x="314244" y="314244"/>
                </a:lnTo>
                <a:lnTo>
                  <a:pt x="0" y="314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1144304" y="4561631"/>
            <a:ext cx="209496" cy="190451"/>
          </a:xfrm>
          <a:custGeom>
            <a:avLst/>
            <a:gdLst/>
            <a:ahLst/>
            <a:cxnLst/>
            <a:rect l="l" t="t" r="r" b="b"/>
            <a:pathLst>
              <a:path w="314244" h="285677">
                <a:moveTo>
                  <a:pt x="0" y="0"/>
                </a:moveTo>
                <a:lnTo>
                  <a:pt x="314244" y="0"/>
                </a:lnTo>
                <a:lnTo>
                  <a:pt x="314244" y="285677"/>
                </a:lnTo>
                <a:lnTo>
                  <a:pt x="0" y="2856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72873" y="4897087"/>
            <a:ext cx="152360" cy="209475"/>
          </a:xfrm>
          <a:custGeom>
            <a:avLst/>
            <a:gdLst/>
            <a:ahLst/>
            <a:cxnLst/>
            <a:rect l="l" t="t" r="r" b="b"/>
            <a:pathLst>
              <a:path w="228540" h="314213">
                <a:moveTo>
                  <a:pt x="0" y="0"/>
                </a:moveTo>
                <a:lnTo>
                  <a:pt x="228540" y="0"/>
                </a:lnTo>
                <a:lnTo>
                  <a:pt x="228540" y="314213"/>
                </a:lnTo>
                <a:lnTo>
                  <a:pt x="0" y="3142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7"/>
          <p:cNvSpPr txBox="1"/>
          <p:nvPr/>
        </p:nvSpPr>
        <p:spPr>
          <a:xfrm>
            <a:off x="8084208" y="4129178"/>
            <a:ext cx="2909977" cy="95417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r">
              <a:lnSpc>
                <a:spcPts val="2640"/>
              </a:lnSpc>
            </a:pPr>
            <a:r>
              <a:rPr lang="en-US" sz="1100" spc="-7">
                <a:solidFill>
                  <a:srgbClr val="000000"/>
                </a:solidFill>
                <a:latin typeface="TT Rounds Condensed Bold"/>
                <a:ea typeface="TT Rounds Condensed Bold"/>
                <a:cs typeface="TT Rounds Condensed Bold"/>
                <a:sym typeface="TT Rounds Condensed Bold"/>
              </a:rPr>
              <a:t>India, Germany, Japan, USA &amp; China</a:t>
            </a:r>
          </a:p>
          <a:p>
            <a:pPr algn="r">
              <a:lnSpc>
                <a:spcPts val="2640"/>
              </a:lnSpc>
            </a:pPr>
            <a:r>
              <a:rPr lang="en-US" sz="1100" spc="-7">
                <a:solidFill>
                  <a:srgbClr val="000000"/>
                </a:solidFill>
                <a:latin typeface="TT Rounds Condensed Bold"/>
                <a:ea typeface="TT Rounds Condensed Bold"/>
                <a:cs typeface="TT Rounds Condensed Bold"/>
                <a:sym typeface="TT Rounds Condensed Bold"/>
              </a:rPr>
              <a:t>+91 44 6666 9600</a:t>
            </a:r>
          </a:p>
          <a:p>
            <a:pPr algn="r">
              <a:lnSpc>
                <a:spcPts val="2640"/>
              </a:lnSpc>
            </a:pPr>
            <a:r>
              <a:rPr lang="en-US" sz="1100" u="sng" spc="-7">
                <a:solidFill>
                  <a:srgbClr val="000000"/>
                </a:solidFill>
                <a:latin typeface="TT Rounds Condensed Bold"/>
                <a:ea typeface="TT Rounds Condensed Bold"/>
                <a:cs typeface="TT Rounds Condensed Bold"/>
                <a:sym typeface="TT Rounds Condensed Bold"/>
              </a:rPr>
              <a:t>www.jasmin-infotech.com</a:t>
            </a:r>
          </a:p>
        </p:txBody>
      </p:sp>
      <p:sp>
        <p:nvSpPr>
          <p:cNvPr id="8" name="Freeform 8"/>
          <p:cNvSpPr/>
          <p:nvPr/>
        </p:nvSpPr>
        <p:spPr>
          <a:xfrm>
            <a:off x="0" y="0"/>
            <a:ext cx="5660041" cy="4561631"/>
          </a:xfrm>
          <a:custGeom>
            <a:avLst/>
            <a:gdLst/>
            <a:ahLst/>
            <a:cxnLst/>
            <a:rect l="l" t="t" r="r" b="b"/>
            <a:pathLst>
              <a:path w="8490062" h="6842446">
                <a:moveTo>
                  <a:pt x="0" y="0"/>
                </a:moveTo>
                <a:lnTo>
                  <a:pt x="8490062" y="0"/>
                </a:lnTo>
                <a:lnTo>
                  <a:pt x="8490062" y="6842446"/>
                </a:lnTo>
                <a:lnTo>
                  <a:pt x="0" y="6842446"/>
                </a:lnTo>
                <a:lnTo>
                  <a:pt x="0" y="0"/>
                </a:lnTo>
                <a:close/>
              </a:path>
            </a:pathLst>
          </a:custGeom>
          <a:blipFill>
            <a:blip r:embed="rId9"/>
            <a:stretch>
              <a:fillRect/>
            </a:stretch>
          </a:blipFill>
        </p:spPr>
      </p:sp>
      <p:grpSp>
        <p:nvGrpSpPr>
          <p:cNvPr id="9" name="Group 9"/>
          <p:cNvGrpSpPr/>
          <p:nvPr/>
        </p:nvGrpSpPr>
        <p:grpSpPr>
          <a:xfrm rot="5400000">
            <a:off x="-541630" y="4128384"/>
            <a:ext cx="1991960" cy="1056946"/>
            <a:chOff x="0" y="0"/>
            <a:chExt cx="3983920" cy="2113892"/>
          </a:xfrm>
        </p:grpSpPr>
        <p:sp>
          <p:nvSpPr>
            <p:cNvPr id="10" name="Freeform 10"/>
            <p:cNvSpPr/>
            <p:nvPr/>
          </p:nvSpPr>
          <p:spPr>
            <a:xfrm>
              <a:off x="19050" y="19050"/>
              <a:ext cx="3945763" cy="2075815"/>
            </a:xfrm>
            <a:custGeom>
              <a:avLst/>
              <a:gdLst/>
              <a:ahLst/>
              <a:cxnLst/>
              <a:rect l="l" t="t" r="r" b="b"/>
              <a:pathLst>
                <a:path w="3945763" h="2075815">
                  <a:moveTo>
                    <a:pt x="0" y="2075815"/>
                  </a:moveTo>
                  <a:lnTo>
                    <a:pt x="1972945" y="0"/>
                  </a:lnTo>
                  <a:lnTo>
                    <a:pt x="3945763" y="2075815"/>
                  </a:lnTo>
                  <a:close/>
                </a:path>
              </a:pathLst>
            </a:custGeom>
            <a:solidFill>
              <a:srgbClr val="E97132"/>
            </a:solidFill>
          </p:spPr>
        </p:sp>
        <p:sp>
          <p:nvSpPr>
            <p:cNvPr id="11" name="Freeform 11"/>
            <p:cNvSpPr/>
            <p:nvPr/>
          </p:nvSpPr>
          <p:spPr>
            <a:xfrm>
              <a:off x="-1524" y="0"/>
              <a:ext cx="3986911" cy="2113788"/>
            </a:xfrm>
            <a:custGeom>
              <a:avLst/>
              <a:gdLst/>
              <a:ahLst/>
              <a:cxnLst/>
              <a:rect l="l" t="t" r="r" b="b"/>
              <a:pathLst>
                <a:path w="3986911" h="2113788">
                  <a:moveTo>
                    <a:pt x="6731" y="2081657"/>
                  </a:moveTo>
                  <a:lnTo>
                    <a:pt x="1979676" y="5969"/>
                  </a:lnTo>
                  <a:cubicBezTo>
                    <a:pt x="1983232" y="2159"/>
                    <a:pt x="1988312" y="0"/>
                    <a:pt x="1993519" y="0"/>
                  </a:cubicBezTo>
                  <a:cubicBezTo>
                    <a:pt x="1998726" y="0"/>
                    <a:pt x="2003679" y="2159"/>
                    <a:pt x="2007362" y="5969"/>
                  </a:cubicBezTo>
                  <a:lnTo>
                    <a:pt x="3980180" y="2081657"/>
                  </a:lnTo>
                  <a:cubicBezTo>
                    <a:pt x="3985387" y="2087118"/>
                    <a:pt x="3986911" y="2095246"/>
                    <a:pt x="3983863" y="2102231"/>
                  </a:cubicBezTo>
                  <a:cubicBezTo>
                    <a:pt x="3980815" y="2109216"/>
                    <a:pt x="3973957" y="2113788"/>
                    <a:pt x="3966337" y="2113788"/>
                  </a:cubicBezTo>
                  <a:lnTo>
                    <a:pt x="20574" y="2113788"/>
                  </a:lnTo>
                  <a:cubicBezTo>
                    <a:pt x="12954" y="2113788"/>
                    <a:pt x="6096" y="2109216"/>
                    <a:pt x="3048" y="2102231"/>
                  </a:cubicBezTo>
                  <a:cubicBezTo>
                    <a:pt x="0" y="2095246"/>
                    <a:pt x="1524" y="2087118"/>
                    <a:pt x="6731" y="2081657"/>
                  </a:cubicBezTo>
                  <a:moveTo>
                    <a:pt x="34290" y="2107946"/>
                  </a:moveTo>
                  <a:lnTo>
                    <a:pt x="20574" y="2094865"/>
                  </a:lnTo>
                  <a:lnTo>
                    <a:pt x="20574" y="2075815"/>
                  </a:lnTo>
                  <a:lnTo>
                    <a:pt x="3966337" y="2075815"/>
                  </a:lnTo>
                  <a:lnTo>
                    <a:pt x="3966337" y="2094865"/>
                  </a:lnTo>
                  <a:lnTo>
                    <a:pt x="3952494" y="2107946"/>
                  </a:lnTo>
                  <a:lnTo>
                    <a:pt x="1979676" y="32131"/>
                  </a:lnTo>
                  <a:lnTo>
                    <a:pt x="1993519" y="19050"/>
                  </a:lnTo>
                  <a:lnTo>
                    <a:pt x="2007362" y="32131"/>
                  </a:lnTo>
                  <a:lnTo>
                    <a:pt x="34417" y="2107946"/>
                  </a:lnTo>
                  <a:close/>
                </a:path>
              </a:pathLst>
            </a:custGeom>
            <a:solidFill>
              <a:srgbClr val="E97132"/>
            </a:solidFill>
          </p:spPr>
        </p:sp>
      </p:grpSp>
      <p:sp>
        <p:nvSpPr>
          <p:cNvPr id="12" name="Freeform 12" descr="A picture containing text, font, logo, graphics  Description automatically generated"/>
          <p:cNvSpPr/>
          <p:nvPr/>
        </p:nvSpPr>
        <p:spPr>
          <a:xfrm>
            <a:off x="9469253" y="195459"/>
            <a:ext cx="1855980" cy="1498672"/>
          </a:xfrm>
          <a:custGeom>
            <a:avLst/>
            <a:gdLst/>
            <a:ahLst/>
            <a:cxnLst/>
            <a:rect l="l" t="t" r="r" b="b"/>
            <a:pathLst>
              <a:path w="2783970" h="2248008">
                <a:moveTo>
                  <a:pt x="0" y="0"/>
                </a:moveTo>
                <a:lnTo>
                  <a:pt x="2783970" y="0"/>
                </a:lnTo>
                <a:lnTo>
                  <a:pt x="2783970" y="2248009"/>
                </a:lnTo>
                <a:lnTo>
                  <a:pt x="0" y="2248009"/>
                </a:lnTo>
                <a:lnTo>
                  <a:pt x="0" y="0"/>
                </a:lnTo>
                <a:close/>
              </a:path>
            </a:pathLst>
          </a:custGeom>
          <a:blipFill>
            <a:blip r:embed="rId10"/>
            <a:stretch>
              <a:fillRect l="-19" r="-19"/>
            </a:stretch>
          </a:blipFill>
        </p:spPr>
      </p:sp>
    </p:spTree>
    <p:extLst>
      <p:ext uri="{BB962C8B-B14F-4D97-AF65-F5344CB8AC3E}">
        <p14:creationId xmlns:p14="http://schemas.microsoft.com/office/powerpoint/2010/main" val="64298625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T_1017_JI_PPT_InternalUse_Template" id="{B47D5DC5-F6BE-47A9-A848-42F88D8058FA}" vid="{4A31C64C-6422-46B5-B0E6-C4CA52FADB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60F794EE8B7F4896CF96123B576A02" ma:contentTypeVersion="14" ma:contentTypeDescription="Create a new document." ma:contentTypeScope="" ma:versionID="a515f5e97c337ced10d4210d6ad70d57">
  <xsd:schema xmlns:xsd="http://www.w3.org/2001/XMLSchema" xmlns:xs="http://www.w3.org/2001/XMLSchema" xmlns:p="http://schemas.microsoft.com/office/2006/metadata/properties" xmlns:ns2="82aca38d-74d5-4ce7-920c-59228ba159e1" xmlns:ns3="204c8fdd-6a95-4db6-9bb5-c65d7126e426" targetNamespace="http://schemas.microsoft.com/office/2006/metadata/properties" ma:root="true" ma:fieldsID="48b2a20fcc60b9779bf550ce6025378e" ns2:_="" ns3:_="">
    <xsd:import namespace="82aca38d-74d5-4ce7-920c-59228ba159e1"/>
    <xsd:import namespace="204c8fdd-6a95-4db6-9bb5-c65d7126e4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aca38d-74d5-4ce7-920c-59228ba159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d8ae02-67be-425d-859a-0c16ee0cf0f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04c8fdd-6a95-4db6-9bb5-c65d7126e42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497cf32-f975-48ff-8ef4-ce7729ecca1e}" ma:internalName="TaxCatchAll" ma:showField="CatchAllData" ma:web="204c8fdd-6a95-4db6-9bb5-c65d7126e4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2aca38d-74d5-4ce7-920c-59228ba159e1">
      <Terms xmlns="http://schemas.microsoft.com/office/infopath/2007/PartnerControls"/>
    </lcf76f155ced4ddcb4097134ff3c332f>
    <TaxCatchAll xmlns="204c8fdd-6a95-4db6-9bb5-c65d7126e4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37DCA0-B525-4A42-ADE6-C222DDAC4EB8}"/>
</file>

<file path=customXml/itemProps2.xml><?xml version="1.0" encoding="utf-8"?>
<ds:datastoreItem xmlns:ds="http://schemas.openxmlformats.org/officeDocument/2006/customXml" ds:itemID="{F3187D3E-E3C9-48EC-BAD4-E06D13CA9AE4}">
  <ds:schemaRefs>
    <ds:schemaRef ds:uri="060a8a9f-d048-4cae-94ae-42ad8fd36d05"/>
    <ds:schemaRef ds:uri="c683474e-3566-459e-a8fa-b9191d46e5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03B76E6-81F0-4EF7-BC2D-CE77F0178A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85</TotalTime>
  <Words>222</Words>
  <Application>Microsoft Office PowerPoint</Application>
  <PresentationFormat>Widescreen</PresentationFormat>
  <Paragraphs>47</Paragraphs>
  <Slides>10</Slides>
  <Notes>0</Notes>
  <HiddenSlides>0</HiddenSlides>
  <MMClips>0</MMClip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Padmini Thupalli Siva</dc:creator>
  <cp:lastModifiedBy>Subramani Pazhaniyappan</cp:lastModifiedBy>
  <cp:revision>2187</cp:revision>
  <dcterms:created xsi:type="dcterms:W3CDTF">2023-06-09T06:24:09Z</dcterms:created>
  <dcterms:modified xsi:type="dcterms:W3CDTF">2025-03-25T15:54:42Z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0x010100C360F794EE8B7F4896CF96123B576A02</vt:lpwstr>
  </property>
</Properties>
</file>