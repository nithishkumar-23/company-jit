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</p:sldMasterIdLst>
  <p:notesMasterIdLst>
    <p:notesMasterId r:id="rId39"/>
  </p:notesMasterIdLst>
  <p:sldIdLst>
    <p:sldId id="256" r:id="rId14"/>
    <p:sldId id="257" r:id="rId15"/>
    <p:sldId id="258" r:id="rId16"/>
    <p:sldId id="259" r:id="rId17"/>
    <p:sldId id="260" r:id="rId18"/>
    <p:sldId id="262" r:id="rId19"/>
    <p:sldId id="261" r:id="rId20"/>
    <p:sldId id="263" r:id="rId21"/>
    <p:sldId id="264" r:id="rId22"/>
    <p:sldId id="265" r:id="rId23"/>
    <p:sldId id="266" r:id="rId24"/>
    <p:sldId id="267" r:id="rId25"/>
    <p:sldId id="268" r:id="rId26"/>
    <p:sldId id="284" r:id="rId27"/>
    <p:sldId id="285" r:id="rId28"/>
    <p:sldId id="269" r:id="rId29"/>
    <p:sldId id="274" r:id="rId30"/>
    <p:sldId id="273" r:id="rId31"/>
    <p:sldId id="286" r:id="rId32"/>
    <p:sldId id="277" r:id="rId33"/>
    <p:sldId id="276" r:id="rId34"/>
    <p:sldId id="287" r:id="rId35"/>
    <p:sldId id="278" r:id="rId36"/>
    <p:sldId id="288" r:id="rId37"/>
    <p:sldId id="283" r:id="rId3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6D212A-7257-5491-0A36-75EEE25F1759}" v="127" dt="2024-10-23T09:47:05.308"/>
    <p1510:client id="{65DA8621-5B98-E18C-7757-C5A549B4B36E}" v="113" dt="2024-10-23T12:17:30.334"/>
    <p1510:client id="{B45934C8-1D3D-5C0E-BB13-99C14A945D45}" v="102" dt="2024-10-22T13:02:00.648"/>
    <p1510:client id="{D3E90CCD-EB08-2B05-1656-AB8B5B0217B0}" v="19" dt="2024-10-23T05:33:07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0992FB-4EA5-4356-8E78-A23E466EFB5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F20790-AFDB-4989-87ED-BEA4C184D674}">
      <dgm:prSet phldrT="[Text]" custT="1"/>
      <dgm:spPr/>
      <dgm:t>
        <a:bodyPr/>
        <a:lstStyle/>
        <a:p>
          <a:r>
            <a:rPr lang="en-US" sz="2800" dirty="0" err="1"/>
            <a:t>Foobar</a:t>
          </a:r>
          <a:endParaRPr lang="en-US" sz="2800" dirty="0"/>
        </a:p>
      </dgm:t>
    </dgm:pt>
    <dgm:pt modelId="{F5760FE2-B5F7-43D2-A4D8-B6D385813AE6}" type="parTrans" cxnId="{7309E263-CA95-46F4-8EB2-D9315945F099}">
      <dgm:prSet/>
      <dgm:spPr/>
      <dgm:t>
        <a:bodyPr/>
        <a:lstStyle/>
        <a:p>
          <a:endParaRPr lang="en-US" sz="2800"/>
        </a:p>
      </dgm:t>
    </dgm:pt>
    <dgm:pt modelId="{E2C8CF75-4D6C-49C0-990E-544A81C3F0A8}" type="sibTrans" cxnId="{7309E263-CA95-46F4-8EB2-D9315945F099}">
      <dgm:prSet/>
      <dgm:spPr/>
      <dgm:t>
        <a:bodyPr/>
        <a:lstStyle/>
        <a:p>
          <a:endParaRPr lang="en-US" sz="2800"/>
        </a:p>
      </dgm:t>
    </dgm:pt>
    <dgm:pt modelId="{704090CD-0822-416A-8B2B-AFA130BB68C6}">
      <dgm:prSet phldrT="[Text]" custT="1"/>
      <dgm:spPr/>
      <dgm:t>
        <a:bodyPr/>
        <a:lstStyle/>
        <a:p>
          <a:r>
            <a:rPr lang="en-US" sz="2800" dirty="0"/>
            <a:t>Used for Pumping “.wav” streams</a:t>
          </a:r>
        </a:p>
      </dgm:t>
    </dgm:pt>
    <dgm:pt modelId="{3388D4CB-B5A2-44BC-ADA8-7FD14B5F4402}" type="parTrans" cxnId="{CAA9E31E-1B61-4480-8335-EE6AA948273F}">
      <dgm:prSet/>
      <dgm:spPr/>
      <dgm:t>
        <a:bodyPr/>
        <a:lstStyle/>
        <a:p>
          <a:endParaRPr lang="en-US" sz="2800"/>
        </a:p>
      </dgm:t>
    </dgm:pt>
    <dgm:pt modelId="{D87975C6-2A6D-4296-978B-51229D63E341}" type="sibTrans" cxnId="{CAA9E31E-1B61-4480-8335-EE6AA948273F}">
      <dgm:prSet/>
      <dgm:spPr/>
      <dgm:t>
        <a:bodyPr/>
        <a:lstStyle/>
        <a:p>
          <a:endParaRPr lang="en-US" sz="2800"/>
        </a:p>
      </dgm:t>
    </dgm:pt>
    <dgm:pt modelId="{90AC70A3-53FE-4C0C-9391-2B1C08A43F99}">
      <dgm:prSet phldrT="[Text]" custT="1"/>
      <dgm:spPr/>
      <dgm:t>
        <a:bodyPr/>
        <a:lstStyle/>
        <a:p>
          <a:r>
            <a:rPr lang="en-US" sz="2800" dirty="0"/>
            <a:t>MPCHC</a:t>
          </a:r>
        </a:p>
      </dgm:t>
    </dgm:pt>
    <dgm:pt modelId="{9F7FC9CA-26A0-4215-A77B-8CB8164CB47E}" type="parTrans" cxnId="{243CCBFB-2C7D-41D0-96C5-31CC73A3B0F6}">
      <dgm:prSet/>
      <dgm:spPr/>
      <dgm:t>
        <a:bodyPr/>
        <a:lstStyle/>
        <a:p>
          <a:endParaRPr lang="en-US" sz="2800"/>
        </a:p>
      </dgm:t>
    </dgm:pt>
    <dgm:pt modelId="{9B343527-3F4B-4FB3-958F-082EA6C7B96A}" type="sibTrans" cxnId="{243CCBFB-2C7D-41D0-96C5-31CC73A3B0F6}">
      <dgm:prSet/>
      <dgm:spPr/>
      <dgm:t>
        <a:bodyPr/>
        <a:lstStyle/>
        <a:p>
          <a:endParaRPr lang="en-US" sz="2800"/>
        </a:p>
      </dgm:t>
    </dgm:pt>
    <dgm:pt modelId="{9D98FE93-F0CD-44FC-BC7F-BE8B967997DD}">
      <dgm:prSet phldrT="[Text]" custT="1"/>
      <dgm:spPr/>
      <dgm:t>
        <a:bodyPr/>
        <a:lstStyle/>
        <a:p>
          <a:pPr rtl="0"/>
          <a:r>
            <a:rPr lang="en-US" sz="2800" dirty="0"/>
            <a:t>Used for Pumping DTSHD</a:t>
          </a:r>
          <a:r>
            <a:rPr lang="en-US" sz="2800" dirty="0">
              <a:latin typeface="Calibri"/>
            </a:rPr>
            <a:t> ".dtshd"</a:t>
          </a:r>
          <a:r>
            <a:rPr lang="en-US" sz="2800" dirty="0"/>
            <a:t> streams</a:t>
          </a:r>
        </a:p>
      </dgm:t>
    </dgm:pt>
    <dgm:pt modelId="{360ED64D-6C09-481D-960C-CD195973F52F}" type="parTrans" cxnId="{A55D4C44-C11A-4FF0-8141-5FA0E9CCAE25}">
      <dgm:prSet/>
      <dgm:spPr/>
      <dgm:t>
        <a:bodyPr/>
        <a:lstStyle/>
        <a:p>
          <a:endParaRPr lang="en-US" sz="2800"/>
        </a:p>
      </dgm:t>
    </dgm:pt>
    <dgm:pt modelId="{EFC4CB94-087C-46EC-81A9-64D57C857139}" type="sibTrans" cxnId="{A55D4C44-C11A-4FF0-8141-5FA0E9CCAE25}">
      <dgm:prSet/>
      <dgm:spPr/>
      <dgm:t>
        <a:bodyPr/>
        <a:lstStyle/>
        <a:p>
          <a:endParaRPr lang="en-US" sz="2800"/>
        </a:p>
      </dgm:t>
    </dgm:pt>
    <dgm:pt modelId="{CEFC0E9F-02AB-44C8-B601-C4178B9892C5}">
      <dgm:prSet phldrT="[Text]" custT="1"/>
      <dgm:spPr/>
      <dgm:t>
        <a:bodyPr/>
        <a:lstStyle/>
        <a:p>
          <a:r>
            <a:rPr lang="en-US" sz="2800" dirty="0"/>
            <a:t>DOLBY HDMI TOOL</a:t>
          </a:r>
        </a:p>
      </dgm:t>
    </dgm:pt>
    <dgm:pt modelId="{4BD6C0D5-008A-4A71-8941-8C6C283D5B42}" type="parTrans" cxnId="{132BEA55-39FF-42DD-94F4-0927518D17E0}">
      <dgm:prSet/>
      <dgm:spPr/>
      <dgm:t>
        <a:bodyPr/>
        <a:lstStyle/>
        <a:p>
          <a:endParaRPr lang="en-US" sz="2800"/>
        </a:p>
      </dgm:t>
    </dgm:pt>
    <dgm:pt modelId="{6158F9BE-473C-435A-89F0-5F2D517183EB}" type="sibTrans" cxnId="{132BEA55-39FF-42DD-94F4-0927518D17E0}">
      <dgm:prSet/>
      <dgm:spPr/>
      <dgm:t>
        <a:bodyPr/>
        <a:lstStyle/>
        <a:p>
          <a:endParaRPr lang="en-US" sz="2800"/>
        </a:p>
      </dgm:t>
    </dgm:pt>
    <dgm:pt modelId="{F296744E-CA4D-469D-B278-38F375230405}">
      <dgm:prSet phldrT="[Text]" custT="1"/>
      <dgm:spPr/>
      <dgm:t>
        <a:bodyPr/>
        <a:lstStyle/>
        <a:p>
          <a:r>
            <a:rPr lang="en-US" sz="2800" dirty="0"/>
            <a:t>Used for pumping DTSHD Stream.</a:t>
          </a:r>
        </a:p>
      </dgm:t>
    </dgm:pt>
    <dgm:pt modelId="{1D1E656E-43B6-4935-A715-4F230AA207E8}" type="parTrans" cxnId="{AB25F0B4-35CC-4AB1-9D5E-C239E9D45DDD}">
      <dgm:prSet/>
      <dgm:spPr/>
      <dgm:t>
        <a:bodyPr/>
        <a:lstStyle/>
        <a:p>
          <a:endParaRPr lang="en-US" sz="2800"/>
        </a:p>
      </dgm:t>
    </dgm:pt>
    <dgm:pt modelId="{DB29C4CE-DCBA-44C5-BA6A-5ECBE19D34A1}" type="sibTrans" cxnId="{AB25F0B4-35CC-4AB1-9D5E-C239E9D45DDD}">
      <dgm:prSet/>
      <dgm:spPr/>
      <dgm:t>
        <a:bodyPr/>
        <a:lstStyle/>
        <a:p>
          <a:endParaRPr lang="en-US" sz="2800"/>
        </a:p>
      </dgm:t>
    </dgm:pt>
    <dgm:pt modelId="{2D8161C3-00BB-410A-8DC2-86E3886292EC}">
      <dgm:prSet phldrT="[Text]" custT="1"/>
      <dgm:spPr/>
      <dgm:t>
        <a:bodyPr/>
        <a:lstStyle/>
        <a:p>
          <a:r>
            <a:rPr lang="en-US" sz="2800" dirty="0"/>
            <a:t>DTSHD HDMI TOOL (Linux)</a:t>
          </a:r>
        </a:p>
      </dgm:t>
    </dgm:pt>
    <dgm:pt modelId="{070611AC-8106-4489-B40E-0BC4699FA16E}" type="parTrans" cxnId="{32B09A19-0FC0-4DC2-A4B3-56B41B26FA7A}">
      <dgm:prSet/>
      <dgm:spPr/>
      <dgm:t>
        <a:bodyPr/>
        <a:lstStyle/>
        <a:p>
          <a:endParaRPr lang="en-US"/>
        </a:p>
      </dgm:t>
    </dgm:pt>
    <dgm:pt modelId="{E6562EF4-3C40-4655-844E-748A1C7E1DAA}" type="sibTrans" cxnId="{32B09A19-0FC0-4DC2-A4B3-56B41B26FA7A}">
      <dgm:prSet/>
      <dgm:spPr/>
      <dgm:t>
        <a:bodyPr/>
        <a:lstStyle/>
        <a:p>
          <a:endParaRPr lang="en-US"/>
        </a:p>
      </dgm:t>
    </dgm:pt>
    <dgm:pt modelId="{36D2F675-F5FB-4DDC-9DDD-1F820A5783A9}">
      <dgm:prSet phldrT="[Text]" custT="1"/>
      <dgm:spPr/>
      <dgm:t>
        <a:bodyPr/>
        <a:lstStyle/>
        <a:p>
          <a:pPr rtl="0"/>
          <a:r>
            <a:rPr lang="en-US" sz="2800" dirty="0"/>
            <a:t>Used for pumping Dolby </a:t>
          </a:r>
          <a:r>
            <a:rPr lang="en-US" sz="2800" dirty="0">
              <a:latin typeface="Calibri"/>
            </a:rPr>
            <a:t>".ac3,.ec3,.mat,.mlp.wav" </a:t>
          </a:r>
          <a:r>
            <a:rPr lang="en-US" sz="2800" dirty="0"/>
            <a:t>Stream.</a:t>
          </a:r>
        </a:p>
      </dgm:t>
    </dgm:pt>
    <dgm:pt modelId="{BFFF3CEB-B1DB-41B3-A27A-3D8CF511BE2C}" type="parTrans" cxnId="{F38FABE5-938D-4F2C-B5A3-42F6452C3EA6}">
      <dgm:prSet/>
      <dgm:spPr/>
      <dgm:t>
        <a:bodyPr/>
        <a:lstStyle/>
        <a:p>
          <a:endParaRPr lang="en-US"/>
        </a:p>
      </dgm:t>
    </dgm:pt>
    <dgm:pt modelId="{0F5E24DC-47AE-4E54-9BFD-57CCEAE47C81}" type="sibTrans" cxnId="{F38FABE5-938D-4F2C-B5A3-42F6452C3EA6}">
      <dgm:prSet/>
      <dgm:spPr/>
      <dgm:t>
        <a:bodyPr/>
        <a:lstStyle/>
        <a:p>
          <a:endParaRPr lang="en-US"/>
        </a:p>
      </dgm:t>
    </dgm:pt>
    <dgm:pt modelId="{88576237-3748-4A09-BE58-5D5F52F7560C}" type="pres">
      <dgm:prSet presAssocID="{220992FB-4EA5-4356-8E78-A23E466EFB5F}" presName="Name0" presStyleCnt="0">
        <dgm:presLayoutVars>
          <dgm:dir/>
          <dgm:animLvl val="lvl"/>
          <dgm:resizeHandles val="exact"/>
        </dgm:presLayoutVars>
      </dgm:prSet>
      <dgm:spPr/>
    </dgm:pt>
    <dgm:pt modelId="{519E31E0-A1C1-44A2-A8F0-85565BFC4423}" type="pres">
      <dgm:prSet presAssocID="{D7F20790-AFDB-4989-87ED-BEA4C184D674}" presName="linNode" presStyleCnt="0"/>
      <dgm:spPr/>
    </dgm:pt>
    <dgm:pt modelId="{9C52395B-F7A2-4CC0-9B32-E3C209087D33}" type="pres">
      <dgm:prSet presAssocID="{D7F20790-AFDB-4989-87ED-BEA4C184D674}" presName="parentText" presStyleLbl="node1" presStyleIdx="0" presStyleCnt="4" custScaleY="64186">
        <dgm:presLayoutVars>
          <dgm:chMax val="1"/>
          <dgm:bulletEnabled val="1"/>
        </dgm:presLayoutVars>
      </dgm:prSet>
      <dgm:spPr/>
    </dgm:pt>
    <dgm:pt modelId="{930C434C-ED0D-4BE3-87F4-84FC511FD658}" type="pres">
      <dgm:prSet presAssocID="{D7F20790-AFDB-4989-87ED-BEA4C184D674}" presName="descendantText" presStyleLbl="alignAccFollowNode1" presStyleIdx="0" presStyleCnt="4" custScaleY="79279">
        <dgm:presLayoutVars>
          <dgm:bulletEnabled val="1"/>
        </dgm:presLayoutVars>
      </dgm:prSet>
      <dgm:spPr/>
    </dgm:pt>
    <dgm:pt modelId="{64399F81-34E2-472F-B457-1D0C67492BC1}" type="pres">
      <dgm:prSet presAssocID="{E2C8CF75-4D6C-49C0-990E-544A81C3F0A8}" presName="sp" presStyleCnt="0"/>
      <dgm:spPr/>
    </dgm:pt>
    <dgm:pt modelId="{72F83919-6E15-47DD-A9FA-8771AC24E832}" type="pres">
      <dgm:prSet presAssocID="{90AC70A3-53FE-4C0C-9391-2B1C08A43F99}" presName="linNode" presStyleCnt="0"/>
      <dgm:spPr/>
    </dgm:pt>
    <dgm:pt modelId="{F19BB7FB-0B8B-4EE3-9024-3CCE2EB2F75D}" type="pres">
      <dgm:prSet presAssocID="{90AC70A3-53FE-4C0C-9391-2B1C08A43F99}" presName="parentText" presStyleLbl="node1" presStyleIdx="1" presStyleCnt="4" custScaleY="61418">
        <dgm:presLayoutVars>
          <dgm:chMax val="1"/>
          <dgm:bulletEnabled val="1"/>
        </dgm:presLayoutVars>
      </dgm:prSet>
      <dgm:spPr/>
    </dgm:pt>
    <dgm:pt modelId="{0C9F11DC-8701-4F5D-B598-F2908573CE8B}" type="pres">
      <dgm:prSet presAssocID="{90AC70A3-53FE-4C0C-9391-2B1C08A43F99}" presName="descendantText" presStyleLbl="alignAccFollowNode1" presStyleIdx="1" presStyleCnt="4" custScaleY="77573">
        <dgm:presLayoutVars>
          <dgm:bulletEnabled val="1"/>
        </dgm:presLayoutVars>
      </dgm:prSet>
      <dgm:spPr/>
    </dgm:pt>
    <dgm:pt modelId="{457A8D41-9C54-4F81-99B5-E849576D03F7}" type="pres">
      <dgm:prSet presAssocID="{9B343527-3F4B-4FB3-958F-082EA6C7B96A}" presName="sp" presStyleCnt="0"/>
      <dgm:spPr/>
    </dgm:pt>
    <dgm:pt modelId="{12BD8BD4-2E85-4E2A-A493-DFCBA1CCF9B7}" type="pres">
      <dgm:prSet presAssocID="{CEFC0E9F-02AB-44C8-B601-C4178B9892C5}" presName="linNode" presStyleCnt="0"/>
      <dgm:spPr/>
    </dgm:pt>
    <dgm:pt modelId="{80BF037B-9030-492D-B1BF-07618D9AC85B}" type="pres">
      <dgm:prSet presAssocID="{CEFC0E9F-02AB-44C8-B601-C4178B9892C5}" presName="parentText" presStyleLbl="node1" presStyleIdx="2" presStyleCnt="4" custScaleY="61726">
        <dgm:presLayoutVars>
          <dgm:chMax val="1"/>
          <dgm:bulletEnabled val="1"/>
        </dgm:presLayoutVars>
      </dgm:prSet>
      <dgm:spPr/>
    </dgm:pt>
    <dgm:pt modelId="{8FB9CD6B-789B-4B6C-A74B-D47AEA049795}" type="pres">
      <dgm:prSet presAssocID="{CEFC0E9F-02AB-44C8-B601-C4178B9892C5}" presName="descendantText" presStyleLbl="alignAccFollowNode1" presStyleIdx="2" presStyleCnt="4" custScaleY="67519">
        <dgm:presLayoutVars>
          <dgm:bulletEnabled val="1"/>
        </dgm:presLayoutVars>
      </dgm:prSet>
      <dgm:spPr/>
    </dgm:pt>
    <dgm:pt modelId="{7D3B2478-962E-49B8-9E85-A09190ECC118}" type="pres">
      <dgm:prSet presAssocID="{6158F9BE-473C-435A-89F0-5F2D517183EB}" presName="sp" presStyleCnt="0"/>
      <dgm:spPr/>
    </dgm:pt>
    <dgm:pt modelId="{BDA0D4DF-D0C2-42CC-8166-E48B593D3358}" type="pres">
      <dgm:prSet presAssocID="{2D8161C3-00BB-410A-8DC2-86E3886292EC}" presName="linNode" presStyleCnt="0"/>
      <dgm:spPr/>
    </dgm:pt>
    <dgm:pt modelId="{2BC8C9E4-A4A4-4066-800B-401FE8B627F6}" type="pres">
      <dgm:prSet presAssocID="{2D8161C3-00BB-410A-8DC2-86E3886292EC}" presName="parentText" presStyleLbl="node1" presStyleIdx="3" presStyleCnt="4" custScaleY="67755">
        <dgm:presLayoutVars>
          <dgm:chMax val="1"/>
          <dgm:bulletEnabled val="1"/>
        </dgm:presLayoutVars>
      </dgm:prSet>
      <dgm:spPr/>
    </dgm:pt>
    <dgm:pt modelId="{2231B1E1-5FFB-4460-A660-EDB0BA7AC9A4}" type="pres">
      <dgm:prSet presAssocID="{2D8161C3-00BB-410A-8DC2-86E3886292EC}" presName="descendantText" presStyleLbl="alignAccFollowNode1" presStyleIdx="3" presStyleCnt="4" custScaleY="79612">
        <dgm:presLayoutVars>
          <dgm:bulletEnabled val="1"/>
        </dgm:presLayoutVars>
      </dgm:prSet>
      <dgm:spPr/>
    </dgm:pt>
  </dgm:ptLst>
  <dgm:cxnLst>
    <dgm:cxn modelId="{0F8C510E-343C-447F-8E3D-7634A666E734}" type="presOf" srcId="{90AC70A3-53FE-4C0C-9391-2B1C08A43F99}" destId="{F19BB7FB-0B8B-4EE3-9024-3CCE2EB2F75D}" srcOrd="0" destOrd="0" presId="urn:microsoft.com/office/officeart/2005/8/layout/vList5"/>
    <dgm:cxn modelId="{32B09A19-0FC0-4DC2-A4B3-56B41B26FA7A}" srcId="{220992FB-4EA5-4356-8E78-A23E466EFB5F}" destId="{2D8161C3-00BB-410A-8DC2-86E3886292EC}" srcOrd="3" destOrd="0" parTransId="{070611AC-8106-4489-B40E-0BC4699FA16E}" sibTransId="{E6562EF4-3C40-4655-844E-748A1C7E1DAA}"/>
    <dgm:cxn modelId="{CAA9E31E-1B61-4480-8335-EE6AA948273F}" srcId="{D7F20790-AFDB-4989-87ED-BEA4C184D674}" destId="{704090CD-0822-416A-8B2B-AFA130BB68C6}" srcOrd="0" destOrd="0" parTransId="{3388D4CB-B5A2-44BC-ADA8-7FD14B5F4402}" sibTransId="{D87975C6-2A6D-4296-978B-51229D63E341}"/>
    <dgm:cxn modelId="{BEFC7421-9750-42EC-8670-17DB1EF70195}" type="presOf" srcId="{36D2F675-F5FB-4DDC-9DDD-1F820A5783A9}" destId="{8FB9CD6B-789B-4B6C-A74B-D47AEA049795}" srcOrd="0" destOrd="0" presId="urn:microsoft.com/office/officeart/2005/8/layout/vList5"/>
    <dgm:cxn modelId="{7309E263-CA95-46F4-8EB2-D9315945F099}" srcId="{220992FB-4EA5-4356-8E78-A23E466EFB5F}" destId="{D7F20790-AFDB-4989-87ED-BEA4C184D674}" srcOrd="0" destOrd="0" parTransId="{F5760FE2-B5F7-43D2-A4D8-B6D385813AE6}" sibTransId="{E2C8CF75-4D6C-49C0-990E-544A81C3F0A8}"/>
    <dgm:cxn modelId="{0EBE3B44-9A1C-4E9E-BE07-0E28CFB9B310}" type="presOf" srcId="{704090CD-0822-416A-8B2B-AFA130BB68C6}" destId="{930C434C-ED0D-4BE3-87F4-84FC511FD658}" srcOrd="0" destOrd="0" presId="urn:microsoft.com/office/officeart/2005/8/layout/vList5"/>
    <dgm:cxn modelId="{A55D4C44-C11A-4FF0-8141-5FA0E9CCAE25}" srcId="{90AC70A3-53FE-4C0C-9391-2B1C08A43F99}" destId="{9D98FE93-F0CD-44FC-BC7F-BE8B967997DD}" srcOrd="0" destOrd="0" parTransId="{360ED64D-6C09-481D-960C-CD195973F52F}" sibTransId="{EFC4CB94-087C-46EC-81A9-64D57C857139}"/>
    <dgm:cxn modelId="{B9332647-F1F7-4256-9E47-AFBCD1B89F5B}" type="presOf" srcId="{2D8161C3-00BB-410A-8DC2-86E3886292EC}" destId="{2BC8C9E4-A4A4-4066-800B-401FE8B627F6}" srcOrd="0" destOrd="0" presId="urn:microsoft.com/office/officeart/2005/8/layout/vList5"/>
    <dgm:cxn modelId="{F5ACC068-22C7-428B-A833-7E8FCED1C62F}" type="presOf" srcId="{220992FB-4EA5-4356-8E78-A23E466EFB5F}" destId="{88576237-3748-4A09-BE58-5D5F52F7560C}" srcOrd="0" destOrd="0" presId="urn:microsoft.com/office/officeart/2005/8/layout/vList5"/>
    <dgm:cxn modelId="{132BEA55-39FF-42DD-94F4-0927518D17E0}" srcId="{220992FB-4EA5-4356-8E78-A23E466EFB5F}" destId="{CEFC0E9F-02AB-44C8-B601-C4178B9892C5}" srcOrd="2" destOrd="0" parTransId="{4BD6C0D5-008A-4A71-8941-8C6C283D5B42}" sibTransId="{6158F9BE-473C-435A-89F0-5F2D517183EB}"/>
    <dgm:cxn modelId="{FAADBE97-03F2-4F95-ACAF-4932D1403A65}" type="presOf" srcId="{CEFC0E9F-02AB-44C8-B601-C4178B9892C5}" destId="{80BF037B-9030-492D-B1BF-07618D9AC85B}" srcOrd="0" destOrd="0" presId="urn:microsoft.com/office/officeart/2005/8/layout/vList5"/>
    <dgm:cxn modelId="{7CC9B49F-1F00-4FC1-AEAF-FB7B26C5FFA9}" type="presOf" srcId="{F296744E-CA4D-469D-B278-38F375230405}" destId="{2231B1E1-5FFB-4460-A660-EDB0BA7AC9A4}" srcOrd="0" destOrd="0" presId="urn:microsoft.com/office/officeart/2005/8/layout/vList5"/>
    <dgm:cxn modelId="{7BBF20B2-EE42-4167-8228-75D87AD82170}" type="presOf" srcId="{D7F20790-AFDB-4989-87ED-BEA4C184D674}" destId="{9C52395B-F7A2-4CC0-9B32-E3C209087D33}" srcOrd="0" destOrd="0" presId="urn:microsoft.com/office/officeart/2005/8/layout/vList5"/>
    <dgm:cxn modelId="{AB25F0B4-35CC-4AB1-9D5E-C239E9D45DDD}" srcId="{2D8161C3-00BB-410A-8DC2-86E3886292EC}" destId="{F296744E-CA4D-469D-B278-38F375230405}" srcOrd="0" destOrd="0" parTransId="{1D1E656E-43B6-4935-A715-4F230AA207E8}" sibTransId="{DB29C4CE-DCBA-44C5-BA6A-5ECBE19D34A1}"/>
    <dgm:cxn modelId="{8A9E4EC4-7A5F-423F-8A75-BDF0DA8EBC02}" type="presOf" srcId="{9D98FE93-F0CD-44FC-BC7F-BE8B967997DD}" destId="{0C9F11DC-8701-4F5D-B598-F2908573CE8B}" srcOrd="0" destOrd="0" presId="urn:microsoft.com/office/officeart/2005/8/layout/vList5"/>
    <dgm:cxn modelId="{F38FABE5-938D-4F2C-B5A3-42F6452C3EA6}" srcId="{CEFC0E9F-02AB-44C8-B601-C4178B9892C5}" destId="{36D2F675-F5FB-4DDC-9DDD-1F820A5783A9}" srcOrd="0" destOrd="0" parTransId="{BFFF3CEB-B1DB-41B3-A27A-3D8CF511BE2C}" sibTransId="{0F5E24DC-47AE-4E54-9BFD-57CCEAE47C81}"/>
    <dgm:cxn modelId="{243CCBFB-2C7D-41D0-96C5-31CC73A3B0F6}" srcId="{220992FB-4EA5-4356-8E78-A23E466EFB5F}" destId="{90AC70A3-53FE-4C0C-9391-2B1C08A43F99}" srcOrd="1" destOrd="0" parTransId="{9F7FC9CA-26A0-4215-A77B-8CB8164CB47E}" sibTransId="{9B343527-3F4B-4FB3-958F-082EA6C7B96A}"/>
    <dgm:cxn modelId="{829C404C-F70C-46E6-B1A8-AB7C99E2EFE4}" type="presParOf" srcId="{88576237-3748-4A09-BE58-5D5F52F7560C}" destId="{519E31E0-A1C1-44A2-A8F0-85565BFC4423}" srcOrd="0" destOrd="0" presId="urn:microsoft.com/office/officeart/2005/8/layout/vList5"/>
    <dgm:cxn modelId="{B4F23105-817C-49F1-9FAE-20D4CD446E1A}" type="presParOf" srcId="{519E31E0-A1C1-44A2-A8F0-85565BFC4423}" destId="{9C52395B-F7A2-4CC0-9B32-E3C209087D33}" srcOrd="0" destOrd="0" presId="urn:microsoft.com/office/officeart/2005/8/layout/vList5"/>
    <dgm:cxn modelId="{E4848AEF-E818-409D-BE40-C6E82BAA69A9}" type="presParOf" srcId="{519E31E0-A1C1-44A2-A8F0-85565BFC4423}" destId="{930C434C-ED0D-4BE3-87F4-84FC511FD658}" srcOrd="1" destOrd="0" presId="urn:microsoft.com/office/officeart/2005/8/layout/vList5"/>
    <dgm:cxn modelId="{8A892049-7C60-49AB-8B3D-B304C0CDE817}" type="presParOf" srcId="{88576237-3748-4A09-BE58-5D5F52F7560C}" destId="{64399F81-34E2-472F-B457-1D0C67492BC1}" srcOrd="1" destOrd="0" presId="urn:microsoft.com/office/officeart/2005/8/layout/vList5"/>
    <dgm:cxn modelId="{4A73A3D8-58D1-44CC-98CB-90E0BF73E985}" type="presParOf" srcId="{88576237-3748-4A09-BE58-5D5F52F7560C}" destId="{72F83919-6E15-47DD-A9FA-8771AC24E832}" srcOrd="2" destOrd="0" presId="urn:microsoft.com/office/officeart/2005/8/layout/vList5"/>
    <dgm:cxn modelId="{9D496712-E4EF-4A9C-9865-84E273BA3D9B}" type="presParOf" srcId="{72F83919-6E15-47DD-A9FA-8771AC24E832}" destId="{F19BB7FB-0B8B-4EE3-9024-3CCE2EB2F75D}" srcOrd="0" destOrd="0" presId="urn:microsoft.com/office/officeart/2005/8/layout/vList5"/>
    <dgm:cxn modelId="{9F1DB8D3-C7BA-45A5-BC74-2F89C7F56C88}" type="presParOf" srcId="{72F83919-6E15-47DD-A9FA-8771AC24E832}" destId="{0C9F11DC-8701-4F5D-B598-F2908573CE8B}" srcOrd="1" destOrd="0" presId="urn:microsoft.com/office/officeart/2005/8/layout/vList5"/>
    <dgm:cxn modelId="{713FCFE0-6FCD-4E46-BC76-13A4838A89C1}" type="presParOf" srcId="{88576237-3748-4A09-BE58-5D5F52F7560C}" destId="{457A8D41-9C54-4F81-99B5-E849576D03F7}" srcOrd="3" destOrd="0" presId="urn:microsoft.com/office/officeart/2005/8/layout/vList5"/>
    <dgm:cxn modelId="{0D266841-463A-428A-A35A-0B23B3A9A568}" type="presParOf" srcId="{88576237-3748-4A09-BE58-5D5F52F7560C}" destId="{12BD8BD4-2E85-4E2A-A493-DFCBA1CCF9B7}" srcOrd="4" destOrd="0" presId="urn:microsoft.com/office/officeart/2005/8/layout/vList5"/>
    <dgm:cxn modelId="{129B480C-F843-4352-A456-89E69DC340B3}" type="presParOf" srcId="{12BD8BD4-2E85-4E2A-A493-DFCBA1CCF9B7}" destId="{80BF037B-9030-492D-B1BF-07618D9AC85B}" srcOrd="0" destOrd="0" presId="urn:microsoft.com/office/officeart/2005/8/layout/vList5"/>
    <dgm:cxn modelId="{C04DEBBF-4F1E-4D8C-A1E1-E2F61962B828}" type="presParOf" srcId="{12BD8BD4-2E85-4E2A-A493-DFCBA1CCF9B7}" destId="{8FB9CD6B-789B-4B6C-A74B-D47AEA049795}" srcOrd="1" destOrd="0" presId="urn:microsoft.com/office/officeart/2005/8/layout/vList5"/>
    <dgm:cxn modelId="{400CAB0E-DD42-41AF-BDAD-2E40919A0650}" type="presParOf" srcId="{88576237-3748-4A09-BE58-5D5F52F7560C}" destId="{7D3B2478-962E-49B8-9E85-A09190ECC118}" srcOrd="5" destOrd="0" presId="urn:microsoft.com/office/officeart/2005/8/layout/vList5"/>
    <dgm:cxn modelId="{758D475C-96E3-4782-B324-5CF628D02243}" type="presParOf" srcId="{88576237-3748-4A09-BE58-5D5F52F7560C}" destId="{BDA0D4DF-D0C2-42CC-8166-E48B593D3358}" srcOrd="6" destOrd="0" presId="urn:microsoft.com/office/officeart/2005/8/layout/vList5"/>
    <dgm:cxn modelId="{A2C3FA88-9652-4325-AF78-DE535F4A33E7}" type="presParOf" srcId="{BDA0D4DF-D0C2-42CC-8166-E48B593D3358}" destId="{2BC8C9E4-A4A4-4066-800B-401FE8B627F6}" srcOrd="0" destOrd="0" presId="urn:microsoft.com/office/officeart/2005/8/layout/vList5"/>
    <dgm:cxn modelId="{7D1794AA-0F6E-4844-B470-867509455754}" type="presParOf" srcId="{BDA0D4DF-D0C2-42CC-8166-E48B593D3358}" destId="{2231B1E1-5FFB-4460-A660-EDB0BA7AC9A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0C434C-ED0D-4BE3-87F4-84FC511FD658}">
      <dsp:nvSpPr>
        <dsp:cNvPr id="0" name=""/>
        <dsp:cNvSpPr/>
      </dsp:nvSpPr>
      <dsp:spPr>
        <a:xfrm rot="5400000">
          <a:off x="6931495" y="-2973591"/>
          <a:ext cx="1059527" cy="702236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Used for Pumping “.wav” streams</a:t>
          </a:r>
        </a:p>
      </dsp:txBody>
      <dsp:txXfrm rot="-5400000">
        <a:off x="3950078" y="59548"/>
        <a:ext cx="6970639" cy="956083"/>
      </dsp:txXfrm>
    </dsp:sp>
    <dsp:sp modelId="{9C52395B-F7A2-4CC0-9B32-E3C209087D33}">
      <dsp:nvSpPr>
        <dsp:cNvPr id="0" name=""/>
        <dsp:cNvSpPr/>
      </dsp:nvSpPr>
      <dsp:spPr>
        <a:xfrm>
          <a:off x="0" y="1453"/>
          <a:ext cx="3950078" cy="1072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Foobar</a:t>
          </a:r>
          <a:endParaRPr lang="en-US" sz="2800" kern="1200" dirty="0"/>
        </a:p>
      </dsp:txBody>
      <dsp:txXfrm>
        <a:off x="52344" y="53797"/>
        <a:ext cx="3845390" cy="967582"/>
      </dsp:txXfrm>
    </dsp:sp>
    <dsp:sp modelId="{0C9F11DC-8701-4F5D-B598-F2908573CE8B}">
      <dsp:nvSpPr>
        <dsp:cNvPr id="0" name=""/>
        <dsp:cNvSpPr/>
      </dsp:nvSpPr>
      <dsp:spPr>
        <a:xfrm rot="5400000">
          <a:off x="6942895" y="-1835563"/>
          <a:ext cx="1036727" cy="702236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Used for Pumping DTSHD</a:t>
          </a:r>
          <a:r>
            <a:rPr lang="en-US" sz="2800" kern="1200" dirty="0">
              <a:latin typeface="Calibri"/>
            </a:rPr>
            <a:t> ".dtshd"</a:t>
          </a:r>
          <a:r>
            <a:rPr lang="en-US" sz="2800" kern="1200" dirty="0"/>
            <a:t> streams</a:t>
          </a:r>
        </a:p>
      </dsp:txBody>
      <dsp:txXfrm rot="-5400000">
        <a:off x="3950079" y="1207862"/>
        <a:ext cx="6971752" cy="935509"/>
      </dsp:txXfrm>
    </dsp:sp>
    <dsp:sp modelId="{F19BB7FB-0B8B-4EE3-9024-3CCE2EB2F75D}">
      <dsp:nvSpPr>
        <dsp:cNvPr id="0" name=""/>
        <dsp:cNvSpPr/>
      </dsp:nvSpPr>
      <dsp:spPr>
        <a:xfrm>
          <a:off x="0" y="1162602"/>
          <a:ext cx="3950078" cy="1026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MPCHC</a:t>
          </a:r>
        </a:p>
      </dsp:txBody>
      <dsp:txXfrm>
        <a:off x="50087" y="1212689"/>
        <a:ext cx="3849904" cy="925855"/>
      </dsp:txXfrm>
    </dsp:sp>
    <dsp:sp modelId="{8FB9CD6B-789B-4B6C-A74B-D47AEA049795}">
      <dsp:nvSpPr>
        <dsp:cNvPr id="0" name=""/>
        <dsp:cNvSpPr/>
      </dsp:nvSpPr>
      <dsp:spPr>
        <a:xfrm rot="5400000">
          <a:off x="7010078" y="-718083"/>
          <a:ext cx="902360" cy="702236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Used for pumping Dolby </a:t>
          </a:r>
          <a:r>
            <a:rPr lang="en-US" sz="2800" kern="1200" dirty="0">
              <a:latin typeface="Calibri"/>
            </a:rPr>
            <a:t>".ac3,.ec3,.mat,.mlp.wav" </a:t>
          </a:r>
          <a:r>
            <a:rPr lang="en-US" sz="2800" kern="1200" dirty="0"/>
            <a:t>Stream.</a:t>
          </a:r>
        </a:p>
      </dsp:txBody>
      <dsp:txXfrm rot="-5400000">
        <a:off x="3950078" y="2385967"/>
        <a:ext cx="6978311" cy="814260"/>
      </dsp:txXfrm>
    </dsp:sp>
    <dsp:sp modelId="{80BF037B-9030-492D-B1BF-07618D9AC85B}">
      <dsp:nvSpPr>
        <dsp:cNvPr id="0" name=""/>
        <dsp:cNvSpPr/>
      </dsp:nvSpPr>
      <dsp:spPr>
        <a:xfrm>
          <a:off x="0" y="2277509"/>
          <a:ext cx="3950078" cy="10311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DOLBY HDMI TOOL</a:t>
          </a:r>
        </a:p>
      </dsp:txBody>
      <dsp:txXfrm>
        <a:off x="50338" y="2327847"/>
        <a:ext cx="3849402" cy="930498"/>
      </dsp:txXfrm>
    </dsp:sp>
    <dsp:sp modelId="{2231B1E1-5FFB-4460-A660-EDB0BA7AC9A4}">
      <dsp:nvSpPr>
        <dsp:cNvPr id="0" name=""/>
        <dsp:cNvSpPr/>
      </dsp:nvSpPr>
      <dsp:spPr>
        <a:xfrm rot="5400000">
          <a:off x="6929270" y="446978"/>
          <a:ext cx="1063978" cy="702236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Used for pumping DTSHD Stream.</a:t>
          </a:r>
        </a:p>
      </dsp:txBody>
      <dsp:txXfrm rot="-5400000">
        <a:off x="3950079" y="3478109"/>
        <a:ext cx="6970422" cy="960100"/>
      </dsp:txXfrm>
    </dsp:sp>
    <dsp:sp modelId="{2BC8C9E4-A4A4-4066-800B-401FE8B627F6}">
      <dsp:nvSpPr>
        <dsp:cNvPr id="0" name=""/>
        <dsp:cNvSpPr/>
      </dsp:nvSpPr>
      <dsp:spPr>
        <a:xfrm>
          <a:off x="0" y="3392212"/>
          <a:ext cx="3950078" cy="11318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DTSHD HDMI TOOL (Linux)</a:t>
          </a:r>
        </a:p>
      </dsp:txBody>
      <dsp:txXfrm>
        <a:off x="55254" y="3447466"/>
        <a:ext cx="3839570" cy="10213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2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24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25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26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C985913-6D0F-4532-8AC3-517F9B22CDDD}" type="slidenum"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0"/>
            <a:ext cx="6400440" cy="360000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731520" y="4560480"/>
            <a:ext cx="5851800" cy="432036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0"/>
          </p:nvPr>
        </p:nvSpPr>
        <p:spPr>
          <a:xfrm>
            <a:off x="4143600" y="9119520"/>
            <a:ext cx="3169440" cy="4798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3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88E4D21-6D0A-478D-B52C-C8C83716B7D0}" type="slidenum">
              <a:rPr lang="en-US" sz="13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IN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0"/>
            <a:ext cx="6400440" cy="360000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731520" y="4560480"/>
            <a:ext cx="5851800" cy="432036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2"/>
          </p:nvPr>
        </p:nvSpPr>
        <p:spPr>
          <a:xfrm>
            <a:off x="4143600" y="9119520"/>
            <a:ext cx="3169440" cy="4798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66F8D3-E9CF-42EF-8EF6-C1DEC3B5EA79}" type="slidenum">
              <a:rPr lang="en-US" sz="1300" b="0" strike="noStrike" spc="-1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lang="en-IN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0"/>
            <a:ext cx="6400440" cy="360000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731520" y="4560480"/>
            <a:ext cx="5851800" cy="432036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3"/>
          </p:nvPr>
        </p:nvSpPr>
        <p:spPr>
          <a:xfrm>
            <a:off x="4143600" y="9119520"/>
            <a:ext cx="3169440" cy="479880"/>
          </a:xfrm>
          <a:prstGeom prst="rect">
            <a:avLst/>
          </a:prstGeom>
          <a:noFill/>
          <a:ln w="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A4FEC2-EECE-4DD7-98D7-80A7F214377A}" type="slidenum">
              <a:rPr lang="en-US" sz="1300" b="0" strike="noStrike" spc="-1">
                <a:solidFill>
                  <a:schemeClr val="dk1"/>
                </a:solidFill>
                <a:latin typeface="+mn-lt"/>
                <a:ea typeface="+mn-ea"/>
              </a:rPr>
              <a:t>25</a:t>
            </a:fld>
            <a:endParaRPr lang="en-IN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A413B7E-9472-4811-9F81-C1E7FFFA5E85}" type="slidenum">
              <a:t>‹#›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599400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599400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93EBE48-1E65-4893-A18B-8B5E082F1464}" type="slidenum">
              <a:t>‹#›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599400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/>
          <p:nvPr/>
        </p:nvSpPr>
        <p:spPr>
          <a:xfrm>
            <a:off x="0" y="6553080"/>
            <a:ext cx="12191760" cy="30456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59940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0" y="6568920"/>
            <a:ext cx="3250800" cy="28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chemeClr val="lt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590B0E-0618-4621-9B68-ED359A04182F}" type="slidenum">
              <a:rPr lang="en-US" sz="900" b="0" strike="noStrike" spc="-1">
                <a:solidFill>
                  <a:schemeClr val="lt1">
                    <a:tint val="75000"/>
                  </a:schemeClr>
                </a:solidFill>
                <a:latin typeface="Calibri"/>
              </a:rPr>
              <a:t>‹#›</a:t>
            </a:fld>
            <a:endParaRPr lang="en-IN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" name="Picture 17" descr="logo_jasmin_infotech"/>
          <p:cNvPicPr/>
          <p:nvPr/>
        </p:nvPicPr>
        <p:blipFill>
          <a:blip r:embed="rId3"/>
          <a:stretch/>
        </p:blipFill>
        <p:spPr>
          <a:xfrm>
            <a:off x="9651960" y="152280"/>
            <a:ext cx="2336400" cy="561600"/>
          </a:xfrm>
          <a:prstGeom prst="rect">
            <a:avLst/>
          </a:prstGeom>
          <a:ln w="9525">
            <a:noFill/>
          </a:ln>
        </p:spPr>
      </p:pic>
      <p:sp>
        <p:nvSpPr>
          <p:cNvPr id="5" name="Rectangle 4"/>
          <p:cNvSpPr/>
          <p:nvPr/>
        </p:nvSpPr>
        <p:spPr>
          <a:xfrm>
            <a:off x="0" y="914400"/>
            <a:ext cx="12191760" cy="15192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06440" y="15238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Rectangle 4"/>
          <p:cNvSpPr/>
          <p:nvPr/>
        </p:nvSpPr>
        <p:spPr>
          <a:xfrm>
            <a:off x="0" y="6553080"/>
            <a:ext cx="12191760" cy="30456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0" y="914400"/>
            <a:ext cx="12191760" cy="15192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" name="Picture 17" descr="logo_jasmin_infotech"/>
          <p:cNvPicPr/>
          <p:nvPr/>
        </p:nvPicPr>
        <p:blipFill>
          <a:blip r:embed="rId3"/>
          <a:stretch/>
        </p:blipFill>
        <p:spPr>
          <a:xfrm>
            <a:off x="10045800" y="294480"/>
            <a:ext cx="1752120" cy="561600"/>
          </a:xfrm>
          <a:prstGeom prst="rect">
            <a:avLst/>
          </a:prstGeom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/>
          <p:nvPr/>
        </p:nvSpPr>
        <p:spPr>
          <a:xfrm>
            <a:off x="0" y="6553080"/>
            <a:ext cx="12191760" cy="30456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" name="Slide Number Placeholder 4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fld id="{B4F3BC94-8F4D-4484-84E4-62C0858B7E13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‹#›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Picture 17" descr="logo_jasmin_infotech"/>
          <p:cNvPicPr/>
          <p:nvPr/>
        </p:nvPicPr>
        <p:blipFill>
          <a:blip r:embed="rId3"/>
          <a:stretch/>
        </p:blipFill>
        <p:spPr>
          <a:xfrm>
            <a:off x="9651960" y="152280"/>
            <a:ext cx="2336400" cy="561600"/>
          </a:xfrm>
          <a:prstGeom prst="rect">
            <a:avLst/>
          </a:prstGeom>
          <a:ln w="9525">
            <a:noFill/>
          </a:ln>
        </p:spPr>
      </p:pic>
      <p:sp>
        <p:nvSpPr>
          <p:cNvPr id="16" name="Rectangle 4"/>
          <p:cNvSpPr/>
          <p:nvPr/>
        </p:nvSpPr>
        <p:spPr>
          <a:xfrm>
            <a:off x="0" y="914400"/>
            <a:ext cx="12191760" cy="15192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Rectangle 1032"/>
          <p:cNvSpPr/>
          <p:nvPr/>
        </p:nvSpPr>
        <p:spPr>
          <a:xfrm>
            <a:off x="4775040" y="2971800"/>
            <a:ext cx="6400440" cy="369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Rectangle 6"/>
          <p:cNvSpPr/>
          <p:nvPr/>
        </p:nvSpPr>
        <p:spPr>
          <a:xfrm>
            <a:off x="406440" y="3040200"/>
            <a:ext cx="4165200" cy="4611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2400" b="0" strike="noStrike" spc="-1">
              <a:solidFill>
                <a:schemeClr val="dk1"/>
              </a:solidFill>
              <a:latin typeface="Book Antiqua"/>
            </a:endParaRPr>
          </a:p>
        </p:txBody>
      </p:sp>
      <p:sp>
        <p:nvSpPr>
          <p:cNvPr id="19" name="Rectangle 7"/>
          <p:cNvSpPr/>
          <p:nvPr/>
        </p:nvSpPr>
        <p:spPr>
          <a:xfrm>
            <a:off x="3454560" y="1066680"/>
            <a:ext cx="5486040" cy="18284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0" strike="noStrike" spc="-1">
                <a:solidFill>
                  <a:schemeClr val="accent2"/>
                </a:solidFill>
                <a:latin typeface="Trebuchet MS"/>
              </a:rPr>
              <a:t>Jasmin Infotech Pvt. Ltd.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00" b="0" strike="noStrike" spc="-1">
                <a:solidFill>
                  <a:schemeClr val="accent2"/>
                </a:solidFill>
                <a:latin typeface="Trebuchet MS"/>
              </a:rPr>
              <a:t>Plot 119, Velachery Tambaram Road, Pallikaranai,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00" b="0" strike="noStrike" spc="-1">
                <a:solidFill>
                  <a:schemeClr val="accent2"/>
                </a:solidFill>
                <a:latin typeface="Trebuchet MS"/>
              </a:rPr>
              <a:t>Chennai 600100, INDIA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00" b="0" strike="noStrike" spc="-1">
                <a:solidFill>
                  <a:schemeClr val="accent2"/>
                </a:solidFill>
                <a:latin typeface="Trebuchet MS"/>
              </a:rPr>
              <a:t>Tel.: 91-44-3061 9600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00" b="0" strike="noStrike" spc="-1">
                <a:solidFill>
                  <a:schemeClr val="accent2"/>
                </a:solidFill>
                <a:latin typeface="Trebuchet MS"/>
              </a:rPr>
              <a:t>Fax: 91-44-3061 9605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00" b="0" strike="noStrike" spc="-1">
                <a:solidFill>
                  <a:schemeClr val="accent2"/>
                </a:solidFill>
                <a:latin typeface="Trebuchet MS"/>
              </a:rPr>
              <a:t>http://www.jasmin-infoteh.com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Box 5"/>
          <p:cNvSpPr/>
          <p:nvPr/>
        </p:nvSpPr>
        <p:spPr>
          <a:xfrm>
            <a:off x="8176680" y="3048120"/>
            <a:ext cx="3657240" cy="13705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Jasmin Infotech Inc.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560, S.Winchester Blvd, 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Suite 500, San Jose, 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CA-95128, USA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Tel: +1 408 550 3591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Box 6"/>
          <p:cNvSpPr/>
          <p:nvPr/>
        </p:nvSpPr>
        <p:spPr>
          <a:xfrm>
            <a:off x="4368960" y="3047760"/>
            <a:ext cx="3657240" cy="1584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Jasmin Infotech GmbH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Stefan-George-Ring 29 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81929 München 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Germany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Tel:+49 451 408 3497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Box 6"/>
          <p:cNvSpPr/>
          <p:nvPr/>
        </p:nvSpPr>
        <p:spPr>
          <a:xfrm>
            <a:off x="507960" y="2971800"/>
            <a:ext cx="3657240" cy="13705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Jasmin Infotech Japan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5-27-17, Hiyoshi-Honcho,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Kohoku-Ku Yokohama City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Japan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accent2"/>
                </a:solidFill>
                <a:latin typeface="Trebuchet MS"/>
              </a:rPr>
              <a:t>Tel:+90 2302 1352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Rectangle 18"/>
          <p:cNvSpPr/>
          <p:nvPr/>
        </p:nvSpPr>
        <p:spPr>
          <a:xfrm>
            <a:off x="3454560" y="1066680"/>
            <a:ext cx="5384520" cy="1752120"/>
          </a:xfrm>
          <a:prstGeom prst="rect">
            <a:avLst/>
          </a:prstGeom>
          <a:noFill/>
          <a:ln>
            <a:solidFill>
              <a:srgbClr val="EEECE1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Rectangle 19"/>
          <p:cNvSpPr/>
          <p:nvPr/>
        </p:nvSpPr>
        <p:spPr>
          <a:xfrm>
            <a:off x="507960" y="3003480"/>
            <a:ext cx="3555720" cy="1371240"/>
          </a:xfrm>
          <a:prstGeom prst="rect">
            <a:avLst/>
          </a:prstGeom>
          <a:noFill/>
          <a:ln>
            <a:solidFill>
              <a:srgbClr val="EEECE1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Rectangle 20"/>
          <p:cNvSpPr/>
          <p:nvPr/>
        </p:nvSpPr>
        <p:spPr>
          <a:xfrm>
            <a:off x="4320000" y="3048120"/>
            <a:ext cx="3657240" cy="1371240"/>
          </a:xfrm>
          <a:prstGeom prst="rect">
            <a:avLst/>
          </a:prstGeom>
          <a:noFill/>
          <a:ln>
            <a:solidFill>
              <a:srgbClr val="EEECE1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Rectangle 21"/>
          <p:cNvSpPr/>
          <p:nvPr/>
        </p:nvSpPr>
        <p:spPr>
          <a:xfrm>
            <a:off x="8128080" y="3067200"/>
            <a:ext cx="3657240" cy="1371240"/>
          </a:xfrm>
          <a:prstGeom prst="rect">
            <a:avLst/>
          </a:prstGeom>
          <a:noFill/>
          <a:ln>
            <a:solidFill>
              <a:srgbClr val="EEECE1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7" name="Picture 12" descr="cacthankyou1.jpg"/>
          <p:cNvPicPr/>
          <p:nvPr/>
        </p:nvPicPr>
        <p:blipFill>
          <a:blip r:embed="rId4"/>
          <a:stretch/>
        </p:blipFill>
        <p:spPr>
          <a:xfrm>
            <a:off x="2946240" y="4495680"/>
            <a:ext cx="6603480" cy="2057040"/>
          </a:xfrm>
          <a:prstGeom prst="rect">
            <a:avLst/>
          </a:prstGeom>
          <a:ln w="9525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dt" idx="3"/>
          </p:nvPr>
        </p:nvSpPr>
        <p:spPr>
          <a:xfrm>
            <a:off x="0" y="6553080"/>
            <a:ext cx="386028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13"/>
          <p:cNvGrpSpPr/>
          <p:nvPr/>
        </p:nvGrpSpPr>
        <p:grpSpPr>
          <a:xfrm>
            <a:off x="-12600" y="0"/>
            <a:ext cx="12191760" cy="6857640"/>
            <a:chOff x="-12600" y="0"/>
            <a:chExt cx="12191760" cy="6857640"/>
          </a:xfrm>
        </p:grpSpPr>
        <p:sp>
          <p:nvSpPr>
            <p:cNvPr id="30" name="Rectangle 3"/>
            <p:cNvSpPr/>
            <p:nvPr/>
          </p:nvSpPr>
          <p:spPr>
            <a:xfrm>
              <a:off x="-12600" y="0"/>
              <a:ext cx="2143800" cy="6857640"/>
            </a:xfrm>
            <a:prstGeom prst="rect">
              <a:avLst/>
            </a:prstGeom>
            <a:gradFill rotWithShape="0">
              <a:gsLst>
                <a:gs pos="0">
                  <a:srgbClr val="003282"/>
                </a:gs>
                <a:gs pos="100000">
                  <a:srgbClr val="FFFFFF"/>
                </a:gs>
              </a:gsLst>
              <a:lin ang="0"/>
            </a:gra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800" b="1" strike="noStrike" spc="-1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31" name="Rectangle 4"/>
            <p:cNvSpPr/>
            <p:nvPr/>
          </p:nvSpPr>
          <p:spPr>
            <a:xfrm>
              <a:off x="-12600" y="1209600"/>
              <a:ext cx="12191760" cy="151920"/>
            </a:xfrm>
            <a:prstGeom prst="rect">
              <a:avLst/>
            </a:prstGeom>
            <a:gradFill rotWithShape="0">
              <a:gsLst>
                <a:gs pos="0">
                  <a:srgbClr val="FF971C"/>
                </a:gs>
                <a:gs pos="100000">
                  <a:srgbClr val="FFFFFF"/>
                </a:gs>
              </a:gsLst>
              <a:lin ang="0"/>
            </a:gra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800" b="1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32" name="Rectangle 15"/>
          <p:cNvSpPr/>
          <p:nvPr/>
        </p:nvSpPr>
        <p:spPr>
          <a:xfrm>
            <a:off x="1828800" y="3276720"/>
            <a:ext cx="8940600" cy="837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160" tIns="46080" rIns="92160" bIns="46080" anchor="ctr">
            <a:noAutofit/>
          </a:bodyPr>
          <a:lstStyle/>
          <a:p>
            <a:pPr algn="r" defTabSz="914400">
              <a:lnSpc>
                <a:spcPct val="100000"/>
              </a:lnSpc>
            </a:pPr>
            <a:endParaRPr lang="en-US" sz="20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Text Box 16"/>
          <p:cNvSpPr/>
          <p:nvPr/>
        </p:nvSpPr>
        <p:spPr>
          <a:xfrm>
            <a:off x="3962520" y="6153480"/>
            <a:ext cx="42667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00"/>
              </a:spcBef>
            </a:pPr>
            <a:r>
              <a:rPr lang="en-US" sz="1400" b="1" u="sng" strike="noStrike" spc="-1">
                <a:solidFill>
                  <a:srgbClr val="000099"/>
                </a:solidFill>
                <a:uFillTx/>
                <a:latin typeface="Tahoma"/>
              </a:rPr>
              <a:t>www.jasmin-infotech.com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Rectangle 6"/>
          <p:cNvSpPr/>
          <p:nvPr/>
        </p:nvSpPr>
        <p:spPr>
          <a:xfrm>
            <a:off x="3403440" y="3854880"/>
            <a:ext cx="5384520" cy="609120"/>
          </a:xfrm>
          <a:prstGeom prst="rect">
            <a:avLst/>
          </a:prstGeom>
          <a:noFill/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Book Antiqua"/>
              </a:rPr>
              <a:t>Helping you Innovate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Box 3"/>
          <p:cNvSpPr/>
          <p:nvPr/>
        </p:nvSpPr>
        <p:spPr>
          <a:xfrm>
            <a:off x="9651960" y="6550200"/>
            <a:ext cx="253980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" name="Picture 12" descr="logo_jasmin_infotech"/>
          <p:cNvPicPr/>
          <p:nvPr/>
        </p:nvPicPr>
        <p:blipFill>
          <a:blip r:embed="rId3"/>
          <a:stretch/>
        </p:blipFill>
        <p:spPr>
          <a:xfrm>
            <a:off x="4038480" y="2500200"/>
            <a:ext cx="4190760" cy="1190160"/>
          </a:xfrm>
          <a:prstGeom prst="rect">
            <a:avLst/>
          </a:prstGeom>
          <a:ln w="9525">
            <a:noFill/>
          </a:ln>
        </p:spPr>
      </p:pic>
      <p:pic>
        <p:nvPicPr>
          <p:cNvPr id="37" name="Picture 17" descr="logo_jasmin_infotech"/>
          <p:cNvPicPr/>
          <p:nvPr/>
        </p:nvPicPr>
        <p:blipFill>
          <a:blip r:embed="rId4"/>
          <a:stretch/>
        </p:blipFill>
        <p:spPr>
          <a:xfrm>
            <a:off x="10058400" y="152280"/>
            <a:ext cx="1752120" cy="561600"/>
          </a:xfrm>
          <a:prstGeom prst="rect">
            <a:avLst/>
          </a:prstGeom>
          <a:ln w="9525">
            <a:noFill/>
          </a:ln>
        </p:spPr>
      </p:pic>
      <p:pic>
        <p:nvPicPr>
          <p:cNvPr id="38" name="Picture 7"/>
          <p:cNvPicPr/>
          <p:nvPr/>
        </p:nvPicPr>
        <p:blipFill>
          <a:blip r:embed="rId5"/>
          <a:stretch/>
        </p:blipFill>
        <p:spPr>
          <a:xfrm>
            <a:off x="9829800" y="762120"/>
            <a:ext cx="2207160" cy="398880"/>
          </a:xfrm>
          <a:prstGeom prst="rect">
            <a:avLst/>
          </a:prstGeom>
          <a:ln w="0">
            <a:noFill/>
          </a:ln>
        </p:spPr>
      </p:pic>
      <p:pic>
        <p:nvPicPr>
          <p:cNvPr id="39" name="Picture 8"/>
          <p:cNvPicPr/>
          <p:nvPr/>
        </p:nvPicPr>
        <p:blipFill>
          <a:blip r:embed="rId6"/>
          <a:stretch/>
        </p:blipFill>
        <p:spPr>
          <a:xfrm>
            <a:off x="10210680" y="1371600"/>
            <a:ext cx="1555560" cy="99972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body"/>
          </p:nvPr>
        </p:nvSpPr>
        <p:spPr>
          <a:xfrm rot="20520000">
            <a:off x="1824480" y="3791520"/>
            <a:ext cx="8940600" cy="932760"/>
          </a:xfrm>
          <a:prstGeom prst="rect">
            <a:avLst/>
          </a:prstGeom>
          <a:solidFill>
            <a:srgbClr val="F3F2E9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                    DRAFT – TEMPLATE 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06440" y="15238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7" name="Rectangle 4"/>
          <p:cNvSpPr/>
          <p:nvPr/>
        </p:nvSpPr>
        <p:spPr>
          <a:xfrm>
            <a:off x="0" y="6553080"/>
            <a:ext cx="12191760" cy="30456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8" name="Date Placeholder 2"/>
          <p:cNvSpPr/>
          <p:nvPr/>
        </p:nvSpPr>
        <p:spPr>
          <a:xfrm>
            <a:off x="0" y="6568920"/>
            <a:ext cx="284436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© Jasmin Infotech Private Limited</a:t>
            </a:r>
            <a:endParaRPr lang="en-IN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lide Number Placeholder 4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4C247EAD-68A5-48FF-A8F1-0B7E181C8AA7}" type="slidenum">
              <a:rPr lang="en-US" sz="90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Picture 17" descr="logo_jasmin_infotech"/>
          <p:cNvPicPr/>
          <p:nvPr/>
        </p:nvPicPr>
        <p:blipFill>
          <a:blip r:embed="rId3"/>
          <a:stretch/>
        </p:blipFill>
        <p:spPr>
          <a:xfrm>
            <a:off x="9651960" y="152280"/>
            <a:ext cx="2336400" cy="561600"/>
          </a:xfrm>
          <a:prstGeom prst="rect">
            <a:avLst/>
          </a:prstGeom>
          <a:ln w="9525">
            <a:noFill/>
          </a:ln>
        </p:spPr>
      </p:pic>
      <p:sp>
        <p:nvSpPr>
          <p:cNvPr id="51" name="Rectangle 4"/>
          <p:cNvSpPr/>
          <p:nvPr/>
        </p:nvSpPr>
        <p:spPr>
          <a:xfrm>
            <a:off x="0" y="914400"/>
            <a:ext cx="12191760" cy="15192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4"/>
          <p:cNvSpPr/>
          <p:nvPr/>
        </p:nvSpPr>
        <p:spPr>
          <a:xfrm>
            <a:off x="0" y="6553080"/>
            <a:ext cx="12191760" cy="30456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599400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4"/>
          </p:nvPr>
        </p:nvSpPr>
        <p:spPr>
          <a:xfrm>
            <a:off x="0" y="6568920"/>
            <a:ext cx="3250800" cy="28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sldNum" idx="5"/>
          </p:nvPr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FA3CE1-9269-43CB-BABD-0BA628573BEF}" type="slidenum">
              <a:rPr lang="en-US" sz="90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IN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6" name="Picture 17" descr="logo_jasmin_infotech"/>
          <p:cNvPicPr/>
          <p:nvPr/>
        </p:nvPicPr>
        <p:blipFill>
          <a:blip r:embed="rId3"/>
          <a:stretch/>
        </p:blipFill>
        <p:spPr>
          <a:xfrm>
            <a:off x="9651960" y="152280"/>
            <a:ext cx="2336400" cy="561600"/>
          </a:xfrm>
          <a:prstGeom prst="rect">
            <a:avLst/>
          </a:prstGeom>
          <a:ln w="9525">
            <a:noFill/>
          </a:ln>
        </p:spPr>
      </p:pic>
      <p:sp>
        <p:nvSpPr>
          <p:cNvPr id="57" name="Rectangle 4"/>
          <p:cNvSpPr/>
          <p:nvPr/>
        </p:nvSpPr>
        <p:spPr>
          <a:xfrm>
            <a:off x="0" y="914400"/>
            <a:ext cx="12191760" cy="15192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06440" y="15238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60" name="Rectangle 4"/>
          <p:cNvSpPr/>
          <p:nvPr/>
        </p:nvSpPr>
        <p:spPr>
          <a:xfrm>
            <a:off x="0" y="6553080"/>
            <a:ext cx="12191760" cy="30456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Rectangle 4"/>
          <p:cNvSpPr/>
          <p:nvPr/>
        </p:nvSpPr>
        <p:spPr>
          <a:xfrm>
            <a:off x="0" y="914400"/>
            <a:ext cx="12191760" cy="15192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2" name="Picture 17" descr="logo_jasmin_infotech"/>
          <p:cNvPicPr/>
          <p:nvPr/>
        </p:nvPicPr>
        <p:blipFill>
          <a:blip r:embed="rId3"/>
          <a:stretch/>
        </p:blipFill>
        <p:spPr>
          <a:xfrm>
            <a:off x="10045800" y="294480"/>
            <a:ext cx="1752120" cy="561600"/>
          </a:xfrm>
          <a:prstGeom prst="rect">
            <a:avLst/>
          </a:prstGeom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4"/>
          <p:cNvSpPr/>
          <p:nvPr/>
        </p:nvSpPr>
        <p:spPr>
          <a:xfrm>
            <a:off x="0" y="6553080"/>
            <a:ext cx="12191760" cy="30456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6" name="Slide Number Placeholder 4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0C4F7B20-3009-4FE6-B65F-60BF3E40BCF6}" type="slidenum">
              <a:rPr lang="en-US" sz="90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Picture 17" descr="logo_jasmin_infotech"/>
          <p:cNvPicPr/>
          <p:nvPr/>
        </p:nvPicPr>
        <p:blipFill>
          <a:blip r:embed="rId3"/>
          <a:stretch/>
        </p:blipFill>
        <p:spPr>
          <a:xfrm>
            <a:off x="9651960" y="152280"/>
            <a:ext cx="2336400" cy="561600"/>
          </a:xfrm>
          <a:prstGeom prst="rect">
            <a:avLst/>
          </a:prstGeom>
          <a:ln w="9525">
            <a:noFill/>
          </a:ln>
        </p:spPr>
      </p:pic>
      <p:sp>
        <p:nvSpPr>
          <p:cNvPr id="68" name="Rectangle 4"/>
          <p:cNvSpPr/>
          <p:nvPr/>
        </p:nvSpPr>
        <p:spPr>
          <a:xfrm>
            <a:off x="0" y="914400"/>
            <a:ext cx="12191760" cy="15192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Rectangle 1032"/>
          <p:cNvSpPr/>
          <p:nvPr/>
        </p:nvSpPr>
        <p:spPr>
          <a:xfrm>
            <a:off x="4775040" y="2971800"/>
            <a:ext cx="6400440" cy="3690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Rectangle 6"/>
          <p:cNvSpPr/>
          <p:nvPr/>
        </p:nvSpPr>
        <p:spPr>
          <a:xfrm>
            <a:off x="406440" y="3040200"/>
            <a:ext cx="4165200" cy="4611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Book Antiqua"/>
            </a:endParaRPr>
          </a:p>
        </p:txBody>
      </p:sp>
      <p:sp>
        <p:nvSpPr>
          <p:cNvPr id="71" name="Rectangle 7"/>
          <p:cNvSpPr/>
          <p:nvPr/>
        </p:nvSpPr>
        <p:spPr>
          <a:xfrm>
            <a:off x="3454560" y="1066680"/>
            <a:ext cx="5486040" cy="18284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0" strike="noStrike" spc="-1">
                <a:solidFill>
                  <a:srgbClr val="C0504D"/>
                </a:solidFill>
                <a:latin typeface="Trebuchet MS"/>
              </a:rPr>
              <a:t>Jasmin Infotech Pvt. Ltd.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00" b="0" strike="noStrike" spc="-1">
                <a:solidFill>
                  <a:srgbClr val="C0504D"/>
                </a:solidFill>
                <a:latin typeface="Trebuchet MS"/>
              </a:rPr>
              <a:t>Plot 119, Velachery Tambaram Road, Pallikaranai,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00" b="0" strike="noStrike" spc="-1">
                <a:solidFill>
                  <a:srgbClr val="C0504D"/>
                </a:solidFill>
                <a:latin typeface="Trebuchet MS"/>
              </a:rPr>
              <a:t>Chennai 600100, INDIA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00" b="0" strike="noStrike" spc="-1">
                <a:solidFill>
                  <a:srgbClr val="C0504D"/>
                </a:solidFill>
                <a:latin typeface="Trebuchet MS"/>
              </a:rPr>
              <a:t>Tel.: 91-44-3061 9600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00" b="0" strike="noStrike" spc="-1">
                <a:solidFill>
                  <a:srgbClr val="C0504D"/>
                </a:solidFill>
                <a:latin typeface="Trebuchet MS"/>
              </a:rPr>
              <a:t>Fax: 91-44-3061 9605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00" b="0" strike="noStrike" spc="-1">
                <a:solidFill>
                  <a:srgbClr val="C0504D"/>
                </a:solidFill>
                <a:latin typeface="Trebuchet MS"/>
              </a:rPr>
              <a:t>http://www.jasmin-infoteh.com</a:t>
            </a:r>
            <a:endParaRPr lang="en-IN" sz="15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8176680" y="3048120"/>
            <a:ext cx="3657240" cy="13705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Jasmin Infotech Inc.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560, S.Winchester Blvd, 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Suite 500, San Jose, 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CA-95128, USA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Tel: +1 408 550 3591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4368960" y="3047760"/>
            <a:ext cx="3657240" cy="1584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Jasmin Infotech GmbH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Stefan-George-Ring 29 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81929 München 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Germany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Tel:+49 451 408 3497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507960" y="2971800"/>
            <a:ext cx="3657240" cy="13705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Jasmin Infotech Japan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5-27-17, Hiyoshi-Honcho,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Kohoku-Ku Yokohama City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Japan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strike="noStrike" spc="-1">
                <a:solidFill>
                  <a:srgbClr val="C0504D"/>
                </a:solidFill>
                <a:latin typeface="Trebuchet MS"/>
              </a:rPr>
              <a:t>Tel:+90 2302 1352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18"/>
          <p:cNvSpPr/>
          <p:nvPr/>
        </p:nvSpPr>
        <p:spPr>
          <a:xfrm>
            <a:off x="3454560" y="1066680"/>
            <a:ext cx="5384520" cy="1752120"/>
          </a:xfrm>
          <a:prstGeom prst="rect">
            <a:avLst/>
          </a:prstGeom>
          <a:noFill/>
          <a:ln>
            <a:solidFill>
              <a:srgbClr val="EEECE1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6" name="Rectangle 19"/>
          <p:cNvSpPr/>
          <p:nvPr/>
        </p:nvSpPr>
        <p:spPr>
          <a:xfrm>
            <a:off x="507960" y="3003480"/>
            <a:ext cx="3555720" cy="1371240"/>
          </a:xfrm>
          <a:prstGeom prst="rect">
            <a:avLst/>
          </a:prstGeom>
          <a:noFill/>
          <a:ln>
            <a:solidFill>
              <a:srgbClr val="EEECE1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7" name="Rectangle 20"/>
          <p:cNvSpPr/>
          <p:nvPr/>
        </p:nvSpPr>
        <p:spPr>
          <a:xfrm>
            <a:off x="4320000" y="3048120"/>
            <a:ext cx="3657240" cy="1371240"/>
          </a:xfrm>
          <a:prstGeom prst="rect">
            <a:avLst/>
          </a:prstGeom>
          <a:noFill/>
          <a:ln>
            <a:solidFill>
              <a:srgbClr val="EEECE1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8" name="Rectangle 21"/>
          <p:cNvSpPr/>
          <p:nvPr/>
        </p:nvSpPr>
        <p:spPr>
          <a:xfrm>
            <a:off x="8128080" y="3067200"/>
            <a:ext cx="3657240" cy="1371240"/>
          </a:xfrm>
          <a:prstGeom prst="rect">
            <a:avLst/>
          </a:prstGeom>
          <a:noFill/>
          <a:ln>
            <a:solidFill>
              <a:srgbClr val="EEECE1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79" name="Picture 12" descr="cacthankyou1.jpg"/>
          <p:cNvPicPr/>
          <p:nvPr/>
        </p:nvPicPr>
        <p:blipFill>
          <a:blip r:embed="rId4"/>
          <a:stretch/>
        </p:blipFill>
        <p:spPr>
          <a:xfrm>
            <a:off x="2946240" y="4495680"/>
            <a:ext cx="6603480" cy="2057040"/>
          </a:xfrm>
          <a:prstGeom prst="rect">
            <a:avLst/>
          </a:prstGeom>
          <a:ln w="9525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dt" idx="6"/>
          </p:nvPr>
        </p:nvSpPr>
        <p:spPr>
          <a:xfrm>
            <a:off x="0" y="6553080"/>
            <a:ext cx="386028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body"/>
          </p:nvPr>
        </p:nvSpPr>
        <p:spPr>
          <a:xfrm rot="20520000">
            <a:off x="1824480" y="3791520"/>
            <a:ext cx="8940600" cy="932760"/>
          </a:xfrm>
          <a:prstGeom prst="rect">
            <a:avLst/>
          </a:prstGeom>
          <a:solidFill>
            <a:srgbClr val="F3F2E9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                    DRAFT – TEMPLATE 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06440" y="15238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4" name="Rectangle 4"/>
          <p:cNvSpPr/>
          <p:nvPr/>
        </p:nvSpPr>
        <p:spPr>
          <a:xfrm>
            <a:off x="0" y="6553080"/>
            <a:ext cx="12191760" cy="30456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5" name="Date Placeholder 2"/>
          <p:cNvSpPr/>
          <p:nvPr/>
        </p:nvSpPr>
        <p:spPr>
          <a:xfrm>
            <a:off x="0" y="6568920"/>
            <a:ext cx="284436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© Jasmin Infotech Private Limited</a:t>
            </a:r>
            <a:endParaRPr lang="en-IN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lide Number Placeholder 4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8DB2D16B-9817-495D-B712-6DEEDCBFB203}" type="slidenum">
              <a:rPr lang="en-US" sz="90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Picture 17" descr="logo_jasmin_infotech"/>
          <p:cNvPicPr/>
          <p:nvPr/>
        </p:nvPicPr>
        <p:blipFill>
          <a:blip r:embed="rId3"/>
          <a:stretch/>
        </p:blipFill>
        <p:spPr>
          <a:xfrm>
            <a:off x="9651960" y="152280"/>
            <a:ext cx="2336400" cy="561600"/>
          </a:xfrm>
          <a:prstGeom prst="rect">
            <a:avLst/>
          </a:prstGeom>
          <a:ln w="9525">
            <a:noFill/>
          </a:ln>
        </p:spPr>
      </p:pic>
      <p:sp>
        <p:nvSpPr>
          <p:cNvPr id="88" name="Rectangle 4"/>
          <p:cNvSpPr/>
          <p:nvPr/>
        </p:nvSpPr>
        <p:spPr>
          <a:xfrm>
            <a:off x="0" y="914400"/>
            <a:ext cx="12191760" cy="15192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body"/>
          </p:nvPr>
        </p:nvSpPr>
        <p:spPr>
          <a:xfrm rot="20520000">
            <a:off x="1824480" y="3791520"/>
            <a:ext cx="8940600" cy="932760"/>
          </a:xfrm>
          <a:prstGeom prst="rect">
            <a:avLst/>
          </a:prstGeom>
          <a:solidFill>
            <a:srgbClr val="F3F2E9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                    DRAFT – TEMPLATE </a:t>
            </a:r>
          </a:p>
        </p:txBody>
      </p:sp>
      <p:sp>
        <p:nvSpPr>
          <p:cNvPr id="90" name="PlaceHolder 2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406440" y="15238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92" name="Rectangle 4"/>
          <p:cNvSpPr/>
          <p:nvPr/>
        </p:nvSpPr>
        <p:spPr>
          <a:xfrm>
            <a:off x="0" y="6553080"/>
            <a:ext cx="12191760" cy="30456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3" name="Date Placeholder 2"/>
          <p:cNvSpPr/>
          <p:nvPr/>
        </p:nvSpPr>
        <p:spPr>
          <a:xfrm>
            <a:off x="0" y="6568920"/>
            <a:ext cx="284436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© Jasmin Infotech Private Limited</a:t>
            </a:r>
            <a:endParaRPr lang="en-IN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lide Number Placeholder 4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23E423AC-68E0-4088-83E0-9F7AE3ED8ED6}" type="slidenum">
              <a:rPr lang="en-US" sz="90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Picture 17" descr="logo_jasmin_infotech"/>
          <p:cNvPicPr/>
          <p:nvPr/>
        </p:nvPicPr>
        <p:blipFill>
          <a:blip r:embed="rId3"/>
          <a:stretch/>
        </p:blipFill>
        <p:spPr>
          <a:xfrm>
            <a:off x="9651960" y="152280"/>
            <a:ext cx="2336400" cy="561600"/>
          </a:xfrm>
          <a:prstGeom prst="rect">
            <a:avLst/>
          </a:prstGeom>
          <a:ln w="9525">
            <a:noFill/>
          </a:ln>
        </p:spPr>
      </p:pic>
      <p:sp>
        <p:nvSpPr>
          <p:cNvPr id="96" name="Rectangle 4"/>
          <p:cNvSpPr/>
          <p:nvPr/>
        </p:nvSpPr>
        <p:spPr>
          <a:xfrm>
            <a:off x="0" y="914400"/>
            <a:ext cx="12191760" cy="15192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body"/>
          </p:nvPr>
        </p:nvSpPr>
        <p:spPr>
          <a:xfrm rot="20520000">
            <a:off x="1824480" y="3791520"/>
            <a:ext cx="8940600" cy="932760"/>
          </a:xfrm>
          <a:prstGeom prst="rect">
            <a:avLst/>
          </a:prstGeom>
          <a:solidFill>
            <a:srgbClr val="F3F2E9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                    DRAFT – TEMPLATE </a:t>
            </a:r>
          </a:p>
        </p:txBody>
      </p:sp>
      <p:sp>
        <p:nvSpPr>
          <p:cNvPr id="98" name="PlaceHolder 2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06440" y="15238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00" name="Rectangle 4"/>
          <p:cNvSpPr/>
          <p:nvPr/>
        </p:nvSpPr>
        <p:spPr>
          <a:xfrm>
            <a:off x="0" y="6553080"/>
            <a:ext cx="12191760" cy="30456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1" name="Date Placeholder 2"/>
          <p:cNvSpPr/>
          <p:nvPr/>
        </p:nvSpPr>
        <p:spPr>
          <a:xfrm>
            <a:off x="0" y="6568920"/>
            <a:ext cx="284436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© Jasmin Infotech Private Limited</a:t>
            </a:r>
            <a:endParaRPr lang="en-IN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lide Number Placeholder 4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1654AA0F-4299-43D9-B2D8-4DBED7DA906F}" type="slidenum">
              <a:rPr lang="en-US" sz="90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Picture 17" descr="logo_jasmin_infotech"/>
          <p:cNvPicPr/>
          <p:nvPr/>
        </p:nvPicPr>
        <p:blipFill>
          <a:blip r:embed="rId3"/>
          <a:stretch/>
        </p:blipFill>
        <p:spPr>
          <a:xfrm>
            <a:off x="9651960" y="152280"/>
            <a:ext cx="2336400" cy="561600"/>
          </a:xfrm>
          <a:prstGeom prst="rect">
            <a:avLst/>
          </a:prstGeom>
          <a:ln w="9525">
            <a:noFill/>
          </a:ln>
        </p:spPr>
      </p:pic>
      <p:sp>
        <p:nvSpPr>
          <p:cNvPr id="104" name="Rectangle 4"/>
          <p:cNvSpPr/>
          <p:nvPr/>
        </p:nvSpPr>
        <p:spPr>
          <a:xfrm>
            <a:off x="0" y="914400"/>
            <a:ext cx="12191760" cy="15192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body"/>
          </p:nvPr>
        </p:nvSpPr>
        <p:spPr>
          <a:xfrm rot="20520000">
            <a:off x="1824480" y="3791520"/>
            <a:ext cx="8940600" cy="932760"/>
          </a:xfrm>
          <a:prstGeom prst="rect">
            <a:avLst/>
          </a:prstGeom>
          <a:solidFill>
            <a:srgbClr val="F3F2E9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                    DRAFT – TEMPLATE </a:t>
            </a:r>
          </a:p>
        </p:txBody>
      </p:sp>
      <p:sp>
        <p:nvSpPr>
          <p:cNvPr id="106" name="PlaceHolder 2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06440" y="15238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08" name="Rectangle 4"/>
          <p:cNvSpPr/>
          <p:nvPr/>
        </p:nvSpPr>
        <p:spPr>
          <a:xfrm>
            <a:off x="0" y="6553080"/>
            <a:ext cx="12191760" cy="30456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9" name="Date Placeholder 2"/>
          <p:cNvSpPr/>
          <p:nvPr/>
        </p:nvSpPr>
        <p:spPr>
          <a:xfrm>
            <a:off x="0" y="6568920"/>
            <a:ext cx="284436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© Jasmin Infotech Private Limited</a:t>
            </a:r>
            <a:endParaRPr lang="en-IN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lide Number Placeholder 4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1D4C2F60-F9CE-4344-86A7-A96B57AAD34B}" type="slidenum">
              <a:rPr lang="en-US" sz="90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Picture 17" descr="logo_jasmin_infotech"/>
          <p:cNvPicPr/>
          <p:nvPr/>
        </p:nvPicPr>
        <p:blipFill>
          <a:blip r:embed="rId3"/>
          <a:stretch/>
        </p:blipFill>
        <p:spPr>
          <a:xfrm>
            <a:off x="9651960" y="152280"/>
            <a:ext cx="2336400" cy="561600"/>
          </a:xfrm>
          <a:prstGeom prst="rect">
            <a:avLst/>
          </a:prstGeom>
          <a:ln w="9525">
            <a:noFill/>
          </a:ln>
        </p:spPr>
      </p:pic>
      <p:sp>
        <p:nvSpPr>
          <p:cNvPr id="112" name="Rectangle 4"/>
          <p:cNvSpPr/>
          <p:nvPr/>
        </p:nvSpPr>
        <p:spPr>
          <a:xfrm>
            <a:off x="0" y="914400"/>
            <a:ext cx="12191760" cy="15192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body"/>
          </p:nvPr>
        </p:nvSpPr>
        <p:spPr>
          <a:xfrm rot="20520000">
            <a:off x="1824480" y="3791520"/>
            <a:ext cx="8940600" cy="932760"/>
          </a:xfrm>
          <a:prstGeom prst="rect">
            <a:avLst/>
          </a:prstGeom>
          <a:solidFill>
            <a:srgbClr val="F3F2E9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                    DRAFT – TEMPLATE </a:t>
            </a:r>
          </a:p>
        </p:txBody>
      </p:sp>
      <p:sp>
        <p:nvSpPr>
          <p:cNvPr id="114" name="PlaceHolder 2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06440" y="15238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16" name="Rectangle 4"/>
          <p:cNvSpPr/>
          <p:nvPr/>
        </p:nvSpPr>
        <p:spPr>
          <a:xfrm>
            <a:off x="0" y="6553080"/>
            <a:ext cx="12191760" cy="30456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7" name="Date Placeholder 2"/>
          <p:cNvSpPr/>
          <p:nvPr/>
        </p:nvSpPr>
        <p:spPr>
          <a:xfrm>
            <a:off x="0" y="6568920"/>
            <a:ext cx="284436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© Jasmin Infotech Private Limited</a:t>
            </a:r>
            <a:endParaRPr lang="en-IN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lide Number Placeholder 4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5FCBD8DC-6BCA-453D-91F5-469B9EB69DBB}" type="slidenum">
              <a:rPr lang="en-US" sz="90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17" descr="logo_jasmin_infotech"/>
          <p:cNvPicPr/>
          <p:nvPr/>
        </p:nvPicPr>
        <p:blipFill>
          <a:blip r:embed="rId3"/>
          <a:stretch/>
        </p:blipFill>
        <p:spPr>
          <a:xfrm>
            <a:off x="9651960" y="152280"/>
            <a:ext cx="2336400" cy="561600"/>
          </a:xfrm>
          <a:prstGeom prst="rect">
            <a:avLst/>
          </a:prstGeom>
          <a:ln w="9525">
            <a:noFill/>
          </a:ln>
        </p:spPr>
      </p:pic>
      <p:sp>
        <p:nvSpPr>
          <p:cNvPr id="120" name="Rectangle 4"/>
          <p:cNvSpPr/>
          <p:nvPr/>
        </p:nvSpPr>
        <p:spPr>
          <a:xfrm>
            <a:off x="0" y="914400"/>
            <a:ext cx="12191760" cy="151920"/>
          </a:xfrm>
          <a:prstGeom prst="rect">
            <a:avLst/>
          </a:prstGeom>
          <a:gradFill rotWithShape="0">
            <a:gsLst>
              <a:gs pos="0">
                <a:srgbClr val="FF971C"/>
              </a:gs>
              <a:gs pos="100000">
                <a:srgbClr val="FFFFFF"/>
              </a:gs>
            </a:gsLst>
            <a:lin ang="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6"/>
          <p:cNvSpPr/>
          <p:nvPr/>
        </p:nvSpPr>
        <p:spPr>
          <a:xfrm>
            <a:off x="2895480" y="4495680"/>
            <a:ext cx="6400440" cy="99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160" tIns="46080" rIns="92160" bIns="460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2800" b="1" u="sng" strike="noStrike" spc="-1">
              <a:solidFill>
                <a:srgbClr val="000076"/>
              </a:solidFill>
              <a:uFillTx/>
              <a:latin typeface="Calibri"/>
            </a:endParaRPr>
          </a:p>
        </p:txBody>
      </p:sp>
      <p:sp>
        <p:nvSpPr>
          <p:cNvPr id="128" name="Rectangle 4"/>
          <p:cNvSpPr/>
          <p:nvPr/>
        </p:nvSpPr>
        <p:spPr>
          <a:xfrm>
            <a:off x="2286000" y="4646880"/>
            <a:ext cx="7848360" cy="837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1" u="sng" strike="noStrike" spc="-1">
                <a:solidFill>
                  <a:srgbClr val="000076"/>
                </a:solidFill>
                <a:uFillTx/>
                <a:latin typeface="Calibri"/>
              </a:rPr>
              <a:t>Realtime Testing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IN" sz="2400" b="1" strike="noStrike" spc="-1">
                <a:solidFill>
                  <a:schemeClr val="dk1"/>
                </a:solidFill>
                <a:latin typeface="Calibri"/>
              </a:rPr>
              <a:t>Agenda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55680" y="1219320"/>
            <a:ext cx="11429640" cy="4762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What is testing?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Test Levels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Testing Process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Issue Testing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Test Case Preparation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Testing Methods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Tools and Hardware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B8EF0A56-F0D6-43A4-9F3C-D601B5302C47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2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What is Testing?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Content Placeholder 3"/>
          <p:cNvSpPr/>
          <p:nvPr/>
        </p:nvSpPr>
        <p:spPr>
          <a:xfrm>
            <a:off x="355680" y="1219320"/>
            <a:ext cx="11429640" cy="476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Finding defects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Gaining confidence about the level of Quality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Providing information for decision-making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Preventing defects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To check whether the system met the requirements and be executed successfully in the intended environment. 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To check whether the system ‘</a:t>
            </a: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Fit for the purpose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’.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u="sng" strike="noStrike" spc="-1">
                <a:solidFill>
                  <a:schemeClr val="dk1"/>
                </a:solidFill>
                <a:uFillTx/>
                <a:latin typeface="Calibri"/>
              </a:rPr>
              <a:t>Definitions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1074600" indent="-45252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"/>
            </a:pPr>
            <a:r>
              <a:rPr lang="en-US" sz="2400" b="0" strike="noStrike" spc="-1">
                <a:solidFill>
                  <a:schemeClr val="dk1"/>
                </a:solidFill>
                <a:latin typeface="Arial"/>
              </a:rPr>
              <a:t>“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Testing is the process of executing a program with the intention of finding errors” – </a:t>
            </a: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Myers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marL="98424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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“Testing can show the presence of bugs but never their absence” – </a:t>
            </a: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Dijkstra</a:t>
            </a: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</a:pPr>
            <a:endParaRPr lang="en-IN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7B323418-34A3-4305-8FBD-17DE8D685CBE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3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Test Levels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380880" y="15238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Unit / module Testing 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        Is the level of software testing where individual unit/ components of software are tested.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        The purpose is to validate that each unit of the software .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Integration Testing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        Is the level of software testing where individual units are combined and tested as group.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         The purpose of this level of testing is to expose faults in the interaction between integrated units.</a:t>
            </a:r>
          </a:p>
        </p:txBody>
      </p:sp>
      <p:sp>
        <p:nvSpPr>
          <p:cNvPr id="141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DA0D83DD-577E-4605-BB99-EDBC6C993A73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4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Test Levels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06440" y="15238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System Testing 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           System Testing is a level of testing that validates the complete and fully integrated software product.  </a:t>
            </a:r>
          </a:p>
          <a:p>
            <a:pPr marL="343080" indent="-343080" defTabSz="9144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Acceptance Testing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           Acceptance testing focuses on the client's use of the system and how it functions as a whole unit, rather than on a specific integration between different aspects.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         </a:t>
            </a:r>
          </a:p>
        </p:txBody>
      </p:sp>
      <p:sp>
        <p:nvSpPr>
          <p:cNvPr id="146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 8"/>
          <p:cNvSpPr/>
          <p:nvPr/>
        </p:nvSpPr>
        <p:spPr>
          <a:xfrm>
            <a:off x="11810880" y="6553080"/>
            <a:ext cx="38052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chemeClr val="lt1"/>
                </a:solidFill>
                <a:latin typeface="Calibri"/>
              </a:rPr>
              <a:t>    </a:t>
            </a:r>
            <a:fld id="{50626524-2CEC-4CEF-BB9F-1FC8285F8820}" type="slidenum">
              <a:rPr lang="en-US" sz="1050" b="0" strike="noStrike" spc="-1">
                <a:solidFill>
                  <a:schemeClr val="lt1"/>
                </a:solidFill>
                <a:latin typeface="Calibri"/>
              </a:rPr>
              <a:t>5</a:t>
            </a:fld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10"/>
          <p:cNvSpPr/>
          <p:nvPr/>
        </p:nvSpPr>
        <p:spPr>
          <a:xfrm flipH="1">
            <a:off x="-720" y="6553080"/>
            <a:ext cx="418788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406440" y="15238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Re-Testing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          Is the testing of a particular bug after it has been fixed.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          The purpose this testing is ensure that issue was fixed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Regression Testing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          Is the level of software testing is done to verify that a code changes in the software does not impact the existing functionality of the product.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           This is to make sure the product works fine with new functionality, bug fixes or any change in the existing feature.</a:t>
            </a:r>
          </a:p>
        </p:txBody>
      </p:sp>
      <p:sp>
        <p:nvSpPr>
          <p:cNvPr id="156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D558DCCB-CC29-4D34-A159-D6CAB764BC3C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6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Testing Process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06440" y="15238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strike="noStrike" spc="-1" dirty="0">
                <a:solidFill>
                  <a:schemeClr val="dk1"/>
                </a:solidFill>
                <a:latin typeface="Calibri"/>
              </a:rPr>
              <a:t>Requirement analysis</a:t>
            </a:r>
            <a:endParaRPr lang="en-US" sz="2400" b="0" strike="noStrike" spc="-1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42900" indent="-3429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strike="noStrike" spc="-1" dirty="0">
                <a:solidFill>
                  <a:schemeClr val="dk1"/>
                </a:solidFill>
                <a:latin typeface="Calibri"/>
              </a:rPr>
              <a:t>Test Case creation</a:t>
            </a:r>
            <a:endParaRPr lang="en-US" sz="2400" b="0" strike="noStrike" spc="-1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42900" indent="-3429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strike="noStrike" spc="-1" dirty="0">
                <a:solidFill>
                  <a:schemeClr val="dk1"/>
                </a:solidFill>
                <a:latin typeface="Calibri"/>
              </a:rPr>
              <a:t>Test Case execution</a:t>
            </a:r>
            <a:endParaRPr lang="en-US" sz="2400" b="0" strike="noStrike" spc="-1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42900" indent="-3429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strike="noStrike" spc="-1" dirty="0">
                <a:solidFill>
                  <a:schemeClr val="dk1"/>
                </a:solidFill>
                <a:latin typeface="Calibri"/>
              </a:rPr>
              <a:t>Defect logging</a:t>
            </a:r>
            <a:endParaRPr lang="en-US" sz="2400" b="0" strike="noStrike" spc="-1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42900" indent="-3429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spc="-1" dirty="0">
                <a:solidFill>
                  <a:schemeClr val="dk1"/>
                </a:solidFill>
                <a:latin typeface="Calibri"/>
              </a:rPr>
              <a:t>Re-testing</a:t>
            </a:r>
            <a:endParaRPr lang="en-US" sz="2400" b="0" strike="noStrike" spc="-1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400" b="1" spc="-1" dirty="0">
                <a:solidFill>
                  <a:schemeClr val="dk1"/>
                </a:solidFill>
                <a:latin typeface="Calibri"/>
                <a:cs typeface="Calibri"/>
              </a:rPr>
              <a:t>Regression testing</a:t>
            </a:r>
            <a:endParaRPr lang="en-US" sz="2400" b="1" strike="noStrike" spc="-1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en-US" sz="2400" spc="-1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151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BAFB3AD0-4129-45D1-A01D-F0A1227076E6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7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Test evaluation methods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06440" y="15238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Listening Testing</a:t>
            </a:r>
            <a:endParaRPr lang="en-US" dirty="0">
              <a:solidFill>
                <a:schemeClr val="dk1"/>
              </a:solidFill>
            </a:endParaRPr>
          </a:p>
          <a:p>
            <a:pPr marL="742950" lvl="1" indent="-28575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 dirty="0">
                <a:solidFill>
                  <a:schemeClr val="dk1"/>
                </a:solidFill>
                <a:latin typeface="Calibri"/>
              </a:rPr>
              <a:t>Evaluate those test case by Listening to verify any unexpected glitches, pops, mute or noisy output observed in output.</a:t>
            </a:r>
            <a:endParaRPr lang="en-US" sz="2200" b="0" strike="noStrike" spc="-1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42900" indent="-3429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Performance Testing</a:t>
            </a:r>
            <a:endParaRPr lang="en-US" sz="2400" b="0" strike="noStrike" spc="-1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742950" lvl="1" indent="-285750"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 dirty="0">
                <a:solidFill>
                  <a:schemeClr val="dk1"/>
                </a:solidFill>
                <a:latin typeface="Calibri"/>
              </a:rPr>
              <a:t>Evaluate those test case by use Spectra lab to analyzing Frequency level, dB level, noise floor, </a:t>
            </a:r>
            <a:r>
              <a:rPr lang="en-US" sz="2200" spc="-1" dirty="0">
                <a:solidFill>
                  <a:schemeClr val="dk1"/>
                </a:solidFill>
                <a:latin typeface="Calibri"/>
              </a:rPr>
              <a:t>SNR, THD+N and</a:t>
            </a:r>
            <a:r>
              <a:rPr lang="en-US" sz="2200" b="0" strike="noStrike" spc="-1" dirty="0">
                <a:solidFill>
                  <a:schemeClr val="dk1"/>
                </a:solidFill>
                <a:latin typeface="Calibri"/>
              </a:rPr>
              <a:t> mutes </a:t>
            </a:r>
            <a:r>
              <a:rPr lang="en-US" sz="2200" b="0" strike="noStrike" spc="-1" dirty="0" err="1">
                <a:solidFill>
                  <a:schemeClr val="dk1"/>
                </a:solidFill>
                <a:latin typeface="Calibri"/>
              </a:rPr>
              <a:t>etc</a:t>
            </a:r>
            <a:r>
              <a:rPr lang="en-US" sz="2200" b="0" strike="noStrike" spc="-1" dirty="0">
                <a:solidFill>
                  <a:schemeClr val="dk1"/>
                </a:solidFill>
                <a:latin typeface="Calibri"/>
              </a:rPr>
              <a:t>,.</a:t>
            </a:r>
            <a:endParaRPr lang="en-US" sz="2200" b="0" strike="noStrike" spc="-1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161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B478DDE3-9A7C-44BD-9641-A68CEB7FE106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8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Pumping Utilities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2" name="Diagram1"/>
          <p:cNvGraphicFramePr/>
          <p:nvPr>
            <p:extLst>
              <p:ext uri="{D42A27DB-BD31-4B8C-83A1-F6EECF244321}">
                <p14:modId xmlns:p14="http://schemas.microsoft.com/office/powerpoint/2010/main" val="3586320773"/>
              </p:ext>
            </p:extLst>
          </p:nvPr>
        </p:nvGraphicFramePr>
        <p:xfrm>
          <a:off x="406440" y="1523880"/>
          <a:ext cx="10972440" cy="4525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5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ADA8D310-4602-4625-8246-6A8A4550CE00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9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Recording and Analysing 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69" name="Content Placeholder 3"/>
          <p:cNvGrpSpPr/>
          <p:nvPr/>
        </p:nvGrpSpPr>
        <p:grpSpPr>
          <a:xfrm>
            <a:off x="406440" y="1523880"/>
            <a:ext cx="11271812" cy="4747408"/>
            <a:chOff x="406440" y="1523880"/>
            <a:chExt cx="10972800" cy="4525560"/>
          </a:xfrm>
        </p:grpSpPr>
        <p:sp>
          <p:nvSpPr>
            <p:cNvPr id="170" name="Rectangle 169"/>
            <p:cNvSpPr/>
            <p:nvPr/>
          </p:nvSpPr>
          <p:spPr>
            <a:xfrm>
              <a:off x="406440" y="1523880"/>
              <a:ext cx="10972440" cy="452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71" name="Group 170"/>
            <p:cNvGrpSpPr/>
            <p:nvPr/>
          </p:nvGrpSpPr>
          <p:grpSpPr>
            <a:xfrm>
              <a:off x="406440" y="1523880"/>
              <a:ext cx="10972800" cy="1090080"/>
              <a:chOff x="406440" y="1523880"/>
              <a:chExt cx="10972800" cy="1090080"/>
            </a:xfrm>
          </p:grpSpPr>
          <p:sp>
            <p:nvSpPr>
              <p:cNvPr id="172" name="Rectangle: Top Corners Rounded 171"/>
              <p:cNvSpPr/>
              <p:nvPr/>
            </p:nvSpPr>
            <p:spPr>
              <a:xfrm rot="5400000">
                <a:off x="7431840" y="-1441800"/>
                <a:ext cx="872280" cy="7022160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D0D8E7"/>
              </a:solidFill>
              <a:ln>
                <a:solidFill>
                  <a:srgbClr val="D0D8E7"/>
                </a:solidFill>
                <a:round/>
              </a:ln>
            </p:spPr>
            <p:style>
              <a:lnRef idx="2">
                <a:schemeClr val="accent1">
                  <a:alpha val="90000"/>
                  <a:tint val="40000"/>
                </a:schemeClr>
              </a:lnRef>
              <a:fillRef idx="1">
                <a:schemeClr val="accent1">
                  <a:alpha val="90000"/>
                  <a:tint val="40000"/>
                </a:schemeClr>
              </a:fillRef>
              <a:effectRef idx="0">
                <a:scrgbClr r="0" g="0" b="0"/>
              </a:effectRef>
              <a:fontRef idx="minor"/>
            </p:style>
            <p:txBody>
              <a:bodyPr vert="vert270" lIns="57600" tIns="102600" rIns="57600" bIns="102600" anchor="ctr">
                <a:noAutofit/>
              </a:bodyPr>
              <a:lstStyle/>
              <a:p>
                <a:pPr marL="285840" indent="-285840" defTabSz="914400">
                  <a:lnSpc>
                    <a:spcPct val="100000"/>
                  </a:lnSpc>
                  <a:buClr>
                    <a:srgbClr val="000000"/>
                  </a:buClr>
                  <a:buFont typeface="Symbol" charset="2"/>
                  <a:buChar char=""/>
                </a:pPr>
                <a:r>
                  <a:rPr lang="en-US" sz="2800" b="0" strike="noStrike" spc="-1">
                    <a:solidFill>
                      <a:schemeClr val="dk1"/>
                    </a:solidFill>
                    <a:latin typeface="Calibri"/>
                  </a:rPr>
                  <a:t>Used for Recording and Analysing the audio output.</a:t>
                </a:r>
                <a:endParaRPr lang="en-IN" sz="2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3" name="Rectangle: Rounded Corners 172"/>
              <p:cNvSpPr/>
              <p:nvPr/>
            </p:nvSpPr>
            <p:spPr>
              <a:xfrm>
                <a:off x="406440" y="1523880"/>
                <a:ext cx="3949920" cy="1090080"/>
              </a:xfrm>
              <a:prstGeom prst="roundRect">
                <a:avLst>
                  <a:gd name="adj" fmla="val 16667"/>
                </a:avLst>
              </a:prstGeom>
              <a:solidFill>
                <a:srgbClr val="4F81BD"/>
              </a:solidFill>
              <a:ln>
                <a:solidFill>
                  <a:srgbClr val="FFFFFF"/>
                </a:solidFill>
                <a:round/>
              </a:ln>
            </p:spPr>
            <p:style>
              <a:lnRef idx="2">
                <a:schemeClr val="lt1"/>
              </a:lnRef>
              <a:fillRef idx="1">
                <a:schemeClr val="accent1"/>
              </a:fillRef>
              <a:effectRef idx="0">
                <a:scrgbClr r="0" g="0" b="0"/>
              </a:effectRef>
              <a:fontRef idx="minor"/>
            </p:style>
            <p:txBody>
              <a:bodyPr lIns="102600" tIns="57600" rIns="102600" bIns="57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2800" b="0" strike="noStrike" spc="-1">
                    <a:solidFill>
                      <a:schemeClr val="lt1"/>
                    </a:solidFill>
                    <a:latin typeface="Calibri"/>
                  </a:rPr>
                  <a:t>Audacity (Tool)</a:t>
                </a:r>
                <a:endParaRPr lang="en-IN" sz="2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74" name="Group 173"/>
            <p:cNvGrpSpPr/>
            <p:nvPr/>
          </p:nvGrpSpPr>
          <p:grpSpPr>
            <a:xfrm>
              <a:off x="406440" y="2669040"/>
              <a:ext cx="10972800" cy="1090080"/>
              <a:chOff x="406440" y="2669040"/>
              <a:chExt cx="10972800" cy="1090080"/>
            </a:xfrm>
          </p:grpSpPr>
          <p:sp>
            <p:nvSpPr>
              <p:cNvPr id="175" name="Rectangle: Top Corners Rounded 174"/>
              <p:cNvSpPr/>
              <p:nvPr/>
            </p:nvSpPr>
            <p:spPr>
              <a:xfrm rot="5400000">
                <a:off x="7431840" y="-296640"/>
                <a:ext cx="872280" cy="7022160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D0D8E7"/>
              </a:solidFill>
              <a:ln>
                <a:solidFill>
                  <a:srgbClr val="D0D8E7"/>
                </a:solidFill>
                <a:round/>
              </a:ln>
            </p:spPr>
            <p:style>
              <a:lnRef idx="2">
                <a:schemeClr val="accent1">
                  <a:alpha val="90000"/>
                  <a:tint val="40000"/>
                </a:schemeClr>
              </a:lnRef>
              <a:fillRef idx="1">
                <a:schemeClr val="accent1">
                  <a:alpha val="90000"/>
                  <a:tint val="40000"/>
                </a:schemeClr>
              </a:fillRef>
              <a:effectRef idx="0">
                <a:scrgbClr r="0" g="0" b="0"/>
              </a:effectRef>
              <a:fontRef idx="minor"/>
            </p:style>
            <p:txBody>
              <a:bodyPr vert="vert270" lIns="57600" tIns="102600" rIns="57600" bIns="102600" anchor="ctr">
                <a:noAutofit/>
              </a:bodyPr>
              <a:lstStyle/>
              <a:p>
                <a:pPr marL="285840" indent="-285840" defTabSz="914400">
                  <a:lnSpc>
                    <a:spcPct val="100000"/>
                  </a:lnSpc>
                  <a:buClr>
                    <a:srgbClr val="000000"/>
                  </a:buClr>
                  <a:buFont typeface="Symbol" charset="2"/>
                  <a:buChar char=""/>
                </a:pPr>
                <a:r>
                  <a:rPr lang="en-US" sz="2800" b="0" strike="noStrike" spc="-1">
                    <a:solidFill>
                      <a:schemeClr val="dk1"/>
                    </a:solidFill>
                    <a:latin typeface="Calibri"/>
                  </a:rPr>
                  <a:t>Used for Recording and Analysing the audio output.</a:t>
                </a:r>
                <a:endParaRPr lang="en-IN" sz="2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6" name="Rectangle: Rounded Corners 175"/>
              <p:cNvSpPr/>
              <p:nvPr/>
            </p:nvSpPr>
            <p:spPr>
              <a:xfrm>
                <a:off x="406440" y="2669040"/>
                <a:ext cx="3949920" cy="1090080"/>
              </a:xfrm>
              <a:prstGeom prst="roundRect">
                <a:avLst>
                  <a:gd name="adj" fmla="val 16667"/>
                </a:avLst>
              </a:prstGeom>
              <a:solidFill>
                <a:srgbClr val="4F81BD"/>
              </a:solidFill>
              <a:ln>
                <a:solidFill>
                  <a:srgbClr val="FFFFFF"/>
                </a:solidFill>
                <a:round/>
              </a:ln>
            </p:spPr>
            <p:style>
              <a:lnRef idx="2">
                <a:schemeClr val="lt1"/>
              </a:lnRef>
              <a:fillRef idx="1">
                <a:schemeClr val="accent1"/>
              </a:fillRef>
              <a:effectRef idx="0">
                <a:scrgbClr r="0" g="0" b="0"/>
              </a:effectRef>
              <a:fontRef idx="minor"/>
            </p:style>
            <p:txBody>
              <a:bodyPr lIns="102600" tIns="57600" rIns="102600" bIns="57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2800" b="0" strike="noStrike" spc="-1">
                    <a:solidFill>
                      <a:schemeClr val="lt1"/>
                    </a:solidFill>
                    <a:latin typeface="Calibri"/>
                  </a:rPr>
                  <a:t> SpectraPlus (Tool)</a:t>
                </a:r>
                <a:endParaRPr lang="en-IN" sz="2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77" name="Group 176"/>
            <p:cNvGrpSpPr/>
            <p:nvPr/>
          </p:nvGrpSpPr>
          <p:grpSpPr>
            <a:xfrm>
              <a:off x="406440" y="3814200"/>
              <a:ext cx="10972800" cy="1090080"/>
              <a:chOff x="406440" y="3814200"/>
              <a:chExt cx="10972800" cy="1090080"/>
            </a:xfrm>
          </p:grpSpPr>
          <p:sp>
            <p:nvSpPr>
              <p:cNvPr id="178" name="Rectangle: Top Corners Rounded 177"/>
              <p:cNvSpPr/>
              <p:nvPr/>
            </p:nvSpPr>
            <p:spPr>
              <a:xfrm rot="5400000">
                <a:off x="7431840" y="848160"/>
                <a:ext cx="872280" cy="7022160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D0D8E7"/>
              </a:solidFill>
              <a:ln>
                <a:solidFill>
                  <a:srgbClr val="D0D8E7"/>
                </a:solidFill>
                <a:round/>
              </a:ln>
            </p:spPr>
            <p:style>
              <a:lnRef idx="2">
                <a:schemeClr val="accent1">
                  <a:alpha val="90000"/>
                  <a:tint val="40000"/>
                </a:schemeClr>
              </a:lnRef>
              <a:fillRef idx="1">
                <a:schemeClr val="accent1">
                  <a:alpha val="90000"/>
                  <a:tint val="40000"/>
                </a:schemeClr>
              </a:fillRef>
              <a:effectRef idx="0">
                <a:scrgbClr r="0" g="0" b="0"/>
              </a:effectRef>
              <a:fontRef idx="minor"/>
            </p:style>
            <p:txBody>
              <a:bodyPr vert="vert270" lIns="57600" tIns="102600" rIns="57600" bIns="102600" anchor="ctr">
                <a:noAutofit/>
              </a:bodyPr>
              <a:lstStyle/>
              <a:p>
                <a:pPr marL="285750" indent="-285750" defTabSz="914400">
                  <a:lnSpc>
                    <a:spcPct val="100000"/>
                  </a:lnSpc>
                  <a:buClr>
                    <a:srgbClr val="000000"/>
                  </a:buClr>
                  <a:buFont typeface="Symbol" charset="2"/>
                  <a:buChar char=""/>
                </a:pPr>
                <a:r>
                  <a:rPr lang="en-US" sz="2800" b="0" strike="noStrike" spc="-1">
                    <a:solidFill>
                      <a:schemeClr val="dk1"/>
                    </a:solidFill>
                    <a:latin typeface="Calibri"/>
                  </a:rPr>
                  <a:t>It is </a:t>
                </a:r>
                <a:r>
                  <a:rPr lang="en-US" sz="2800" spc="-1">
                    <a:solidFill>
                      <a:schemeClr val="dk1"/>
                    </a:solidFill>
                    <a:latin typeface="Calibri"/>
                  </a:rPr>
                  <a:t>used</a:t>
                </a:r>
                <a:r>
                  <a:rPr lang="en-US" sz="2800" b="0" strike="noStrike" spc="-1">
                    <a:solidFill>
                      <a:schemeClr val="dk1"/>
                    </a:solidFill>
                    <a:latin typeface="Calibri"/>
                  </a:rPr>
                  <a:t> for Recording Digital and Analog audio output.</a:t>
                </a:r>
                <a:endParaRPr lang="en-IN" sz="2800" b="0" strike="noStrike" spc="-1">
                  <a:solidFill>
                    <a:schemeClr val="dk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79" name="Rectangle: Rounded Corners 178"/>
              <p:cNvSpPr/>
              <p:nvPr/>
            </p:nvSpPr>
            <p:spPr>
              <a:xfrm>
                <a:off x="406440" y="3814200"/>
                <a:ext cx="3949920" cy="1090080"/>
              </a:xfrm>
              <a:prstGeom prst="roundRect">
                <a:avLst>
                  <a:gd name="adj" fmla="val 16667"/>
                </a:avLst>
              </a:prstGeom>
              <a:solidFill>
                <a:srgbClr val="4F81BD"/>
              </a:solidFill>
              <a:ln>
                <a:solidFill>
                  <a:srgbClr val="FFFFFF"/>
                </a:solidFill>
                <a:round/>
              </a:ln>
            </p:spPr>
            <p:style>
              <a:lnRef idx="2">
                <a:schemeClr val="lt1"/>
              </a:lnRef>
              <a:fillRef idx="1">
                <a:schemeClr val="accent1"/>
              </a:fillRef>
              <a:effectRef idx="0">
                <a:scrgbClr r="0" g="0" b="0"/>
              </a:effectRef>
              <a:fontRef idx="minor"/>
            </p:style>
            <p:txBody>
              <a:bodyPr lIns="102600" tIns="57600" rIns="102600" bIns="57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2800" b="0" strike="noStrike" spc="-1">
                    <a:solidFill>
                      <a:schemeClr val="lt1"/>
                    </a:solidFill>
                    <a:latin typeface="Calibri"/>
                  </a:rPr>
                  <a:t>Sound Card (External Hardware)</a:t>
                </a:r>
                <a:endParaRPr lang="en-IN" sz="2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80" name="Group 179"/>
            <p:cNvGrpSpPr/>
            <p:nvPr/>
          </p:nvGrpSpPr>
          <p:grpSpPr>
            <a:xfrm>
              <a:off x="406440" y="4942868"/>
              <a:ext cx="10972621" cy="1106572"/>
              <a:chOff x="406440" y="4942868"/>
              <a:chExt cx="10972621" cy="1106572"/>
            </a:xfrm>
          </p:grpSpPr>
          <p:sp>
            <p:nvSpPr>
              <p:cNvPr id="181" name="Rectangle: Top Corners Rounded 180"/>
              <p:cNvSpPr/>
              <p:nvPr/>
            </p:nvSpPr>
            <p:spPr>
              <a:xfrm rot="5400000">
                <a:off x="7325740" y="1993320"/>
                <a:ext cx="1103773" cy="7002869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D0D8E7"/>
              </a:solidFill>
              <a:ln>
                <a:solidFill>
                  <a:srgbClr val="D0D8E7"/>
                </a:solidFill>
                <a:round/>
              </a:ln>
            </p:spPr>
            <p:style>
              <a:lnRef idx="2">
                <a:schemeClr val="accent1">
                  <a:alpha val="90000"/>
                  <a:tint val="40000"/>
                </a:schemeClr>
              </a:lnRef>
              <a:fillRef idx="1">
                <a:schemeClr val="accent1">
                  <a:alpha val="90000"/>
                  <a:tint val="40000"/>
                </a:schemeClr>
              </a:fillRef>
              <a:effectRef idx="0">
                <a:scrgbClr r="0" g="0" b="0"/>
              </a:effectRef>
              <a:fontRef idx="minor"/>
            </p:style>
            <p:txBody>
              <a:bodyPr vert="vert270" lIns="57600" tIns="102600" rIns="57600" bIns="102600" anchor="ctr">
                <a:noAutofit/>
              </a:bodyPr>
              <a:lstStyle/>
              <a:p>
                <a:pPr marL="285750" indent="-285750">
                  <a:buClr>
                    <a:srgbClr val="000000"/>
                  </a:buClr>
                  <a:buFont typeface="Symbol" charset="2"/>
                  <a:buChar char=""/>
                </a:pPr>
                <a:r>
                  <a:rPr lang="en-US" sz="2800" b="0" strike="noStrike" spc="-1">
                    <a:solidFill>
                      <a:schemeClr val="dk1"/>
                    </a:solidFill>
                    <a:latin typeface="Calibri"/>
                  </a:rPr>
                  <a:t>It is </a:t>
                </a:r>
                <a:r>
                  <a:rPr lang="en-US" sz="2800" spc="-1">
                    <a:solidFill>
                      <a:schemeClr val="dk1"/>
                    </a:solidFill>
                    <a:latin typeface="Calibri"/>
                  </a:rPr>
                  <a:t>used</a:t>
                </a:r>
                <a:r>
                  <a:rPr lang="en-US" sz="2800" b="0" strike="noStrike" spc="-1">
                    <a:solidFill>
                      <a:schemeClr val="dk1"/>
                    </a:solidFill>
                    <a:latin typeface="Calibri"/>
                  </a:rPr>
                  <a:t> for Recording and Analysing the both </a:t>
                </a:r>
                <a:r>
                  <a:rPr lang="en-US" sz="2800" spc="-1">
                    <a:solidFill>
                      <a:schemeClr val="dk1"/>
                    </a:solidFill>
                    <a:latin typeface="Calibri"/>
                  </a:rPr>
                  <a:t>digital</a:t>
                </a:r>
                <a:r>
                  <a:rPr lang="en-US" sz="2800" b="0" strike="noStrike" spc="-1">
                    <a:solidFill>
                      <a:schemeClr val="dk1"/>
                    </a:solidFill>
                    <a:latin typeface="Calibri"/>
                  </a:rPr>
                  <a:t> </a:t>
                </a:r>
                <a:r>
                  <a:rPr lang="en-US" sz="2800" spc="-1">
                    <a:solidFill>
                      <a:schemeClr val="dk1"/>
                    </a:solidFill>
                    <a:latin typeface="Calibri"/>
                  </a:rPr>
                  <a:t>&amp; </a:t>
                </a:r>
                <a:r>
                  <a:rPr lang="en-US" sz="2800" b="0" strike="noStrike" spc="-1">
                    <a:solidFill>
                      <a:schemeClr val="dk1"/>
                    </a:solidFill>
                    <a:latin typeface="Calibri"/>
                  </a:rPr>
                  <a:t>analog </a:t>
                </a:r>
                <a:r>
                  <a:rPr lang="en-US" sz="2800" spc="-1">
                    <a:solidFill>
                      <a:schemeClr val="dk1"/>
                    </a:solidFill>
                    <a:latin typeface="Calibri"/>
                  </a:rPr>
                  <a:t>and I2S data line </a:t>
                </a:r>
                <a:r>
                  <a:rPr lang="en-US" sz="2800" b="0" strike="noStrike" spc="-1">
                    <a:solidFill>
                      <a:schemeClr val="dk1"/>
                    </a:solidFill>
                    <a:latin typeface="Calibri"/>
                  </a:rPr>
                  <a:t>output.</a:t>
                </a:r>
                <a:endParaRPr lang="en-IN" sz="2800" b="0" strike="noStrike" spc="-1">
                  <a:solidFill>
                    <a:schemeClr val="dk1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82" name="Rectangle: Rounded Corners 181"/>
              <p:cNvSpPr/>
              <p:nvPr/>
            </p:nvSpPr>
            <p:spPr>
              <a:xfrm>
                <a:off x="406440" y="4959360"/>
                <a:ext cx="3949920" cy="1090080"/>
              </a:xfrm>
              <a:prstGeom prst="roundRect">
                <a:avLst>
                  <a:gd name="adj" fmla="val 16667"/>
                </a:avLst>
              </a:prstGeom>
              <a:solidFill>
                <a:srgbClr val="4F81BD"/>
              </a:solidFill>
              <a:ln>
                <a:solidFill>
                  <a:srgbClr val="FFFFFF"/>
                </a:solidFill>
                <a:round/>
              </a:ln>
            </p:spPr>
            <p:style>
              <a:lnRef idx="2">
                <a:schemeClr val="lt1"/>
              </a:lnRef>
              <a:fillRef idx="1">
                <a:schemeClr val="accent1"/>
              </a:fillRef>
              <a:effectRef idx="0">
                <a:scrgbClr r="0" g="0" b="0"/>
              </a:effectRef>
              <a:fontRef idx="minor"/>
            </p:style>
            <p:txBody>
              <a:bodyPr lIns="102600" tIns="57600" rIns="102600" bIns="57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2800" b="0" strike="noStrike" spc="-1">
                    <a:solidFill>
                      <a:schemeClr val="lt1"/>
                    </a:solidFill>
                    <a:latin typeface="Calibri"/>
                  </a:rPr>
                  <a:t>APx (Equipment)</a:t>
                </a:r>
                <a:endParaRPr lang="en-IN" sz="2800" b="0" strike="noStrike" spc="-1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183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6D6854E0-8466-43D9-B2BC-AE1DFB4A6B63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10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Audacity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7" name="Picture 2"/>
          <p:cNvPicPr/>
          <p:nvPr/>
        </p:nvPicPr>
        <p:blipFill>
          <a:blip r:embed="rId2"/>
          <a:stretch/>
        </p:blipFill>
        <p:spPr>
          <a:xfrm>
            <a:off x="1219320" y="1108800"/>
            <a:ext cx="9956520" cy="5380200"/>
          </a:xfrm>
          <a:prstGeom prst="rect">
            <a:avLst/>
          </a:prstGeom>
          <a:ln w="9525">
            <a:noFill/>
          </a:ln>
        </p:spPr>
      </p:pic>
      <p:sp>
        <p:nvSpPr>
          <p:cNvPr id="188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DDB6783D-11AC-4A94-92B5-8B8E8B715CA1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11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Spectra Plus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2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E527AC37-81F7-4D4F-A7C2-02A45B5F9FC8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12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Picture 194"/>
          <p:cNvPicPr/>
          <p:nvPr/>
        </p:nvPicPr>
        <p:blipFill>
          <a:blip r:embed="rId2"/>
          <a:stretch/>
        </p:blipFill>
        <p:spPr>
          <a:xfrm>
            <a:off x="900000" y="1260000"/>
            <a:ext cx="10349640" cy="5192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2400" b="1" strike="noStrike" spc="-1" dirty="0">
                <a:solidFill>
                  <a:schemeClr val="dk1"/>
                </a:solidFill>
                <a:latin typeface="Calibri"/>
              </a:rPr>
              <a:t>External I/O cards</a:t>
            </a:r>
            <a:endParaRPr lang="en-US" sz="2400" b="1" strike="noStrike" spc="-1">
              <a:solidFill>
                <a:schemeClr val="dk1"/>
              </a:solidFill>
              <a:latin typeface="Calibri"/>
              <a:cs typeface="Calibri"/>
            </a:endParaRPr>
          </a:p>
        </p:txBody>
      </p:sp>
      <p:pic>
        <p:nvPicPr>
          <p:cNvPr id="2" name="Picture 1" descr="HDSP 9632">
            <a:extLst>
              <a:ext uri="{FF2B5EF4-FFF2-40B4-BE49-F238E27FC236}">
                <a16:creationId xmlns:a16="http://schemas.microsoft.com/office/drawing/2014/main" id="{10C789EA-AF61-246C-6669-2A1A8A0C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525" y="846519"/>
            <a:ext cx="5782519" cy="30429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DB4729-F485-7D55-6710-21452B4BDD50}"/>
              </a:ext>
            </a:extLst>
          </p:cNvPr>
          <p:cNvSpPr txBox="1"/>
          <p:nvPr/>
        </p:nvSpPr>
        <p:spPr>
          <a:xfrm>
            <a:off x="7710755" y="342563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HDSP 9632 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A3CAA-44F0-E5C6-BC9B-28E5BE5C7551}"/>
              </a:ext>
            </a:extLst>
          </p:cNvPr>
          <p:cNvSpPr txBox="1"/>
          <p:nvPr/>
        </p:nvSpPr>
        <p:spPr>
          <a:xfrm>
            <a:off x="365947" y="1184797"/>
            <a:ext cx="5376439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Wingdings"/>
              <a:buChar char="Ø"/>
            </a:pPr>
            <a:r>
              <a:rPr lang="en-US" sz="1200" dirty="0">
                <a:latin typeface="Calibri"/>
                <a:ea typeface="+mn-lt"/>
                <a:cs typeface="+mn-lt"/>
              </a:rPr>
              <a:t>Balanced stereo analog in- and output, 24-Bit/192kHz, &gt; 110 dB SNR</a:t>
            </a:r>
            <a:endParaRPr lang="en-US" sz="1200">
              <a:latin typeface="Calibri"/>
              <a:ea typeface="Lato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latin typeface="Calibri"/>
                <a:ea typeface="+mn-lt"/>
                <a:cs typeface="+mn-lt"/>
              </a:rPr>
              <a:t>Optional analog expansion boards with 4 balanced in- or outputs</a:t>
            </a:r>
            <a:endParaRPr lang="en-US" sz="1200">
              <a:latin typeface="Calibri"/>
              <a:ea typeface="Lato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latin typeface="Calibri"/>
                <a:ea typeface="+mn-lt"/>
                <a:cs typeface="+mn-lt"/>
              </a:rPr>
              <a:t>All analog I/</a:t>
            </a:r>
            <a:r>
              <a:rPr lang="en-US" sz="1200" dirty="0" err="1">
                <a:latin typeface="Calibri"/>
                <a:ea typeface="+mn-lt"/>
                <a:cs typeface="+mn-lt"/>
              </a:rPr>
              <a:t>Os</a:t>
            </a:r>
            <a:r>
              <a:rPr lang="en-US" sz="1200" dirty="0">
                <a:latin typeface="Calibri"/>
                <a:ea typeface="+mn-lt"/>
                <a:cs typeface="+mn-lt"/>
              </a:rPr>
              <a:t> capable of 192 kHz, constant number of available channels</a:t>
            </a:r>
            <a:endParaRPr lang="en-US" sz="1200">
              <a:latin typeface="Calibri"/>
              <a:ea typeface="Lato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latin typeface="Calibri"/>
                <a:ea typeface="+mn-lt"/>
                <a:cs typeface="+mn-lt"/>
              </a:rPr>
              <a:t>1 ADAT digital I/O, supporting 96 kHz S/MUX operation</a:t>
            </a:r>
            <a:endParaRPr lang="en-US" sz="1200">
              <a:latin typeface="Calibri"/>
              <a:ea typeface="Lato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latin typeface="Calibri"/>
                <a:ea typeface="+mn-lt"/>
                <a:cs typeface="+mn-lt"/>
              </a:rPr>
              <a:t>1 SPDIF digital I/O, 192 kHz-capable</a:t>
            </a:r>
            <a:endParaRPr lang="en-US" sz="1200">
              <a:latin typeface="Calibri"/>
              <a:ea typeface="Lato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latin typeface="Calibri"/>
                <a:ea typeface="+mn-lt"/>
                <a:cs typeface="+mn-lt"/>
              </a:rPr>
              <a:t>1 Breakout cable for coaxial SPDIF*</a:t>
            </a:r>
            <a:endParaRPr lang="en-US" sz="1200">
              <a:latin typeface="Calibri"/>
              <a:ea typeface="Lato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latin typeface="Calibri"/>
                <a:ea typeface="+mn-lt"/>
                <a:cs typeface="+mn-lt"/>
              </a:rPr>
              <a:t>Up to 16 I/</a:t>
            </a:r>
            <a:r>
              <a:rPr lang="en-US" sz="1200" dirty="0" err="1">
                <a:latin typeface="Calibri"/>
                <a:ea typeface="+mn-lt"/>
                <a:cs typeface="+mn-lt"/>
              </a:rPr>
              <a:t>Os</a:t>
            </a:r>
            <a:r>
              <a:rPr lang="en-US" sz="1200" dirty="0">
                <a:latin typeface="Calibri"/>
                <a:ea typeface="+mn-lt"/>
                <a:cs typeface="+mn-lt"/>
              </a:rPr>
              <a:t> can be used simultaneously!</a:t>
            </a:r>
            <a:endParaRPr lang="en-US" sz="1200">
              <a:latin typeface="Calibri"/>
              <a:ea typeface="Lato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latin typeface="Calibri"/>
                <a:ea typeface="+mn-lt"/>
                <a:cs typeface="+mn-lt"/>
              </a:rPr>
              <a:t>1 Stereo headphone output, parallel to the analog out, additional level settings</a:t>
            </a:r>
            <a:endParaRPr lang="en-US" sz="1200" dirty="0">
              <a:latin typeface="Calibri"/>
              <a:ea typeface="Lato"/>
              <a:cs typeface="Calibri"/>
            </a:endParaRPr>
          </a:p>
          <a:p>
            <a:endParaRPr lang="en-US" dirty="0">
              <a:latin typeface="Calibri"/>
              <a:ea typeface="Lato"/>
              <a:cs typeface="Calibri"/>
            </a:endParaRPr>
          </a:p>
        </p:txBody>
      </p:sp>
      <p:pic>
        <p:nvPicPr>
          <p:cNvPr id="5" name="Picture 4" descr="MCHStreamer - USB Audio Swiss-Army knife - Multichannel  PCM/DSD/PDM/ADAT/TDM/SPDIF interface">
            <a:extLst>
              <a:ext uri="{FF2B5EF4-FFF2-40B4-BE49-F238E27FC236}">
                <a16:creationId xmlns:a16="http://schemas.microsoft.com/office/drawing/2014/main" id="{96F61411-FE48-BF9E-9B89-878512F8E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604" y="4529198"/>
            <a:ext cx="2819400" cy="1619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165CC7-0440-5F74-8A65-98043D3F55A9}"/>
              </a:ext>
            </a:extLst>
          </p:cNvPr>
          <p:cNvSpPr txBox="1"/>
          <p:nvPr/>
        </p:nvSpPr>
        <p:spPr>
          <a:xfrm>
            <a:off x="5737652" y="4173462"/>
            <a:ext cx="5550059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1200" dirty="0">
                <a:latin typeface="Calibri"/>
                <a:ea typeface="Lato"/>
                <a:cs typeface="Lato"/>
              </a:rPr>
              <a:t>Multi-channel USB audio interface (up to 24x24)</a:t>
            </a:r>
            <a:endParaRPr lang="en-US" sz="1200">
              <a:latin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200" dirty="0">
                <a:latin typeface="Calibri"/>
                <a:ea typeface="Lato"/>
                <a:cs typeface="Lato"/>
              </a:rPr>
              <a:t>Wide range of digital IO format depending on the loaded firmware: TOSLINK, ADAT, S/PDIF (coax), I2S, TDM, DSD and PDM data formats</a:t>
            </a:r>
            <a:endParaRPr lang="en-US" sz="1200">
              <a:latin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200" dirty="0">
                <a:latin typeface="Calibri"/>
                <a:ea typeface="Lato"/>
                <a:cs typeface="Lato"/>
              </a:rPr>
              <a:t>Native support up to 32bit / 384kHz</a:t>
            </a:r>
            <a:endParaRPr lang="en-US" sz="1200">
              <a:latin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200" dirty="0">
                <a:latin typeface="Calibri"/>
                <a:ea typeface="Lato"/>
                <a:cs typeface="Lato"/>
              </a:rPr>
              <a:t>PDM to I2S converter for up to 16 MEMS microphones</a:t>
            </a:r>
            <a:endParaRPr lang="en-US" sz="1200">
              <a:latin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200" dirty="0">
                <a:latin typeface="Calibri"/>
                <a:ea typeface="Lato"/>
                <a:cs typeface="Lato"/>
              </a:rPr>
              <a:t>Multichannel DSD (up to 8ch) support</a:t>
            </a:r>
            <a:endParaRPr lang="en-US" sz="1200">
              <a:latin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200" dirty="0">
                <a:latin typeface="Calibri"/>
                <a:ea typeface="Lato"/>
                <a:cs typeface="Lato"/>
              </a:rPr>
              <a:t>USB 2.0 High speed and Audio class 2.0 device / Asynchronous USB synchronization</a:t>
            </a:r>
            <a:endParaRPr lang="en-US" sz="1200">
              <a:latin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200" dirty="0">
                <a:latin typeface="Calibri"/>
                <a:ea typeface="Lato"/>
                <a:cs typeface="Lato"/>
              </a:rPr>
              <a:t>OS compatible: Win/Mac/Linux 2.0/Android/Ios (with Camera kit dongle)</a:t>
            </a:r>
            <a:endParaRPr lang="en-US" sz="1200">
              <a:latin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200" err="1">
                <a:latin typeface="Calibri"/>
                <a:ea typeface="Lato"/>
                <a:cs typeface="Lato"/>
              </a:rPr>
              <a:t>Toslink</a:t>
            </a:r>
            <a:r>
              <a:rPr lang="en-US" sz="1200" dirty="0">
                <a:latin typeface="Calibri"/>
                <a:ea typeface="Lato"/>
                <a:cs typeface="Lato"/>
              </a:rPr>
              <a:t> (optical) and SPDIF (coax) transmitter and receiver</a:t>
            </a:r>
            <a:endParaRPr lang="en-US" sz="1200">
              <a:latin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200" dirty="0">
                <a:latin typeface="Calibri"/>
                <a:ea typeface="Lato"/>
                <a:cs typeface="Lato"/>
              </a:rPr>
              <a:t>Flexible board powering option: USB powered or External DC input power</a:t>
            </a:r>
            <a:endParaRPr lang="en-US" sz="1200">
              <a:latin typeface="Calibri"/>
              <a:cs typeface="Calibri"/>
            </a:endParaRPr>
          </a:p>
          <a:p>
            <a:pPr marL="285750" indent="-285750" algn="l">
              <a:buFont typeface="Wingdings"/>
              <a:buChar char="Ø"/>
            </a:pPr>
            <a:endParaRPr lang="en-US" dirty="0">
              <a:cs typeface="Calibri"/>
            </a:endParaRPr>
          </a:p>
        </p:txBody>
      </p:sp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080B602-11F0-B868-9460-11831531B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47" y="1159453"/>
            <a:ext cx="3226378" cy="5197187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DB30902-B216-C0CB-0389-9EAF2C554B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7" r="215" b="3192"/>
          <a:stretch/>
        </p:blipFill>
        <p:spPr>
          <a:xfrm>
            <a:off x="5143499" y="1158009"/>
            <a:ext cx="5340365" cy="5212918"/>
          </a:xfrm>
          <a:prstGeom prst="rect">
            <a:avLst/>
          </a:prstGeom>
        </p:spPr>
      </p:pic>
      <p:sp>
        <p:nvSpPr>
          <p:cNvPr id="3" name="PlaceHolder 1">
            <a:extLst>
              <a:ext uri="{FF2B5EF4-FFF2-40B4-BE49-F238E27FC236}">
                <a16:creationId xmlns:a16="http://schemas.microsoft.com/office/drawing/2014/main" id="{2232DCF7-F4C9-01BF-40C6-2F41D3336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2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2400" b="1" strike="noStrike" spc="-1" dirty="0">
                <a:solidFill>
                  <a:schemeClr val="dk1"/>
                </a:solidFill>
                <a:latin typeface="Calibri"/>
              </a:rPr>
              <a:t>External I/O cards</a:t>
            </a:r>
            <a:endParaRPr lang="en-US" sz="2400" b="1" strike="noStrike" spc="-1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8105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>
            <a:extLst>
              <a:ext uri="{FF2B5EF4-FFF2-40B4-BE49-F238E27FC236}">
                <a16:creationId xmlns:a16="http://schemas.microsoft.com/office/drawing/2014/main" id="{78CA1960-9AA2-D2E3-1078-F6606B1B1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2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2400" b="1" strike="noStrike" spc="-1" dirty="0">
                <a:solidFill>
                  <a:schemeClr val="dk1"/>
                </a:solidFill>
                <a:latin typeface="Calibri"/>
              </a:rPr>
              <a:t>External I/O cards</a:t>
            </a:r>
            <a:endParaRPr lang="en-US" sz="2400" b="1" strike="noStrike" spc="-1">
              <a:solidFill>
                <a:schemeClr val="dk1"/>
              </a:solidFill>
              <a:latin typeface="Calibri"/>
              <a:cs typeface="Calibri"/>
            </a:endParaRPr>
          </a:p>
        </p:txBody>
      </p:sp>
      <p:pic>
        <p:nvPicPr>
          <p:cNvPr id="6" name="Picture 5" descr="A computer screen with a grey background&#10;&#10;Description automatically generated">
            <a:extLst>
              <a:ext uri="{FF2B5EF4-FFF2-40B4-BE49-F238E27FC236}">
                <a16:creationId xmlns:a16="http://schemas.microsoft.com/office/drawing/2014/main" id="{1A408494-0C23-FD10-CB91-42304DB51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67" y="1099594"/>
            <a:ext cx="9452659" cy="520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306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Test Execution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304920" y="1143000"/>
            <a:ext cx="11886840" cy="518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Testing procedure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Flash the BlackFin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Flash / Load the DSP code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Open GUI and Select Com port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Send the corresponding TTL script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Play the stream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Observe the DSP output.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Based on the output update the status as </a:t>
            </a:r>
            <a:r>
              <a:rPr lang="en-US" sz="2200" b="1" strike="noStrike" spc="-1">
                <a:solidFill>
                  <a:srgbClr val="00B050"/>
                </a:solidFill>
                <a:latin typeface="Calibri"/>
              </a:rPr>
              <a:t>PASS</a:t>
            </a:r>
            <a:r>
              <a:rPr lang="en-US" sz="2200" b="0" strike="noStrike" spc="-1">
                <a:solidFill>
                  <a:schemeClr val="dk1"/>
                </a:solidFill>
                <a:latin typeface="Calibri"/>
              </a:rPr>
              <a:t> or </a:t>
            </a:r>
            <a:r>
              <a:rPr lang="en-US" sz="2200" b="1" strike="noStrike" spc="-1">
                <a:solidFill>
                  <a:srgbClr val="FF0000"/>
                </a:solidFill>
                <a:latin typeface="Calibri"/>
              </a:rPr>
              <a:t>FAIL</a:t>
            </a:r>
            <a:endParaRPr lang="en-US" sz="22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0" name="Picture 12" descr="Screenshot 2021-07-15 170125.jpg"/>
          <p:cNvPicPr/>
          <p:nvPr/>
        </p:nvPicPr>
        <p:blipFill>
          <a:blip r:embed="rId2"/>
          <a:stretch/>
        </p:blipFill>
        <p:spPr>
          <a:xfrm>
            <a:off x="4495680" y="4648320"/>
            <a:ext cx="3428640" cy="1456920"/>
          </a:xfrm>
          <a:prstGeom prst="rect">
            <a:avLst/>
          </a:prstGeom>
          <a:ln w="0">
            <a:noFill/>
          </a:ln>
        </p:spPr>
      </p:pic>
      <p:sp>
        <p:nvSpPr>
          <p:cNvPr id="201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27651FB8-54A2-4D8C-A977-587985FF93D3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16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GUI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5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538A10C0-DA06-4DD7-8828-56981700437D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17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Picture 2"/>
          <p:cNvPicPr/>
          <p:nvPr/>
        </p:nvPicPr>
        <p:blipFill>
          <a:blip r:embed="rId2"/>
          <a:stretch/>
        </p:blipFill>
        <p:spPr>
          <a:xfrm>
            <a:off x="3030120" y="1924560"/>
            <a:ext cx="5725080" cy="3724560"/>
          </a:xfrm>
          <a:prstGeom prst="rect">
            <a:avLst/>
          </a:prstGeom>
          <a:ln w="9525">
            <a:noFill/>
          </a:ln>
        </p:spPr>
      </p:pic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Model TTL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0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02DC7FFF-BE41-448B-96D8-CC1B91CC929D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18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Picture 2"/>
          <p:cNvPicPr/>
          <p:nvPr/>
        </p:nvPicPr>
        <p:blipFill>
          <a:blip r:embed="rId2"/>
          <a:stretch/>
        </p:blipFill>
        <p:spPr>
          <a:xfrm>
            <a:off x="2900160" y="1523880"/>
            <a:ext cx="5985000" cy="4525560"/>
          </a:xfrm>
          <a:prstGeom prst="rect">
            <a:avLst/>
          </a:prstGeom>
          <a:ln w="9525">
            <a:noFill/>
          </a:ln>
        </p:spPr>
      </p:pic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3867E08F-FFDF-9B73-7AB9-C267A97508D5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818972" y="1604520"/>
            <a:ext cx="8553455" cy="3977280"/>
          </a:xfrm>
        </p:spPr>
      </p:pic>
      <p:sp>
        <p:nvSpPr>
          <p:cNvPr id="6" name="PlaceHolder 1">
            <a:extLst>
              <a:ext uri="{FF2B5EF4-FFF2-40B4-BE49-F238E27FC236}">
                <a16:creationId xmlns:a16="http://schemas.microsoft.com/office/drawing/2014/main" id="{0D929298-4FEA-AACF-9AF2-72B4DC1E53C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chemeClr val="dk1"/>
                </a:solidFill>
                <a:latin typeface="Calibri"/>
                <a:cs typeface="Calibri"/>
              </a:rPr>
              <a:t>GUI</a:t>
            </a:r>
          </a:p>
        </p:txBody>
      </p:sp>
    </p:spTree>
    <p:extLst>
      <p:ext uri="{BB962C8B-B14F-4D97-AF65-F5344CB8AC3E}">
        <p14:creationId xmlns:p14="http://schemas.microsoft.com/office/powerpoint/2010/main" val="2737137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Hardware Required for Real Time testing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406440" y="15238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Eval Melody Board 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Power Adapter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Emulator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Speakers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HDMI Cables, Analog Cables and Optical cable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USB cable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DB25 Connector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TV, BD Player and Required Disc.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PC or Laptop</a:t>
            </a:r>
          </a:p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External Optical Module</a:t>
            </a: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1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5C642CB1-EF60-4432-BBC1-F8175A09CA95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20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Eval Melody AVR9 Board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35" name="Content Placeholder 3" descr="1657782367721.JPEG"/>
          <p:cNvPicPr/>
          <p:nvPr/>
        </p:nvPicPr>
        <p:blipFill>
          <a:blip r:embed="rId3"/>
          <a:stretch/>
        </p:blipFill>
        <p:spPr>
          <a:xfrm rot="16200000">
            <a:off x="3252600" y="329040"/>
            <a:ext cx="4873320" cy="7264080"/>
          </a:xfrm>
          <a:prstGeom prst="rect">
            <a:avLst/>
          </a:prstGeom>
          <a:ln w="0">
            <a:noFill/>
          </a:ln>
        </p:spPr>
      </p:pic>
      <p:sp>
        <p:nvSpPr>
          <p:cNvPr id="236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18B4EFAF-C44F-4EEB-AF43-5193A6870BC3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21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lide Number Placeholder 3"/>
          <p:cNvSpPr/>
          <p:nvPr/>
        </p:nvSpPr>
        <p:spPr>
          <a:xfrm>
            <a:off x="5410080" y="6553080"/>
            <a:ext cx="17521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Rectangle 9"/>
          <p:cNvSpPr/>
          <p:nvPr/>
        </p:nvSpPr>
        <p:spPr>
          <a:xfrm>
            <a:off x="0" y="6553080"/>
            <a:ext cx="259056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uter on a desk&#10;&#10;Description automatically generated">
            <a:extLst>
              <a:ext uri="{FF2B5EF4-FFF2-40B4-BE49-F238E27FC236}">
                <a16:creationId xmlns:a16="http://schemas.microsoft.com/office/drawing/2014/main" id="{C3B91920-3AED-D7AE-0FEA-6999D09F5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76" y="1251470"/>
            <a:ext cx="9655216" cy="5126707"/>
          </a:xfrm>
          <a:prstGeom prst="rect">
            <a:avLst/>
          </a:prstGeom>
        </p:spPr>
      </p:pic>
      <p:sp>
        <p:nvSpPr>
          <p:cNvPr id="6" name="PlaceHolder 1">
            <a:extLst>
              <a:ext uri="{FF2B5EF4-FFF2-40B4-BE49-F238E27FC236}">
                <a16:creationId xmlns:a16="http://schemas.microsoft.com/office/drawing/2014/main" id="{079147B2-124C-9894-5FCD-CA569BDC4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chemeClr val="dk1"/>
                </a:solidFill>
                <a:latin typeface="Calibri"/>
              </a:rPr>
              <a:t>Realtime Performance Test Environment</a:t>
            </a:r>
            <a:endParaRPr lang="en-US" sz="2400" b="1" strike="noStrike" spc="-1" dirty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0216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9.1.6 Speaker Setup - Dolby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45" name="Picture 3"/>
          <p:cNvPicPr/>
          <p:nvPr/>
        </p:nvPicPr>
        <p:blipFill>
          <a:blip r:embed="rId2"/>
          <a:stretch/>
        </p:blipFill>
        <p:spPr>
          <a:xfrm>
            <a:off x="7772400" y="1447920"/>
            <a:ext cx="4050000" cy="4525560"/>
          </a:xfrm>
          <a:prstGeom prst="rect">
            <a:avLst/>
          </a:prstGeom>
          <a:ln w="9525">
            <a:noFill/>
          </a:ln>
        </p:spPr>
      </p:pic>
      <p:pic>
        <p:nvPicPr>
          <p:cNvPr id="246" name="Picture 4"/>
          <p:cNvPicPr/>
          <p:nvPr/>
        </p:nvPicPr>
        <p:blipFill>
          <a:blip r:embed="rId3"/>
          <a:stretch/>
        </p:blipFill>
        <p:spPr>
          <a:xfrm>
            <a:off x="4648320" y="2209680"/>
            <a:ext cx="3135960" cy="2590560"/>
          </a:xfrm>
          <a:prstGeom prst="rect">
            <a:avLst/>
          </a:prstGeom>
          <a:ln w="9525">
            <a:noFill/>
          </a:ln>
        </p:spPr>
      </p:pic>
      <p:pic>
        <p:nvPicPr>
          <p:cNvPr id="247" name="Picture 5"/>
          <p:cNvPicPr/>
          <p:nvPr/>
        </p:nvPicPr>
        <p:blipFill>
          <a:blip r:embed="rId4"/>
          <a:stretch/>
        </p:blipFill>
        <p:spPr>
          <a:xfrm>
            <a:off x="304920" y="2057400"/>
            <a:ext cx="4343040" cy="3010680"/>
          </a:xfrm>
          <a:prstGeom prst="rect">
            <a:avLst/>
          </a:prstGeom>
          <a:ln w="9525">
            <a:noFill/>
          </a:ln>
        </p:spPr>
      </p:pic>
      <p:sp>
        <p:nvSpPr>
          <p:cNvPr id="248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838BA4FE-D2A9-4222-94D6-4E36F78E9B14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23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chemeClr val="dk1"/>
                </a:solidFill>
                <a:latin typeface="Calibri"/>
                <a:cs typeface="Calibri"/>
              </a:rPr>
              <a:t>Assessment for afternoon</a:t>
            </a:r>
            <a:endParaRPr lang="en-US" sz="2400" b="1" strike="noStrike" spc="-1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248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838BA4FE-D2A9-4222-94D6-4E36F78E9B14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24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177F9-6693-E647-223F-FD2E15FF264C}"/>
              </a:ext>
            </a:extLst>
          </p:cNvPr>
          <p:cNvSpPr txBox="1"/>
          <p:nvPr/>
        </p:nvSpPr>
        <p:spPr>
          <a:xfrm>
            <a:off x="440720" y="1233550"/>
            <a:ext cx="97423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Testing </a:t>
            </a:r>
            <a:r>
              <a:rPr lang="en-US" err="1">
                <a:cs typeface="Calibri"/>
              </a:rPr>
              <a:t>handson</a:t>
            </a:r>
            <a:r>
              <a:rPr lang="en-US">
                <a:cs typeface="Calibri"/>
              </a:rPr>
              <a:t> will be given for 2 pair at a time. </a:t>
            </a:r>
            <a:endParaRPr lang="en-US"/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4730642"/>
      </p:ext>
    </p:extLst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Picture 12" descr="cacthankyou1.jpg"/>
          <p:cNvPicPr/>
          <p:nvPr/>
        </p:nvPicPr>
        <p:blipFill>
          <a:blip r:embed="rId3"/>
          <a:stretch/>
        </p:blipFill>
        <p:spPr>
          <a:xfrm>
            <a:off x="3916800" y="5078520"/>
            <a:ext cx="4328640" cy="1398240"/>
          </a:xfrm>
          <a:prstGeom prst="rect">
            <a:avLst/>
          </a:prstGeom>
          <a:ln w="9525">
            <a:noFill/>
          </a:ln>
        </p:spPr>
      </p:pic>
      <p:sp>
        <p:nvSpPr>
          <p:cNvPr id="273" name="Wave 3"/>
          <p:cNvSpPr/>
          <p:nvPr/>
        </p:nvSpPr>
        <p:spPr>
          <a:xfrm>
            <a:off x="1269000" y="1143000"/>
            <a:ext cx="2159640" cy="2087640"/>
          </a:xfrm>
          <a:prstGeom prst="wave">
            <a:avLst>
              <a:gd name="adj1" fmla="val 12500"/>
              <a:gd name="adj2" fmla="val -306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F497D">
                <a:lumMod val="40000"/>
                <a:lumOff val="6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Jasmin Infotech Pvt. Ltd.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119, Velachery Tambaram Road, Pallikaranai,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Chennai 600100, INDIA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Tel: +91 44 6666 9600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Wave 8"/>
          <p:cNvSpPr/>
          <p:nvPr/>
        </p:nvSpPr>
        <p:spPr>
          <a:xfrm>
            <a:off x="3783600" y="1147320"/>
            <a:ext cx="2159640" cy="2087640"/>
          </a:xfrm>
          <a:prstGeom prst="wave">
            <a:avLst>
              <a:gd name="adj1" fmla="val 12500"/>
              <a:gd name="adj2" fmla="val -306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F497D">
                <a:lumMod val="40000"/>
                <a:lumOff val="6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Jasmin Infotech Pvt. Ltd.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DG Square,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127, Pallavaram Thoraipakkam Radial Road, Kilkattalai,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Chennai 600117, INDIA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Tel: +91 44 6604 9600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Wave 9"/>
          <p:cNvSpPr/>
          <p:nvPr/>
        </p:nvSpPr>
        <p:spPr>
          <a:xfrm>
            <a:off x="6283440" y="1143000"/>
            <a:ext cx="2159640" cy="2087640"/>
          </a:xfrm>
          <a:prstGeom prst="wave">
            <a:avLst>
              <a:gd name="adj1" fmla="val 12500"/>
              <a:gd name="adj2" fmla="val -306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1F497D">
                <a:lumMod val="40000"/>
                <a:lumOff val="6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Jasmin Infotech Pvt. Ltd.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No.23, 2</a:t>
            </a:r>
            <a:r>
              <a:rPr lang="en-IN" sz="1200" b="0" strike="noStrike" spc="-1" baseline="30000">
                <a:solidFill>
                  <a:schemeClr val="dk1"/>
                </a:solidFill>
                <a:latin typeface="Calibri"/>
              </a:rPr>
              <a:t>nd</a:t>
            </a: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 Floor, 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1</a:t>
            </a:r>
            <a:r>
              <a:rPr lang="en-IN" sz="1200" b="0" strike="noStrike" spc="-1" baseline="30000">
                <a:solidFill>
                  <a:schemeClr val="dk1"/>
                </a:solidFill>
                <a:latin typeface="Calibri"/>
              </a:rPr>
              <a:t>st</a:t>
            </a: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 Main Mutthappa Block, 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Ganga Nagar, RT Nagar,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Bengaluru 560032, INDIA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Wave 10"/>
          <p:cNvSpPr/>
          <p:nvPr/>
        </p:nvSpPr>
        <p:spPr>
          <a:xfrm>
            <a:off x="1269000" y="2891520"/>
            <a:ext cx="2159640" cy="2087640"/>
          </a:xfrm>
          <a:prstGeom prst="wave">
            <a:avLst>
              <a:gd name="adj1" fmla="val 12500"/>
              <a:gd name="adj2" fmla="val -306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9BBB59">
                <a:lumMod val="40000"/>
                <a:lumOff val="6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Jasmin Infotech GmbH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Stefan-George-Ring 29,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81929 München,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GERMANY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Wave 11"/>
          <p:cNvSpPr/>
          <p:nvPr/>
        </p:nvSpPr>
        <p:spPr>
          <a:xfrm>
            <a:off x="3783600" y="2897640"/>
            <a:ext cx="2159640" cy="2087640"/>
          </a:xfrm>
          <a:prstGeom prst="wave">
            <a:avLst>
              <a:gd name="adj1" fmla="val 12500"/>
              <a:gd name="adj2" fmla="val -306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9BBB59">
                <a:lumMod val="40000"/>
                <a:lumOff val="6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Jasmin Infotech GmbH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Christianstr. 6,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24534, Neumunster 6,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GERMANY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Wave 12"/>
          <p:cNvSpPr/>
          <p:nvPr/>
        </p:nvSpPr>
        <p:spPr>
          <a:xfrm>
            <a:off x="6298200" y="2891520"/>
            <a:ext cx="2159640" cy="2087640"/>
          </a:xfrm>
          <a:prstGeom prst="wave">
            <a:avLst>
              <a:gd name="adj1" fmla="val 12500"/>
              <a:gd name="adj2" fmla="val -306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8064A2">
                <a:lumMod val="60000"/>
                <a:lumOff val="4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Jasmin Infotech Inc.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4040, Moorpark Ave,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Suite 104,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San Jose, CA 95117, USA  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Wave 13"/>
          <p:cNvSpPr/>
          <p:nvPr/>
        </p:nvSpPr>
        <p:spPr>
          <a:xfrm>
            <a:off x="8812800" y="1143000"/>
            <a:ext cx="2159640" cy="2087640"/>
          </a:xfrm>
          <a:prstGeom prst="wave">
            <a:avLst>
              <a:gd name="adj1" fmla="val 12500"/>
              <a:gd name="adj2" fmla="val -306"/>
            </a:avLst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Jasmin Infotech Co Ltd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Room 5092, Building 1,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853, Minjing Road,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Yangpu District, Shanghai,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CHINA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Wave 14"/>
          <p:cNvSpPr/>
          <p:nvPr/>
        </p:nvSpPr>
        <p:spPr>
          <a:xfrm>
            <a:off x="8807760" y="2898360"/>
            <a:ext cx="2159640" cy="2087640"/>
          </a:xfrm>
          <a:prstGeom prst="wave">
            <a:avLst>
              <a:gd name="adj1" fmla="val 12500"/>
              <a:gd name="adj2" fmla="val -306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4BACC6">
                <a:lumMod val="40000"/>
                <a:lumOff val="6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Jasmin Infotech Japan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5-27,17, Hiyoshi-Honcho,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Kohoku-ku, Yokohama City,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200" b="0" strike="noStrike" spc="-1">
                <a:solidFill>
                  <a:schemeClr val="dk1"/>
                </a:solidFill>
                <a:latin typeface="Calibri"/>
              </a:rPr>
              <a:t>JAPAN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AD9550E1-DB49-4D4E-BEDD-59CB52EB656A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25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Jasmin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Jasmin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Jasmin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Jasmin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Jasmin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Jasmin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Jasmin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_Jasmin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_Jasmin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1_Jasmin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_Jasmin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_Jasmin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_Jasmin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7663</TotalTime>
  <Words>1186</Words>
  <Application>Microsoft Office PowerPoint</Application>
  <PresentationFormat>Widescreen</PresentationFormat>
  <Paragraphs>216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13</vt:i4>
      </vt:variant>
      <vt:variant>
        <vt:lpstr>Slide Titles</vt:lpstr>
      </vt:variant>
      <vt:variant>
        <vt:i4>25</vt:i4>
      </vt:variant>
    </vt:vector>
  </HeadingPairs>
  <TitlesOfParts>
    <vt:vector size="46" baseType="lpstr">
      <vt:lpstr>Arial</vt:lpstr>
      <vt:lpstr>Book Antiqua</vt:lpstr>
      <vt:lpstr>Calibri</vt:lpstr>
      <vt:lpstr>Symbol</vt:lpstr>
      <vt:lpstr>Tahoma</vt:lpstr>
      <vt:lpstr>Times New Roman</vt:lpstr>
      <vt:lpstr>Trebuchet MS</vt:lpstr>
      <vt:lpstr>Wingdings</vt:lpstr>
      <vt:lpstr>Jasmin_PPT_Template</vt:lpstr>
      <vt:lpstr>Jasmin_PPT_Template</vt:lpstr>
      <vt:lpstr>Jasmin_PPT_Template</vt:lpstr>
      <vt:lpstr>1_Jasmin_PPT_Template</vt:lpstr>
      <vt:lpstr>1_Jasmin_PPT_Template</vt:lpstr>
      <vt:lpstr>1_Jasmin_PPT_Template</vt:lpstr>
      <vt:lpstr>1_Jasmin_PPT_Template</vt:lpstr>
      <vt:lpstr>1_Jasmin_PPT_Template</vt:lpstr>
      <vt:lpstr>1_Jasmin_PPT_Template</vt:lpstr>
      <vt:lpstr>1_Jasmin_PPT_Template</vt:lpstr>
      <vt:lpstr>1_Jasmin_PPT_Template</vt:lpstr>
      <vt:lpstr>1_Jasmin_PPT_Template</vt:lpstr>
      <vt:lpstr>1_Jasmin_PPT_Template</vt:lpstr>
      <vt:lpstr>PowerPoint Presentation</vt:lpstr>
      <vt:lpstr>Agenda</vt:lpstr>
      <vt:lpstr>What is Testing?</vt:lpstr>
      <vt:lpstr>Test Levels</vt:lpstr>
      <vt:lpstr>Test Levels</vt:lpstr>
      <vt:lpstr>PowerPoint Presentation</vt:lpstr>
      <vt:lpstr>Testing Process</vt:lpstr>
      <vt:lpstr>Test evaluation methods</vt:lpstr>
      <vt:lpstr>Pumping Utilities</vt:lpstr>
      <vt:lpstr>Recording and Analysing </vt:lpstr>
      <vt:lpstr>Audacity</vt:lpstr>
      <vt:lpstr>Spectra Plus</vt:lpstr>
      <vt:lpstr>External I/O cards</vt:lpstr>
      <vt:lpstr>External I/O cards</vt:lpstr>
      <vt:lpstr>External I/O cards</vt:lpstr>
      <vt:lpstr>Test Execution</vt:lpstr>
      <vt:lpstr>GUI</vt:lpstr>
      <vt:lpstr>Model TTL</vt:lpstr>
      <vt:lpstr>PowerPoint Presentation</vt:lpstr>
      <vt:lpstr>Hardware Required for Real Time testing</vt:lpstr>
      <vt:lpstr>Eval Melody AVR9 Board</vt:lpstr>
      <vt:lpstr>Realtime Performance Test Environment</vt:lpstr>
      <vt:lpstr>9.1.6 Speaker Setup - Dolby</vt:lpstr>
      <vt:lpstr>Assessment for afternoon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ADI_HPMATeam</dc:creator>
  <dc:description/>
  <cp:lastModifiedBy>Sangeetha Udayakumar</cp:lastModifiedBy>
  <cp:revision>1094</cp:revision>
  <dcterms:created xsi:type="dcterms:W3CDTF">2018-10-17T07:24:31Z</dcterms:created>
  <dcterms:modified xsi:type="dcterms:W3CDTF">2024-10-23T12:25:09Z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Custom</vt:lpwstr>
  </property>
  <property fmtid="{D5CDD505-2E9C-101B-9397-08002B2CF9AE}" pid="4" name="Slides">
    <vt:i4>27</vt:i4>
  </property>
</Properties>
</file>