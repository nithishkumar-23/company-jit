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Lst>
  <p:notesMasterIdLst>
    <p:notesMasterId r:id="rId33"/>
  </p:notesMasterIdLst>
  <p:sldIdLst>
    <p:sldId id="291" r:id="rId3"/>
    <p:sldId id="292" r:id="rId4"/>
    <p:sldId id="293" r:id="rId5"/>
    <p:sldId id="294" r:id="rId6"/>
    <p:sldId id="295" r:id="rId7"/>
    <p:sldId id="296" r:id="rId8"/>
    <p:sldId id="297" r:id="rId9"/>
    <p:sldId id="300" r:id="rId10"/>
    <p:sldId id="299" r:id="rId11"/>
    <p:sldId id="298" r:id="rId12"/>
    <p:sldId id="302" r:id="rId13"/>
    <p:sldId id="318" r:id="rId14"/>
    <p:sldId id="303" r:id="rId15"/>
    <p:sldId id="304" r:id="rId16"/>
    <p:sldId id="269" r:id="rId17"/>
    <p:sldId id="270" r:id="rId18"/>
    <p:sldId id="271" r:id="rId19"/>
    <p:sldId id="272" r:id="rId20"/>
    <p:sldId id="273" r:id="rId21"/>
    <p:sldId id="305" r:id="rId22"/>
    <p:sldId id="275" r:id="rId23"/>
    <p:sldId id="276" r:id="rId24"/>
    <p:sldId id="306" r:id="rId25"/>
    <p:sldId id="307" r:id="rId26"/>
    <p:sldId id="308" r:id="rId27"/>
    <p:sldId id="309" r:id="rId28"/>
    <p:sldId id="316" r:id="rId29"/>
    <p:sldId id="310" r:id="rId30"/>
    <p:sldId id="315" r:id="rId31"/>
    <p:sldId id="31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1" autoAdjust="0"/>
    <p:restoredTop sz="94660"/>
  </p:normalViewPr>
  <p:slideViewPr>
    <p:cSldViewPr snapToGrid="0">
      <p:cViewPr varScale="1">
        <p:scale>
          <a:sx n="111" d="100"/>
          <a:sy n="111" d="100"/>
        </p:scale>
        <p:origin x="58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A8A3D7-6DD1-4511-9317-262C521BA463}" type="datetimeFigureOut">
              <a:rPr lang="en-IN" smtClean="0"/>
              <a:t>23-10-2024</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745B19-9D2D-4DB1-A5DC-A1C91218B795}" type="slidenum">
              <a:rPr lang="en-IN" smtClean="0"/>
              <a:t>‹#›</a:t>
            </a:fld>
            <a:endParaRPr lang="en-IN" dirty="0"/>
          </a:p>
        </p:txBody>
      </p:sp>
    </p:spTree>
    <p:extLst>
      <p:ext uri="{BB962C8B-B14F-4D97-AF65-F5344CB8AC3E}">
        <p14:creationId xmlns:p14="http://schemas.microsoft.com/office/powerpoint/2010/main" val="3289317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184AE5E-96D4-4B9F-B381-E0E579A7C8F3}" type="datetimeFigureOut">
              <a:rPr lang="en-IN" smtClean="0"/>
              <a:t>23-10-2024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E8C3A8A-5248-45AE-9669-561BD8BD24E7}" type="slidenum">
              <a:rPr lang="en-IN" smtClean="0"/>
              <a:t>‹#›</a:t>
            </a:fld>
            <a:endParaRPr lang="en-IN" dirty="0"/>
          </a:p>
        </p:txBody>
      </p:sp>
    </p:spTree>
    <p:extLst>
      <p:ext uri="{BB962C8B-B14F-4D97-AF65-F5344CB8AC3E}">
        <p14:creationId xmlns:p14="http://schemas.microsoft.com/office/powerpoint/2010/main" val="1822475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184AE5E-96D4-4B9F-B381-E0E579A7C8F3}" type="datetimeFigureOut">
              <a:rPr lang="en-IN" smtClean="0"/>
              <a:t>23-10-2024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E8C3A8A-5248-45AE-9669-561BD8BD24E7}" type="slidenum">
              <a:rPr lang="en-IN" smtClean="0"/>
              <a:t>‹#›</a:t>
            </a:fld>
            <a:endParaRPr lang="en-IN" dirty="0"/>
          </a:p>
        </p:txBody>
      </p:sp>
    </p:spTree>
    <p:extLst>
      <p:ext uri="{BB962C8B-B14F-4D97-AF65-F5344CB8AC3E}">
        <p14:creationId xmlns:p14="http://schemas.microsoft.com/office/powerpoint/2010/main" val="544826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184AE5E-96D4-4B9F-B381-E0E579A7C8F3}" type="datetimeFigureOut">
              <a:rPr lang="en-IN" smtClean="0"/>
              <a:t>23-10-2024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E8C3A8A-5248-45AE-9669-561BD8BD24E7}" type="slidenum">
              <a:rPr lang="en-IN" smtClean="0"/>
              <a:t>‹#›</a:t>
            </a:fld>
            <a:endParaRPr lang="en-IN" dirty="0"/>
          </a:p>
        </p:txBody>
      </p:sp>
    </p:spTree>
    <p:extLst>
      <p:ext uri="{BB962C8B-B14F-4D97-AF65-F5344CB8AC3E}">
        <p14:creationId xmlns:p14="http://schemas.microsoft.com/office/powerpoint/2010/main" val="2642843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184AE5E-96D4-4B9F-B381-E0E579A7C8F3}" type="datetimeFigureOut">
              <a:rPr lang="en-IN" smtClean="0"/>
              <a:t>23-10-2024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E8C3A8A-5248-45AE-9669-561BD8BD24E7}" type="slidenum">
              <a:rPr lang="en-IN" smtClean="0"/>
              <a:t>‹#›</a:t>
            </a:fld>
            <a:endParaRPr lang="en-IN" dirty="0"/>
          </a:p>
        </p:txBody>
      </p:sp>
    </p:spTree>
    <p:extLst>
      <p:ext uri="{BB962C8B-B14F-4D97-AF65-F5344CB8AC3E}">
        <p14:creationId xmlns:p14="http://schemas.microsoft.com/office/powerpoint/2010/main" val="258743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184AE5E-96D4-4B9F-B381-E0E579A7C8F3}" type="datetimeFigureOut">
              <a:rPr lang="en-IN" smtClean="0"/>
              <a:t>23-10-2024</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0E8C3A8A-5248-45AE-9669-561BD8BD24E7}" type="slidenum">
              <a:rPr lang="en-IN" smtClean="0"/>
              <a:t>‹#›</a:t>
            </a:fld>
            <a:endParaRPr lang="en-IN" dirty="0"/>
          </a:p>
        </p:txBody>
      </p:sp>
    </p:spTree>
    <p:extLst>
      <p:ext uri="{BB962C8B-B14F-4D97-AF65-F5344CB8AC3E}">
        <p14:creationId xmlns:p14="http://schemas.microsoft.com/office/powerpoint/2010/main" val="3366644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184AE5E-96D4-4B9F-B381-E0E579A7C8F3}" type="datetimeFigureOut">
              <a:rPr lang="en-IN" smtClean="0"/>
              <a:t>23-10-2024</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0E8C3A8A-5248-45AE-9669-561BD8BD24E7}" type="slidenum">
              <a:rPr lang="en-IN" smtClean="0"/>
              <a:t>‹#›</a:t>
            </a:fld>
            <a:endParaRPr lang="en-IN" dirty="0"/>
          </a:p>
        </p:txBody>
      </p:sp>
    </p:spTree>
    <p:extLst>
      <p:ext uri="{BB962C8B-B14F-4D97-AF65-F5344CB8AC3E}">
        <p14:creationId xmlns:p14="http://schemas.microsoft.com/office/powerpoint/2010/main" val="399164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84AE5E-96D4-4B9F-B381-E0E579A7C8F3}" type="datetimeFigureOut">
              <a:rPr lang="en-IN" smtClean="0"/>
              <a:t>23-10-2024</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0E8C3A8A-5248-45AE-9669-561BD8BD24E7}" type="slidenum">
              <a:rPr lang="en-IN" smtClean="0"/>
              <a:t>‹#›</a:t>
            </a:fld>
            <a:endParaRPr lang="en-IN" dirty="0"/>
          </a:p>
        </p:txBody>
      </p:sp>
    </p:spTree>
    <p:extLst>
      <p:ext uri="{BB962C8B-B14F-4D97-AF65-F5344CB8AC3E}">
        <p14:creationId xmlns:p14="http://schemas.microsoft.com/office/powerpoint/2010/main" val="1942245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184AE5E-96D4-4B9F-B381-E0E579A7C8F3}" type="datetimeFigureOut">
              <a:rPr lang="en-IN" smtClean="0"/>
              <a:t>23-10-2024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E8C3A8A-5248-45AE-9669-561BD8BD24E7}" type="slidenum">
              <a:rPr lang="en-IN" smtClean="0"/>
              <a:t>‹#›</a:t>
            </a:fld>
            <a:endParaRPr lang="en-IN" dirty="0"/>
          </a:p>
        </p:txBody>
      </p:sp>
    </p:spTree>
    <p:extLst>
      <p:ext uri="{BB962C8B-B14F-4D97-AF65-F5344CB8AC3E}">
        <p14:creationId xmlns:p14="http://schemas.microsoft.com/office/powerpoint/2010/main" val="1455207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184AE5E-96D4-4B9F-B381-E0E579A7C8F3}" type="datetimeFigureOut">
              <a:rPr lang="en-IN" smtClean="0"/>
              <a:t>23-10-2024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E8C3A8A-5248-45AE-9669-561BD8BD24E7}" type="slidenum">
              <a:rPr lang="en-IN" smtClean="0"/>
              <a:t>‹#›</a:t>
            </a:fld>
            <a:endParaRPr lang="en-IN" dirty="0"/>
          </a:p>
        </p:txBody>
      </p:sp>
    </p:spTree>
    <p:extLst>
      <p:ext uri="{BB962C8B-B14F-4D97-AF65-F5344CB8AC3E}">
        <p14:creationId xmlns:p14="http://schemas.microsoft.com/office/powerpoint/2010/main" val="1162304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184AE5E-96D4-4B9F-B381-E0E579A7C8F3}" type="datetimeFigureOut">
              <a:rPr lang="en-IN" smtClean="0"/>
              <a:t>23-10-2024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E8C3A8A-5248-45AE-9669-561BD8BD24E7}" type="slidenum">
              <a:rPr lang="en-IN" smtClean="0"/>
              <a:t>‹#›</a:t>
            </a:fld>
            <a:endParaRPr lang="en-IN" dirty="0"/>
          </a:p>
        </p:txBody>
      </p:sp>
    </p:spTree>
    <p:extLst>
      <p:ext uri="{BB962C8B-B14F-4D97-AF65-F5344CB8AC3E}">
        <p14:creationId xmlns:p14="http://schemas.microsoft.com/office/powerpoint/2010/main" val="3074016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184AE5E-96D4-4B9F-B381-E0E579A7C8F3}" type="datetimeFigureOut">
              <a:rPr lang="en-IN" smtClean="0"/>
              <a:t>23-10-2024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E8C3A8A-5248-45AE-9669-561BD8BD24E7}" type="slidenum">
              <a:rPr lang="en-IN" smtClean="0"/>
              <a:t>‹#›</a:t>
            </a:fld>
            <a:endParaRPr lang="en-IN" dirty="0"/>
          </a:p>
        </p:txBody>
      </p:sp>
    </p:spTree>
    <p:extLst>
      <p:ext uri="{BB962C8B-B14F-4D97-AF65-F5344CB8AC3E}">
        <p14:creationId xmlns:p14="http://schemas.microsoft.com/office/powerpoint/2010/main" val="290269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DD74F43-4296-4BFE-8C15-272EEF81BB17}"/>
              </a:ext>
            </a:extLst>
          </p:cNvPr>
          <p:cNvSpPr>
            <a:spLocks noGrp="1"/>
          </p:cNvSpPr>
          <p:nvPr>
            <p:ph type="dt" sz="half" idx="10"/>
          </p:nvPr>
        </p:nvSpPr>
        <p:spPr/>
        <p:txBody>
          <a:bodyPr/>
          <a:lstStyle/>
          <a:p>
            <a:endParaRPr lang="en-IN" dirty="0"/>
          </a:p>
        </p:txBody>
      </p:sp>
      <p:sp>
        <p:nvSpPr>
          <p:cNvPr id="5" name="Footer Placeholder 4">
            <a:extLst>
              <a:ext uri="{FF2B5EF4-FFF2-40B4-BE49-F238E27FC236}">
                <a16:creationId xmlns:a16="http://schemas.microsoft.com/office/drawing/2014/main" id="{EA95E510-4050-4D98-990F-B2535C75DE7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6D49669-6EA7-4328-B5F0-08A49083A66C}"/>
              </a:ext>
            </a:extLst>
          </p:cNvPr>
          <p:cNvSpPr>
            <a:spLocks noGrp="1"/>
          </p:cNvSpPr>
          <p:nvPr>
            <p:ph type="sldNum" sz="quarter" idx="12"/>
          </p:nvPr>
        </p:nvSpPr>
        <p:spPr/>
        <p:txBody>
          <a:bodyPr/>
          <a:lstStyle/>
          <a:p>
            <a:fld id="{83735547-B499-4273-BF07-F756EAEC2F73}" type="slidenum">
              <a:rPr lang="en-IN" smtClean="0"/>
              <a:pPr/>
              <a:t>‹#›</a:t>
            </a:fld>
            <a:endParaRPr lang="en-IN" dirty="0"/>
          </a:p>
        </p:txBody>
      </p:sp>
      <p:pic>
        <p:nvPicPr>
          <p:cNvPr id="9" name="Picture 8">
            <a:extLst>
              <a:ext uri="{FF2B5EF4-FFF2-40B4-BE49-F238E27FC236}">
                <a16:creationId xmlns:a16="http://schemas.microsoft.com/office/drawing/2014/main" id="{49FCAF1F-1C98-4485-96B0-B250AD669833}"/>
              </a:ext>
            </a:extLst>
          </p:cNvPr>
          <p:cNvPicPr>
            <a:picLocks noChangeAspect="1"/>
          </p:cNvPicPr>
          <p:nvPr userDrawn="1"/>
        </p:nvPicPr>
        <p:blipFill>
          <a:blip r:embed="rId2"/>
          <a:stretch>
            <a:fillRect/>
          </a:stretch>
        </p:blipFill>
        <p:spPr>
          <a:xfrm>
            <a:off x="4363415" y="847635"/>
            <a:ext cx="3741742" cy="1200329"/>
          </a:xfrm>
          <a:prstGeom prst="rect">
            <a:avLst/>
          </a:prstGeom>
        </p:spPr>
      </p:pic>
      <p:sp>
        <p:nvSpPr>
          <p:cNvPr id="8" name="Text Box 16">
            <a:extLst>
              <a:ext uri="{FF2B5EF4-FFF2-40B4-BE49-F238E27FC236}">
                <a16:creationId xmlns:a16="http://schemas.microsoft.com/office/drawing/2014/main" id="{4124788B-26D4-40D5-ADB7-E3EFDD03A2B4}"/>
              </a:ext>
            </a:extLst>
          </p:cNvPr>
          <p:cNvSpPr txBox="1">
            <a:spLocks noChangeArrowheads="1"/>
          </p:cNvSpPr>
          <p:nvPr userDrawn="1"/>
        </p:nvSpPr>
        <p:spPr bwMode="auto">
          <a:xfrm>
            <a:off x="5396086" y="5881143"/>
            <a:ext cx="1676400" cy="253916"/>
          </a:xfrm>
          <a:prstGeom prst="rect">
            <a:avLst/>
          </a:prstGeom>
          <a:noFill/>
          <a:ln>
            <a:noFill/>
          </a:ln>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base" hangingPunct="0">
              <a:spcBef>
                <a:spcPct val="0"/>
              </a:spcBef>
              <a:spcAft>
                <a:spcPct val="0"/>
              </a:spcAft>
              <a:defRPr sz="1600">
                <a:solidFill>
                  <a:schemeClr val="tx1"/>
                </a:solidFill>
                <a:latin typeface="Tahoma" pitchFamily="34" charset="0"/>
              </a:defRPr>
            </a:lvl6pPr>
            <a:lvl7pPr marL="2971800" indent="-228600" algn="ctr" eaLnBrk="0" fontAlgn="base" hangingPunct="0">
              <a:spcBef>
                <a:spcPct val="0"/>
              </a:spcBef>
              <a:spcAft>
                <a:spcPct val="0"/>
              </a:spcAft>
              <a:defRPr sz="1600">
                <a:solidFill>
                  <a:schemeClr val="tx1"/>
                </a:solidFill>
                <a:latin typeface="Tahoma" pitchFamily="34" charset="0"/>
              </a:defRPr>
            </a:lvl7pPr>
            <a:lvl8pPr marL="3429000" indent="-228600" algn="ctr" eaLnBrk="0" fontAlgn="base" hangingPunct="0">
              <a:spcBef>
                <a:spcPct val="0"/>
              </a:spcBef>
              <a:spcAft>
                <a:spcPct val="0"/>
              </a:spcAft>
              <a:defRPr sz="1600">
                <a:solidFill>
                  <a:schemeClr val="tx1"/>
                </a:solidFill>
                <a:latin typeface="Tahoma" pitchFamily="34" charset="0"/>
              </a:defRPr>
            </a:lvl8pPr>
            <a:lvl9pPr marL="3886200" indent="-228600" algn="ctr" eaLnBrk="0" fontAlgn="base" hangingPunct="0">
              <a:spcBef>
                <a:spcPct val="0"/>
              </a:spcBef>
              <a:spcAft>
                <a:spcPct val="0"/>
              </a:spcAft>
              <a:defRPr sz="1600">
                <a:solidFill>
                  <a:schemeClr val="tx1"/>
                </a:solidFill>
                <a:latin typeface="Tahoma" pitchFamily="34" charset="0"/>
              </a:defRPr>
            </a:lvl9pPr>
          </a:lstStyle>
          <a:p>
            <a:pPr>
              <a:spcBef>
                <a:spcPct val="50000"/>
              </a:spcBef>
              <a:defRPr/>
            </a:pPr>
            <a:r>
              <a:rPr lang="en-US" sz="1050" b="0" u="sng" dirty="0">
                <a:solidFill>
                  <a:srgbClr val="000099"/>
                </a:solidFill>
                <a:latin typeface="+mn-lt"/>
              </a:rPr>
              <a:t>www.jasmin-infotech.com</a:t>
            </a:r>
            <a:endParaRPr lang="en-US" sz="1400" b="0" i="1" dirty="0">
              <a:solidFill>
                <a:srgbClr val="C14916"/>
              </a:solidFill>
              <a:latin typeface="+mn-lt"/>
            </a:endParaRPr>
          </a:p>
        </p:txBody>
      </p:sp>
      <p:sp>
        <p:nvSpPr>
          <p:cNvPr id="10" name="TextBox 9">
            <a:extLst>
              <a:ext uri="{FF2B5EF4-FFF2-40B4-BE49-F238E27FC236}">
                <a16:creationId xmlns:a16="http://schemas.microsoft.com/office/drawing/2014/main" id="{DD777034-DC3B-43B3-B26E-F6B88C578A4A}"/>
              </a:ext>
            </a:extLst>
          </p:cNvPr>
          <p:cNvSpPr txBox="1"/>
          <p:nvPr userDrawn="1"/>
        </p:nvSpPr>
        <p:spPr>
          <a:xfrm>
            <a:off x="4650532" y="2047964"/>
            <a:ext cx="3296435" cy="400110"/>
          </a:xfrm>
          <a:prstGeom prst="rect">
            <a:avLst/>
          </a:prstGeom>
          <a:noFill/>
        </p:spPr>
        <p:txBody>
          <a:bodyPr wrap="square">
            <a:spAutoFit/>
          </a:bodyPr>
          <a:lstStyle/>
          <a:p>
            <a:r>
              <a:rPr lang="en-IN" sz="2000" b="1" i="1" dirty="0">
                <a:solidFill>
                  <a:srgbClr val="000000"/>
                </a:solidFill>
                <a:effectLst/>
              </a:rPr>
              <a:t>Embedded Solutions Partner</a:t>
            </a:r>
            <a:endParaRPr lang="en-IN" sz="2000" b="1" i="1" dirty="0"/>
          </a:p>
        </p:txBody>
      </p:sp>
    </p:spTree>
    <p:extLst>
      <p:ext uri="{BB962C8B-B14F-4D97-AF65-F5344CB8AC3E}">
        <p14:creationId xmlns:p14="http://schemas.microsoft.com/office/powerpoint/2010/main" val="3736976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DocVer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E64A-A8FC-4EDC-9359-7004A8A22727}"/>
              </a:ext>
            </a:extLst>
          </p:cNvPr>
          <p:cNvSpPr>
            <a:spLocks noGrp="1"/>
          </p:cNvSpPr>
          <p:nvPr>
            <p:ph type="title" hasCustomPrompt="1"/>
          </p:nvPr>
        </p:nvSpPr>
        <p:spPr/>
        <p:txBody>
          <a:bodyPr/>
          <a:lstStyle>
            <a:lvl1pPr>
              <a:defRPr>
                <a:latin typeface="Century Gothic" panose="020B0502020202020204" pitchFamily="34" charset="0"/>
              </a:defRPr>
            </a:lvl1pPr>
          </a:lstStyle>
          <a:p>
            <a:r>
              <a:rPr lang="en-US"/>
              <a:t>Document History</a:t>
            </a:r>
            <a:endParaRPr lang="en-IN"/>
          </a:p>
        </p:txBody>
      </p:sp>
      <p:sp>
        <p:nvSpPr>
          <p:cNvPr id="3" name="Content Placeholder 2">
            <a:extLst>
              <a:ext uri="{FF2B5EF4-FFF2-40B4-BE49-F238E27FC236}">
                <a16:creationId xmlns:a16="http://schemas.microsoft.com/office/drawing/2014/main" id="{EFF6EA4D-61F7-48C2-AF6D-1188E40D24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8" name="Straight Connector 7">
            <a:extLst>
              <a:ext uri="{FF2B5EF4-FFF2-40B4-BE49-F238E27FC236}">
                <a16:creationId xmlns:a16="http://schemas.microsoft.com/office/drawing/2014/main" id="{E0DA613D-B314-4766-868E-E2A78364DF0B}"/>
              </a:ext>
            </a:extLst>
          </p:cNvPr>
          <p:cNvCxnSpPr/>
          <p:nvPr userDrawn="1"/>
        </p:nvCxnSpPr>
        <p:spPr>
          <a:xfrm>
            <a:off x="2057400" y="6629400"/>
            <a:ext cx="0" cy="22860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6C6A39-B8E4-4532-96D5-5915685A7FB5}"/>
              </a:ext>
            </a:extLst>
          </p:cNvPr>
          <p:cNvCxnSpPr>
            <a:cxnSpLocks/>
          </p:cNvCxnSpPr>
          <p:nvPr userDrawn="1"/>
        </p:nvCxnSpPr>
        <p:spPr>
          <a:xfrm>
            <a:off x="838200" y="1398287"/>
            <a:ext cx="11353800" cy="0"/>
          </a:xfrm>
          <a:prstGeom prst="line">
            <a:avLst/>
          </a:prstGeom>
          <a:ln w="38100">
            <a:solidFill>
              <a:srgbClr val="000087"/>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E8232261-2F1D-497D-B8A8-44AC552772D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70728" y="365125"/>
            <a:ext cx="801448" cy="854854"/>
          </a:xfrm>
          <a:prstGeom prst="rect">
            <a:avLst/>
          </a:prstGeom>
        </p:spPr>
      </p:pic>
      <p:sp>
        <p:nvSpPr>
          <p:cNvPr id="6" name="Date Placeholder 5">
            <a:extLst>
              <a:ext uri="{FF2B5EF4-FFF2-40B4-BE49-F238E27FC236}">
                <a16:creationId xmlns:a16="http://schemas.microsoft.com/office/drawing/2014/main" id="{220209F0-335D-47DA-A5F9-618E6D34A172}"/>
              </a:ext>
            </a:extLst>
          </p:cNvPr>
          <p:cNvSpPr>
            <a:spLocks noGrp="1"/>
          </p:cNvSpPr>
          <p:nvPr>
            <p:ph type="dt" sz="half" idx="10"/>
          </p:nvPr>
        </p:nvSpPr>
        <p:spPr/>
        <p:txBody>
          <a:bodyPr/>
          <a:lstStyle/>
          <a:p>
            <a:endParaRPr lang="en-IN" dirty="0"/>
          </a:p>
        </p:txBody>
      </p:sp>
      <p:sp>
        <p:nvSpPr>
          <p:cNvPr id="12" name="Footer Placeholder 11">
            <a:extLst>
              <a:ext uri="{FF2B5EF4-FFF2-40B4-BE49-F238E27FC236}">
                <a16:creationId xmlns:a16="http://schemas.microsoft.com/office/drawing/2014/main" id="{98F8D96F-F53D-41EA-B00C-7A2C7A6B99CF}"/>
              </a:ext>
            </a:extLst>
          </p:cNvPr>
          <p:cNvSpPr>
            <a:spLocks noGrp="1"/>
          </p:cNvSpPr>
          <p:nvPr>
            <p:ph type="ftr" sz="quarter" idx="11"/>
          </p:nvPr>
        </p:nvSpPr>
        <p:spPr/>
        <p:txBody>
          <a:bodyPr/>
          <a:lstStyle/>
          <a:p>
            <a:endParaRPr lang="en-IN" dirty="0"/>
          </a:p>
        </p:txBody>
      </p:sp>
      <p:sp>
        <p:nvSpPr>
          <p:cNvPr id="13" name="Slide Number Placeholder 12">
            <a:extLst>
              <a:ext uri="{FF2B5EF4-FFF2-40B4-BE49-F238E27FC236}">
                <a16:creationId xmlns:a16="http://schemas.microsoft.com/office/drawing/2014/main" id="{DC49C9CF-5B99-4CA1-BA59-9B7CCDC6B8C3}"/>
              </a:ext>
            </a:extLst>
          </p:cNvPr>
          <p:cNvSpPr>
            <a:spLocks noGrp="1"/>
          </p:cNvSpPr>
          <p:nvPr>
            <p:ph type="sldNum" sz="quarter" idx="12"/>
          </p:nvPr>
        </p:nvSpPr>
        <p:spPr/>
        <p:txBody>
          <a:bodyPr/>
          <a:lstStyle/>
          <a:p>
            <a:fld id="{83735547-B499-4273-BF07-F756EAEC2F73}" type="slidenum">
              <a:rPr lang="en-IN" smtClean="0"/>
              <a:pPr/>
              <a:t>‹#›</a:t>
            </a:fld>
            <a:endParaRPr lang="en-IN" dirty="0"/>
          </a:p>
        </p:txBody>
      </p:sp>
    </p:spTree>
    <p:extLst>
      <p:ext uri="{BB962C8B-B14F-4D97-AF65-F5344CB8AC3E}">
        <p14:creationId xmlns:p14="http://schemas.microsoft.com/office/powerpoint/2010/main" val="2258546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84AE5E-96D4-4B9F-B381-E0E579A7C8F3}" type="datetimeFigureOut">
              <a:rPr lang="en-IN" smtClean="0"/>
              <a:t>23-10-2024</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8C3A8A-5248-45AE-9669-561BD8BD24E7}" type="slidenum">
              <a:rPr lang="en-IN" smtClean="0"/>
              <a:t>‹#›</a:t>
            </a:fld>
            <a:endParaRPr lang="en-IN" dirty="0"/>
          </a:p>
        </p:txBody>
      </p:sp>
    </p:spTree>
    <p:extLst>
      <p:ext uri="{BB962C8B-B14F-4D97-AF65-F5344CB8AC3E}">
        <p14:creationId xmlns:p14="http://schemas.microsoft.com/office/powerpoint/2010/main" val="3312108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A1D1BC-3BF8-4FCC-BF21-07D616F2B3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D11023-BBB9-4E1B-95EF-F874370A7F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C6BB0-64D3-42E2-B5EC-EE4A6A98C8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dirty="0"/>
          </a:p>
        </p:txBody>
      </p:sp>
      <p:sp>
        <p:nvSpPr>
          <p:cNvPr id="5" name="Footer Placeholder 4">
            <a:extLst>
              <a:ext uri="{FF2B5EF4-FFF2-40B4-BE49-F238E27FC236}">
                <a16:creationId xmlns:a16="http://schemas.microsoft.com/office/drawing/2014/main" id="{526D9C4B-3BC2-4917-8FF4-9D12AE0159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4ABAD75D-4AC3-4D94-8260-13C2633BD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735547-B499-4273-BF07-F756EAEC2F73}" type="slidenum">
              <a:rPr lang="en-IN" smtClean="0"/>
              <a:pPr/>
              <a:t>‹#›</a:t>
            </a:fld>
            <a:endParaRPr lang="en-IN" dirty="0"/>
          </a:p>
        </p:txBody>
      </p:sp>
      <p:sp>
        <p:nvSpPr>
          <p:cNvPr id="7" name="TextBox 3">
            <a:extLst>
              <a:ext uri="{FF2B5EF4-FFF2-40B4-BE49-F238E27FC236}">
                <a16:creationId xmlns:a16="http://schemas.microsoft.com/office/drawing/2014/main" id="{AEF30DBC-AFA4-4062-A158-88C8AA44646E}"/>
              </a:ext>
            </a:extLst>
          </p:cNvPr>
          <p:cNvSpPr txBox="1">
            <a:spLocks noChangeArrowheads="1"/>
          </p:cNvSpPr>
          <p:nvPr userDrawn="1"/>
        </p:nvSpPr>
        <p:spPr bwMode="auto">
          <a:xfrm>
            <a:off x="1905000" y="6650257"/>
            <a:ext cx="2362200" cy="200055"/>
          </a:xfrm>
          <a:prstGeom prst="rect">
            <a:avLst/>
          </a:prstGeom>
          <a:noFill/>
          <a:ln w="9525">
            <a:noFill/>
            <a:miter lim="800000"/>
            <a:headEnd/>
            <a:tailEnd/>
          </a:ln>
        </p:spPr>
        <p:txBody>
          <a:bodyPr wrap="square" anchor="ctr">
            <a:spAutoFit/>
          </a:bodyPr>
          <a:lstStyle/>
          <a:p>
            <a:pPr algn="ctr"/>
            <a:r>
              <a:rPr lang="en-US" sz="700" b="1" dirty="0">
                <a:solidFill>
                  <a:schemeClr val="tx1">
                    <a:lumMod val="65000"/>
                    <a:lumOff val="35000"/>
                  </a:schemeClr>
                </a:solidFill>
                <a:latin typeface="+mj-lt"/>
              </a:rPr>
              <a:t>CONFIDENTIAL : Shared Under NDA </a:t>
            </a:r>
          </a:p>
        </p:txBody>
      </p:sp>
      <p:sp>
        <p:nvSpPr>
          <p:cNvPr id="8" name="TextBox 3">
            <a:extLst>
              <a:ext uri="{FF2B5EF4-FFF2-40B4-BE49-F238E27FC236}">
                <a16:creationId xmlns:a16="http://schemas.microsoft.com/office/drawing/2014/main" id="{7F0BB39C-D7A3-4BF8-BB2B-5E599CE16D6B}"/>
              </a:ext>
            </a:extLst>
          </p:cNvPr>
          <p:cNvSpPr txBox="1">
            <a:spLocks noChangeArrowheads="1"/>
          </p:cNvSpPr>
          <p:nvPr userDrawn="1"/>
        </p:nvSpPr>
        <p:spPr bwMode="auto">
          <a:xfrm>
            <a:off x="0" y="6650257"/>
            <a:ext cx="2057400" cy="200055"/>
          </a:xfrm>
          <a:prstGeom prst="rect">
            <a:avLst/>
          </a:prstGeom>
          <a:noFill/>
          <a:ln w="9525">
            <a:noFill/>
            <a:miter lim="800000"/>
            <a:headEnd/>
            <a:tailEnd/>
          </a:ln>
        </p:spPr>
        <p:txBody>
          <a:bodyPr wrap="square" anchor="ctr">
            <a:spAutoFit/>
          </a:bodyPr>
          <a:lstStyle/>
          <a:p>
            <a:pPr algn="ctr"/>
            <a:r>
              <a:rPr lang="en-US" sz="700" b="1" dirty="0">
                <a:solidFill>
                  <a:schemeClr val="tx1">
                    <a:lumMod val="65000"/>
                    <a:lumOff val="35000"/>
                  </a:schemeClr>
                </a:solidFill>
                <a:latin typeface="+mj-lt"/>
              </a:rPr>
              <a:t>©2021 Jasmin Infotech</a:t>
            </a:r>
            <a:r>
              <a:rPr lang="en-US" sz="700" b="1" baseline="0" dirty="0">
                <a:solidFill>
                  <a:schemeClr val="tx1">
                    <a:lumMod val="65000"/>
                    <a:lumOff val="35000"/>
                  </a:schemeClr>
                </a:solidFill>
                <a:latin typeface="+mj-lt"/>
              </a:rPr>
              <a:t> Private Limited</a:t>
            </a:r>
            <a:endParaRPr lang="en-US" sz="700" b="1" dirty="0">
              <a:solidFill>
                <a:schemeClr val="tx1">
                  <a:lumMod val="65000"/>
                  <a:lumOff val="35000"/>
                </a:schemeClr>
              </a:solidFill>
              <a:latin typeface="+mj-lt"/>
            </a:endParaRPr>
          </a:p>
        </p:txBody>
      </p:sp>
    </p:spTree>
    <p:extLst>
      <p:ext uri="{BB962C8B-B14F-4D97-AF65-F5344CB8AC3E}">
        <p14:creationId xmlns:p14="http://schemas.microsoft.com/office/powerpoint/2010/main" val="3069046269"/>
      </p:ext>
    </p:extLst>
  </p:cSld>
  <p:clrMap bg1="lt1" tx1="dk1" bg2="lt2" tx2="dk2" accent1="accent1" accent2="accent2" accent3="accent3" accent4="accent4" accent5="accent5" accent6="accent6" hlink="hlink" folHlink="folHlink"/>
  <p:sldLayoutIdLst>
    <p:sldLayoutId id="214748369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hyperlink" Target="mailto:apx585audioanalyzer@jasmin-infotech.com" TargetMode="External"/><Relationship Id="rId2" Type="http://schemas.openxmlformats.org/officeDocument/2006/relationships/hyperlink" Target="https://ap.com/" TargetMode="Externa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102634-EA17-7A4D-A78C-867E96ED4F73}"/>
              </a:ext>
            </a:extLst>
          </p:cNvPr>
          <p:cNvSpPr/>
          <p:nvPr/>
        </p:nvSpPr>
        <p:spPr>
          <a:xfrm>
            <a:off x="3852748" y="2319062"/>
            <a:ext cx="4697633" cy="2585323"/>
          </a:xfrm>
          <a:prstGeom prst="rect">
            <a:avLst/>
          </a:prstGeom>
          <a:noFill/>
        </p:spPr>
        <p:txBody>
          <a:bodyPr wrap="none" lIns="91440" tIns="45720" rIns="91440" bIns="45720">
            <a:spAutoFit/>
          </a:bodyPr>
          <a:lstStyle/>
          <a:p>
            <a:pPr algn="ctr"/>
            <a:endParaRPr lang="en-GB"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a:p>
            <a:r>
              <a:rPr lang="en-IN" sz="5400" dirty="0"/>
              <a:t>Audio Precision </a:t>
            </a:r>
          </a:p>
          <a:p>
            <a:r>
              <a:rPr lang="en-IN" sz="5400" dirty="0"/>
              <a:t>	APx585</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5988F-E4E4-1D3A-A600-4371BA9854B5}"/>
              </a:ext>
            </a:extLst>
          </p:cNvPr>
          <p:cNvSpPr>
            <a:spLocks noGrp="1"/>
          </p:cNvSpPr>
          <p:nvPr>
            <p:ph type="title"/>
          </p:nvPr>
        </p:nvSpPr>
        <p:spPr>
          <a:xfrm>
            <a:off x="777815" y="240466"/>
            <a:ext cx="10515600" cy="1325563"/>
          </a:xfrm>
        </p:spPr>
        <p:txBody>
          <a:bodyPr>
            <a:normAutofit/>
          </a:bodyPr>
          <a:lstStyle/>
          <a:p>
            <a:r>
              <a:rPr lang="en-US" sz="3600" b="1" dirty="0">
                <a:latin typeface="+mj-lt"/>
              </a:rPr>
              <a:t>Audio precision Analyzer</a:t>
            </a:r>
            <a:endParaRPr lang="en-IN" sz="3600" dirty="0">
              <a:latin typeface="+mj-lt"/>
            </a:endParaRPr>
          </a:p>
        </p:txBody>
      </p:sp>
      <p:sp>
        <p:nvSpPr>
          <p:cNvPr id="4" name="Slide Number Placeholder 3">
            <a:extLst>
              <a:ext uri="{FF2B5EF4-FFF2-40B4-BE49-F238E27FC236}">
                <a16:creationId xmlns:a16="http://schemas.microsoft.com/office/drawing/2014/main" id="{54D01A9B-8258-53C5-95D3-97530E523151}"/>
              </a:ext>
            </a:extLst>
          </p:cNvPr>
          <p:cNvSpPr>
            <a:spLocks noGrp="1"/>
          </p:cNvSpPr>
          <p:nvPr>
            <p:ph type="sldNum" sz="quarter" idx="12"/>
          </p:nvPr>
        </p:nvSpPr>
        <p:spPr/>
        <p:txBody>
          <a:bodyPr/>
          <a:lstStyle/>
          <a:p>
            <a:fld id="{83735547-B499-4273-BF07-F756EAEC2F73}" type="slidenum">
              <a:rPr lang="en-IN" smtClean="0"/>
              <a:pPr/>
              <a:t>2</a:t>
            </a:fld>
            <a:endParaRPr lang="en-IN" dirty="0"/>
          </a:p>
        </p:txBody>
      </p:sp>
      <p:sp>
        <p:nvSpPr>
          <p:cNvPr id="8" name="Rectangle 7">
            <a:extLst>
              <a:ext uri="{FF2B5EF4-FFF2-40B4-BE49-F238E27FC236}">
                <a16:creationId xmlns:a16="http://schemas.microsoft.com/office/drawing/2014/main" id="{868064CA-3659-829C-E596-467A393BFE5E}"/>
              </a:ext>
            </a:extLst>
          </p:cNvPr>
          <p:cNvSpPr/>
          <p:nvPr/>
        </p:nvSpPr>
        <p:spPr>
          <a:xfrm>
            <a:off x="591213" y="1420583"/>
            <a:ext cx="10030436" cy="3477875"/>
          </a:xfrm>
          <a:prstGeom prst="rect">
            <a:avLst/>
          </a:prstGeom>
        </p:spPr>
        <p:txBody>
          <a:bodyPr wrap="square">
            <a:spAutoFit/>
          </a:bodyPr>
          <a:lstStyle/>
          <a:p>
            <a:pPr marL="342900" indent="-342900">
              <a:buFont typeface="Wingdings" panose="05000000000000000000" pitchFamily="2" charset="2"/>
              <a:buChar char="Ø"/>
            </a:pPr>
            <a:r>
              <a:rPr lang="en-US" sz="2000" dirty="0"/>
              <a:t>An Audio Analyzer is a test and measurement instrument used to objectively quantify the audio performance of electronic and electro-acoustical devices.</a:t>
            </a:r>
          </a:p>
          <a:p>
            <a:pPr marL="342900" indent="-342900">
              <a:buFont typeface="Wingdings" panose="05000000000000000000" pitchFamily="2" charset="2"/>
              <a:buChar char="Ø"/>
            </a:pPr>
            <a:r>
              <a:rPr lang="en-US" sz="2000" dirty="0"/>
              <a:t>Audio quality metrics cover a wide variety of parameters, including level, gain, noise, harmonic and intermodulation distortion, frequency response, relative phase of signals, interchannel crosstalk, and more.</a:t>
            </a:r>
          </a:p>
          <a:p>
            <a:pPr marL="342900" indent="-342900">
              <a:buFont typeface="Wingdings" panose="05000000000000000000" pitchFamily="2" charset="2"/>
              <a:buChar char="Ø"/>
            </a:pPr>
            <a:r>
              <a:rPr lang="en-US" sz="2000" dirty="0"/>
              <a:t> In addition, many manufacturers have requirements for behavior and connectivity of audio devices that require specific tests and confirmations.</a:t>
            </a:r>
            <a:endParaRPr lang="en-IN" sz="2000" dirty="0"/>
          </a:p>
          <a:p>
            <a:br>
              <a:rPr lang="en-US" sz="2400" dirty="0"/>
            </a:br>
            <a:br>
              <a:rPr lang="en-US" sz="2400" dirty="0"/>
            </a:br>
            <a:r>
              <a:rPr lang="en-US" sz="2400" dirty="0"/>
              <a:t>		</a:t>
            </a:r>
            <a:endParaRPr lang="en-IN" sz="2400" dirty="0"/>
          </a:p>
        </p:txBody>
      </p:sp>
      <p:pic>
        <p:nvPicPr>
          <p:cNvPr id="9" name="Picture 8">
            <a:extLst>
              <a:ext uri="{FF2B5EF4-FFF2-40B4-BE49-F238E27FC236}">
                <a16:creationId xmlns:a16="http://schemas.microsoft.com/office/drawing/2014/main" id="{C78BF16E-F790-74DB-43D0-5B0D3AEF0D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6218" y="3681590"/>
            <a:ext cx="7314286" cy="2704762"/>
          </a:xfrm>
          <a:prstGeom prst="rect">
            <a:avLst/>
          </a:prstGeom>
        </p:spPr>
      </p:pic>
      <p:sp>
        <p:nvSpPr>
          <p:cNvPr id="10" name="TextBox 9">
            <a:extLst>
              <a:ext uri="{FF2B5EF4-FFF2-40B4-BE49-F238E27FC236}">
                <a16:creationId xmlns:a16="http://schemas.microsoft.com/office/drawing/2014/main" id="{B25B3D88-138C-1096-6C7D-3BD223DDB2AE}"/>
              </a:ext>
            </a:extLst>
          </p:cNvPr>
          <p:cNvSpPr txBox="1"/>
          <p:nvPr/>
        </p:nvSpPr>
        <p:spPr>
          <a:xfrm>
            <a:off x="5318620" y="6201686"/>
            <a:ext cx="1691489" cy="369332"/>
          </a:xfrm>
          <a:prstGeom prst="rect">
            <a:avLst/>
          </a:prstGeom>
          <a:noFill/>
        </p:spPr>
        <p:txBody>
          <a:bodyPr wrap="none" rtlCol="0">
            <a:spAutoFit/>
          </a:bodyPr>
          <a:lstStyle/>
          <a:p>
            <a:r>
              <a:rPr lang="en-IN" b="1" dirty="0"/>
              <a:t>APx585 B series</a:t>
            </a:r>
          </a:p>
        </p:txBody>
      </p:sp>
    </p:spTree>
    <p:extLst>
      <p:ext uri="{BB962C8B-B14F-4D97-AF65-F5344CB8AC3E}">
        <p14:creationId xmlns:p14="http://schemas.microsoft.com/office/powerpoint/2010/main" val="1272628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5988F-E4E4-1D3A-A600-4371BA9854B5}"/>
              </a:ext>
            </a:extLst>
          </p:cNvPr>
          <p:cNvSpPr>
            <a:spLocks noGrp="1"/>
          </p:cNvSpPr>
          <p:nvPr>
            <p:ph type="title"/>
          </p:nvPr>
        </p:nvSpPr>
        <p:spPr>
          <a:xfrm>
            <a:off x="838200" y="206262"/>
            <a:ext cx="10515600" cy="1325563"/>
          </a:xfrm>
        </p:spPr>
        <p:txBody>
          <a:bodyPr>
            <a:normAutofit/>
          </a:bodyPr>
          <a:lstStyle/>
          <a:p>
            <a:r>
              <a:rPr lang="en-IN" sz="3600" b="1" dirty="0">
                <a:latin typeface="+mj-lt"/>
              </a:rPr>
              <a:t>APx500</a:t>
            </a:r>
            <a:r>
              <a:rPr lang="en-IN" sz="3600" dirty="0">
                <a:latin typeface="+mj-lt"/>
              </a:rPr>
              <a:t> </a:t>
            </a:r>
            <a:r>
              <a:rPr lang="en-IN" sz="3600" b="1" dirty="0">
                <a:latin typeface="+mj-lt"/>
              </a:rPr>
              <a:t>Measurement Software</a:t>
            </a:r>
          </a:p>
        </p:txBody>
      </p:sp>
      <p:sp>
        <p:nvSpPr>
          <p:cNvPr id="4" name="Slide Number Placeholder 3">
            <a:extLst>
              <a:ext uri="{FF2B5EF4-FFF2-40B4-BE49-F238E27FC236}">
                <a16:creationId xmlns:a16="http://schemas.microsoft.com/office/drawing/2014/main" id="{54D01A9B-8258-53C5-95D3-97530E523151}"/>
              </a:ext>
            </a:extLst>
          </p:cNvPr>
          <p:cNvSpPr>
            <a:spLocks noGrp="1"/>
          </p:cNvSpPr>
          <p:nvPr>
            <p:ph type="sldNum" sz="quarter" idx="12"/>
          </p:nvPr>
        </p:nvSpPr>
        <p:spPr/>
        <p:txBody>
          <a:bodyPr/>
          <a:lstStyle/>
          <a:p>
            <a:fld id="{83735547-B499-4273-BF07-F756EAEC2F73}" type="slidenum">
              <a:rPr lang="en-IN" smtClean="0"/>
              <a:pPr/>
              <a:t>3</a:t>
            </a:fld>
            <a:endParaRPr lang="en-IN" dirty="0"/>
          </a:p>
        </p:txBody>
      </p:sp>
      <p:pic>
        <p:nvPicPr>
          <p:cNvPr id="5" name="Picture 4">
            <a:extLst>
              <a:ext uri="{FF2B5EF4-FFF2-40B4-BE49-F238E27FC236}">
                <a16:creationId xmlns:a16="http://schemas.microsoft.com/office/drawing/2014/main" id="{929263F6-C729-42A1-5B84-D1FBFD3717DA}"/>
              </a:ext>
            </a:extLst>
          </p:cNvPr>
          <p:cNvPicPr>
            <a:picLocks noChangeAspect="1"/>
          </p:cNvPicPr>
          <p:nvPr/>
        </p:nvPicPr>
        <p:blipFill>
          <a:blip r:embed="rId2"/>
          <a:stretch>
            <a:fillRect/>
          </a:stretch>
        </p:blipFill>
        <p:spPr>
          <a:xfrm>
            <a:off x="1115734" y="2935239"/>
            <a:ext cx="4887007" cy="3458058"/>
          </a:xfrm>
          <a:prstGeom prst="rect">
            <a:avLst/>
          </a:prstGeom>
        </p:spPr>
      </p:pic>
      <p:sp>
        <p:nvSpPr>
          <p:cNvPr id="6" name="Rectangle 5">
            <a:extLst>
              <a:ext uri="{FF2B5EF4-FFF2-40B4-BE49-F238E27FC236}">
                <a16:creationId xmlns:a16="http://schemas.microsoft.com/office/drawing/2014/main" id="{DBF8DFBE-56E4-E4DF-D79B-8A87F84DC405}"/>
              </a:ext>
            </a:extLst>
          </p:cNvPr>
          <p:cNvSpPr/>
          <p:nvPr/>
        </p:nvSpPr>
        <p:spPr>
          <a:xfrm>
            <a:off x="1046722" y="1488689"/>
            <a:ext cx="10383277" cy="1446550"/>
          </a:xfrm>
          <a:prstGeom prst="rect">
            <a:avLst/>
          </a:prstGeom>
        </p:spPr>
        <p:txBody>
          <a:bodyPr wrap="square">
            <a:spAutoFit/>
          </a:bodyPr>
          <a:lstStyle/>
          <a:p>
            <a:pPr marL="285750" indent="-285750">
              <a:buFont typeface="Wingdings" panose="05000000000000000000" pitchFamily="2" charset="2"/>
              <a:buChar char="Ø"/>
            </a:pPr>
            <a:r>
              <a:rPr lang="en-US" sz="2200" dirty="0"/>
              <a:t>APx500 is the measurement software used with Audio Precision APx audio analyzers or with an APx500 Flex Key and a compatible audio interface. </a:t>
            </a:r>
          </a:p>
          <a:p>
            <a:pPr marL="285750" indent="-285750">
              <a:buFont typeface="Wingdings" panose="05000000000000000000" pitchFamily="2" charset="2"/>
              <a:buChar char="Ø"/>
            </a:pPr>
            <a:r>
              <a:rPr lang="en-US" sz="2200" dirty="0"/>
              <a:t>APx500 version 7.0 is a updated release that brings software innovations, improved security, and B Series compatibility to the APx platform. </a:t>
            </a:r>
            <a:endParaRPr lang="en-IN" sz="2200" dirty="0"/>
          </a:p>
        </p:txBody>
      </p:sp>
      <p:sp>
        <p:nvSpPr>
          <p:cNvPr id="7" name="TextBox 6">
            <a:extLst>
              <a:ext uri="{FF2B5EF4-FFF2-40B4-BE49-F238E27FC236}">
                <a16:creationId xmlns:a16="http://schemas.microsoft.com/office/drawing/2014/main" id="{4007DF6C-C042-E7EA-992B-9B8250722B1F}"/>
              </a:ext>
            </a:extLst>
          </p:cNvPr>
          <p:cNvSpPr txBox="1"/>
          <p:nvPr/>
        </p:nvSpPr>
        <p:spPr>
          <a:xfrm>
            <a:off x="6351968" y="4217666"/>
            <a:ext cx="5165197" cy="369332"/>
          </a:xfrm>
          <a:prstGeom prst="rect">
            <a:avLst/>
          </a:prstGeom>
          <a:noFill/>
        </p:spPr>
        <p:txBody>
          <a:bodyPr wrap="none" rtlCol="0">
            <a:spAutoFit/>
          </a:bodyPr>
          <a:lstStyle/>
          <a:p>
            <a:pPr marL="285750" indent="-285750">
              <a:buFont typeface="Wingdings" panose="05000000000000000000" pitchFamily="2" charset="2"/>
              <a:buChar char="Ø"/>
            </a:pPr>
            <a:r>
              <a:rPr lang="en-IN" dirty="0">
                <a:solidFill>
                  <a:srgbClr val="0000FF"/>
                </a:solidFill>
              </a:rPr>
              <a:t>Open the APx500 V7.0 software available in AP PC</a:t>
            </a:r>
          </a:p>
        </p:txBody>
      </p:sp>
    </p:spTree>
    <p:extLst>
      <p:ext uri="{BB962C8B-B14F-4D97-AF65-F5344CB8AC3E}">
        <p14:creationId xmlns:p14="http://schemas.microsoft.com/office/powerpoint/2010/main" val="3466363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C5E3E-44B8-D63B-B775-353FF4B4B2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30437-0CF7-DCD6-1896-8C6C479278DE}"/>
              </a:ext>
            </a:extLst>
          </p:cNvPr>
          <p:cNvSpPr>
            <a:spLocks noGrp="1"/>
          </p:cNvSpPr>
          <p:nvPr>
            <p:ph type="title"/>
          </p:nvPr>
        </p:nvSpPr>
        <p:spPr/>
        <p:txBody>
          <a:bodyPr>
            <a:normAutofit/>
          </a:bodyPr>
          <a:lstStyle/>
          <a:p>
            <a:r>
              <a:rPr lang="en-IN" sz="3600" b="1" dirty="0">
                <a:latin typeface="+mj-lt"/>
              </a:rPr>
              <a:t>APx500</a:t>
            </a:r>
            <a:r>
              <a:rPr lang="en-IN" sz="3600" dirty="0">
                <a:latin typeface="+mj-lt"/>
              </a:rPr>
              <a:t> </a:t>
            </a:r>
            <a:r>
              <a:rPr lang="en-IN" sz="3600" b="1" dirty="0">
                <a:latin typeface="+mj-lt"/>
              </a:rPr>
              <a:t>Measurement Software</a:t>
            </a:r>
          </a:p>
        </p:txBody>
      </p:sp>
      <p:sp>
        <p:nvSpPr>
          <p:cNvPr id="4" name="Slide Number Placeholder 3">
            <a:extLst>
              <a:ext uri="{FF2B5EF4-FFF2-40B4-BE49-F238E27FC236}">
                <a16:creationId xmlns:a16="http://schemas.microsoft.com/office/drawing/2014/main" id="{52CD87AD-232E-60CB-075E-B44EBF7E521C}"/>
              </a:ext>
            </a:extLst>
          </p:cNvPr>
          <p:cNvSpPr>
            <a:spLocks noGrp="1"/>
          </p:cNvSpPr>
          <p:nvPr>
            <p:ph type="sldNum" sz="quarter" idx="12"/>
          </p:nvPr>
        </p:nvSpPr>
        <p:spPr/>
        <p:txBody>
          <a:bodyPr/>
          <a:lstStyle/>
          <a:p>
            <a:fld id="{83735547-B499-4273-BF07-F756EAEC2F73}" type="slidenum">
              <a:rPr lang="en-IN" smtClean="0"/>
              <a:pPr/>
              <a:t>4</a:t>
            </a:fld>
            <a:endParaRPr lang="en-IN" dirty="0"/>
          </a:p>
        </p:txBody>
      </p:sp>
      <p:pic>
        <p:nvPicPr>
          <p:cNvPr id="3" name="Picture 2">
            <a:extLst>
              <a:ext uri="{FF2B5EF4-FFF2-40B4-BE49-F238E27FC236}">
                <a16:creationId xmlns:a16="http://schemas.microsoft.com/office/drawing/2014/main" id="{82E88C61-C542-335F-3DF7-2BEAE206C37C}"/>
              </a:ext>
            </a:extLst>
          </p:cNvPr>
          <p:cNvPicPr>
            <a:picLocks noChangeAspect="1"/>
          </p:cNvPicPr>
          <p:nvPr/>
        </p:nvPicPr>
        <p:blipFill>
          <a:blip r:embed="rId2"/>
          <a:stretch>
            <a:fillRect/>
          </a:stretch>
        </p:blipFill>
        <p:spPr>
          <a:xfrm>
            <a:off x="1173674" y="1574228"/>
            <a:ext cx="8013457" cy="5040492"/>
          </a:xfrm>
          <a:prstGeom prst="rect">
            <a:avLst/>
          </a:prstGeom>
        </p:spPr>
      </p:pic>
    </p:spTree>
    <p:extLst>
      <p:ext uri="{BB962C8B-B14F-4D97-AF65-F5344CB8AC3E}">
        <p14:creationId xmlns:p14="http://schemas.microsoft.com/office/powerpoint/2010/main" val="2386690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5FAFE-372D-5F7C-66DF-539FD5008E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6CE60F-6F26-348D-0B62-8748A636D350}"/>
              </a:ext>
            </a:extLst>
          </p:cNvPr>
          <p:cNvSpPr>
            <a:spLocks noGrp="1"/>
          </p:cNvSpPr>
          <p:nvPr>
            <p:ph type="title"/>
          </p:nvPr>
        </p:nvSpPr>
        <p:spPr/>
        <p:txBody>
          <a:bodyPr>
            <a:normAutofit/>
          </a:bodyPr>
          <a:lstStyle/>
          <a:p>
            <a:r>
              <a:rPr lang="en-US" sz="3600" b="1" dirty="0">
                <a:latin typeface="+mn-lt"/>
              </a:rPr>
              <a:t>The Measurement Navigator</a:t>
            </a:r>
            <a:endParaRPr lang="en-IN" sz="3600" b="1" dirty="0">
              <a:latin typeface="+mj-lt"/>
            </a:endParaRPr>
          </a:p>
        </p:txBody>
      </p:sp>
      <p:sp>
        <p:nvSpPr>
          <p:cNvPr id="4" name="Slide Number Placeholder 3">
            <a:extLst>
              <a:ext uri="{FF2B5EF4-FFF2-40B4-BE49-F238E27FC236}">
                <a16:creationId xmlns:a16="http://schemas.microsoft.com/office/drawing/2014/main" id="{EED712E5-5F88-4735-7C84-84B6DECDE393}"/>
              </a:ext>
            </a:extLst>
          </p:cNvPr>
          <p:cNvSpPr>
            <a:spLocks noGrp="1"/>
          </p:cNvSpPr>
          <p:nvPr>
            <p:ph type="sldNum" sz="quarter" idx="12"/>
          </p:nvPr>
        </p:nvSpPr>
        <p:spPr/>
        <p:txBody>
          <a:bodyPr/>
          <a:lstStyle/>
          <a:p>
            <a:fld id="{83735547-B499-4273-BF07-F756EAEC2F73}" type="slidenum">
              <a:rPr lang="en-IN" smtClean="0"/>
              <a:pPr/>
              <a:t>5</a:t>
            </a:fld>
            <a:endParaRPr lang="en-IN" dirty="0"/>
          </a:p>
        </p:txBody>
      </p:sp>
      <p:sp>
        <p:nvSpPr>
          <p:cNvPr id="3" name="Rectangle 2">
            <a:extLst>
              <a:ext uri="{FF2B5EF4-FFF2-40B4-BE49-F238E27FC236}">
                <a16:creationId xmlns:a16="http://schemas.microsoft.com/office/drawing/2014/main" id="{8607697E-8CF0-D32D-250E-36D7C7995650}"/>
              </a:ext>
            </a:extLst>
          </p:cNvPr>
          <p:cNvSpPr/>
          <p:nvPr/>
        </p:nvSpPr>
        <p:spPr>
          <a:xfrm>
            <a:off x="1220598" y="1494499"/>
            <a:ext cx="9274030" cy="4154984"/>
          </a:xfrm>
          <a:prstGeom prst="rect">
            <a:avLst/>
          </a:prstGeom>
        </p:spPr>
        <p:txBody>
          <a:bodyPr wrap="square">
            <a:spAutoFit/>
          </a:bodyPr>
          <a:lstStyle/>
          <a:p>
            <a:pPr marL="285750" indent="-285750">
              <a:buFont typeface="Wingdings" panose="05000000000000000000" pitchFamily="2" charset="2"/>
              <a:buChar char="Ø"/>
            </a:pPr>
            <a:r>
              <a:rPr lang="en-US" sz="2400" dirty="0"/>
              <a:t>At the left of the APx585 window is the Measurement Navigator panel. Click the button to hide the Navigator; click Show Measurement Navigator to restore it to view.</a:t>
            </a:r>
          </a:p>
          <a:p>
            <a:pPr marL="285750" indent="-285750">
              <a:buFont typeface="Wingdings" panose="05000000000000000000" pitchFamily="2" charset="2"/>
              <a:buChar char="Ø"/>
            </a:pPr>
            <a:r>
              <a:rPr lang="en-US" sz="2400" dirty="0"/>
              <a:t>The Navigator displays the signal paths, measurements and measurement results in your project, organized in a tree structure. Using the Navigator, you can customize signal paths, add or delete measurements or results, create and run automated sequences, and select and customize reports.</a:t>
            </a:r>
            <a:endParaRPr lang="en-IN" sz="2400" dirty="0"/>
          </a:p>
          <a:p>
            <a:br>
              <a:rPr lang="en-US" sz="2400" dirty="0"/>
            </a:br>
            <a:br>
              <a:rPr lang="en-US" sz="2400" dirty="0"/>
            </a:br>
            <a:endParaRPr lang="en-IN" sz="2400" dirty="0"/>
          </a:p>
        </p:txBody>
      </p:sp>
    </p:spTree>
    <p:extLst>
      <p:ext uri="{BB962C8B-B14F-4D97-AF65-F5344CB8AC3E}">
        <p14:creationId xmlns:p14="http://schemas.microsoft.com/office/powerpoint/2010/main" val="784094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2DB1D-1996-94F8-E19B-5A5B9F6BC5D4}"/>
              </a:ext>
            </a:extLst>
          </p:cNvPr>
          <p:cNvSpPr>
            <a:spLocks noGrp="1"/>
          </p:cNvSpPr>
          <p:nvPr>
            <p:ph type="title"/>
          </p:nvPr>
        </p:nvSpPr>
        <p:spPr/>
        <p:txBody>
          <a:bodyPr>
            <a:normAutofit/>
          </a:bodyPr>
          <a:lstStyle/>
          <a:p>
            <a:r>
              <a:rPr lang="en-US" sz="3600" b="1" dirty="0">
                <a:latin typeface="+mj-lt"/>
              </a:rPr>
              <a:t>Monitors</a:t>
            </a:r>
            <a:endParaRPr lang="en-US" sz="3600" dirty="0">
              <a:latin typeface="+mj-lt"/>
            </a:endParaRPr>
          </a:p>
        </p:txBody>
      </p:sp>
      <p:sp>
        <p:nvSpPr>
          <p:cNvPr id="4" name="Slide Number Placeholder 3">
            <a:extLst>
              <a:ext uri="{FF2B5EF4-FFF2-40B4-BE49-F238E27FC236}">
                <a16:creationId xmlns:a16="http://schemas.microsoft.com/office/drawing/2014/main" id="{1351DEE8-C63B-11FF-420A-ACFF61B8A0C2}"/>
              </a:ext>
            </a:extLst>
          </p:cNvPr>
          <p:cNvSpPr>
            <a:spLocks noGrp="1"/>
          </p:cNvSpPr>
          <p:nvPr>
            <p:ph type="sldNum" sz="quarter" idx="12"/>
          </p:nvPr>
        </p:nvSpPr>
        <p:spPr/>
        <p:txBody>
          <a:bodyPr/>
          <a:lstStyle/>
          <a:p>
            <a:fld id="{83735547-B499-4273-BF07-F756EAEC2F73}" type="slidenum">
              <a:rPr lang="en-IN" smtClean="0"/>
              <a:pPr/>
              <a:t>6</a:t>
            </a:fld>
            <a:endParaRPr lang="en-IN" dirty="0"/>
          </a:p>
        </p:txBody>
      </p:sp>
      <p:sp>
        <p:nvSpPr>
          <p:cNvPr id="5" name="Rectangle 4">
            <a:extLst>
              <a:ext uri="{FF2B5EF4-FFF2-40B4-BE49-F238E27FC236}">
                <a16:creationId xmlns:a16="http://schemas.microsoft.com/office/drawing/2014/main" id="{11E807C9-A495-29B8-8008-55DCC549DD17}"/>
              </a:ext>
            </a:extLst>
          </p:cNvPr>
          <p:cNvSpPr/>
          <p:nvPr/>
        </p:nvSpPr>
        <p:spPr>
          <a:xfrm>
            <a:off x="953179" y="1690688"/>
            <a:ext cx="8695189" cy="2031325"/>
          </a:xfrm>
          <a:prstGeom prst="rect">
            <a:avLst/>
          </a:prstGeom>
        </p:spPr>
        <p:txBody>
          <a:bodyPr wrap="square">
            <a:spAutoFit/>
          </a:bodyPr>
          <a:lstStyle/>
          <a:p>
            <a:pPr marL="285750" indent="-285750">
              <a:buFont typeface="Wingdings" panose="05000000000000000000" pitchFamily="2" charset="2"/>
              <a:buChar char="Ø"/>
            </a:pPr>
            <a:r>
              <a:rPr lang="en-US" dirty="0"/>
              <a:t>APx585 provides a number of monitors that display continuous detailed information about the signals at the analyzer's inputs and other data, without changing the primary measurement view. </a:t>
            </a:r>
          </a:p>
          <a:p>
            <a:pPr marL="285750" indent="-285750">
              <a:buFont typeface="Wingdings" panose="05000000000000000000" pitchFamily="2" charset="2"/>
              <a:buChar char="Ø"/>
            </a:pPr>
            <a:r>
              <a:rPr lang="en-US" dirty="0"/>
              <a:t>The monitors are normally docked at the lower left-hand corner of the application window, just below the Navigator. Each monitor can be undocked and moved around the screen.</a:t>
            </a:r>
            <a:br>
              <a:rPr lang="en-US" sz="1600" dirty="0">
                <a:solidFill>
                  <a:schemeClr val="tx1"/>
                </a:solidFill>
              </a:rPr>
            </a:br>
            <a:endParaRPr lang="en-IN" dirty="0"/>
          </a:p>
        </p:txBody>
      </p:sp>
      <p:sp>
        <p:nvSpPr>
          <p:cNvPr id="6" name="Rectangle 5">
            <a:extLst>
              <a:ext uri="{FF2B5EF4-FFF2-40B4-BE49-F238E27FC236}">
                <a16:creationId xmlns:a16="http://schemas.microsoft.com/office/drawing/2014/main" id="{93E30CCF-1073-09FA-5FC7-1BC1D007150F}"/>
              </a:ext>
            </a:extLst>
          </p:cNvPr>
          <p:cNvSpPr/>
          <p:nvPr/>
        </p:nvSpPr>
        <p:spPr>
          <a:xfrm>
            <a:off x="1220597" y="3424080"/>
            <a:ext cx="9123029" cy="646331"/>
          </a:xfrm>
          <a:prstGeom prst="rect">
            <a:avLst/>
          </a:prstGeom>
        </p:spPr>
        <p:txBody>
          <a:bodyPr wrap="square">
            <a:spAutoFit/>
          </a:bodyPr>
          <a:lstStyle/>
          <a:p>
            <a:pPr marL="285750" indent="-285750">
              <a:buFont typeface="Wingdings" panose="05000000000000000000" pitchFamily="2" charset="2"/>
              <a:buChar char="Ø"/>
            </a:pPr>
            <a:r>
              <a:rPr lang="en-US" b="1" dirty="0"/>
              <a:t>Types</a:t>
            </a:r>
            <a:br>
              <a:rPr lang="en-US" sz="4000" dirty="0">
                <a:solidFill>
                  <a:schemeClr val="tx1"/>
                </a:solidFill>
              </a:rPr>
            </a:br>
            <a:endParaRPr lang="en-IN" dirty="0"/>
          </a:p>
        </p:txBody>
      </p:sp>
      <p:sp>
        <p:nvSpPr>
          <p:cNvPr id="7" name="Rectangle 6">
            <a:extLst>
              <a:ext uri="{FF2B5EF4-FFF2-40B4-BE49-F238E27FC236}">
                <a16:creationId xmlns:a16="http://schemas.microsoft.com/office/drawing/2014/main" id="{132C84F6-8B31-CDB8-1002-21D6B2703B96}"/>
              </a:ext>
            </a:extLst>
          </p:cNvPr>
          <p:cNvSpPr/>
          <p:nvPr/>
        </p:nvSpPr>
        <p:spPr>
          <a:xfrm>
            <a:off x="1814818" y="3853951"/>
            <a:ext cx="6096000" cy="2308324"/>
          </a:xfrm>
          <a:prstGeom prst="rect">
            <a:avLst/>
          </a:prstGeom>
        </p:spPr>
        <p:txBody>
          <a:bodyPr>
            <a:spAutoFit/>
          </a:bodyPr>
          <a:lstStyle/>
          <a:p>
            <a:pPr marL="285750" indent="-285750">
              <a:buFont typeface="Wingdings" panose="05000000000000000000" pitchFamily="2" charset="2"/>
              <a:buChar char="v"/>
            </a:pPr>
            <a:r>
              <a:rPr lang="en-US" dirty="0"/>
              <a:t>Scope Monitor</a:t>
            </a:r>
          </a:p>
          <a:p>
            <a:pPr marL="285750" indent="-285750">
              <a:buFont typeface="Wingdings" panose="05000000000000000000" pitchFamily="2" charset="2"/>
              <a:buChar char="v"/>
            </a:pPr>
            <a:r>
              <a:rPr lang="en-US" dirty="0"/>
              <a:t>FFT Spectrum Monitor</a:t>
            </a:r>
          </a:p>
          <a:p>
            <a:pPr marL="285750" indent="-285750">
              <a:buFont typeface="Wingdings" panose="05000000000000000000" pitchFamily="2" charset="2"/>
              <a:buChar char="v"/>
            </a:pPr>
            <a:r>
              <a:rPr lang="en-US" dirty="0"/>
              <a:t>Meters Monitor</a:t>
            </a:r>
          </a:p>
          <a:p>
            <a:pPr marL="285750" indent="-285750">
              <a:buFont typeface="Wingdings" panose="05000000000000000000" pitchFamily="2" charset="2"/>
              <a:buChar char="v"/>
            </a:pPr>
            <a:r>
              <a:rPr lang="en-US" dirty="0"/>
              <a:t>Aux Control Monitor</a:t>
            </a:r>
          </a:p>
          <a:p>
            <a:pPr marL="285750" indent="-285750">
              <a:buFont typeface="Wingdings" panose="05000000000000000000" pitchFamily="2" charset="2"/>
              <a:buChar char="v"/>
            </a:pPr>
            <a:r>
              <a:rPr lang="en-US" dirty="0"/>
              <a:t>Metadata Monitor: Status Bits(available for instruments fitted with AES/SPDIF DIO)</a:t>
            </a:r>
          </a:p>
          <a:p>
            <a:pPr marL="285750" indent="-285750">
              <a:buFont typeface="Wingdings" panose="05000000000000000000" pitchFamily="2" charset="2"/>
              <a:buChar char="v"/>
            </a:pPr>
            <a:r>
              <a:rPr lang="en-US" dirty="0"/>
              <a:t>Metadata and CEC Monitor: HDMI(available for instruments fitted with HDMI I/O)</a:t>
            </a:r>
            <a:endParaRPr lang="en-IN" dirty="0"/>
          </a:p>
        </p:txBody>
      </p:sp>
    </p:spTree>
    <p:extLst>
      <p:ext uri="{BB962C8B-B14F-4D97-AF65-F5344CB8AC3E}">
        <p14:creationId xmlns:p14="http://schemas.microsoft.com/office/powerpoint/2010/main" val="879199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DDD64-924F-A2A7-DE3C-0299E14E6ED1}"/>
              </a:ext>
            </a:extLst>
          </p:cNvPr>
          <p:cNvSpPr>
            <a:spLocks noGrp="1"/>
          </p:cNvSpPr>
          <p:nvPr>
            <p:ph type="title"/>
          </p:nvPr>
        </p:nvSpPr>
        <p:spPr/>
        <p:txBody>
          <a:bodyPr>
            <a:normAutofit/>
          </a:bodyPr>
          <a:lstStyle/>
          <a:p>
            <a:r>
              <a:rPr lang="en-US" sz="3600" b="1" dirty="0">
                <a:latin typeface="+mj-lt"/>
              </a:rPr>
              <a:t>The Selector (filmstrip)</a:t>
            </a:r>
            <a:endParaRPr lang="en-US" sz="3600" dirty="0">
              <a:latin typeface="+mj-lt"/>
            </a:endParaRPr>
          </a:p>
        </p:txBody>
      </p:sp>
      <p:sp>
        <p:nvSpPr>
          <p:cNvPr id="4" name="Slide Number Placeholder 3">
            <a:extLst>
              <a:ext uri="{FF2B5EF4-FFF2-40B4-BE49-F238E27FC236}">
                <a16:creationId xmlns:a16="http://schemas.microsoft.com/office/drawing/2014/main" id="{42EAD4BA-2C7B-1120-270B-7E6368C6E021}"/>
              </a:ext>
            </a:extLst>
          </p:cNvPr>
          <p:cNvSpPr>
            <a:spLocks noGrp="1"/>
          </p:cNvSpPr>
          <p:nvPr>
            <p:ph type="sldNum" sz="quarter" idx="12"/>
          </p:nvPr>
        </p:nvSpPr>
        <p:spPr/>
        <p:txBody>
          <a:bodyPr/>
          <a:lstStyle/>
          <a:p>
            <a:fld id="{83735547-B499-4273-BF07-F756EAEC2F73}" type="slidenum">
              <a:rPr lang="en-IN" smtClean="0"/>
              <a:pPr/>
              <a:t>7</a:t>
            </a:fld>
            <a:endParaRPr lang="en-IN" dirty="0"/>
          </a:p>
        </p:txBody>
      </p:sp>
      <p:sp>
        <p:nvSpPr>
          <p:cNvPr id="6" name="TextBox 5">
            <a:extLst>
              <a:ext uri="{FF2B5EF4-FFF2-40B4-BE49-F238E27FC236}">
                <a16:creationId xmlns:a16="http://schemas.microsoft.com/office/drawing/2014/main" id="{8B80058A-72AA-0BA4-371C-C98341E3CB7C}"/>
              </a:ext>
            </a:extLst>
          </p:cNvPr>
          <p:cNvSpPr txBox="1"/>
          <p:nvPr/>
        </p:nvSpPr>
        <p:spPr>
          <a:xfrm>
            <a:off x="838199" y="1807527"/>
            <a:ext cx="9901687" cy="1200329"/>
          </a:xfrm>
          <a:prstGeom prst="rect">
            <a:avLst/>
          </a:prstGeom>
          <a:noFill/>
        </p:spPr>
        <p:txBody>
          <a:bodyPr wrap="square">
            <a:spAutoFit/>
          </a:bodyPr>
          <a:lstStyle/>
          <a:p>
            <a:r>
              <a:rPr lang="en-US" dirty="0"/>
              <a:t>The Selector (also called the filmstrip) runs across the bottom of the Graph panel. The Selector displays "thumbnail" views of all of the current measurement results. Click on a result thumbnail to select it and show it in the Graph panel.</a:t>
            </a:r>
            <a:br>
              <a:rPr lang="en-US" sz="1600" dirty="0">
                <a:solidFill>
                  <a:schemeClr val="tx1"/>
                </a:solidFill>
              </a:rPr>
            </a:br>
            <a:endParaRPr lang="en-US" dirty="0"/>
          </a:p>
        </p:txBody>
      </p:sp>
      <p:pic>
        <p:nvPicPr>
          <p:cNvPr id="7" name="Picture 4">
            <a:extLst>
              <a:ext uri="{FF2B5EF4-FFF2-40B4-BE49-F238E27FC236}">
                <a16:creationId xmlns:a16="http://schemas.microsoft.com/office/drawing/2014/main" id="{F39C502F-CC32-7010-1C60-E31DD66A0F1B}"/>
              </a:ext>
            </a:extLst>
          </p:cNvPr>
          <p:cNvPicPr>
            <a:picLocks noChangeAspect="1"/>
          </p:cNvPicPr>
          <p:nvPr/>
        </p:nvPicPr>
        <p:blipFill>
          <a:blip r:embed="rId2"/>
          <a:stretch>
            <a:fillRect/>
          </a:stretch>
        </p:blipFill>
        <p:spPr>
          <a:xfrm>
            <a:off x="621260" y="3316305"/>
            <a:ext cx="11284372" cy="1979602"/>
          </a:xfrm>
          <a:prstGeom prst="rect">
            <a:avLst/>
          </a:prstGeom>
        </p:spPr>
      </p:pic>
    </p:spTree>
    <p:extLst>
      <p:ext uri="{BB962C8B-B14F-4D97-AF65-F5344CB8AC3E}">
        <p14:creationId xmlns:p14="http://schemas.microsoft.com/office/powerpoint/2010/main" val="2768232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AAD30-DEA3-EA50-4425-971D08737A6D}"/>
              </a:ext>
            </a:extLst>
          </p:cNvPr>
          <p:cNvSpPr>
            <a:spLocks noGrp="1"/>
          </p:cNvSpPr>
          <p:nvPr>
            <p:ph type="title"/>
          </p:nvPr>
        </p:nvSpPr>
        <p:spPr/>
        <p:txBody>
          <a:bodyPr>
            <a:normAutofit/>
          </a:bodyPr>
          <a:lstStyle/>
          <a:p>
            <a:r>
              <a:rPr lang="en-US" sz="3600" b="1" dirty="0"/>
              <a:t>Meters and Bar Graph Displays</a:t>
            </a:r>
            <a:endParaRPr lang="en-US" sz="3600" dirty="0"/>
          </a:p>
        </p:txBody>
      </p:sp>
      <p:sp>
        <p:nvSpPr>
          <p:cNvPr id="3" name="Content Placeholder 2">
            <a:extLst>
              <a:ext uri="{FF2B5EF4-FFF2-40B4-BE49-F238E27FC236}">
                <a16:creationId xmlns:a16="http://schemas.microsoft.com/office/drawing/2014/main" id="{5BA3BCCD-8A57-E523-E567-05780E8E9458}"/>
              </a:ext>
            </a:extLst>
          </p:cNvPr>
          <p:cNvSpPr>
            <a:spLocks noGrp="1"/>
          </p:cNvSpPr>
          <p:nvPr>
            <p:ph idx="1"/>
          </p:nvPr>
        </p:nvSpPr>
        <p:spPr>
          <a:xfrm>
            <a:off x="838200" y="1825625"/>
            <a:ext cx="10515600" cy="3194949"/>
          </a:xfrm>
        </p:spPr>
        <p:txBody>
          <a:bodyPr>
            <a:normAutofit/>
          </a:bodyPr>
          <a:lstStyle/>
          <a:p>
            <a:r>
              <a:rPr lang="en-US" sz="2400" dirty="0"/>
              <a:t>Bar graph displays are used for meter results. Meter results (also called single value results) only return one parameter per channel.</a:t>
            </a:r>
          </a:p>
          <a:p>
            <a:r>
              <a:rPr lang="en-US" sz="2400" dirty="0"/>
              <a:t>Bar graphs provide a simple, clear view for meter results across many channels. APx585 also uses a vertical bar graph display for distortion product measurements, where several parameters are displayed but the view is limited to one channel.</a:t>
            </a:r>
          </a:p>
          <a:p>
            <a:pPr marL="0" indent="0">
              <a:buNone/>
            </a:pPr>
            <a:br>
              <a:rPr lang="en-US" sz="1800" dirty="0">
                <a:solidFill>
                  <a:schemeClr val="tx1"/>
                </a:solidFill>
              </a:rPr>
            </a:br>
            <a:r>
              <a:rPr lang="en-US" sz="2800" b="1" dirty="0"/>
              <a:t>Bar Graph toolbar</a:t>
            </a:r>
            <a:endParaRPr lang="en-US" dirty="0"/>
          </a:p>
        </p:txBody>
      </p:sp>
      <p:sp>
        <p:nvSpPr>
          <p:cNvPr id="4" name="Slide Number Placeholder 3">
            <a:extLst>
              <a:ext uri="{FF2B5EF4-FFF2-40B4-BE49-F238E27FC236}">
                <a16:creationId xmlns:a16="http://schemas.microsoft.com/office/drawing/2014/main" id="{A65827F2-B74A-6B1B-7785-95AEA06F1BCD}"/>
              </a:ext>
            </a:extLst>
          </p:cNvPr>
          <p:cNvSpPr>
            <a:spLocks noGrp="1"/>
          </p:cNvSpPr>
          <p:nvPr>
            <p:ph type="sldNum" sz="quarter" idx="12"/>
          </p:nvPr>
        </p:nvSpPr>
        <p:spPr/>
        <p:txBody>
          <a:bodyPr/>
          <a:lstStyle/>
          <a:p>
            <a:fld id="{83735547-B499-4273-BF07-F756EAEC2F73}" type="slidenum">
              <a:rPr lang="en-IN" smtClean="0"/>
              <a:pPr/>
              <a:t>8</a:t>
            </a:fld>
            <a:endParaRPr lang="en-IN" dirty="0"/>
          </a:p>
        </p:txBody>
      </p:sp>
      <p:pic>
        <p:nvPicPr>
          <p:cNvPr id="9" name="Picture 4">
            <a:extLst>
              <a:ext uri="{FF2B5EF4-FFF2-40B4-BE49-F238E27FC236}">
                <a16:creationId xmlns:a16="http://schemas.microsoft.com/office/drawing/2014/main" id="{4624AB22-A175-57DE-E62E-75028A326D38}"/>
              </a:ext>
            </a:extLst>
          </p:cNvPr>
          <p:cNvPicPr>
            <a:picLocks noChangeAspect="1"/>
          </p:cNvPicPr>
          <p:nvPr/>
        </p:nvPicPr>
        <p:blipFill>
          <a:blip r:embed="rId2"/>
          <a:stretch>
            <a:fillRect/>
          </a:stretch>
        </p:blipFill>
        <p:spPr>
          <a:xfrm>
            <a:off x="1316201" y="5155511"/>
            <a:ext cx="7625593" cy="843229"/>
          </a:xfrm>
          <a:prstGeom prst="rect">
            <a:avLst/>
          </a:prstGeom>
        </p:spPr>
      </p:pic>
    </p:spTree>
    <p:extLst>
      <p:ext uri="{BB962C8B-B14F-4D97-AF65-F5344CB8AC3E}">
        <p14:creationId xmlns:p14="http://schemas.microsoft.com/office/powerpoint/2010/main" val="130430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A10D3-F375-0A53-1083-07B301B078DF}"/>
              </a:ext>
            </a:extLst>
          </p:cNvPr>
          <p:cNvSpPr>
            <a:spLocks noGrp="1"/>
          </p:cNvSpPr>
          <p:nvPr>
            <p:ph type="title"/>
          </p:nvPr>
        </p:nvSpPr>
        <p:spPr/>
        <p:txBody>
          <a:bodyPr/>
          <a:lstStyle/>
          <a:p>
            <a:r>
              <a:rPr lang="en-US" sz="3600" b="1" dirty="0"/>
              <a:t>Signal Path Setup</a:t>
            </a:r>
            <a:endParaRPr lang="en-US" dirty="0"/>
          </a:p>
        </p:txBody>
      </p:sp>
      <p:sp>
        <p:nvSpPr>
          <p:cNvPr id="4" name="Slide Number Placeholder 3">
            <a:extLst>
              <a:ext uri="{FF2B5EF4-FFF2-40B4-BE49-F238E27FC236}">
                <a16:creationId xmlns:a16="http://schemas.microsoft.com/office/drawing/2014/main" id="{A11CE532-915E-9B33-6413-FB924DF7B12E}"/>
              </a:ext>
            </a:extLst>
          </p:cNvPr>
          <p:cNvSpPr>
            <a:spLocks noGrp="1"/>
          </p:cNvSpPr>
          <p:nvPr>
            <p:ph type="sldNum" sz="quarter" idx="12"/>
          </p:nvPr>
        </p:nvSpPr>
        <p:spPr/>
        <p:txBody>
          <a:bodyPr/>
          <a:lstStyle/>
          <a:p>
            <a:fld id="{83735547-B499-4273-BF07-F756EAEC2F73}" type="slidenum">
              <a:rPr lang="en-IN" smtClean="0"/>
              <a:pPr/>
              <a:t>9</a:t>
            </a:fld>
            <a:endParaRPr lang="en-IN" dirty="0"/>
          </a:p>
        </p:txBody>
      </p:sp>
      <p:pic>
        <p:nvPicPr>
          <p:cNvPr id="5" name="Picture 4">
            <a:extLst>
              <a:ext uri="{FF2B5EF4-FFF2-40B4-BE49-F238E27FC236}">
                <a16:creationId xmlns:a16="http://schemas.microsoft.com/office/drawing/2014/main" id="{93369476-7898-4A6C-BD1A-A7D47E546F28}"/>
              </a:ext>
            </a:extLst>
          </p:cNvPr>
          <p:cNvPicPr>
            <a:picLocks noChangeAspect="1"/>
          </p:cNvPicPr>
          <p:nvPr/>
        </p:nvPicPr>
        <p:blipFill>
          <a:blip r:embed="rId2"/>
          <a:stretch>
            <a:fillRect/>
          </a:stretch>
        </p:blipFill>
        <p:spPr>
          <a:xfrm>
            <a:off x="751742" y="1467233"/>
            <a:ext cx="3035254" cy="5244345"/>
          </a:xfrm>
          <a:prstGeom prst="rect">
            <a:avLst/>
          </a:prstGeom>
        </p:spPr>
      </p:pic>
      <p:sp>
        <p:nvSpPr>
          <p:cNvPr id="6" name="Rectangle 5">
            <a:extLst>
              <a:ext uri="{FF2B5EF4-FFF2-40B4-BE49-F238E27FC236}">
                <a16:creationId xmlns:a16="http://schemas.microsoft.com/office/drawing/2014/main" id="{2E0D905D-5377-01B9-AE80-59EC3E076ED9}"/>
              </a:ext>
            </a:extLst>
          </p:cNvPr>
          <p:cNvSpPr/>
          <p:nvPr/>
        </p:nvSpPr>
        <p:spPr>
          <a:xfrm>
            <a:off x="4247624" y="1858005"/>
            <a:ext cx="6322503" cy="3785652"/>
          </a:xfrm>
          <a:prstGeom prst="rect">
            <a:avLst/>
          </a:prstGeom>
        </p:spPr>
        <p:txBody>
          <a:bodyPr wrap="square">
            <a:spAutoFit/>
          </a:bodyPr>
          <a:lstStyle/>
          <a:p>
            <a:pPr marL="342900" indent="-342900">
              <a:buFont typeface="Wingdings" panose="05000000000000000000" pitchFamily="2" charset="2"/>
              <a:buChar char="Ø"/>
            </a:pPr>
            <a:r>
              <a:rPr lang="en-US" sz="2400" dirty="0"/>
              <a:t>The Signal Path Setup view gives you the tools to select and configure the physical connections between the analyzer and the Device Under Test (DUT) for the current Signal Path. </a:t>
            </a:r>
          </a:p>
          <a:p>
            <a:pPr marL="342900" indent="-342900">
              <a:buFont typeface="Wingdings" panose="05000000000000000000" pitchFamily="2" charset="2"/>
              <a:buChar char="Ø"/>
            </a:pPr>
            <a:r>
              <a:rPr lang="en-US" sz="2400" dirty="0"/>
              <a:t>This is where you choose digital or analog, balanced or unbalanced, specify impedances or communications protocols, set the number of channels in use, name your inputs and outputs and so on.</a:t>
            </a:r>
            <a:endParaRPr lang="en-IN" sz="2400" dirty="0"/>
          </a:p>
        </p:txBody>
      </p:sp>
    </p:spTree>
    <p:extLst>
      <p:ext uri="{BB962C8B-B14F-4D97-AF65-F5344CB8AC3E}">
        <p14:creationId xmlns:p14="http://schemas.microsoft.com/office/powerpoint/2010/main" val="344514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E107A-3F95-190D-D1D7-6582D94D0BE3}"/>
              </a:ext>
            </a:extLst>
          </p:cNvPr>
          <p:cNvSpPr>
            <a:spLocks noGrp="1"/>
          </p:cNvSpPr>
          <p:nvPr>
            <p:ph type="title"/>
          </p:nvPr>
        </p:nvSpPr>
        <p:spPr/>
        <p:txBody>
          <a:bodyPr/>
          <a:lstStyle/>
          <a:p>
            <a:r>
              <a:rPr lang="en-US" sz="3600" b="1" dirty="0">
                <a:latin typeface="+mj-lt"/>
              </a:rPr>
              <a:t>Output Configuration settings</a:t>
            </a:r>
            <a:endParaRPr lang="en-US" dirty="0"/>
          </a:p>
        </p:txBody>
      </p:sp>
      <p:sp>
        <p:nvSpPr>
          <p:cNvPr id="4" name="Slide Number Placeholder 3">
            <a:extLst>
              <a:ext uri="{FF2B5EF4-FFF2-40B4-BE49-F238E27FC236}">
                <a16:creationId xmlns:a16="http://schemas.microsoft.com/office/drawing/2014/main" id="{11F2E619-3007-0718-6EF4-01AA3BC17C81}"/>
              </a:ext>
            </a:extLst>
          </p:cNvPr>
          <p:cNvSpPr>
            <a:spLocks noGrp="1"/>
          </p:cNvSpPr>
          <p:nvPr>
            <p:ph type="sldNum" sz="quarter" idx="12"/>
          </p:nvPr>
        </p:nvSpPr>
        <p:spPr/>
        <p:txBody>
          <a:bodyPr/>
          <a:lstStyle/>
          <a:p>
            <a:fld id="{83735547-B499-4273-BF07-F756EAEC2F73}" type="slidenum">
              <a:rPr lang="en-IN" smtClean="0"/>
              <a:pPr/>
              <a:t>10</a:t>
            </a:fld>
            <a:endParaRPr lang="en-IN" dirty="0"/>
          </a:p>
        </p:txBody>
      </p:sp>
      <p:sp>
        <p:nvSpPr>
          <p:cNvPr id="6" name="TextBox 5">
            <a:extLst>
              <a:ext uri="{FF2B5EF4-FFF2-40B4-BE49-F238E27FC236}">
                <a16:creationId xmlns:a16="http://schemas.microsoft.com/office/drawing/2014/main" id="{E6BAA6E9-CCF1-D69B-7093-8A0F144F1E00}"/>
              </a:ext>
            </a:extLst>
          </p:cNvPr>
          <p:cNvSpPr txBox="1"/>
          <p:nvPr/>
        </p:nvSpPr>
        <p:spPr>
          <a:xfrm>
            <a:off x="1138686" y="1690688"/>
            <a:ext cx="10368951" cy="1200329"/>
          </a:xfrm>
          <a:prstGeom prst="rect">
            <a:avLst/>
          </a:prstGeom>
          <a:noFill/>
        </p:spPr>
        <p:txBody>
          <a:bodyPr wrap="square">
            <a:spAutoFit/>
          </a:bodyPr>
          <a:lstStyle/>
          <a:p>
            <a:r>
              <a:rPr lang="en-US" sz="2400" dirty="0"/>
              <a:t>Signal Path Setup Output Configuration allows you to select generator output connections, formats and configuration settings for the current signal path. The following selections are available:</a:t>
            </a:r>
          </a:p>
        </p:txBody>
      </p:sp>
      <p:sp>
        <p:nvSpPr>
          <p:cNvPr id="9" name="Rectangle 8">
            <a:extLst>
              <a:ext uri="{FF2B5EF4-FFF2-40B4-BE49-F238E27FC236}">
                <a16:creationId xmlns:a16="http://schemas.microsoft.com/office/drawing/2014/main" id="{4E6B58B3-8C26-9614-89E5-E50FBADE0AB0}"/>
              </a:ext>
            </a:extLst>
          </p:cNvPr>
          <p:cNvSpPr/>
          <p:nvPr/>
        </p:nvSpPr>
        <p:spPr>
          <a:xfrm>
            <a:off x="3581401" y="2884746"/>
            <a:ext cx="6096000" cy="3477875"/>
          </a:xfrm>
          <a:prstGeom prst="rect">
            <a:avLst/>
          </a:prstGeom>
        </p:spPr>
        <p:txBody>
          <a:bodyPr>
            <a:spAutoFit/>
          </a:bodyPr>
          <a:lstStyle/>
          <a:p>
            <a:pPr marL="285750" indent="-285750">
              <a:buFont typeface="Wingdings" panose="05000000000000000000" pitchFamily="2" charset="2"/>
              <a:buChar char="Ø"/>
            </a:pPr>
            <a:r>
              <a:rPr lang="en-US" sz="2000" dirty="0"/>
              <a:t>Analog Unbalanced</a:t>
            </a:r>
          </a:p>
          <a:p>
            <a:pPr marL="285750" indent="-285750">
              <a:buFont typeface="Wingdings" panose="05000000000000000000" pitchFamily="2" charset="2"/>
              <a:buChar char="Ø"/>
            </a:pPr>
            <a:r>
              <a:rPr lang="en-US" sz="2000" dirty="0"/>
              <a:t>Analog Balanced</a:t>
            </a:r>
          </a:p>
          <a:p>
            <a:pPr marL="285750" indent="-285750">
              <a:buFont typeface="Wingdings" panose="05000000000000000000" pitchFamily="2" charset="2"/>
              <a:buChar char="Ø"/>
            </a:pPr>
            <a:r>
              <a:rPr lang="en-US" sz="2000" dirty="0"/>
              <a:t>Digital Unbalanced </a:t>
            </a:r>
          </a:p>
          <a:p>
            <a:pPr marL="285750" indent="-285750">
              <a:buFont typeface="Wingdings" panose="05000000000000000000" pitchFamily="2" charset="2"/>
              <a:buChar char="Ø"/>
            </a:pPr>
            <a:r>
              <a:rPr lang="en-US" sz="2000" dirty="0"/>
              <a:t>Digital Balanced </a:t>
            </a:r>
          </a:p>
          <a:p>
            <a:pPr marL="285750" indent="-285750">
              <a:buFont typeface="Wingdings" panose="05000000000000000000" pitchFamily="2" charset="2"/>
              <a:buChar char="Ø"/>
            </a:pPr>
            <a:r>
              <a:rPr lang="en-US" sz="2000" dirty="0"/>
              <a:t>Digital Optical </a:t>
            </a:r>
          </a:p>
          <a:p>
            <a:pPr marL="285750" indent="-285750">
              <a:buFont typeface="Wingdings" panose="05000000000000000000" pitchFamily="2" charset="2"/>
              <a:buChar char="Ø"/>
            </a:pPr>
            <a:r>
              <a:rPr lang="en-US" sz="2000" dirty="0"/>
              <a:t>HDMI Source</a:t>
            </a:r>
          </a:p>
          <a:p>
            <a:pPr marL="285750" indent="-285750">
              <a:buFont typeface="Wingdings" panose="05000000000000000000" pitchFamily="2" charset="2"/>
              <a:buChar char="Ø"/>
            </a:pPr>
            <a:r>
              <a:rPr lang="en-US" sz="2000" dirty="0"/>
              <a:t>HDMI ARC Tx</a:t>
            </a:r>
          </a:p>
          <a:p>
            <a:pPr marL="285750" indent="-285750">
              <a:buFont typeface="Wingdings" panose="05000000000000000000" pitchFamily="2" charset="2"/>
              <a:buChar char="Ø"/>
            </a:pPr>
            <a:r>
              <a:rPr lang="en-US" sz="2000" dirty="0"/>
              <a:t>Digital Serial </a:t>
            </a:r>
          </a:p>
          <a:p>
            <a:pPr marL="285750" indent="-285750">
              <a:buFont typeface="Wingdings" panose="05000000000000000000" pitchFamily="2" charset="2"/>
              <a:buChar char="Ø"/>
            </a:pPr>
            <a:r>
              <a:rPr lang="en-US" sz="2000" dirty="0"/>
              <a:t>Transducer Interface</a:t>
            </a:r>
          </a:p>
          <a:p>
            <a:pPr marL="285750" indent="-285750">
              <a:buFont typeface="Wingdings" panose="05000000000000000000" pitchFamily="2" charset="2"/>
              <a:buChar char="Ø"/>
            </a:pPr>
            <a:r>
              <a:rPr lang="en-US" sz="2000" dirty="0"/>
              <a:t>ASIO</a:t>
            </a:r>
          </a:p>
          <a:p>
            <a:pPr marL="285750" indent="-285750">
              <a:buFont typeface="Wingdings" panose="05000000000000000000" pitchFamily="2" charset="2"/>
              <a:buChar char="Ø"/>
            </a:pPr>
            <a:r>
              <a:rPr lang="en-US" sz="2000" dirty="0"/>
              <a:t>None (External)</a:t>
            </a:r>
            <a:endParaRPr lang="en-IN" sz="2000" dirty="0"/>
          </a:p>
        </p:txBody>
      </p:sp>
    </p:spTree>
    <p:extLst>
      <p:ext uri="{BB962C8B-B14F-4D97-AF65-F5344CB8AC3E}">
        <p14:creationId xmlns:p14="http://schemas.microsoft.com/office/powerpoint/2010/main" val="3335544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3E4A2-DEA9-51F4-8C0A-577504F353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A569D-B5E0-3109-6FFB-0F435B278C6B}"/>
              </a:ext>
            </a:extLst>
          </p:cNvPr>
          <p:cNvSpPr>
            <a:spLocks noGrp="1"/>
          </p:cNvSpPr>
          <p:nvPr>
            <p:ph type="title"/>
          </p:nvPr>
        </p:nvSpPr>
        <p:spPr/>
        <p:txBody>
          <a:bodyPr/>
          <a:lstStyle/>
          <a:p>
            <a:r>
              <a:rPr lang="en-US" sz="3600" b="1" dirty="0">
                <a:latin typeface="+mj-lt"/>
              </a:rPr>
              <a:t>Input Configuration settings</a:t>
            </a:r>
            <a:br>
              <a:rPr lang="en-US" sz="4400" b="1" dirty="0"/>
            </a:br>
            <a:endParaRPr lang="en-US" dirty="0"/>
          </a:p>
        </p:txBody>
      </p:sp>
      <p:sp>
        <p:nvSpPr>
          <p:cNvPr id="4" name="Slide Number Placeholder 3">
            <a:extLst>
              <a:ext uri="{FF2B5EF4-FFF2-40B4-BE49-F238E27FC236}">
                <a16:creationId xmlns:a16="http://schemas.microsoft.com/office/drawing/2014/main" id="{47F879A1-424D-732D-DEB1-904883B4DBB1}"/>
              </a:ext>
            </a:extLst>
          </p:cNvPr>
          <p:cNvSpPr>
            <a:spLocks noGrp="1"/>
          </p:cNvSpPr>
          <p:nvPr>
            <p:ph type="sldNum" sz="quarter" idx="12"/>
          </p:nvPr>
        </p:nvSpPr>
        <p:spPr/>
        <p:txBody>
          <a:bodyPr/>
          <a:lstStyle/>
          <a:p>
            <a:fld id="{83735547-B499-4273-BF07-F756EAEC2F73}" type="slidenum">
              <a:rPr lang="en-IN" smtClean="0"/>
              <a:pPr/>
              <a:t>11</a:t>
            </a:fld>
            <a:endParaRPr lang="en-IN" dirty="0"/>
          </a:p>
        </p:txBody>
      </p:sp>
      <p:sp>
        <p:nvSpPr>
          <p:cNvPr id="3" name="Rectangle 2">
            <a:extLst>
              <a:ext uri="{FF2B5EF4-FFF2-40B4-BE49-F238E27FC236}">
                <a16:creationId xmlns:a16="http://schemas.microsoft.com/office/drawing/2014/main" id="{E985E1E2-9AA0-0191-73B6-FEBE7F437026}"/>
              </a:ext>
            </a:extLst>
          </p:cNvPr>
          <p:cNvSpPr/>
          <p:nvPr/>
        </p:nvSpPr>
        <p:spPr>
          <a:xfrm>
            <a:off x="838200" y="1345863"/>
            <a:ext cx="8598716" cy="1785104"/>
          </a:xfrm>
          <a:prstGeom prst="rect">
            <a:avLst/>
          </a:prstGeom>
        </p:spPr>
        <p:txBody>
          <a:bodyPr wrap="square">
            <a:spAutoFit/>
          </a:bodyPr>
          <a:lstStyle/>
          <a:p>
            <a:br>
              <a:rPr lang="en-US" sz="2000" b="1" dirty="0"/>
            </a:br>
            <a:r>
              <a:rPr lang="en-US" sz="2400" dirty="0"/>
              <a:t>Signal Path Setup Input Configuration allows you to select analyzer input connections, formats and configuration settings for the current signal path. The following selections are available:</a:t>
            </a:r>
            <a:br>
              <a:rPr lang="en-US" dirty="0"/>
            </a:br>
            <a:endParaRPr lang="en-IN" dirty="0"/>
          </a:p>
        </p:txBody>
      </p:sp>
      <p:sp>
        <p:nvSpPr>
          <p:cNvPr id="5" name="Rectangle 4">
            <a:extLst>
              <a:ext uri="{FF2B5EF4-FFF2-40B4-BE49-F238E27FC236}">
                <a16:creationId xmlns:a16="http://schemas.microsoft.com/office/drawing/2014/main" id="{A9BEBA8A-6D01-5865-E066-6BA420939583}"/>
              </a:ext>
            </a:extLst>
          </p:cNvPr>
          <p:cNvSpPr/>
          <p:nvPr/>
        </p:nvSpPr>
        <p:spPr>
          <a:xfrm>
            <a:off x="3340916" y="2753260"/>
            <a:ext cx="6096000" cy="3785652"/>
          </a:xfrm>
          <a:prstGeom prst="rect">
            <a:avLst/>
          </a:prstGeom>
        </p:spPr>
        <p:txBody>
          <a:bodyPr>
            <a:spAutoFit/>
          </a:bodyPr>
          <a:lstStyle/>
          <a:p>
            <a:pPr marL="285750" indent="-285750">
              <a:buFont typeface="Wingdings" panose="05000000000000000000" pitchFamily="2" charset="2"/>
              <a:buChar char="Ø"/>
            </a:pPr>
            <a:r>
              <a:rPr lang="en-US" sz="2000" dirty="0"/>
              <a:t>Loopback (when available)</a:t>
            </a:r>
          </a:p>
          <a:p>
            <a:pPr marL="285750" indent="-285750">
              <a:buFont typeface="Wingdings" panose="05000000000000000000" pitchFamily="2" charset="2"/>
              <a:buChar char="Ø"/>
            </a:pPr>
            <a:r>
              <a:rPr lang="en-US" sz="2000" dirty="0"/>
              <a:t>Analog custom</a:t>
            </a:r>
          </a:p>
          <a:p>
            <a:pPr marL="285750" indent="-285750">
              <a:buFont typeface="Wingdings" panose="05000000000000000000" pitchFamily="2" charset="2"/>
              <a:buChar char="Ø"/>
            </a:pPr>
            <a:r>
              <a:rPr lang="en-US" sz="2000" dirty="0"/>
              <a:t>Digital Unbalanced </a:t>
            </a:r>
          </a:p>
          <a:p>
            <a:pPr marL="285750" indent="-285750">
              <a:buFont typeface="Wingdings" panose="05000000000000000000" pitchFamily="2" charset="2"/>
              <a:buChar char="Ø"/>
            </a:pPr>
            <a:r>
              <a:rPr lang="en-US" sz="2000" dirty="0"/>
              <a:t>Digital Balanced </a:t>
            </a:r>
          </a:p>
          <a:p>
            <a:pPr marL="285750" indent="-285750">
              <a:buFont typeface="Wingdings" panose="05000000000000000000" pitchFamily="2" charset="2"/>
              <a:buChar char="Ø"/>
            </a:pPr>
            <a:r>
              <a:rPr lang="en-US" sz="2000" dirty="0"/>
              <a:t>Digital Optical </a:t>
            </a:r>
          </a:p>
          <a:p>
            <a:pPr marL="285750" indent="-285750">
              <a:buFont typeface="Wingdings" panose="05000000000000000000" pitchFamily="2" charset="2"/>
              <a:buChar char="Ø"/>
            </a:pPr>
            <a:r>
              <a:rPr lang="en-US" sz="2000" dirty="0"/>
              <a:t>HDMI Sink</a:t>
            </a:r>
          </a:p>
          <a:p>
            <a:pPr marL="285750" indent="-285750">
              <a:buFont typeface="Wingdings" panose="05000000000000000000" pitchFamily="2" charset="2"/>
              <a:buChar char="Ø"/>
            </a:pPr>
            <a:r>
              <a:rPr lang="en-US" sz="2000" dirty="0"/>
              <a:t>HDMI ARC Rx </a:t>
            </a:r>
          </a:p>
          <a:p>
            <a:pPr marL="285750" indent="-285750">
              <a:buFont typeface="Wingdings" panose="05000000000000000000" pitchFamily="2" charset="2"/>
              <a:buChar char="Ø"/>
            </a:pPr>
            <a:r>
              <a:rPr lang="en-US" sz="2000" dirty="0"/>
              <a:t>Digital Serial </a:t>
            </a:r>
          </a:p>
          <a:p>
            <a:pPr marL="285750" indent="-285750">
              <a:buFont typeface="Wingdings" panose="05000000000000000000" pitchFamily="2" charset="2"/>
              <a:buChar char="Ø"/>
            </a:pPr>
            <a:r>
              <a:rPr lang="en-US" sz="2000" dirty="0"/>
              <a:t>Transducer Interface</a:t>
            </a:r>
          </a:p>
          <a:p>
            <a:pPr marL="285750" indent="-285750">
              <a:buFont typeface="Wingdings" panose="05000000000000000000" pitchFamily="2" charset="2"/>
              <a:buChar char="Ø"/>
            </a:pPr>
            <a:r>
              <a:rPr lang="en-US" sz="2000" dirty="0"/>
              <a:t>ASIO</a:t>
            </a:r>
          </a:p>
          <a:p>
            <a:pPr marL="285750" indent="-285750">
              <a:buFont typeface="Wingdings" panose="05000000000000000000" pitchFamily="2" charset="2"/>
              <a:buChar char="Ø"/>
            </a:pPr>
            <a:r>
              <a:rPr lang="en-US" sz="2000" dirty="0"/>
              <a:t>File (Analog Units)</a:t>
            </a:r>
          </a:p>
          <a:p>
            <a:pPr marL="285750" indent="-285750">
              <a:buFont typeface="Wingdings" panose="05000000000000000000" pitchFamily="2" charset="2"/>
              <a:buChar char="Ø"/>
            </a:pPr>
            <a:r>
              <a:rPr lang="en-US" sz="2000" dirty="0"/>
              <a:t>File (Digital Units)</a:t>
            </a:r>
            <a:endParaRPr lang="en-IN" sz="2000" dirty="0"/>
          </a:p>
        </p:txBody>
      </p:sp>
    </p:spTree>
    <p:extLst>
      <p:ext uri="{BB962C8B-B14F-4D97-AF65-F5344CB8AC3E}">
        <p14:creationId xmlns:p14="http://schemas.microsoft.com/office/powerpoint/2010/main" val="1887840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00FD1-7D36-5AA4-A4EE-94F9BA508182}"/>
              </a:ext>
            </a:extLst>
          </p:cNvPr>
          <p:cNvSpPr>
            <a:spLocks noGrp="1"/>
          </p:cNvSpPr>
          <p:nvPr>
            <p:ph type="title"/>
          </p:nvPr>
        </p:nvSpPr>
        <p:spPr/>
        <p:txBody>
          <a:bodyPr/>
          <a:lstStyle/>
          <a:p>
            <a:r>
              <a:rPr lang="en-US" sz="3600" b="1" dirty="0">
                <a:latin typeface="+mj-lt"/>
              </a:rPr>
              <a:t>Selecting a Waveform</a:t>
            </a:r>
          </a:p>
        </p:txBody>
      </p:sp>
      <p:pic>
        <p:nvPicPr>
          <p:cNvPr id="6" name="Content Placeholder 5">
            <a:extLst>
              <a:ext uri="{FF2B5EF4-FFF2-40B4-BE49-F238E27FC236}">
                <a16:creationId xmlns:a16="http://schemas.microsoft.com/office/drawing/2014/main" id="{15E1A152-A39A-26C7-64A6-13CBDA4FEC25}"/>
              </a:ext>
            </a:extLst>
          </p:cNvPr>
          <p:cNvPicPr>
            <a:picLocks noGrp="1" noChangeAspect="1"/>
          </p:cNvPicPr>
          <p:nvPr>
            <p:ph idx="1"/>
          </p:nvPr>
        </p:nvPicPr>
        <p:blipFill>
          <a:blip r:embed="rId2"/>
          <a:stretch>
            <a:fillRect/>
          </a:stretch>
        </p:blipFill>
        <p:spPr>
          <a:xfrm>
            <a:off x="6096000" y="1569739"/>
            <a:ext cx="6000800" cy="4287597"/>
          </a:xfrm>
        </p:spPr>
      </p:pic>
      <p:sp>
        <p:nvSpPr>
          <p:cNvPr id="4" name="Slide Number Placeholder 3">
            <a:extLst>
              <a:ext uri="{FF2B5EF4-FFF2-40B4-BE49-F238E27FC236}">
                <a16:creationId xmlns:a16="http://schemas.microsoft.com/office/drawing/2014/main" id="{E4272941-B0C2-CA5C-E480-CFC1E5EE2639}"/>
              </a:ext>
            </a:extLst>
          </p:cNvPr>
          <p:cNvSpPr>
            <a:spLocks noGrp="1"/>
          </p:cNvSpPr>
          <p:nvPr>
            <p:ph type="sldNum" sz="quarter" idx="12"/>
          </p:nvPr>
        </p:nvSpPr>
        <p:spPr/>
        <p:txBody>
          <a:bodyPr/>
          <a:lstStyle/>
          <a:p>
            <a:fld id="{83735547-B499-4273-BF07-F756EAEC2F73}" type="slidenum">
              <a:rPr lang="en-IN" smtClean="0"/>
              <a:pPr/>
              <a:t>12</a:t>
            </a:fld>
            <a:endParaRPr lang="en-IN" dirty="0"/>
          </a:p>
        </p:txBody>
      </p:sp>
      <p:pic>
        <p:nvPicPr>
          <p:cNvPr id="8" name="Picture 7">
            <a:extLst>
              <a:ext uri="{FF2B5EF4-FFF2-40B4-BE49-F238E27FC236}">
                <a16:creationId xmlns:a16="http://schemas.microsoft.com/office/drawing/2014/main" id="{52355E3D-6994-CAE4-2DA6-014B9ABBDC5F}"/>
              </a:ext>
            </a:extLst>
          </p:cNvPr>
          <p:cNvPicPr>
            <a:picLocks noChangeAspect="1"/>
          </p:cNvPicPr>
          <p:nvPr/>
        </p:nvPicPr>
        <p:blipFill>
          <a:blip r:embed="rId3"/>
          <a:stretch>
            <a:fillRect/>
          </a:stretch>
        </p:blipFill>
        <p:spPr>
          <a:xfrm>
            <a:off x="607076" y="5092950"/>
            <a:ext cx="2629267" cy="1133633"/>
          </a:xfrm>
          <a:prstGeom prst="rect">
            <a:avLst/>
          </a:prstGeom>
        </p:spPr>
      </p:pic>
      <p:sp>
        <p:nvSpPr>
          <p:cNvPr id="10" name="TextBox 9">
            <a:extLst>
              <a:ext uri="{FF2B5EF4-FFF2-40B4-BE49-F238E27FC236}">
                <a16:creationId xmlns:a16="http://schemas.microsoft.com/office/drawing/2014/main" id="{7E085A8A-A60A-259F-B27C-AF3B34B1D04D}"/>
              </a:ext>
            </a:extLst>
          </p:cNvPr>
          <p:cNvSpPr txBox="1"/>
          <p:nvPr/>
        </p:nvSpPr>
        <p:spPr>
          <a:xfrm>
            <a:off x="517585" y="1682330"/>
            <a:ext cx="5742318" cy="3139321"/>
          </a:xfrm>
          <a:prstGeom prst="rect">
            <a:avLst/>
          </a:prstGeom>
          <a:noFill/>
        </p:spPr>
        <p:txBody>
          <a:bodyPr wrap="square">
            <a:spAutoFit/>
          </a:bodyPr>
          <a:lstStyle/>
          <a:p>
            <a:r>
              <a:rPr lang="en-US" dirty="0"/>
              <a:t>A measurement that supports generator waveform files displays a Waveform selection list in the Signal Generation panel. </a:t>
            </a:r>
          </a:p>
          <a:p>
            <a:r>
              <a:rPr lang="en-US" dirty="0"/>
              <a:t>Click the Waveform menu and choose Browse for file... to select an audio file for the generator to use. You can select multiple files. </a:t>
            </a:r>
          </a:p>
          <a:p>
            <a:r>
              <a:rPr lang="en-US" dirty="0"/>
              <a:t>A selected file becomes the source for that measurement's generator output and is attached to the project file. </a:t>
            </a:r>
          </a:p>
          <a:p>
            <a:r>
              <a:rPr lang="en-US" dirty="0"/>
              <a:t>Once attached to the project, an audio file is available to all other supported measurements as a selection on the Waveform menu.</a:t>
            </a:r>
          </a:p>
        </p:txBody>
      </p:sp>
      <p:pic>
        <p:nvPicPr>
          <p:cNvPr id="12" name="Picture 11">
            <a:extLst>
              <a:ext uri="{FF2B5EF4-FFF2-40B4-BE49-F238E27FC236}">
                <a16:creationId xmlns:a16="http://schemas.microsoft.com/office/drawing/2014/main" id="{5F0ADF79-A6D0-03DB-976F-0A6B049E93B6}"/>
              </a:ext>
            </a:extLst>
          </p:cNvPr>
          <p:cNvPicPr>
            <a:picLocks noChangeAspect="1"/>
          </p:cNvPicPr>
          <p:nvPr/>
        </p:nvPicPr>
        <p:blipFill>
          <a:blip r:embed="rId4"/>
          <a:stretch>
            <a:fillRect/>
          </a:stretch>
        </p:blipFill>
        <p:spPr>
          <a:xfrm>
            <a:off x="3365827" y="4484304"/>
            <a:ext cx="2310354" cy="2217262"/>
          </a:xfrm>
          <a:prstGeom prst="rect">
            <a:avLst/>
          </a:prstGeom>
        </p:spPr>
      </p:pic>
    </p:spTree>
    <p:extLst>
      <p:ext uri="{BB962C8B-B14F-4D97-AF65-F5344CB8AC3E}">
        <p14:creationId xmlns:p14="http://schemas.microsoft.com/office/powerpoint/2010/main" val="2924381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C439C-6267-3C15-A6A1-36EECD3FD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0EA11-F018-7C66-BBC5-C5495CBCC4ED}"/>
              </a:ext>
            </a:extLst>
          </p:cNvPr>
          <p:cNvSpPr>
            <a:spLocks noGrp="1"/>
          </p:cNvSpPr>
          <p:nvPr>
            <p:ph type="title"/>
          </p:nvPr>
        </p:nvSpPr>
        <p:spPr/>
        <p:txBody>
          <a:bodyPr/>
          <a:lstStyle/>
          <a:p>
            <a:r>
              <a:rPr lang="en-IN" sz="3600" dirty="0">
                <a:latin typeface="+mj-lt"/>
              </a:rPr>
              <a:t>The “Big Six” Measurements</a:t>
            </a:r>
            <a:endParaRPr lang="en-US" dirty="0"/>
          </a:p>
        </p:txBody>
      </p:sp>
      <p:sp>
        <p:nvSpPr>
          <p:cNvPr id="4" name="Slide Number Placeholder 3">
            <a:extLst>
              <a:ext uri="{FF2B5EF4-FFF2-40B4-BE49-F238E27FC236}">
                <a16:creationId xmlns:a16="http://schemas.microsoft.com/office/drawing/2014/main" id="{A2FBB0C3-D87D-0206-BE5C-984086B38109}"/>
              </a:ext>
            </a:extLst>
          </p:cNvPr>
          <p:cNvSpPr>
            <a:spLocks noGrp="1"/>
          </p:cNvSpPr>
          <p:nvPr>
            <p:ph type="sldNum" sz="quarter" idx="12"/>
          </p:nvPr>
        </p:nvSpPr>
        <p:spPr/>
        <p:txBody>
          <a:bodyPr/>
          <a:lstStyle/>
          <a:p>
            <a:fld id="{83735547-B499-4273-BF07-F756EAEC2F73}" type="slidenum">
              <a:rPr lang="en-IN" smtClean="0"/>
              <a:pPr/>
              <a:t>13</a:t>
            </a:fld>
            <a:endParaRPr lang="en-IN" dirty="0"/>
          </a:p>
        </p:txBody>
      </p:sp>
      <p:sp>
        <p:nvSpPr>
          <p:cNvPr id="3" name="TextBox 2">
            <a:extLst>
              <a:ext uri="{FF2B5EF4-FFF2-40B4-BE49-F238E27FC236}">
                <a16:creationId xmlns:a16="http://schemas.microsoft.com/office/drawing/2014/main" id="{9C42ACF6-E744-C902-4AA6-3BBC213F7E2D}"/>
              </a:ext>
            </a:extLst>
          </p:cNvPr>
          <p:cNvSpPr txBox="1"/>
          <p:nvPr/>
        </p:nvSpPr>
        <p:spPr>
          <a:xfrm>
            <a:off x="1489762" y="3592543"/>
            <a:ext cx="3044616" cy="2308324"/>
          </a:xfrm>
          <a:prstGeom prst="rect">
            <a:avLst/>
          </a:prstGeom>
          <a:noFill/>
        </p:spPr>
        <p:txBody>
          <a:bodyPr wrap="none" rtlCol="0">
            <a:spAutoFit/>
          </a:bodyPr>
          <a:lstStyle/>
          <a:p>
            <a:pPr marL="285750" indent="-285750">
              <a:buFont typeface="Wingdings" panose="05000000000000000000" pitchFamily="2" charset="2"/>
              <a:buChar char="Ø"/>
            </a:pPr>
            <a:r>
              <a:rPr lang="en-IN" sz="2400" dirty="0"/>
              <a:t>Level and Gain</a:t>
            </a:r>
          </a:p>
          <a:p>
            <a:pPr marL="285750" indent="-285750">
              <a:buFont typeface="Wingdings" panose="05000000000000000000" pitchFamily="2" charset="2"/>
              <a:buChar char="Ø"/>
            </a:pPr>
            <a:r>
              <a:rPr lang="en-IN" sz="2400" dirty="0"/>
              <a:t>THD+N</a:t>
            </a:r>
          </a:p>
          <a:p>
            <a:pPr marL="285750" indent="-285750">
              <a:buFont typeface="Wingdings" panose="05000000000000000000" pitchFamily="2" charset="2"/>
              <a:buChar char="Ø"/>
            </a:pPr>
            <a:r>
              <a:rPr lang="en-IN" sz="2400" dirty="0"/>
              <a:t>Frequency Response</a:t>
            </a:r>
          </a:p>
          <a:p>
            <a:pPr marL="285750" indent="-285750">
              <a:buFont typeface="Wingdings" panose="05000000000000000000" pitchFamily="2" charset="2"/>
              <a:buChar char="Ø"/>
            </a:pPr>
            <a:r>
              <a:rPr lang="en-IN" sz="2400" dirty="0"/>
              <a:t>Signal to Noise Ratio</a:t>
            </a:r>
          </a:p>
          <a:p>
            <a:pPr marL="285750" indent="-285750">
              <a:buFont typeface="Wingdings" panose="05000000000000000000" pitchFamily="2" charset="2"/>
              <a:buChar char="Ø"/>
            </a:pPr>
            <a:r>
              <a:rPr lang="en-IN" sz="2400" dirty="0"/>
              <a:t>Crosstalk</a:t>
            </a:r>
          </a:p>
          <a:p>
            <a:pPr marL="285750" indent="-285750">
              <a:buFont typeface="Wingdings" panose="05000000000000000000" pitchFamily="2" charset="2"/>
              <a:buChar char="Ø"/>
            </a:pPr>
            <a:r>
              <a:rPr lang="en-IN" sz="2400" dirty="0"/>
              <a:t>Phase</a:t>
            </a:r>
          </a:p>
        </p:txBody>
      </p:sp>
      <p:sp>
        <p:nvSpPr>
          <p:cNvPr id="5" name="TextBox 4">
            <a:extLst>
              <a:ext uri="{FF2B5EF4-FFF2-40B4-BE49-F238E27FC236}">
                <a16:creationId xmlns:a16="http://schemas.microsoft.com/office/drawing/2014/main" id="{ED1B091E-6330-E7A6-7635-95CF754C350C}"/>
              </a:ext>
            </a:extLst>
          </p:cNvPr>
          <p:cNvSpPr txBox="1"/>
          <p:nvPr/>
        </p:nvSpPr>
        <p:spPr>
          <a:xfrm>
            <a:off x="995048" y="1507413"/>
            <a:ext cx="7818539" cy="1938992"/>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t>Audio engineers agree that there is a small group of measurements that will reveal the key characteristics and performance of almost any audio device. At Audio Precision we talk about the “Big Six” measurements as the benchmark set of audio tests. They are, </a:t>
            </a:r>
            <a:endParaRPr lang="en-IN" sz="2400" dirty="0"/>
          </a:p>
        </p:txBody>
      </p:sp>
    </p:spTree>
    <p:extLst>
      <p:ext uri="{BB962C8B-B14F-4D97-AF65-F5344CB8AC3E}">
        <p14:creationId xmlns:p14="http://schemas.microsoft.com/office/powerpoint/2010/main" val="4165812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CD50C-6808-91AC-39C0-D5330B0395B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B6669A-AE7B-1A15-BCB0-C755B331ECE8}"/>
              </a:ext>
            </a:extLst>
          </p:cNvPr>
          <p:cNvSpPr>
            <a:spLocks noGrp="1"/>
          </p:cNvSpPr>
          <p:nvPr>
            <p:ph type="title"/>
          </p:nvPr>
        </p:nvSpPr>
        <p:spPr/>
        <p:txBody>
          <a:bodyPr/>
          <a:lstStyle/>
          <a:p>
            <a:r>
              <a:rPr lang="en-IN" sz="3600" dirty="0">
                <a:latin typeface="+mj-lt"/>
              </a:rPr>
              <a:t>Level &amp; Gain :  </a:t>
            </a:r>
            <a:endParaRPr lang="en-US" dirty="0"/>
          </a:p>
        </p:txBody>
      </p:sp>
      <p:sp>
        <p:nvSpPr>
          <p:cNvPr id="4" name="Slide Number Placeholder 3">
            <a:extLst>
              <a:ext uri="{FF2B5EF4-FFF2-40B4-BE49-F238E27FC236}">
                <a16:creationId xmlns:a16="http://schemas.microsoft.com/office/drawing/2014/main" id="{C0CD9F59-A37F-0BDC-8353-16C692ADB7AE}"/>
              </a:ext>
            </a:extLst>
          </p:cNvPr>
          <p:cNvSpPr>
            <a:spLocks noGrp="1"/>
          </p:cNvSpPr>
          <p:nvPr>
            <p:ph type="sldNum" sz="quarter" idx="12"/>
          </p:nvPr>
        </p:nvSpPr>
        <p:spPr/>
        <p:txBody>
          <a:bodyPr/>
          <a:lstStyle/>
          <a:p>
            <a:fld id="{83735547-B499-4273-BF07-F756EAEC2F73}" type="slidenum">
              <a:rPr lang="en-IN" smtClean="0"/>
              <a:pPr/>
              <a:t>14</a:t>
            </a:fld>
            <a:endParaRPr lang="en-IN" dirty="0"/>
          </a:p>
        </p:txBody>
      </p:sp>
      <p:sp>
        <p:nvSpPr>
          <p:cNvPr id="12" name="Rectangle 11">
            <a:extLst>
              <a:ext uri="{FF2B5EF4-FFF2-40B4-BE49-F238E27FC236}">
                <a16:creationId xmlns:a16="http://schemas.microsoft.com/office/drawing/2014/main" id="{24426B2D-ED8D-184B-DEBF-BFD4F9F2A378}"/>
              </a:ext>
            </a:extLst>
          </p:cNvPr>
          <p:cNvSpPr/>
          <p:nvPr/>
        </p:nvSpPr>
        <p:spPr>
          <a:xfrm>
            <a:off x="4403143" y="4055298"/>
            <a:ext cx="5729709" cy="1631216"/>
          </a:xfrm>
          <a:prstGeom prst="rect">
            <a:avLst/>
          </a:prstGeom>
        </p:spPr>
        <p:txBody>
          <a:bodyPr wrap="square">
            <a:spAutoFit/>
          </a:bodyPr>
          <a:lstStyle/>
          <a:p>
            <a:pPr marL="342900" indent="-342900">
              <a:buFont typeface="Wingdings" panose="05000000000000000000" pitchFamily="2" charset="2"/>
              <a:buChar char="Ø"/>
            </a:pPr>
            <a:r>
              <a:rPr lang="en-US" sz="2000" dirty="0"/>
              <a:t>The Level and Gain measurements provide single value results that show the output level or gain in each DUT channel, as measured at each analyzer input.</a:t>
            </a:r>
          </a:p>
          <a:p>
            <a:endParaRPr lang="en-IN" sz="2000" dirty="0"/>
          </a:p>
        </p:txBody>
      </p:sp>
      <p:pic>
        <p:nvPicPr>
          <p:cNvPr id="13" name="Picture 12">
            <a:extLst>
              <a:ext uri="{FF2B5EF4-FFF2-40B4-BE49-F238E27FC236}">
                <a16:creationId xmlns:a16="http://schemas.microsoft.com/office/drawing/2014/main" id="{4D5A17BD-DABD-6A9E-8F20-ABA9045866CC}"/>
              </a:ext>
            </a:extLst>
          </p:cNvPr>
          <p:cNvPicPr>
            <a:picLocks noChangeAspect="1"/>
          </p:cNvPicPr>
          <p:nvPr/>
        </p:nvPicPr>
        <p:blipFill>
          <a:blip r:embed="rId2"/>
          <a:stretch>
            <a:fillRect/>
          </a:stretch>
        </p:blipFill>
        <p:spPr>
          <a:xfrm>
            <a:off x="368371" y="3071658"/>
            <a:ext cx="3381553" cy="3455670"/>
          </a:xfrm>
          <a:prstGeom prst="rect">
            <a:avLst/>
          </a:prstGeom>
        </p:spPr>
      </p:pic>
      <p:sp>
        <p:nvSpPr>
          <p:cNvPr id="14" name="Rectangle 13">
            <a:extLst>
              <a:ext uri="{FF2B5EF4-FFF2-40B4-BE49-F238E27FC236}">
                <a16:creationId xmlns:a16="http://schemas.microsoft.com/office/drawing/2014/main" id="{C58EAC72-052A-3581-E418-8A231F73DA63}"/>
              </a:ext>
            </a:extLst>
          </p:cNvPr>
          <p:cNvSpPr/>
          <p:nvPr/>
        </p:nvSpPr>
        <p:spPr>
          <a:xfrm>
            <a:off x="814209" y="1413301"/>
            <a:ext cx="9467294" cy="1323439"/>
          </a:xfrm>
          <a:prstGeom prst="rect">
            <a:avLst/>
          </a:prstGeom>
        </p:spPr>
        <p:txBody>
          <a:bodyPr wrap="square">
            <a:spAutoFit/>
          </a:bodyPr>
          <a:lstStyle/>
          <a:p>
            <a:pPr marL="342900" indent="-342900">
              <a:buFont typeface="Wingdings" panose="05000000000000000000" pitchFamily="2" charset="2"/>
              <a:buChar char="Ø"/>
            </a:pPr>
            <a:r>
              <a:rPr lang="en-US" sz="2000" dirty="0"/>
              <a:t>The basic level measurement provides the output level or amplitude of an audio device. Depending on the device and your test configuration, the result might be displayed in volts, watts, dBV or other level units. Gain gives the ratio of the DUT output level to its input level,</a:t>
            </a:r>
            <a:endParaRPr lang="en-IN" sz="2000" dirty="0"/>
          </a:p>
        </p:txBody>
      </p:sp>
      <p:sp>
        <p:nvSpPr>
          <p:cNvPr id="15" name="Rectangle 14">
            <a:extLst>
              <a:ext uri="{FF2B5EF4-FFF2-40B4-BE49-F238E27FC236}">
                <a16:creationId xmlns:a16="http://schemas.microsoft.com/office/drawing/2014/main" id="{FD47003F-45A7-2286-2318-31DB9254E9EA}"/>
              </a:ext>
            </a:extLst>
          </p:cNvPr>
          <p:cNvSpPr/>
          <p:nvPr/>
        </p:nvSpPr>
        <p:spPr>
          <a:xfrm>
            <a:off x="4403143" y="3300438"/>
            <a:ext cx="6645409" cy="400110"/>
          </a:xfrm>
          <a:prstGeom prst="rect">
            <a:avLst/>
          </a:prstGeom>
        </p:spPr>
        <p:txBody>
          <a:bodyPr wrap="none">
            <a:spAutoFit/>
          </a:bodyPr>
          <a:lstStyle/>
          <a:p>
            <a:r>
              <a:rPr lang="en-IN" sz="2000" dirty="0">
                <a:solidFill>
                  <a:srgbClr val="0000FF"/>
                </a:solidFill>
              </a:rPr>
              <a:t>Navigator &gt; Add measurement &gt; Level and Gain &gt; Add &amp; Close</a:t>
            </a:r>
            <a:endParaRPr lang="en-US" sz="2000" dirty="0">
              <a:solidFill>
                <a:srgbClr val="0000FF"/>
              </a:solidFill>
            </a:endParaRPr>
          </a:p>
        </p:txBody>
      </p:sp>
    </p:spTree>
    <p:extLst>
      <p:ext uri="{BB962C8B-B14F-4D97-AF65-F5344CB8AC3E}">
        <p14:creationId xmlns:p14="http://schemas.microsoft.com/office/powerpoint/2010/main" val="997166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27124" y="1194134"/>
            <a:ext cx="2962688" cy="2248214"/>
          </a:xfrm>
          <a:prstGeom prst="rect">
            <a:avLst/>
          </a:prstGeom>
        </p:spPr>
      </p:pic>
      <p:sp>
        <p:nvSpPr>
          <p:cNvPr id="5" name="TextBox 4"/>
          <p:cNvSpPr txBox="1"/>
          <p:nvPr/>
        </p:nvSpPr>
        <p:spPr>
          <a:xfrm>
            <a:off x="1906407" y="671119"/>
            <a:ext cx="1499578" cy="461665"/>
          </a:xfrm>
          <a:prstGeom prst="rect">
            <a:avLst/>
          </a:prstGeom>
          <a:noFill/>
        </p:spPr>
        <p:txBody>
          <a:bodyPr wrap="none" rtlCol="0">
            <a:spAutoFit/>
          </a:bodyPr>
          <a:lstStyle/>
          <a:p>
            <a:r>
              <a:rPr lang="en-IN" sz="2400" b="1" dirty="0"/>
              <a:t>RMS Level</a:t>
            </a:r>
          </a:p>
        </p:txBody>
      </p:sp>
      <p:pic>
        <p:nvPicPr>
          <p:cNvPr id="6" name="Picture 5"/>
          <p:cNvPicPr>
            <a:picLocks noChangeAspect="1"/>
          </p:cNvPicPr>
          <p:nvPr/>
        </p:nvPicPr>
        <p:blipFill>
          <a:blip r:embed="rId3"/>
          <a:stretch>
            <a:fillRect/>
          </a:stretch>
        </p:blipFill>
        <p:spPr>
          <a:xfrm>
            <a:off x="4435998" y="1222713"/>
            <a:ext cx="2934109" cy="2219635"/>
          </a:xfrm>
          <a:prstGeom prst="rect">
            <a:avLst/>
          </a:prstGeom>
        </p:spPr>
      </p:pic>
      <p:sp>
        <p:nvSpPr>
          <p:cNvPr id="7" name="TextBox 6"/>
          <p:cNvSpPr txBox="1"/>
          <p:nvPr/>
        </p:nvSpPr>
        <p:spPr>
          <a:xfrm>
            <a:off x="5595115" y="662730"/>
            <a:ext cx="772969" cy="461665"/>
          </a:xfrm>
          <a:prstGeom prst="rect">
            <a:avLst/>
          </a:prstGeom>
          <a:noFill/>
        </p:spPr>
        <p:txBody>
          <a:bodyPr wrap="none" rtlCol="0">
            <a:spAutoFit/>
          </a:bodyPr>
          <a:lstStyle/>
          <a:p>
            <a:r>
              <a:rPr lang="en-IN" sz="2400" b="1" dirty="0"/>
              <a:t>Gain</a:t>
            </a:r>
          </a:p>
        </p:txBody>
      </p:sp>
      <p:pic>
        <p:nvPicPr>
          <p:cNvPr id="8" name="Picture 7"/>
          <p:cNvPicPr>
            <a:picLocks noChangeAspect="1"/>
          </p:cNvPicPr>
          <p:nvPr/>
        </p:nvPicPr>
        <p:blipFill>
          <a:blip r:embed="rId4"/>
          <a:stretch>
            <a:fillRect/>
          </a:stretch>
        </p:blipFill>
        <p:spPr>
          <a:xfrm>
            <a:off x="7916293" y="1222713"/>
            <a:ext cx="2953162" cy="2276793"/>
          </a:xfrm>
          <a:prstGeom prst="rect">
            <a:avLst/>
          </a:prstGeom>
        </p:spPr>
      </p:pic>
      <p:sp>
        <p:nvSpPr>
          <p:cNvPr id="9" name="TextBox 8"/>
          <p:cNvSpPr txBox="1"/>
          <p:nvPr/>
        </p:nvSpPr>
        <p:spPr>
          <a:xfrm>
            <a:off x="8992998" y="662730"/>
            <a:ext cx="1525097" cy="461665"/>
          </a:xfrm>
          <a:prstGeom prst="rect">
            <a:avLst/>
          </a:prstGeom>
          <a:noFill/>
        </p:spPr>
        <p:txBody>
          <a:bodyPr wrap="none" rtlCol="0">
            <a:spAutoFit/>
          </a:bodyPr>
          <a:lstStyle/>
          <a:p>
            <a:r>
              <a:rPr lang="en-IN" sz="2400" b="1" dirty="0"/>
              <a:t>Peak Level</a:t>
            </a:r>
          </a:p>
        </p:txBody>
      </p:sp>
      <p:sp>
        <p:nvSpPr>
          <p:cNvPr id="10" name="Rectangle 9"/>
          <p:cNvSpPr/>
          <p:nvPr/>
        </p:nvSpPr>
        <p:spPr>
          <a:xfrm>
            <a:off x="927124" y="3929308"/>
            <a:ext cx="3371664" cy="1477328"/>
          </a:xfrm>
          <a:prstGeom prst="rect">
            <a:avLst/>
          </a:prstGeom>
        </p:spPr>
        <p:txBody>
          <a:bodyPr wrap="square">
            <a:spAutoFit/>
          </a:bodyPr>
          <a:lstStyle/>
          <a:p>
            <a:r>
              <a:rPr lang="en-US" dirty="0"/>
              <a:t>RMS Level provides a single-value meter result, displaying the rms output level from each DUT channel, as measured at each analyzer input.</a:t>
            </a:r>
            <a:endParaRPr lang="en-IN" dirty="0"/>
          </a:p>
        </p:txBody>
      </p:sp>
      <p:sp>
        <p:nvSpPr>
          <p:cNvPr id="11" name="Rectangle 10"/>
          <p:cNvSpPr/>
          <p:nvPr/>
        </p:nvSpPr>
        <p:spPr>
          <a:xfrm>
            <a:off x="4435998" y="3929308"/>
            <a:ext cx="3046982" cy="1477328"/>
          </a:xfrm>
          <a:prstGeom prst="rect">
            <a:avLst/>
          </a:prstGeom>
        </p:spPr>
        <p:txBody>
          <a:bodyPr wrap="square">
            <a:spAutoFit/>
          </a:bodyPr>
          <a:lstStyle/>
          <a:p>
            <a:r>
              <a:rPr lang="en-US" dirty="0"/>
              <a:t>The Gain measurement result provides a single-value measurement of the DUT gain for channel, as measured at each analyzer input.</a:t>
            </a:r>
            <a:endParaRPr lang="en-IN" dirty="0"/>
          </a:p>
        </p:txBody>
      </p:sp>
      <p:sp>
        <p:nvSpPr>
          <p:cNvPr id="12" name="Rectangle 11"/>
          <p:cNvSpPr/>
          <p:nvPr/>
        </p:nvSpPr>
        <p:spPr>
          <a:xfrm>
            <a:off x="7916293" y="3924179"/>
            <a:ext cx="3298662" cy="1477328"/>
          </a:xfrm>
          <a:prstGeom prst="rect">
            <a:avLst/>
          </a:prstGeom>
        </p:spPr>
        <p:txBody>
          <a:bodyPr wrap="square">
            <a:spAutoFit/>
          </a:bodyPr>
          <a:lstStyle/>
          <a:p>
            <a:r>
              <a:rPr lang="en-US" dirty="0"/>
              <a:t>Peak Level provides a single-value meter result, displaying of the peak output level from each DUT channel, as measured at each analyzer input</a:t>
            </a:r>
            <a:endParaRPr lang="en-IN" dirty="0"/>
          </a:p>
        </p:txBody>
      </p:sp>
    </p:spTree>
    <p:extLst>
      <p:ext uri="{BB962C8B-B14F-4D97-AF65-F5344CB8AC3E}">
        <p14:creationId xmlns:p14="http://schemas.microsoft.com/office/powerpoint/2010/main" val="4023925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12615" y="157207"/>
            <a:ext cx="1364476" cy="584775"/>
          </a:xfrm>
          <a:prstGeom prst="rect">
            <a:avLst/>
          </a:prstGeom>
        </p:spPr>
        <p:txBody>
          <a:bodyPr wrap="none">
            <a:spAutoFit/>
          </a:bodyPr>
          <a:lstStyle/>
          <a:p>
            <a:r>
              <a:rPr lang="en-IN" sz="3200" dirty="0"/>
              <a:t>THD+N</a:t>
            </a:r>
          </a:p>
        </p:txBody>
      </p:sp>
      <p:sp>
        <p:nvSpPr>
          <p:cNvPr id="6" name="Rectangle 5"/>
          <p:cNvSpPr/>
          <p:nvPr/>
        </p:nvSpPr>
        <p:spPr>
          <a:xfrm>
            <a:off x="4354955" y="2529885"/>
            <a:ext cx="6251943" cy="1323439"/>
          </a:xfrm>
          <a:prstGeom prst="rect">
            <a:avLst/>
          </a:prstGeom>
        </p:spPr>
        <p:txBody>
          <a:bodyPr wrap="square">
            <a:spAutoFit/>
          </a:bodyPr>
          <a:lstStyle/>
          <a:p>
            <a:r>
              <a:rPr lang="en-US" sz="2000" dirty="0"/>
              <a:t>The THD+N measurement provides single-value results that show the THD+N (total distortion plus noise) in the output signal from each DUT channel, as measured at each analyzer input. </a:t>
            </a:r>
            <a:endParaRPr lang="en-IN" sz="2000" dirty="0"/>
          </a:p>
        </p:txBody>
      </p:sp>
      <p:pic>
        <p:nvPicPr>
          <p:cNvPr id="7" name="Picture 6"/>
          <p:cNvPicPr>
            <a:picLocks noChangeAspect="1"/>
          </p:cNvPicPr>
          <p:nvPr/>
        </p:nvPicPr>
        <p:blipFill>
          <a:blip r:embed="rId2"/>
          <a:stretch>
            <a:fillRect/>
          </a:stretch>
        </p:blipFill>
        <p:spPr>
          <a:xfrm>
            <a:off x="612970" y="2529885"/>
            <a:ext cx="3553321" cy="4172532"/>
          </a:xfrm>
          <a:prstGeom prst="rect">
            <a:avLst/>
          </a:prstGeom>
        </p:spPr>
      </p:pic>
      <p:sp>
        <p:nvSpPr>
          <p:cNvPr id="8" name="Rectangle 7"/>
          <p:cNvSpPr/>
          <p:nvPr/>
        </p:nvSpPr>
        <p:spPr>
          <a:xfrm>
            <a:off x="5189386" y="3964900"/>
            <a:ext cx="4583082" cy="2893100"/>
          </a:xfrm>
          <a:prstGeom prst="rect">
            <a:avLst/>
          </a:prstGeom>
        </p:spPr>
        <p:txBody>
          <a:bodyPr wrap="square">
            <a:spAutoFit/>
          </a:bodyPr>
          <a:lstStyle/>
          <a:p>
            <a:r>
              <a:rPr lang="en-US" sz="2000" dirty="0"/>
              <a:t>THD+N results available in APx585 are</a:t>
            </a:r>
            <a:endParaRPr lang="en-US" dirty="0"/>
          </a:p>
          <a:p>
            <a:pPr marL="285750" indent="-285750">
              <a:buFont typeface="Wingdings" panose="05000000000000000000" pitchFamily="2" charset="2"/>
              <a:buChar char="Ø"/>
            </a:pPr>
            <a:r>
              <a:rPr lang="en-IN" dirty="0"/>
              <a:t>THD+N Ratio</a:t>
            </a:r>
          </a:p>
          <a:p>
            <a:pPr marL="285750" indent="-285750">
              <a:buFont typeface="Wingdings" panose="05000000000000000000" pitchFamily="2" charset="2"/>
              <a:buChar char="Ø"/>
            </a:pPr>
            <a:r>
              <a:rPr lang="en-IN" dirty="0"/>
              <a:t>THD+N Level</a:t>
            </a:r>
          </a:p>
          <a:p>
            <a:pPr marL="285750" indent="-285750">
              <a:buFont typeface="Wingdings" panose="05000000000000000000" pitchFamily="2" charset="2"/>
              <a:buChar char="Ø"/>
            </a:pPr>
            <a:r>
              <a:rPr lang="en-IN" dirty="0"/>
              <a:t>THD Ratio</a:t>
            </a:r>
          </a:p>
          <a:p>
            <a:pPr marL="285750" indent="-285750">
              <a:buFont typeface="Wingdings" panose="05000000000000000000" pitchFamily="2" charset="2"/>
              <a:buChar char="Ø"/>
            </a:pPr>
            <a:r>
              <a:rPr lang="en-IN" dirty="0"/>
              <a:t>THD Level</a:t>
            </a:r>
          </a:p>
          <a:p>
            <a:pPr marL="285750" indent="-285750">
              <a:buFont typeface="Wingdings" panose="05000000000000000000" pitchFamily="2" charset="2"/>
              <a:buChar char="Ø"/>
            </a:pPr>
            <a:r>
              <a:rPr lang="en-IN" dirty="0"/>
              <a:t>Noise Ration</a:t>
            </a:r>
          </a:p>
          <a:p>
            <a:pPr marL="285750" indent="-285750">
              <a:buFont typeface="Wingdings" panose="05000000000000000000" pitchFamily="2" charset="2"/>
              <a:buChar char="Ø"/>
            </a:pPr>
            <a:r>
              <a:rPr lang="en-IN" dirty="0"/>
              <a:t>Noise Level</a:t>
            </a:r>
          </a:p>
          <a:p>
            <a:pPr marL="285750" indent="-285750">
              <a:buFont typeface="Wingdings" panose="05000000000000000000" pitchFamily="2" charset="2"/>
              <a:buChar char="Ø"/>
            </a:pPr>
            <a:r>
              <a:rPr lang="en-IN" dirty="0"/>
              <a:t>Distortion Product Level</a:t>
            </a:r>
          </a:p>
          <a:p>
            <a:pPr marL="285750" indent="-285750">
              <a:buFont typeface="Wingdings" panose="05000000000000000000" pitchFamily="2" charset="2"/>
              <a:buChar char="Ø"/>
            </a:pPr>
            <a:r>
              <a:rPr lang="en-IN" dirty="0"/>
              <a:t>Distortion Protect Ratio</a:t>
            </a:r>
          </a:p>
          <a:p>
            <a:endParaRPr lang="en-IN" dirty="0"/>
          </a:p>
        </p:txBody>
      </p:sp>
      <p:sp>
        <p:nvSpPr>
          <p:cNvPr id="9" name="TextBox 8"/>
          <p:cNvSpPr txBox="1"/>
          <p:nvPr/>
        </p:nvSpPr>
        <p:spPr>
          <a:xfrm>
            <a:off x="891789" y="1985509"/>
            <a:ext cx="5974328" cy="400110"/>
          </a:xfrm>
          <a:prstGeom prst="rect">
            <a:avLst/>
          </a:prstGeom>
          <a:noFill/>
        </p:spPr>
        <p:txBody>
          <a:bodyPr wrap="none" rtlCol="0">
            <a:spAutoFit/>
          </a:bodyPr>
          <a:lstStyle/>
          <a:p>
            <a:r>
              <a:rPr lang="en-IN" sz="2000" dirty="0">
                <a:solidFill>
                  <a:srgbClr val="0000FF"/>
                </a:solidFill>
              </a:rPr>
              <a:t>Navigator &gt; Add Measurements &gt; THD+N &gt; Add &amp; Close</a:t>
            </a:r>
          </a:p>
        </p:txBody>
      </p:sp>
      <p:sp>
        <p:nvSpPr>
          <p:cNvPr id="10" name="Rectangle 9"/>
          <p:cNvSpPr/>
          <p:nvPr/>
        </p:nvSpPr>
        <p:spPr>
          <a:xfrm>
            <a:off x="891789" y="673604"/>
            <a:ext cx="9829342" cy="1200329"/>
          </a:xfrm>
          <a:prstGeom prst="rect">
            <a:avLst/>
          </a:prstGeom>
        </p:spPr>
        <p:txBody>
          <a:bodyPr wrap="square">
            <a:spAutoFit/>
          </a:bodyPr>
          <a:lstStyle/>
          <a:p>
            <a:r>
              <a:rPr lang="en-US" sz="2400" dirty="0"/>
              <a:t>THD+N is an abbreviation for total harmonic distortion plus noise. THD+N measurements have been used for many years as a comprehensive single-value statement of an audio device’s overall performance.</a:t>
            </a:r>
            <a:endParaRPr lang="en-IN" sz="2400" dirty="0"/>
          </a:p>
        </p:txBody>
      </p:sp>
    </p:spTree>
    <p:extLst>
      <p:ext uri="{BB962C8B-B14F-4D97-AF65-F5344CB8AC3E}">
        <p14:creationId xmlns:p14="http://schemas.microsoft.com/office/powerpoint/2010/main" val="2383520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852984" y="705084"/>
            <a:ext cx="3077004" cy="2276793"/>
          </a:xfrm>
          <a:prstGeom prst="rect">
            <a:avLst/>
          </a:prstGeom>
        </p:spPr>
      </p:pic>
      <p:pic>
        <p:nvPicPr>
          <p:cNvPr id="7" name="Picture 6"/>
          <p:cNvPicPr>
            <a:picLocks noChangeAspect="1"/>
          </p:cNvPicPr>
          <p:nvPr/>
        </p:nvPicPr>
        <p:blipFill>
          <a:blip r:embed="rId3"/>
          <a:stretch>
            <a:fillRect/>
          </a:stretch>
        </p:blipFill>
        <p:spPr>
          <a:xfrm>
            <a:off x="4383818" y="628874"/>
            <a:ext cx="3105583" cy="2353003"/>
          </a:xfrm>
          <a:prstGeom prst="rect">
            <a:avLst/>
          </a:prstGeom>
        </p:spPr>
      </p:pic>
      <p:pic>
        <p:nvPicPr>
          <p:cNvPr id="8" name="Picture 7"/>
          <p:cNvPicPr>
            <a:picLocks noChangeAspect="1"/>
          </p:cNvPicPr>
          <p:nvPr/>
        </p:nvPicPr>
        <p:blipFill>
          <a:blip r:embed="rId4"/>
          <a:stretch>
            <a:fillRect/>
          </a:stretch>
        </p:blipFill>
        <p:spPr>
          <a:xfrm>
            <a:off x="7943231" y="705084"/>
            <a:ext cx="3172268" cy="2372056"/>
          </a:xfrm>
          <a:prstGeom prst="rect">
            <a:avLst/>
          </a:prstGeom>
        </p:spPr>
      </p:pic>
      <p:sp>
        <p:nvSpPr>
          <p:cNvPr id="12" name="Rectangle 11"/>
          <p:cNvSpPr/>
          <p:nvPr/>
        </p:nvSpPr>
        <p:spPr>
          <a:xfrm>
            <a:off x="852984" y="3286115"/>
            <a:ext cx="2972396" cy="2091227"/>
          </a:xfrm>
          <a:prstGeom prst="rect">
            <a:avLst/>
          </a:prstGeom>
        </p:spPr>
        <p:txBody>
          <a:bodyPr wrap="square">
            <a:spAutoFit/>
          </a:bodyPr>
          <a:lstStyle/>
          <a:p>
            <a:r>
              <a:rPr lang="en-US" dirty="0"/>
              <a:t>The THD+N Ratio result provides a single-value measurement of the THD+N (total harmonic distortion plus noise) ratio in the output signal from each DUT channel.</a:t>
            </a:r>
            <a:endParaRPr lang="en-IN" dirty="0"/>
          </a:p>
        </p:txBody>
      </p:sp>
      <p:sp>
        <p:nvSpPr>
          <p:cNvPr id="13" name="Rectangle 12"/>
          <p:cNvSpPr/>
          <p:nvPr/>
        </p:nvSpPr>
        <p:spPr>
          <a:xfrm>
            <a:off x="4383818" y="3470672"/>
            <a:ext cx="3266942" cy="1754326"/>
          </a:xfrm>
          <a:prstGeom prst="rect">
            <a:avLst/>
          </a:prstGeom>
        </p:spPr>
        <p:txBody>
          <a:bodyPr wrap="square">
            <a:spAutoFit/>
          </a:bodyPr>
          <a:lstStyle/>
          <a:p>
            <a:r>
              <a:rPr lang="en-US" dirty="0"/>
              <a:t>The THD+N Level result provides a single-value measurement of the THD+N (total harmonic distortion plus noise) level in the output signal from each DUT channel</a:t>
            </a:r>
            <a:endParaRPr lang="en-IN" dirty="0"/>
          </a:p>
        </p:txBody>
      </p:sp>
      <p:sp>
        <p:nvSpPr>
          <p:cNvPr id="14" name="Rectangle 13"/>
          <p:cNvSpPr/>
          <p:nvPr/>
        </p:nvSpPr>
        <p:spPr>
          <a:xfrm>
            <a:off x="7943231" y="3395172"/>
            <a:ext cx="3159853" cy="1477328"/>
          </a:xfrm>
          <a:prstGeom prst="rect">
            <a:avLst/>
          </a:prstGeom>
        </p:spPr>
        <p:txBody>
          <a:bodyPr wrap="square">
            <a:spAutoFit/>
          </a:bodyPr>
          <a:lstStyle/>
          <a:p>
            <a:r>
              <a:rPr lang="en-US" dirty="0"/>
              <a:t>The THD Level result provides a single-value measurement of the THD (total harmonic distortion) level in the output signal from each DUT channel</a:t>
            </a:r>
            <a:endParaRPr lang="en-IN" dirty="0"/>
          </a:p>
        </p:txBody>
      </p:sp>
    </p:spTree>
    <p:extLst>
      <p:ext uri="{BB962C8B-B14F-4D97-AF65-F5344CB8AC3E}">
        <p14:creationId xmlns:p14="http://schemas.microsoft.com/office/powerpoint/2010/main" val="1923410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936874" y="678994"/>
            <a:ext cx="3115110" cy="2362530"/>
          </a:xfrm>
          <a:prstGeom prst="rect">
            <a:avLst/>
          </a:prstGeom>
        </p:spPr>
      </p:pic>
      <p:pic>
        <p:nvPicPr>
          <p:cNvPr id="10" name="Picture 9"/>
          <p:cNvPicPr>
            <a:picLocks noChangeAspect="1"/>
          </p:cNvPicPr>
          <p:nvPr/>
        </p:nvPicPr>
        <p:blipFill>
          <a:blip r:embed="rId3"/>
          <a:stretch>
            <a:fillRect/>
          </a:stretch>
        </p:blipFill>
        <p:spPr>
          <a:xfrm>
            <a:off x="4518042" y="678994"/>
            <a:ext cx="3219899" cy="2429214"/>
          </a:xfrm>
          <a:prstGeom prst="rect">
            <a:avLst/>
          </a:prstGeom>
        </p:spPr>
      </p:pic>
      <p:pic>
        <p:nvPicPr>
          <p:cNvPr id="11" name="Picture 10"/>
          <p:cNvPicPr>
            <a:picLocks noChangeAspect="1"/>
          </p:cNvPicPr>
          <p:nvPr/>
        </p:nvPicPr>
        <p:blipFill>
          <a:blip r:embed="rId4"/>
          <a:stretch>
            <a:fillRect/>
          </a:stretch>
        </p:blipFill>
        <p:spPr>
          <a:xfrm>
            <a:off x="8287889" y="745679"/>
            <a:ext cx="3153215" cy="2295845"/>
          </a:xfrm>
          <a:prstGeom prst="rect">
            <a:avLst/>
          </a:prstGeom>
        </p:spPr>
      </p:pic>
      <p:sp>
        <p:nvSpPr>
          <p:cNvPr id="2" name="Rectangle 1"/>
          <p:cNvSpPr/>
          <p:nvPr/>
        </p:nvSpPr>
        <p:spPr>
          <a:xfrm>
            <a:off x="936874" y="3353227"/>
            <a:ext cx="3039508" cy="1477328"/>
          </a:xfrm>
          <a:prstGeom prst="rect">
            <a:avLst/>
          </a:prstGeom>
        </p:spPr>
        <p:txBody>
          <a:bodyPr wrap="square">
            <a:spAutoFit/>
          </a:bodyPr>
          <a:lstStyle/>
          <a:p>
            <a:r>
              <a:rPr lang="en-US" dirty="0"/>
              <a:t>The THD Ratio result provides a single-value measurement of the THD (total harmonic distortion) ratio in the output signal from each DUT channel.</a:t>
            </a:r>
            <a:endParaRPr lang="en-IN" dirty="0"/>
          </a:p>
        </p:txBody>
      </p:sp>
      <p:sp>
        <p:nvSpPr>
          <p:cNvPr id="3" name="Rectangle 2"/>
          <p:cNvSpPr/>
          <p:nvPr/>
        </p:nvSpPr>
        <p:spPr>
          <a:xfrm>
            <a:off x="4518042" y="3349119"/>
            <a:ext cx="3219899" cy="1200329"/>
          </a:xfrm>
          <a:prstGeom prst="rect">
            <a:avLst/>
          </a:prstGeom>
        </p:spPr>
        <p:txBody>
          <a:bodyPr wrap="square">
            <a:spAutoFit/>
          </a:bodyPr>
          <a:lstStyle/>
          <a:p>
            <a:r>
              <a:rPr lang="en-US" dirty="0"/>
              <a:t>The Noise Ratio result provides a single-value measurement of the Noise ratio in the output signal from each DUT channel.</a:t>
            </a:r>
            <a:endParaRPr lang="en-IN" dirty="0"/>
          </a:p>
        </p:txBody>
      </p:sp>
      <p:sp>
        <p:nvSpPr>
          <p:cNvPr id="4" name="Rectangle 3"/>
          <p:cNvSpPr/>
          <p:nvPr/>
        </p:nvSpPr>
        <p:spPr>
          <a:xfrm>
            <a:off x="8287889" y="3302952"/>
            <a:ext cx="3153215" cy="1200329"/>
          </a:xfrm>
          <a:prstGeom prst="rect">
            <a:avLst/>
          </a:prstGeom>
        </p:spPr>
        <p:txBody>
          <a:bodyPr wrap="square">
            <a:spAutoFit/>
          </a:bodyPr>
          <a:lstStyle/>
          <a:p>
            <a:r>
              <a:rPr lang="en-US" dirty="0"/>
              <a:t>The Noise Level result provides a single-value measurement of the Noise level in the output signal from each DUT channel</a:t>
            </a:r>
            <a:endParaRPr lang="en-IN" dirty="0"/>
          </a:p>
        </p:txBody>
      </p:sp>
    </p:spTree>
    <p:extLst>
      <p:ext uri="{BB962C8B-B14F-4D97-AF65-F5344CB8AC3E}">
        <p14:creationId xmlns:p14="http://schemas.microsoft.com/office/powerpoint/2010/main" val="3153428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23912" y="735227"/>
            <a:ext cx="3048425" cy="2333951"/>
          </a:xfrm>
          <a:prstGeom prst="rect">
            <a:avLst/>
          </a:prstGeom>
        </p:spPr>
      </p:pic>
      <p:sp>
        <p:nvSpPr>
          <p:cNvPr id="5" name="Rectangle 4"/>
          <p:cNvSpPr/>
          <p:nvPr/>
        </p:nvSpPr>
        <p:spPr>
          <a:xfrm>
            <a:off x="4826466" y="1150876"/>
            <a:ext cx="6096000" cy="1754326"/>
          </a:xfrm>
          <a:prstGeom prst="rect">
            <a:avLst/>
          </a:prstGeom>
        </p:spPr>
        <p:txBody>
          <a:bodyPr>
            <a:spAutoFit/>
          </a:bodyPr>
          <a:lstStyle/>
          <a:p>
            <a:pPr marL="285750" indent="-285750">
              <a:buFont typeface="Wingdings" panose="05000000000000000000" pitchFamily="2" charset="2"/>
              <a:buChar char="Ø"/>
            </a:pPr>
            <a:r>
              <a:rPr lang="en-US" dirty="0"/>
              <a:t>The THD+N Distortion Product Ratio result displays a single-value measurement of the ratio of a distortion product (single harmonic) to the total signal for a selected channel, for the harmonics 2–10. The level displayed in each bar is the rms level of that harmonic tone divided by the rms level of the total signal.</a:t>
            </a:r>
            <a:endParaRPr lang="en-IN" dirty="0"/>
          </a:p>
        </p:txBody>
      </p:sp>
      <p:pic>
        <p:nvPicPr>
          <p:cNvPr id="6" name="Picture 5"/>
          <p:cNvPicPr>
            <a:picLocks noChangeAspect="1"/>
          </p:cNvPicPr>
          <p:nvPr/>
        </p:nvPicPr>
        <p:blipFill>
          <a:blip r:embed="rId3"/>
          <a:stretch>
            <a:fillRect/>
          </a:stretch>
        </p:blipFill>
        <p:spPr>
          <a:xfrm>
            <a:off x="1123912" y="3664338"/>
            <a:ext cx="3086531" cy="2381582"/>
          </a:xfrm>
          <a:prstGeom prst="rect">
            <a:avLst/>
          </a:prstGeom>
        </p:spPr>
      </p:pic>
      <p:sp>
        <p:nvSpPr>
          <p:cNvPr id="7" name="Rectangle 6"/>
          <p:cNvSpPr/>
          <p:nvPr/>
        </p:nvSpPr>
        <p:spPr>
          <a:xfrm>
            <a:off x="4826466" y="4171074"/>
            <a:ext cx="6096000" cy="1200329"/>
          </a:xfrm>
          <a:prstGeom prst="rect">
            <a:avLst/>
          </a:prstGeom>
        </p:spPr>
        <p:txBody>
          <a:bodyPr>
            <a:spAutoFit/>
          </a:bodyPr>
          <a:lstStyle/>
          <a:p>
            <a:pPr marL="285750" indent="-285750">
              <a:buFont typeface="Wingdings" panose="05000000000000000000" pitchFamily="2" charset="2"/>
              <a:buChar char="Ø"/>
            </a:pPr>
            <a:r>
              <a:rPr lang="en-US" dirty="0"/>
              <a:t>The THD+N Distortion Product Level result displays a single-value measurement of the rms level of distortion products (harmonics) for the harmonics 2–10. The level displayed in each bar is the rms level of that harmonic tone.</a:t>
            </a:r>
            <a:endParaRPr lang="en-IN" dirty="0"/>
          </a:p>
        </p:txBody>
      </p:sp>
    </p:spTree>
    <p:extLst>
      <p:ext uri="{BB962C8B-B14F-4D97-AF65-F5344CB8AC3E}">
        <p14:creationId xmlns:p14="http://schemas.microsoft.com/office/powerpoint/2010/main" val="1966168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C3401-296F-06B7-FF35-E2C853BEE63E}"/>
              </a:ext>
            </a:extLst>
          </p:cNvPr>
          <p:cNvSpPr>
            <a:spLocks noGrp="1"/>
          </p:cNvSpPr>
          <p:nvPr>
            <p:ph type="title"/>
          </p:nvPr>
        </p:nvSpPr>
        <p:spPr/>
        <p:txBody>
          <a:bodyPr/>
          <a:lstStyle/>
          <a:p>
            <a:r>
              <a:rPr lang="en-IN" sz="3600" b="1" dirty="0">
                <a:latin typeface="+mj-lt"/>
              </a:rPr>
              <a:t>Frequency Response </a:t>
            </a:r>
            <a:endParaRPr lang="en-US" dirty="0"/>
          </a:p>
        </p:txBody>
      </p:sp>
      <p:sp>
        <p:nvSpPr>
          <p:cNvPr id="4" name="Slide Number Placeholder 3">
            <a:extLst>
              <a:ext uri="{FF2B5EF4-FFF2-40B4-BE49-F238E27FC236}">
                <a16:creationId xmlns:a16="http://schemas.microsoft.com/office/drawing/2014/main" id="{940C5B49-36DD-8AB0-39EB-7C589B82F87F}"/>
              </a:ext>
            </a:extLst>
          </p:cNvPr>
          <p:cNvSpPr>
            <a:spLocks noGrp="1"/>
          </p:cNvSpPr>
          <p:nvPr>
            <p:ph type="sldNum" sz="quarter" idx="12"/>
          </p:nvPr>
        </p:nvSpPr>
        <p:spPr/>
        <p:txBody>
          <a:bodyPr/>
          <a:lstStyle/>
          <a:p>
            <a:fld id="{83735547-B499-4273-BF07-F756EAEC2F73}" type="slidenum">
              <a:rPr lang="en-IN" smtClean="0"/>
              <a:pPr/>
              <a:t>20</a:t>
            </a:fld>
            <a:endParaRPr lang="en-IN" dirty="0"/>
          </a:p>
        </p:txBody>
      </p:sp>
      <p:pic>
        <p:nvPicPr>
          <p:cNvPr id="5" name="Picture 4">
            <a:extLst>
              <a:ext uri="{FF2B5EF4-FFF2-40B4-BE49-F238E27FC236}">
                <a16:creationId xmlns:a16="http://schemas.microsoft.com/office/drawing/2014/main" id="{673D6DBA-411E-4827-11D0-94143873278D}"/>
              </a:ext>
            </a:extLst>
          </p:cNvPr>
          <p:cNvPicPr>
            <a:picLocks noChangeAspect="1"/>
          </p:cNvPicPr>
          <p:nvPr/>
        </p:nvPicPr>
        <p:blipFill>
          <a:blip r:embed="rId2"/>
          <a:stretch>
            <a:fillRect/>
          </a:stretch>
        </p:blipFill>
        <p:spPr>
          <a:xfrm>
            <a:off x="8631520" y="1445069"/>
            <a:ext cx="2734057" cy="5325218"/>
          </a:xfrm>
          <a:prstGeom prst="rect">
            <a:avLst/>
          </a:prstGeom>
        </p:spPr>
      </p:pic>
      <p:sp>
        <p:nvSpPr>
          <p:cNvPr id="6" name="Rectangle 5">
            <a:extLst>
              <a:ext uri="{FF2B5EF4-FFF2-40B4-BE49-F238E27FC236}">
                <a16:creationId xmlns:a16="http://schemas.microsoft.com/office/drawing/2014/main" id="{C7A32DAB-DC47-0D63-FD4B-9DB00CDF5893}"/>
              </a:ext>
            </a:extLst>
          </p:cNvPr>
          <p:cNvSpPr/>
          <p:nvPr/>
        </p:nvSpPr>
        <p:spPr>
          <a:xfrm>
            <a:off x="787813" y="3092151"/>
            <a:ext cx="6918121" cy="1477328"/>
          </a:xfrm>
          <a:prstGeom prst="rect">
            <a:avLst/>
          </a:prstGeom>
        </p:spPr>
        <p:txBody>
          <a:bodyPr wrap="square">
            <a:spAutoFit/>
          </a:bodyPr>
          <a:lstStyle/>
          <a:p>
            <a:pPr marL="342900" indent="-342900">
              <a:buFont typeface="Wingdings" panose="05000000000000000000" pitchFamily="2" charset="2"/>
              <a:buChar char="Ø"/>
            </a:pPr>
            <a:r>
              <a:rPr lang="en-US" dirty="0"/>
              <a:t>Frequency Response is a chirp-based measurement, using a brief Farina log-swept sine “chirp” stimulus that moves continuously across a specified range of frequencies. The DUT output is acquired by the analyzer and is mathematically deconvolved to provide a number of results.</a:t>
            </a:r>
            <a:endParaRPr lang="en-IN" dirty="0"/>
          </a:p>
        </p:txBody>
      </p:sp>
      <p:sp>
        <p:nvSpPr>
          <p:cNvPr id="7" name="Rectangle 6">
            <a:extLst>
              <a:ext uri="{FF2B5EF4-FFF2-40B4-BE49-F238E27FC236}">
                <a16:creationId xmlns:a16="http://schemas.microsoft.com/office/drawing/2014/main" id="{9080C556-6458-587E-AE47-A89F22D95253}"/>
              </a:ext>
            </a:extLst>
          </p:cNvPr>
          <p:cNvSpPr/>
          <p:nvPr/>
        </p:nvSpPr>
        <p:spPr>
          <a:xfrm>
            <a:off x="787813" y="4736673"/>
            <a:ext cx="5354864" cy="369332"/>
          </a:xfrm>
          <a:prstGeom prst="rect">
            <a:avLst/>
          </a:prstGeom>
        </p:spPr>
        <p:txBody>
          <a:bodyPr wrap="none">
            <a:spAutoFit/>
          </a:bodyPr>
          <a:lstStyle/>
          <a:p>
            <a:pPr marL="342900" indent="-342900">
              <a:buFont typeface="Wingdings" panose="05000000000000000000" pitchFamily="2" charset="2"/>
              <a:buChar char="Ø"/>
            </a:pPr>
            <a:r>
              <a:rPr lang="en-US" dirty="0"/>
              <a:t>Frequency Response results available in APx500 are</a:t>
            </a:r>
            <a:endParaRPr lang="en-IN" dirty="0"/>
          </a:p>
        </p:txBody>
      </p:sp>
      <p:sp>
        <p:nvSpPr>
          <p:cNvPr id="8" name="Rectangle 7">
            <a:extLst>
              <a:ext uri="{FF2B5EF4-FFF2-40B4-BE49-F238E27FC236}">
                <a16:creationId xmlns:a16="http://schemas.microsoft.com/office/drawing/2014/main" id="{509756E1-955A-C3E0-47F0-7ADE6CE2F718}"/>
              </a:ext>
            </a:extLst>
          </p:cNvPr>
          <p:cNvSpPr/>
          <p:nvPr/>
        </p:nvSpPr>
        <p:spPr>
          <a:xfrm>
            <a:off x="787813" y="5248354"/>
            <a:ext cx="1610441" cy="1107996"/>
          </a:xfrm>
          <a:prstGeom prst="rect">
            <a:avLst/>
          </a:prstGeom>
        </p:spPr>
        <p:txBody>
          <a:bodyPr wrap="none">
            <a:spAutoFit/>
          </a:bodyPr>
          <a:lstStyle/>
          <a:p>
            <a:pPr marL="285750" indent="-285750">
              <a:buFont typeface="Wingdings" panose="05000000000000000000" pitchFamily="2" charset="2"/>
              <a:buChar char="Ø"/>
            </a:pPr>
            <a:r>
              <a:rPr lang="en-IN" sz="1600" dirty="0"/>
              <a:t>Level</a:t>
            </a:r>
          </a:p>
          <a:p>
            <a:pPr marL="285750" indent="-285750">
              <a:buFont typeface="Wingdings" panose="05000000000000000000" pitchFamily="2" charset="2"/>
              <a:buChar char="Ø"/>
            </a:pPr>
            <a:r>
              <a:rPr lang="en-IN" sz="1600" dirty="0"/>
              <a:t>Gain </a:t>
            </a:r>
          </a:p>
          <a:p>
            <a:pPr marL="285750" indent="-285750">
              <a:buFont typeface="Wingdings" panose="05000000000000000000" pitchFamily="2" charset="2"/>
              <a:buChar char="Ø"/>
            </a:pPr>
            <a:r>
              <a:rPr lang="en-IN" sz="1600" dirty="0"/>
              <a:t>Relative Level</a:t>
            </a:r>
          </a:p>
          <a:p>
            <a:pPr marL="285750" indent="-285750">
              <a:buFont typeface="Wingdings" panose="05000000000000000000" pitchFamily="2" charset="2"/>
              <a:buChar char="Ø"/>
            </a:pPr>
            <a:r>
              <a:rPr lang="en-IN" sz="1600" dirty="0"/>
              <a:t>Deviation </a:t>
            </a:r>
          </a:p>
        </p:txBody>
      </p:sp>
      <p:sp>
        <p:nvSpPr>
          <p:cNvPr id="9" name="TextBox 8">
            <a:extLst>
              <a:ext uri="{FF2B5EF4-FFF2-40B4-BE49-F238E27FC236}">
                <a16:creationId xmlns:a16="http://schemas.microsoft.com/office/drawing/2014/main" id="{6801E9CF-44F5-D99D-519A-6430096DBE50}"/>
              </a:ext>
            </a:extLst>
          </p:cNvPr>
          <p:cNvSpPr txBox="1"/>
          <p:nvPr/>
        </p:nvSpPr>
        <p:spPr>
          <a:xfrm>
            <a:off x="785231" y="2523898"/>
            <a:ext cx="6668172" cy="369332"/>
          </a:xfrm>
          <a:prstGeom prst="rect">
            <a:avLst/>
          </a:prstGeom>
          <a:noFill/>
        </p:spPr>
        <p:txBody>
          <a:bodyPr wrap="none" rtlCol="0">
            <a:spAutoFit/>
          </a:bodyPr>
          <a:lstStyle/>
          <a:p>
            <a:r>
              <a:rPr lang="en-IN" dirty="0">
                <a:solidFill>
                  <a:srgbClr val="0000FF"/>
                </a:solidFill>
              </a:rPr>
              <a:t>Navigator &gt; Add Measurements &gt; Frequency Response &gt; Add &amp; Close</a:t>
            </a:r>
          </a:p>
        </p:txBody>
      </p:sp>
      <p:sp>
        <p:nvSpPr>
          <p:cNvPr id="10" name="Rectangle 9">
            <a:extLst>
              <a:ext uri="{FF2B5EF4-FFF2-40B4-BE49-F238E27FC236}">
                <a16:creationId xmlns:a16="http://schemas.microsoft.com/office/drawing/2014/main" id="{FB91B3B7-3141-0BFE-5747-DA052FA372B1}"/>
              </a:ext>
            </a:extLst>
          </p:cNvPr>
          <p:cNvSpPr/>
          <p:nvPr/>
        </p:nvSpPr>
        <p:spPr>
          <a:xfrm>
            <a:off x="826423" y="1445069"/>
            <a:ext cx="7754009" cy="1015663"/>
          </a:xfrm>
          <a:prstGeom prst="rect">
            <a:avLst/>
          </a:prstGeom>
        </p:spPr>
        <p:txBody>
          <a:bodyPr wrap="square">
            <a:spAutoFit/>
          </a:bodyPr>
          <a:lstStyle/>
          <a:p>
            <a:r>
              <a:rPr lang="en-US" sz="2000" dirty="0"/>
              <a:t>A frequency response test reveals how a device “responds” across the audible spectrum. For most devices, a “flat” response curve, where all frequencies are passed with the same gain, is desirable</a:t>
            </a:r>
            <a:endParaRPr lang="en-IN" sz="2000" dirty="0"/>
          </a:p>
        </p:txBody>
      </p:sp>
    </p:spTree>
    <p:extLst>
      <p:ext uri="{BB962C8B-B14F-4D97-AF65-F5344CB8AC3E}">
        <p14:creationId xmlns:p14="http://schemas.microsoft.com/office/powerpoint/2010/main" val="1505960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43179" y="940044"/>
            <a:ext cx="3077004" cy="1924319"/>
          </a:xfrm>
          <a:prstGeom prst="rect">
            <a:avLst/>
          </a:prstGeom>
        </p:spPr>
      </p:pic>
      <p:pic>
        <p:nvPicPr>
          <p:cNvPr id="5" name="Picture 4"/>
          <p:cNvPicPr>
            <a:picLocks noChangeAspect="1"/>
          </p:cNvPicPr>
          <p:nvPr/>
        </p:nvPicPr>
        <p:blipFill>
          <a:blip r:embed="rId3"/>
          <a:stretch>
            <a:fillRect/>
          </a:stretch>
        </p:blipFill>
        <p:spPr>
          <a:xfrm>
            <a:off x="1105073" y="3773035"/>
            <a:ext cx="3115110" cy="1895740"/>
          </a:xfrm>
          <a:prstGeom prst="rect">
            <a:avLst/>
          </a:prstGeom>
        </p:spPr>
      </p:pic>
      <p:sp>
        <p:nvSpPr>
          <p:cNvPr id="6" name="Rectangle 5"/>
          <p:cNvSpPr/>
          <p:nvPr/>
        </p:nvSpPr>
        <p:spPr>
          <a:xfrm>
            <a:off x="4725797" y="1092314"/>
            <a:ext cx="5793997" cy="1200329"/>
          </a:xfrm>
          <a:prstGeom prst="rect">
            <a:avLst/>
          </a:prstGeom>
        </p:spPr>
        <p:txBody>
          <a:bodyPr wrap="square">
            <a:spAutoFit/>
          </a:bodyPr>
          <a:lstStyle/>
          <a:p>
            <a:r>
              <a:rPr lang="en-US" dirty="0"/>
              <a:t>Level result is a continuous sweep measurement that provides a graphical display of the frequency response of each channel. In this result the DUT output level is plotted against frequency.</a:t>
            </a:r>
            <a:endParaRPr lang="en-IN" dirty="0"/>
          </a:p>
        </p:txBody>
      </p:sp>
      <p:sp>
        <p:nvSpPr>
          <p:cNvPr id="7" name="Rectangle 6"/>
          <p:cNvSpPr/>
          <p:nvPr/>
        </p:nvSpPr>
        <p:spPr>
          <a:xfrm>
            <a:off x="4725797" y="4187852"/>
            <a:ext cx="6096000" cy="923330"/>
          </a:xfrm>
          <a:prstGeom prst="rect">
            <a:avLst/>
          </a:prstGeom>
        </p:spPr>
        <p:txBody>
          <a:bodyPr>
            <a:spAutoFit/>
          </a:bodyPr>
          <a:lstStyle/>
          <a:p>
            <a:r>
              <a:rPr lang="en-US" dirty="0"/>
              <a:t>Gain result is a continuous sweep measurement that provides a graphical display of the frequency response of each channel. In this result the DUT gain is plotted against frequency.</a:t>
            </a:r>
            <a:endParaRPr lang="en-IN" dirty="0"/>
          </a:p>
        </p:txBody>
      </p:sp>
    </p:spTree>
    <p:extLst>
      <p:ext uri="{BB962C8B-B14F-4D97-AF65-F5344CB8AC3E}">
        <p14:creationId xmlns:p14="http://schemas.microsoft.com/office/powerpoint/2010/main" val="2925671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00097" y="764820"/>
            <a:ext cx="3096057" cy="1962424"/>
          </a:xfrm>
          <a:prstGeom prst="rect">
            <a:avLst/>
          </a:prstGeom>
        </p:spPr>
      </p:pic>
      <p:pic>
        <p:nvPicPr>
          <p:cNvPr id="3" name="Picture 2"/>
          <p:cNvPicPr>
            <a:picLocks noChangeAspect="1"/>
          </p:cNvPicPr>
          <p:nvPr/>
        </p:nvPicPr>
        <p:blipFill>
          <a:blip r:embed="rId3"/>
          <a:stretch>
            <a:fillRect/>
          </a:stretch>
        </p:blipFill>
        <p:spPr>
          <a:xfrm>
            <a:off x="1225931" y="3729952"/>
            <a:ext cx="3258005" cy="1914792"/>
          </a:xfrm>
          <a:prstGeom prst="rect">
            <a:avLst/>
          </a:prstGeom>
        </p:spPr>
      </p:pic>
      <p:sp>
        <p:nvSpPr>
          <p:cNvPr id="6" name="Rectangle 5"/>
          <p:cNvSpPr/>
          <p:nvPr/>
        </p:nvSpPr>
        <p:spPr>
          <a:xfrm>
            <a:off x="4750965" y="764820"/>
            <a:ext cx="6096000" cy="2308324"/>
          </a:xfrm>
          <a:prstGeom prst="rect">
            <a:avLst/>
          </a:prstGeom>
        </p:spPr>
        <p:txBody>
          <a:bodyPr>
            <a:spAutoFit/>
          </a:bodyPr>
          <a:lstStyle/>
          <a:p>
            <a:pPr marL="285750" indent="-285750">
              <a:buFont typeface="Wingdings" panose="05000000000000000000" pitchFamily="2" charset="2"/>
              <a:buChar char="Ø"/>
            </a:pPr>
            <a:r>
              <a:rPr lang="en-US" dirty="0"/>
              <a:t>Relative Level result is a continuous sweep measurement that provides a graphical display of the frequency response of each channel. In this result the DUT output level is plotted against frequency, relative to the level at a selected frequency. This enables you to specify the frequency that will be set as 0 dB and view the response in relation to that frequency. A midband frequency such as 1 kHz is often set as the reference frequency, and is the default here</a:t>
            </a:r>
            <a:endParaRPr lang="en-IN" dirty="0"/>
          </a:p>
        </p:txBody>
      </p:sp>
      <p:sp>
        <p:nvSpPr>
          <p:cNvPr id="7" name="Rectangle 6"/>
          <p:cNvSpPr/>
          <p:nvPr/>
        </p:nvSpPr>
        <p:spPr>
          <a:xfrm>
            <a:off x="4750965" y="3729952"/>
            <a:ext cx="6096000" cy="1754326"/>
          </a:xfrm>
          <a:prstGeom prst="rect">
            <a:avLst/>
          </a:prstGeom>
        </p:spPr>
        <p:txBody>
          <a:bodyPr>
            <a:spAutoFit/>
          </a:bodyPr>
          <a:lstStyle/>
          <a:p>
            <a:pPr marL="285750" indent="-285750">
              <a:buFont typeface="Wingdings" panose="05000000000000000000" pitchFamily="2" charset="2"/>
              <a:buChar char="Ø"/>
            </a:pPr>
            <a:r>
              <a:rPr lang="en-US" dirty="0"/>
              <a:t>Deviation is a single value result computed from the continuous sweep acquisition. In this result the frequency deviation (the total range of frequency variation) of each channel is displayed as a meter bar. You can specify a minimum and maximum frequency to define the range to be considered in the deviation measurement.</a:t>
            </a:r>
            <a:endParaRPr lang="en-IN" dirty="0"/>
          </a:p>
        </p:txBody>
      </p:sp>
    </p:spTree>
    <p:extLst>
      <p:ext uri="{BB962C8B-B14F-4D97-AF65-F5344CB8AC3E}">
        <p14:creationId xmlns:p14="http://schemas.microsoft.com/office/powerpoint/2010/main" val="3719791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7E1B4-FDA6-C8DA-219A-9FA7F6455375}"/>
              </a:ext>
            </a:extLst>
          </p:cNvPr>
          <p:cNvSpPr>
            <a:spLocks noGrp="1"/>
          </p:cNvSpPr>
          <p:nvPr>
            <p:ph type="title"/>
          </p:nvPr>
        </p:nvSpPr>
        <p:spPr/>
        <p:txBody>
          <a:bodyPr/>
          <a:lstStyle/>
          <a:p>
            <a:r>
              <a:rPr lang="en-IN" sz="3600" b="1" dirty="0">
                <a:latin typeface="+mj-lt"/>
              </a:rPr>
              <a:t>Signal to Noise Ratio</a:t>
            </a:r>
            <a:endParaRPr lang="en-US" dirty="0"/>
          </a:p>
        </p:txBody>
      </p:sp>
      <p:sp>
        <p:nvSpPr>
          <p:cNvPr id="5" name="Rectangle 4">
            <a:extLst>
              <a:ext uri="{FF2B5EF4-FFF2-40B4-BE49-F238E27FC236}">
                <a16:creationId xmlns:a16="http://schemas.microsoft.com/office/drawing/2014/main" id="{0B8612B9-D838-29C2-72CF-C770399BBF12}"/>
              </a:ext>
            </a:extLst>
          </p:cNvPr>
          <p:cNvSpPr/>
          <p:nvPr/>
        </p:nvSpPr>
        <p:spPr>
          <a:xfrm>
            <a:off x="3096193" y="3314635"/>
            <a:ext cx="5418079" cy="1754326"/>
          </a:xfrm>
          <a:prstGeom prst="rect">
            <a:avLst/>
          </a:prstGeom>
        </p:spPr>
        <p:txBody>
          <a:bodyPr wrap="square">
            <a:spAutoFit/>
          </a:bodyPr>
          <a:lstStyle/>
          <a:p>
            <a:pPr marL="285750" indent="-285750">
              <a:buFont typeface="Wingdings" panose="05000000000000000000" pitchFamily="2" charset="2"/>
              <a:buChar char="Ø"/>
            </a:pPr>
            <a:r>
              <a:rPr lang="en-US" dirty="0"/>
              <a:t>The Signal to Noise Ratio measurement provides a single-value result that shows the signal to noise ratio (SNR) of the output signal from each DUT channel. To use the SNR measurement to produce a dynamic range result, set the initial generator level to produce the maximum level in the DUT</a:t>
            </a:r>
            <a:endParaRPr lang="en-IN" dirty="0"/>
          </a:p>
        </p:txBody>
      </p:sp>
      <p:sp>
        <p:nvSpPr>
          <p:cNvPr id="6" name="Rectangle 5">
            <a:extLst>
              <a:ext uri="{FF2B5EF4-FFF2-40B4-BE49-F238E27FC236}">
                <a16:creationId xmlns:a16="http://schemas.microsoft.com/office/drawing/2014/main" id="{EAE6CF54-A6F7-E16F-C0E4-9BAFCC7FB5DD}"/>
              </a:ext>
            </a:extLst>
          </p:cNvPr>
          <p:cNvSpPr/>
          <p:nvPr/>
        </p:nvSpPr>
        <p:spPr>
          <a:xfrm>
            <a:off x="3096193" y="5655308"/>
            <a:ext cx="7398433" cy="648320"/>
          </a:xfrm>
          <a:prstGeom prst="rect">
            <a:avLst/>
          </a:prstGeom>
        </p:spPr>
        <p:txBody>
          <a:bodyPr wrap="square">
            <a:spAutoFit/>
          </a:bodyPr>
          <a:lstStyle/>
          <a:p>
            <a:pPr marL="285750" indent="-285750">
              <a:buFont typeface="Wingdings" panose="05000000000000000000" pitchFamily="2" charset="2"/>
              <a:buChar char="Ø"/>
            </a:pPr>
            <a:r>
              <a:rPr lang="en-US" dirty="0"/>
              <a:t>To measure SNR, click Start. The generator is turned on briefly, then off. The results are compared and displayed as meter bars</a:t>
            </a:r>
            <a:endParaRPr lang="en-IN" dirty="0"/>
          </a:p>
        </p:txBody>
      </p:sp>
      <p:pic>
        <p:nvPicPr>
          <p:cNvPr id="7" name="Picture 6">
            <a:extLst>
              <a:ext uri="{FF2B5EF4-FFF2-40B4-BE49-F238E27FC236}">
                <a16:creationId xmlns:a16="http://schemas.microsoft.com/office/drawing/2014/main" id="{6F84FE3E-FFB0-2574-487F-998000EBF29F}"/>
              </a:ext>
            </a:extLst>
          </p:cNvPr>
          <p:cNvPicPr>
            <a:picLocks noChangeAspect="1"/>
          </p:cNvPicPr>
          <p:nvPr/>
        </p:nvPicPr>
        <p:blipFill>
          <a:blip r:embed="rId2"/>
          <a:stretch>
            <a:fillRect/>
          </a:stretch>
        </p:blipFill>
        <p:spPr>
          <a:xfrm>
            <a:off x="544851" y="2898476"/>
            <a:ext cx="2667347" cy="3556462"/>
          </a:xfrm>
          <a:prstGeom prst="rect">
            <a:avLst/>
          </a:prstGeom>
        </p:spPr>
      </p:pic>
      <p:pic>
        <p:nvPicPr>
          <p:cNvPr id="8" name="Picture 7">
            <a:extLst>
              <a:ext uri="{FF2B5EF4-FFF2-40B4-BE49-F238E27FC236}">
                <a16:creationId xmlns:a16="http://schemas.microsoft.com/office/drawing/2014/main" id="{C2F77384-DF8F-F806-3B91-F45C22A52C3A}"/>
              </a:ext>
            </a:extLst>
          </p:cNvPr>
          <p:cNvPicPr>
            <a:picLocks noChangeAspect="1"/>
          </p:cNvPicPr>
          <p:nvPr/>
        </p:nvPicPr>
        <p:blipFill>
          <a:blip r:embed="rId3"/>
          <a:stretch>
            <a:fillRect/>
          </a:stretch>
        </p:blipFill>
        <p:spPr>
          <a:xfrm>
            <a:off x="8683339" y="3166183"/>
            <a:ext cx="3219899" cy="2505425"/>
          </a:xfrm>
          <a:prstGeom prst="rect">
            <a:avLst/>
          </a:prstGeom>
        </p:spPr>
      </p:pic>
      <p:sp>
        <p:nvSpPr>
          <p:cNvPr id="9" name="TextBox 8">
            <a:extLst>
              <a:ext uri="{FF2B5EF4-FFF2-40B4-BE49-F238E27FC236}">
                <a16:creationId xmlns:a16="http://schemas.microsoft.com/office/drawing/2014/main" id="{9A449EB1-75ED-8E45-018F-F6B822134DCB}"/>
              </a:ext>
            </a:extLst>
          </p:cNvPr>
          <p:cNvSpPr txBox="1"/>
          <p:nvPr/>
        </p:nvSpPr>
        <p:spPr>
          <a:xfrm>
            <a:off x="2918000" y="2885515"/>
            <a:ext cx="7375289" cy="369332"/>
          </a:xfrm>
          <a:prstGeom prst="rect">
            <a:avLst/>
          </a:prstGeom>
          <a:noFill/>
        </p:spPr>
        <p:txBody>
          <a:bodyPr wrap="square" rtlCol="0">
            <a:spAutoFit/>
          </a:bodyPr>
          <a:lstStyle/>
          <a:p>
            <a:r>
              <a:rPr lang="en-IN" dirty="0">
                <a:solidFill>
                  <a:srgbClr val="0000FF"/>
                </a:solidFill>
              </a:rPr>
              <a:t>Navigator &gt; Add Measurements &gt; Signal to Noise Ratio &gt; Add &amp; Close</a:t>
            </a:r>
          </a:p>
        </p:txBody>
      </p:sp>
      <p:sp>
        <p:nvSpPr>
          <p:cNvPr id="10" name="Rectangle 9">
            <a:extLst>
              <a:ext uri="{FF2B5EF4-FFF2-40B4-BE49-F238E27FC236}">
                <a16:creationId xmlns:a16="http://schemas.microsoft.com/office/drawing/2014/main" id="{11E6745B-058D-0246-E144-30E0BBC9ACE9}"/>
              </a:ext>
            </a:extLst>
          </p:cNvPr>
          <p:cNvSpPr/>
          <p:nvPr/>
        </p:nvSpPr>
        <p:spPr>
          <a:xfrm>
            <a:off x="667272" y="1439480"/>
            <a:ext cx="10686528" cy="1261884"/>
          </a:xfrm>
          <a:prstGeom prst="rect">
            <a:avLst/>
          </a:prstGeom>
        </p:spPr>
        <p:txBody>
          <a:bodyPr wrap="square">
            <a:spAutoFit/>
          </a:bodyPr>
          <a:lstStyle/>
          <a:p>
            <a:r>
              <a:rPr lang="en-US" sz="1900" dirty="0"/>
              <a:t>Signal to Noise Ratio or SNR gives a single value that indicates how “noisy” an audio device is. Two measurements are actually required: the first measures the DUT output level (usually at either maximum level or at a nominal operating level); the second measures the residual noise in the device. The signal level is divided by the noise level, and the resulting ratio is usually expressed in decibels</a:t>
            </a:r>
            <a:endParaRPr lang="en-IN" sz="1900" dirty="0"/>
          </a:p>
        </p:txBody>
      </p:sp>
    </p:spTree>
    <p:extLst>
      <p:ext uri="{BB962C8B-B14F-4D97-AF65-F5344CB8AC3E}">
        <p14:creationId xmlns:p14="http://schemas.microsoft.com/office/powerpoint/2010/main" val="112071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595FD-3942-226C-0B44-9362E815FF64}"/>
              </a:ext>
            </a:extLst>
          </p:cNvPr>
          <p:cNvSpPr>
            <a:spLocks noGrp="1"/>
          </p:cNvSpPr>
          <p:nvPr>
            <p:ph type="title"/>
          </p:nvPr>
        </p:nvSpPr>
        <p:spPr/>
        <p:txBody>
          <a:bodyPr/>
          <a:lstStyle/>
          <a:p>
            <a:r>
              <a:rPr lang="en-IN" sz="3600" b="1" dirty="0">
                <a:latin typeface="+mj-lt"/>
              </a:rPr>
              <a:t>Crosstalk, Custom</a:t>
            </a:r>
            <a:endParaRPr lang="en-US" dirty="0"/>
          </a:p>
        </p:txBody>
      </p:sp>
      <p:sp>
        <p:nvSpPr>
          <p:cNvPr id="4" name="Slide Number Placeholder 3">
            <a:extLst>
              <a:ext uri="{FF2B5EF4-FFF2-40B4-BE49-F238E27FC236}">
                <a16:creationId xmlns:a16="http://schemas.microsoft.com/office/drawing/2014/main" id="{298D65AB-8F65-D8CB-61A3-E143127D4075}"/>
              </a:ext>
            </a:extLst>
          </p:cNvPr>
          <p:cNvSpPr>
            <a:spLocks noGrp="1"/>
          </p:cNvSpPr>
          <p:nvPr>
            <p:ph type="sldNum" sz="quarter" idx="12"/>
          </p:nvPr>
        </p:nvSpPr>
        <p:spPr/>
        <p:txBody>
          <a:bodyPr/>
          <a:lstStyle/>
          <a:p>
            <a:fld id="{83735547-B499-4273-BF07-F756EAEC2F73}" type="slidenum">
              <a:rPr lang="en-IN" smtClean="0"/>
              <a:pPr/>
              <a:t>24</a:t>
            </a:fld>
            <a:endParaRPr lang="en-IN" dirty="0"/>
          </a:p>
        </p:txBody>
      </p:sp>
      <p:pic>
        <p:nvPicPr>
          <p:cNvPr id="5" name="Picture 4">
            <a:extLst>
              <a:ext uri="{FF2B5EF4-FFF2-40B4-BE49-F238E27FC236}">
                <a16:creationId xmlns:a16="http://schemas.microsoft.com/office/drawing/2014/main" id="{84E4B38C-DB49-E1C5-C540-7EF6B333D06D}"/>
              </a:ext>
            </a:extLst>
          </p:cNvPr>
          <p:cNvPicPr>
            <a:picLocks noChangeAspect="1"/>
          </p:cNvPicPr>
          <p:nvPr/>
        </p:nvPicPr>
        <p:blipFill>
          <a:blip r:embed="rId2"/>
          <a:stretch>
            <a:fillRect/>
          </a:stretch>
        </p:blipFill>
        <p:spPr>
          <a:xfrm>
            <a:off x="247113" y="2896139"/>
            <a:ext cx="2798011" cy="3781554"/>
          </a:xfrm>
          <a:prstGeom prst="rect">
            <a:avLst/>
          </a:prstGeom>
        </p:spPr>
      </p:pic>
      <p:sp>
        <p:nvSpPr>
          <p:cNvPr id="6" name="Rectangle 5">
            <a:extLst>
              <a:ext uri="{FF2B5EF4-FFF2-40B4-BE49-F238E27FC236}">
                <a16:creationId xmlns:a16="http://schemas.microsoft.com/office/drawing/2014/main" id="{E4CA9D11-2985-A6FD-BCEB-9BAD1904A747}"/>
              </a:ext>
            </a:extLst>
          </p:cNvPr>
          <p:cNvSpPr/>
          <p:nvPr/>
        </p:nvSpPr>
        <p:spPr>
          <a:xfrm>
            <a:off x="3045124" y="4195028"/>
            <a:ext cx="4768015" cy="2062103"/>
          </a:xfrm>
          <a:prstGeom prst="rect">
            <a:avLst/>
          </a:prstGeom>
        </p:spPr>
        <p:txBody>
          <a:bodyPr wrap="square">
            <a:spAutoFit/>
          </a:bodyPr>
          <a:lstStyle/>
          <a:p>
            <a:pPr marL="285750" indent="-285750">
              <a:buFont typeface="Wingdings" panose="05000000000000000000" pitchFamily="2" charset="2"/>
              <a:buChar char="Ø"/>
            </a:pPr>
            <a:r>
              <a:rPr lang="en-US" sz="1600" dirty="0"/>
              <a:t>Crosstalk is unwanted leakage or bleed of a signal from one or more channels to other channels within a device. The Crosstalk, Custom measurement result provides a measurement of the crosstalk into one undriven DUT channel, while the other channels are driven. For this measurement, the user must manually turn OFF or interrupt the signal to the undriven channel.</a:t>
            </a:r>
            <a:endParaRPr lang="en-IN" sz="1600" dirty="0"/>
          </a:p>
        </p:txBody>
      </p:sp>
      <p:pic>
        <p:nvPicPr>
          <p:cNvPr id="7" name="Picture 6">
            <a:extLst>
              <a:ext uri="{FF2B5EF4-FFF2-40B4-BE49-F238E27FC236}">
                <a16:creationId xmlns:a16="http://schemas.microsoft.com/office/drawing/2014/main" id="{E947850B-44B4-D54D-8E3D-C3F7DA51F6DF}"/>
              </a:ext>
            </a:extLst>
          </p:cNvPr>
          <p:cNvPicPr>
            <a:picLocks noChangeAspect="1"/>
          </p:cNvPicPr>
          <p:nvPr/>
        </p:nvPicPr>
        <p:blipFill>
          <a:blip r:embed="rId3"/>
          <a:stretch>
            <a:fillRect/>
          </a:stretch>
        </p:blipFill>
        <p:spPr>
          <a:xfrm>
            <a:off x="7858582" y="3796892"/>
            <a:ext cx="3867690" cy="2924583"/>
          </a:xfrm>
          <a:prstGeom prst="rect">
            <a:avLst/>
          </a:prstGeom>
        </p:spPr>
      </p:pic>
      <p:sp>
        <p:nvSpPr>
          <p:cNvPr id="8" name="TextBox 7">
            <a:extLst>
              <a:ext uri="{FF2B5EF4-FFF2-40B4-BE49-F238E27FC236}">
                <a16:creationId xmlns:a16="http://schemas.microsoft.com/office/drawing/2014/main" id="{E0CB00B9-351E-1DB8-050B-659BCCD7D92D}"/>
              </a:ext>
            </a:extLst>
          </p:cNvPr>
          <p:cNvSpPr txBox="1"/>
          <p:nvPr/>
        </p:nvSpPr>
        <p:spPr>
          <a:xfrm>
            <a:off x="3201021" y="3360918"/>
            <a:ext cx="6401624" cy="369332"/>
          </a:xfrm>
          <a:prstGeom prst="rect">
            <a:avLst/>
          </a:prstGeom>
          <a:noFill/>
        </p:spPr>
        <p:txBody>
          <a:bodyPr wrap="none" rtlCol="0">
            <a:spAutoFit/>
          </a:bodyPr>
          <a:lstStyle/>
          <a:p>
            <a:r>
              <a:rPr lang="en-IN" dirty="0">
                <a:solidFill>
                  <a:srgbClr val="0000FF"/>
                </a:solidFill>
              </a:rPr>
              <a:t>Navigator &gt; Add Measurements &gt; Crosstalk, Custom &gt; Add &amp; Close</a:t>
            </a:r>
          </a:p>
        </p:txBody>
      </p:sp>
      <p:sp>
        <p:nvSpPr>
          <p:cNvPr id="9" name="Rectangle 8">
            <a:extLst>
              <a:ext uri="{FF2B5EF4-FFF2-40B4-BE49-F238E27FC236}">
                <a16:creationId xmlns:a16="http://schemas.microsoft.com/office/drawing/2014/main" id="{C4720BC8-6F43-AA48-1DDD-4CE2A40F5AE3}"/>
              </a:ext>
            </a:extLst>
          </p:cNvPr>
          <p:cNvSpPr/>
          <p:nvPr/>
        </p:nvSpPr>
        <p:spPr>
          <a:xfrm>
            <a:off x="778436" y="1669515"/>
            <a:ext cx="9802897" cy="1015663"/>
          </a:xfrm>
          <a:prstGeom prst="rect">
            <a:avLst/>
          </a:prstGeom>
        </p:spPr>
        <p:txBody>
          <a:bodyPr wrap="square">
            <a:spAutoFit/>
          </a:bodyPr>
          <a:lstStyle/>
          <a:p>
            <a:r>
              <a:rPr lang="en-US" sz="2000" dirty="0"/>
              <a:t>Crosstalk is an expression of the degree of signal leakage between DUT channels. Ideally, none of the signal in one channel will appear in a second channel, but in practical devices there is always measurable crosstalk. Crosstalk often varies with frequency.</a:t>
            </a:r>
            <a:endParaRPr lang="en-IN" sz="2000" dirty="0"/>
          </a:p>
        </p:txBody>
      </p:sp>
    </p:spTree>
    <p:extLst>
      <p:ext uri="{BB962C8B-B14F-4D97-AF65-F5344CB8AC3E}">
        <p14:creationId xmlns:p14="http://schemas.microsoft.com/office/powerpoint/2010/main" val="2248353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7E408-B67B-2341-0115-EAC5C7C2AE9F}"/>
              </a:ext>
            </a:extLst>
          </p:cNvPr>
          <p:cNvSpPr>
            <a:spLocks noGrp="1"/>
          </p:cNvSpPr>
          <p:nvPr>
            <p:ph type="title"/>
          </p:nvPr>
        </p:nvSpPr>
        <p:spPr/>
        <p:txBody>
          <a:bodyPr/>
          <a:lstStyle/>
          <a:p>
            <a:r>
              <a:rPr lang="en-IN" sz="3600" b="1" dirty="0">
                <a:latin typeface="+mj-lt"/>
              </a:rPr>
              <a:t>Interchannel</a:t>
            </a:r>
            <a:r>
              <a:rPr lang="en-IN" sz="4400" dirty="0"/>
              <a:t> </a:t>
            </a:r>
            <a:r>
              <a:rPr lang="en-IN" sz="3600" b="1" dirty="0">
                <a:latin typeface="+mj-lt"/>
              </a:rPr>
              <a:t>Phase</a:t>
            </a:r>
            <a:endParaRPr lang="en-US" dirty="0"/>
          </a:p>
        </p:txBody>
      </p:sp>
      <p:sp>
        <p:nvSpPr>
          <p:cNvPr id="4" name="Slide Number Placeholder 3">
            <a:extLst>
              <a:ext uri="{FF2B5EF4-FFF2-40B4-BE49-F238E27FC236}">
                <a16:creationId xmlns:a16="http://schemas.microsoft.com/office/drawing/2014/main" id="{A995291B-4DA0-3378-A594-FCC353EE62DE}"/>
              </a:ext>
            </a:extLst>
          </p:cNvPr>
          <p:cNvSpPr>
            <a:spLocks noGrp="1"/>
          </p:cNvSpPr>
          <p:nvPr>
            <p:ph type="sldNum" sz="quarter" idx="12"/>
          </p:nvPr>
        </p:nvSpPr>
        <p:spPr/>
        <p:txBody>
          <a:bodyPr/>
          <a:lstStyle/>
          <a:p>
            <a:fld id="{83735547-B499-4273-BF07-F756EAEC2F73}" type="slidenum">
              <a:rPr lang="en-IN" smtClean="0"/>
              <a:pPr/>
              <a:t>25</a:t>
            </a:fld>
            <a:endParaRPr lang="en-IN" dirty="0"/>
          </a:p>
        </p:txBody>
      </p:sp>
      <p:sp>
        <p:nvSpPr>
          <p:cNvPr id="5" name="Rectangle 4">
            <a:extLst>
              <a:ext uri="{FF2B5EF4-FFF2-40B4-BE49-F238E27FC236}">
                <a16:creationId xmlns:a16="http://schemas.microsoft.com/office/drawing/2014/main" id="{1EE99592-E5FC-8452-0080-068067EFB056}"/>
              </a:ext>
            </a:extLst>
          </p:cNvPr>
          <p:cNvSpPr/>
          <p:nvPr/>
        </p:nvSpPr>
        <p:spPr>
          <a:xfrm>
            <a:off x="3962803" y="3978098"/>
            <a:ext cx="4237746" cy="2014445"/>
          </a:xfrm>
          <a:prstGeom prst="rect">
            <a:avLst/>
          </a:prstGeom>
        </p:spPr>
        <p:txBody>
          <a:bodyPr wrap="square">
            <a:spAutoFit/>
          </a:bodyPr>
          <a:lstStyle/>
          <a:p>
            <a:pPr marL="285750" indent="-285750">
              <a:buFont typeface="Wingdings" panose="05000000000000000000" pitchFamily="2" charset="2"/>
              <a:buChar char="Ø"/>
            </a:pPr>
            <a:r>
              <a:rPr lang="en-US" dirty="0"/>
              <a:t>The Interchannel Phase measurement provides a single-value result that shows the relative phase of the DUT channels at a single frequency. One channel is chosen as the phase reference channel, and the remaining channels are measured against it.</a:t>
            </a:r>
            <a:endParaRPr lang="en-IN" dirty="0"/>
          </a:p>
        </p:txBody>
      </p:sp>
      <p:pic>
        <p:nvPicPr>
          <p:cNvPr id="6" name="Picture 5">
            <a:extLst>
              <a:ext uri="{FF2B5EF4-FFF2-40B4-BE49-F238E27FC236}">
                <a16:creationId xmlns:a16="http://schemas.microsoft.com/office/drawing/2014/main" id="{7F42224B-71A9-209C-65E6-06FEE1E19789}"/>
              </a:ext>
            </a:extLst>
          </p:cNvPr>
          <p:cNvPicPr>
            <a:picLocks noChangeAspect="1"/>
          </p:cNvPicPr>
          <p:nvPr/>
        </p:nvPicPr>
        <p:blipFill>
          <a:blip r:embed="rId2"/>
          <a:stretch>
            <a:fillRect/>
          </a:stretch>
        </p:blipFill>
        <p:spPr>
          <a:xfrm>
            <a:off x="8325569" y="3768113"/>
            <a:ext cx="3648584" cy="3029373"/>
          </a:xfrm>
          <a:prstGeom prst="rect">
            <a:avLst/>
          </a:prstGeom>
        </p:spPr>
      </p:pic>
      <p:pic>
        <p:nvPicPr>
          <p:cNvPr id="7" name="Picture 6">
            <a:extLst>
              <a:ext uri="{FF2B5EF4-FFF2-40B4-BE49-F238E27FC236}">
                <a16:creationId xmlns:a16="http://schemas.microsoft.com/office/drawing/2014/main" id="{A551747C-FEF7-08F3-BA07-924446430CB0}"/>
              </a:ext>
            </a:extLst>
          </p:cNvPr>
          <p:cNvPicPr>
            <a:picLocks noChangeAspect="1"/>
          </p:cNvPicPr>
          <p:nvPr/>
        </p:nvPicPr>
        <p:blipFill>
          <a:blip r:embed="rId3"/>
          <a:stretch>
            <a:fillRect/>
          </a:stretch>
        </p:blipFill>
        <p:spPr>
          <a:xfrm>
            <a:off x="514272" y="2592014"/>
            <a:ext cx="3448531" cy="3972479"/>
          </a:xfrm>
          <a:prstGeom prst="rect">
            <a:avLst/>
          </a:prstGeom>
        </p:spPr>
      </p:pic>
      <p:sp>
        <p:nvSpPr>
          <p:cNvPr id="8" name="TextBox 7">
            <a:extLst>
              <a:ext uri="{FF2B5EF4-FFF2-40B4-BE49-F238E27FC236}">
                <a16:creationId xmlns:a16="http://schemas.microsoft.com/office/drawing/2014/main" id="{D6734168-A30B-40E4-2454-ADE8DC96646A}"/>
              </a:ext>
            </a:extLst>
          </p:cNvPr>
          <p:cNvSpPr txBox="1"/>
          <p:nvPr/>
        </p:nvSpPr>
        <p:spPr>
          <a:xfrm>
            <a:off x="4150435" y="3111453"/>
            <a:ext cx="7234994" cy="400110"/>
          </a:xfrm>
          <a:prstGeom prst="rect">
            <a:avLst/>
          </a:prstGeom>
          <a:noFill/>
        </p:spPr>
        <p:txBody>
          <a:bodyPr wrap="none" rtlCol="0">
            <a:spAutoFit/>
          </a:bodyPr>
          <a:lstStyle/>
          <a:p>
            <a:r>
              <a:rPr lang="en-IN" sz="2000" dirty="0">
                <a:solidFill>
                  <a:srgbClr val="0000FF"/>
                </a:solidFill>
              </a:rPr>
              <a:t>Navigator &gt; Add Measurements &gt; Interchannel Phase &gt; Add &amp; Close</a:t>
            </a:r>
          </a:p>
        </p:txBody>
      </p:sp>
      <p:sp>
        <p:nvSpPr>
          <p:cNvPr id="9" name="Rectangle 8">
            <a:extLst>
              <a:ext uri="{FF2B5EF4-FFF2-40B4-BE49-F238E27FC236}">
                <a16:creationId xmlns:a16="http://schemas.microsoft.com/office/drawing/2014/main" id="{65F75D69-15AB-EE3D-6019-6BFCE96A2184}"/>
              </a:ext>
            </a:extLst>
          </p:cNvPr>
          <p:cNvSpPr/>
          <p:nvPr/>
        </p:nvSpPr>
        <p:spPr>
          <a:xfrm>
            <a:off x="676235" y="1500340"/>
            <a:ext cx="10839529" cy="1015663"/>
          </a:xfrm>
          <a:prstGeom prst="rect">
            <a:avLst/>
          </a:prstGeom>
        </p:spPr>
        <p:txBody>
          <a:bodyPr wrap="square">
            <a:spAutoFit/>
          </a:bodyPr>
          <a:lstStyle/>
          <a:p>
            <a:r>
              <a:rPr lang="en-US" sz="2000" dirty="0"/>
              <a:t>Phase is a measure of the lagging or leading of an alternating current waveform with regards to a reference waveform. Interchannel phase measures the phase relationships between channels in a multichannel device. One channel is chosen as the reference</a:t>
            </a:r>
            <a:endParaRPr lang="en-IN" sz="2000" dirty="0"/>
          </a:p>
        </p:txBody>
      </p:sp>
    </p:spTree>
    <p:extLst>
      <p:ext uri="{BB962C8B-B14F-4D97-AF65-F5344CB8AC3E}">
        <p14:creationId xmlns:p14="http://schemas.microsoft.com/office/powerpoint/2010/main" val="2695150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3C016-4CFB-97C4-65F1-0292E95DC6B6}"/>
              </a:ext>
            </a:extLst>
          </p:cNvPr>
          <p:cNvSpPr>
            <a:spLocks noGrp="1"/>
          </p:cNvSpPr>
          <p:nvPr>
            <p:ph type="title"/>
          </p:nvPr>
        </p:nvSpPr>
        <p:spPr/>
        <p:txBody>
          <a:bodyPr/>
          <a:lstStyle/>
          <a:p>
            <a:r>
              <a:rPr lang="en-US" sz="3600" b="1" dirty="0">
                <a:latin typeface="+mj-lt"/>
              </a:rPr>
              <a:t>Measurement Recorder</a:t>
            </a:r>
            <a:endParaRPr lang="en-US" dirty="0"/>
          </a:p>
        </p:txBody>
      </p:sp>
      <p:sp>
        <p:nvSpPr>
          <p:cNvPr id="4" name="Slide Number Placeholder 3">
            <a:extLst>
              <a:ext uri="{FF2B5EF4-FFF2-40B4-BE49-F238E27FC236}">
                <a16:creationId xmlns:a16="http://schemas.microsoft.com/office/drawing/2014/main" id="{F53474DE-3317-72DF-4DD4-AE3BDF51D4F7}"/>
              </a:ext>
            </a:extLst>
          </p:cNvPr>
          <p:cNvSpPr>
            <a:spLocks noGrp="1"/>
          </p:cNvSpPr>
          <p:nvPr>
            <p:ph type="sldNum" sz="quarter" idx="12"/>
          </p:nvPr>
        </p:nvSpPr>
        <p:spPr/>
        <p:txBody>
          <a:bodyPr/>
          <a:lstStyle/>
          <a:p>
            <a:fld id="{83735547-B499-4273-BF07-F756EAEC2F73}" type="slidenum">
              <a:rPr lang="en-IN" smtClean="0"/>
              <a:pPr/>
              <a:t>26</a:t>
            </a:fld>
            <a:endParaRPr lang="en-IN" dirty="0"/>
          </a:p>
        </p:txBody>
      </p:sp>
      <p:sp>
        <p:nvSpPr>
          <p:cNvPr id="5" name="Rectangle 4">
            <a:extLst>
              <a:ext uri="{FF2B5EF4-FFF2-40B4-BE49-F238E27FC236}">
                <a16:creationId xmlns:a16="http://schemas.microsoft.com/office/drawing/2014/main" id="{40133734-9C4C-DA68-9278-8F9FAC7AAE08}"/>
              </a:ext>
            </a:extLst>
          </p:cNvPr>
          <p:cNvSpPr/>
          <p:nvPr/>
        </p:nvSpPr>
        <p:spPr>
          <a:xfrm>
            <a:off x="3811573" y="2044500"/>
            <a:ext cx="7576630" cy="2031325"/>
          </a:xfrm>
          <a:prstGeom prst="rect">
            <a:avLst/>
          </a:prstGeom>
        </p:spPr>
        <p:txBody>
          <a:bodyPr wrap="square">
            <a:spAutoFit/>
          </a:bodyPr>
          <a:lstStyle/>
          <a:p>
            <a:pPr marL="342900" indent="-342900">
              <a:buFont typeface="Wingdings" panose="05000000000000000000" pitchFamily="2" charset="2"/>
              <a:buChar char="Ø"/>
            </a:pPr>
            <a:r>
              <a:rPr lang="en-US" dirty="0"/>
              <a:t>The Measurement Recorder is a general-purpose diagnostic tool that provides a record of a number of measurements versus elapsed time.</a:t>
            </a:r>
          </a:p>
          <a:p>
            <a:pPr marL="342900" indent="-342900">
              <a:buFont typeface="Wingdings" panose="05000000000000000000" pitchFamily="2" charset="2"/>
              <a:buChar char="Ø"/>
            </a:pPr>
            <a:r>
              <a:rPr lang="en-US" dirty="0"/>
              <a:t>The record can be very long (up to one week), providing a means of monitoring the output of a device under test over an extended period of time.</a:t>
            </a:r>
          </a:p>
          <a:p>
            <a:pPr marL="342900" indent="-342900">
              <a:buFont typeface="Wingdings" panose="05000000000000000000" pitchFamily="2" charset="2"/>
              <a:buChar char="Ø"/>
            </a:pPr>
            <a:r>
              <a:rPr lang="en-US" dirty="0"/>
              <a:t>The Measurement Recorder does not require a specific test signal. It can be used with any audio signal within the input range of the analyzer</a:t>
            </a:r>
            <a:endParaRPr lang="en-IN" dirty="0"/>
          </a:p>
        </p:txBody>
      </p:sp>
      <p:pic>
        <p:nvPicPr>
          <p:cNvPr id="6" name="Picture 5">
            <a:extLst>
              <a:ext uri="{FF2B5EF4-FFF2-40B4-BE49-F238E27FC236}">
                <a16:creationId xmlns:a16="http://schemas.microsoft.com/office/drawing/2014/main" id="{A26F6AC5-8758-2A56-0D12-01BAF81D5E35}"/>
              </a:ext>
            </a:extLst>
          </p:cNvPr>
          <p:cNvPicPr>
            <a:picLocks noChangeAspect="1"/>
          </p:cNvPicPr>
          <p:nvPr/>
        </p:nvPicPr>
        <p:blipFill>
          <a:blip r:embed="rId2"/>
          <a:stretch>
            <a:fillRect/>
          </a:stretch>
        </p:blipFill>
        <p:spPr>
          <a:xfrm>
            <a:off x="682720" y="1478809"/>
            <a:ext cx="2713449" cy="5041422"/>
          </a:xfrm>
          <a:prstGeom prst="rect">
            <a:avLst/>
          </a:prstGeom>
        </p:spPr>
      </p:pic>
      <p:sp>
        <p:nvSpPr>
          <p:cNvPr id="7" name="Rectangle 6">
            <a:extLst>
              <a:ext uri="{FF2B5EF4-FFF2-40B4-BE49-F238E27FC236}">
                <a16:creationId xmlns:a16="http://schemas.microsoft.com/office/drawing/2014/main" id="{8256FFEA-D307-CE15-6889-973CE1BCF914}"/>
              </a:ext>
            </a:extLst>
          </p:cNvPr>
          <p:cNvSpPr/>
          <p:nvPr/>
        </p:nvSpPr>
        <p:spPr>
          <a:xfrm>
            <a:off x="3777170" y="1675168"/>
            <a:ext cx="7645437" cy="369332"/>
          </a:xfrm>
          <a:prstGeom prst="rect">
            <a:avLst/>
          </a:prstGeom>
        </p:spPr>
        <p:txBody>
          <a:bodyPr wrap="square">
            <a:spAutoFit/>
          </a:bodyPr>
          <a:lstStyle/>
          <a:p>
            <a:r>
              <a:rPr lang="en-IN" dirty="0">
                <a:solidFill>
                  <a:srgbClr val="0000FF"/>
                </a:solidFill>
              </a:rPr>
              <a:t>Navigator &gt; Add Measurements &gt; Measurement Recorder &gt; Add &amp; Close</a:t>
            </a:r>
          </a:p>
        </p:txBody>
      </p:sp>
      <p:sp>
        <p:nvSpPr>
          <p:cNvPr id="8" name="Rectangle 7">
            <a:extLst>
              <a:ext uri="{FF2B5EF4-FFF2-40B4-BE49-F238E27FC236}">
                <a16:creationId xmlns:a16="http://schemas.microsoft.com/office/drawing/2014/main" id="{7ED5C61A-BB44-A6BF-22DC-B80E3107A82A}"/>
              </a:ext>
            </a:extLst>
          </p:cNvPr>
          <p:cNvSpPr/>
          <p:nvPr/>
        </p:nvSpPr>
        <p:spPr>
          <a:xfrm>
            <a:off x="4548176" y="4777725"/>
            <a:ext cx="1391987" cy="1754326"/>
          </a:xfrm>
          <a:prstGeom prst="rect">
            <a:avLst/>
          </a:prstGeom>
        </p:spPr>
        <p:txBody>
          <a:bodyPr wrap="square">
            <a:spAutoFit/>
          </a:bodyPr>
          <a:lstStyle/>
          <a:p>
            <a:r>
              <a:rPr lang="en-IN" dirty="0"/>
              <a:t>RMS Level</a:t>
            </a:r>
          </a:p>
          <a:p>
            <a:r>
              <a:rPr lang="en-IN" dirty="0"/>
              <a:t>Frequency</a:t>
            </a:r>
          </a:p>
          <a:p>
            <a:r>
              <a:rPr lang="en-IN" dirty="0"/>
              <a:t>Gain</a:t>
            </a:r>
          </a:p>
          <a:p>
            <a:r>
              <a:rPr lang="en-IN" dirty="0"/>
              <a:t>Phase</a:t>
            </a:r>
          </a:p>
          <a:p>
            <a:r>
              <a:rPr lang="en-IN" dirty="0"/>
              <a:t>DC Level </a:t>
            </a:r>
          </a:p>
          <a:p>
            <a:r>
              <a:rPr lang="en-IN" dirty="0"/>
              <a:t>SINAD </a:t>
            </a:r>
          </a:p>
        </p:txBody>
      </p:sp>
      <p:sp>
        <p:nvSpPr>
          <p:cNvPr id="9" name="Rectangle 8">
            <a:extLst>
              <a:ext uri="{FF2B5EF4-FFF2-40B4-BE49-F238E27FC236}">
                <a16:creationId xmlns:a16="http://schemas.microsoft.com/office/drawing/2014/main" id="{721107EB-35C7-3983-E1DD-0A36CA06C839}"/>
              </a:ext>
            </a:extLst>
          </p:cNvPr>
          <p:cNvSpPr/>
          <p:nvPr/>
        </p:nvSpPr>
        <p:spPr>
          <a:xfrm>
            <a:off x="6505607" y="4826675"/>
            <a:ext cx="2014181" cy="2031325"/>
          </a:xfrm>
          <a:prstGeom prst="rect">
            <a:avLst/>
          </a:prstGeom>
        </p:spPr>
        <p:txBody>
          <a:bodyPr wrap="square">
            <a:spAutoFit/>
          </a:bodyPr>
          <a:lstStyle/>
          <a:p>
            <a:r>
              <a:rPr lang="en-IN" dirty="0"/>
              <a:t>THD Ratio</a:t>
            </a:r>
          </a:p>
          <a:p>
            <a:r>
              <a:rPr lang="en-IN" dirty="0"/>
              <a:t>THD Level </a:t>
            </a:r>
          </a:p>
          <a:p>
            <a:r>
              <a:rPr lang="en-IN" dirty="0"/>
              <a:t>Peak Level </a:t>
            </a:r>
          </a:p>
          <a:p>
            <a:r>
              <a:rPr lang="en-IN" dirty="0"/>
              <a:t>Bandpass Level </a:t>
            </a:r>
          </a:p>
          <a:p>
            <a:r>
              <a:rPr lang="en-IN" dirty="0"/>
              <a:t>THD+N Ratio </a:t>
            </a:r>
          </a:p>
          <a:p>
            <a:r>
              <a:rPr lang="en-IN" dirty="0"/>
              <a:t>THD+N Level</a:t>
            </a:r>
          </a:p>
          <a:p>
            <a:r>
              <a:rPr lang="en-IN" dirty="0"/>
              <a:t> </a:t>
            </a:r>
          </a:p>
        </p:txBody>
      </p:sp>
      <p:sp>
        <p:nvSpPr>
          <p:cNvPr id="10" name="Rectangle 9">
            <a:extLst>
              <a:ext uri="{FF2B5EF4-FFF2-40B4-BE49-F238E27FC236}">
                <a16:creationId xmlns:a16="http://schemas.microsoft.com/office/drawing/2014/main" id="{6B2577BC-1F1F-1EC2-FF80-C5E2D75C026D}"/>
              </a:ext>
            </a:extLst>
          </p:cNvPr>
          <p:cNvSpPr/>
          <p:nvPr/>
        </p:nvSpPr>
        <p:spPr>
          <a:xfrm>
            <a:off x="3933237" y="4158326"/>
            <a:ext cx="7333301" cy="369332"/>
          </a:xfrm>
          <a:prstGeom prst="rect">
            <a:avLst/>
          </a:prstGeom>
        </p:spPr>
        <p:txBody>
          <a:bodyPr wrap="square">
            <a:spAutoFit/>
          </a:bodyPr>
          <a:lstStyle/>
          <a:p>
            <a:r>
              <a:rPr lang="en-US" b="1" dirty="0"/>
              <a:t>Measurement Recorder results available in APx500 are:</a:t>
            </a:r>
            <a:endParaRPr lang="en-IN" b="1" dirty="0"/>
          </a:p>
        </p:txBody>
      </p:sp>
    </p:spTree>
    <p:extLst>
      <p:ext uri="{BB962C8B-B14F-4D97-AF65-F5344CB8AC3E}">
        <p14:creationId xmlns:p14="http://schemas.microsoft.com/office/powerpoint/2010/main" val="24332132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24665-E525-4F78-5F4A-9604A79659E6}"/>
              </a:ext>
            </a:extLst>
          </p:cNvPr>
          <p:cNvSpPr>
            <a:spLocks noGrp="1"/>
          </p:cNvSpPr>
          <p:nvPr>
            <p:ph type="title"/>
          </p:nvPr>
        </p:nvSpPr>
        <p:spPr/>
        <p:txBody>
          <a:bodyPr/>
          <a:lstStyle/>
          <a:p>
            <a:r>
              <a:rPr lang="en-US" sz="3600" b="1" dirty="0">
                <a:latin typeface="+mj-lt"/>
              </a:rPr>
              <a:t>Signal Analyzer</a:t>
            </a:r>
          </a:p>
        </p:txBody>
      </p:sp>
      <p:sp>
        <p:nvSpPr>
          <p:cNvPr id="4" name="Slide Number Placeholder 3">
            <a:extLst>
              <a:ext uri="{FF2B5EF4-FFF2-40B4-BE49-F238E27FC236}">
                <a16:creationId xmlns:a16="http://schemas.microsoft.com/office/drawing/2014/main" id="{50514984-50CE-B9BE-6AA4-EBF69C03A57D}"/>
              </a:ext>
            </a:extLst>
          </p:cNvPr>
          <p:cNvSpPr>
            <a:spLocks noGrp="1"/>
          </p:cNvSpPr>
          <p:nvPr>
            <p:ph type="sldNum" sz="quarter" idx="12"/>
          </p:nvPr>
        </p:nvSpPr>
        <p:spPr/>
        <p:txBody>
          <a:bodyPr/>
          <a:lstStyle/>
          <a:p>
            <a:fld id="{83735547-B499-4273-BF07-F756EAEC2F73}" type="slidenum">
              <a:rPr lang="en-IN" smtClean="0"/>
              <a:pPr/>
              <a:t>27</a:t>
            </a:fld>
            <a:endParaRPr lang="en-IN" dirty="0"/>
          </a:p>
        </p:txBody>
      </p:sp>
      <p:pic>
        <p:nvPicPr>
          <p:cNvPr id="6" name="Picture 5">
            <a:extLst>
              <a:ext uri="{FF2B5EF4-FFF2-40B4-BE49-F238E27FC236}">
                <a16:creationId xmlns:a16="http://schemas.microsoft.com/office/drawing/2014/main" id="{7A1D50FF-C183-8E99-5203-BBC945490D81}"/>
              </a:ext>
            </a:extLst>
          </p:cNvPr>
          <p:cNvPicPr>
            <a:picLocks noChangeAspect="1"/>
          </p:cNvPicPr>
          <p:nvPr/>
        </p:nvPicPr>
        <p:blipFill>
          <a:blip r:embed="rId2"/>
          <a:stretch>
            <a:fillRect/>
          </a:stretch>
        </p:blipFill>
        <p:spPr>
          <a:xfrm>
            <a:off x="451060" y="1444632"/>
            <a:ext cx="2394081" cy="5413368"/>
          </a:xfrm>
          <a:prstGeom prst="rect">
            <a:avLst/>
          </a:prstGeom>
        </p:spPr>
      </p:pic>
      <p:sp>
        <p:nvSpPr>
          <p:cNvPr id="8" name="TextBox 7">
            <a:extLst>
              <a:ext uri="{FF2B5EF4-FFF2-40B4-BE49-F238E27FC236}">
                <a16:creationId xmlns:a16="http://schemas.microsoft.com/office/drawing/2014/main" id="{C679D18A-33F9-34D9-86D3-343094EC5516}"/>
              </a:ext>
            </a:extLst>
          </p:cNvPr>
          <p:cNvSpPr txBox="1"/>
          <p:nvPr/>
        </p:nvSpPr>
        <p:spPr>
          <a:xfrm>
            <a:off x="3042248" y="1690688"/>
            <a:ext cx="8474015" cy="369332"/>
          </a:xfrm>
          <a:prstGeom prst="rect">
            <a:avLst/>
          </a:prstGeom>
          <a:noFill/>
        </p:spPr>
        <p:txBody>
          <a:bodyPr wrap="square">
            <a:spAutoFit/>
          </a:bodyPr>
          <a:lstStyle/>
          <a:p>
            <a:r>
              <a:rPr lang="en-IN" dirty="0">
                <a:solidFill>
                  <a:srgbClr val="0000FF"/>
                </a:solidFill>
              </a:rPr>
              <a:t>Navigator &gt; Add Measurements &gt; Signal Analyzer &gt; Add &amp; Close</a:t>
            </a:r>
          </a:p>
        </p:txBody>
      </p:sp>
      <p:sp>
        <p:nvSpPr>
          <p:cNvPr id="10" name="TextBox 9">
            <a:extLst>
              <a:ext uri="{FF2B5EF4-FFF2-40B4-BE49-F238E27FC236}">
                <a16:creationId xmlns:a16="http://schemas.microsoft.com/office/drawing/2014/main" id="{3025E378-AFF8-56D9-8F64-84763C008C07}"/>
              </a:ext>
            </a:extLst>
          </p:cNvPr>
          <p:cNvSpPr txBox="1"/>
          <p:nvPr/>
        </p:nvSpPr>
        <p:spPr>
          <a:xfrm>
            <a:off x="3042248" y="2185254"/>
            <a:ext cx="6107502" cy="4801314"/>
          </a:xfrm>
          <a:prstGeom prst="rect">
            <a:avLst/>
          </a:prstGeom>
          <a:noFill/>
        </p:spPr>
        <p:txBody>
          <a:bodyPr wrap="square">
            <a:spAutoFit/>
          </a:bodyPr>
          <a:lstStyle/>
          <a:p>
            <a:r>
              <a:rPr lang="en-US" dirty="0"/>
              <a:t>The Signal Analyzer is a general-purpose diagnostic tool that provides a time-domain Scope result view, an FFT Spectrum result view and noise density views. </a:t>
            </a:r>
          </a:p>
          <a:p>
            <a:endParaRPr lang="en-US" dirty="0"/>
          </a:p>
          <a:p>
            <a:r>
              <a:rPr lang="en-US" b="1" dirty="0"/>
              <a:t>Signal Analyzer results available in APx500 are:</a:t>
            </a:r>
          </a:p>
          <a:p>
            <a:r>
              <a:rPr lang="en-US" dirty="0"/>
              <a:t>•Scope </a:t>
            </a:r>
          </a:p>
          <a:p>
            <a:r>
              <a:rPr lang="en-US" dirty="0"/>
              <a:t>•Amplitude Spectral Density </a:t>
            </a:r>
          </a:p>
          <a:p>
            <a:r>
              <a:rPr lang="en-US" dirty="0"/>
              <a:t>•FFT Spectrum </a:t>
            </a:r>
          </a:p>
          <a:p>
            <a:r>
              <a:rPr lang="en-US" dirty="0"/>
              <a:t>•Power Spectral Density </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p:txBody>
      </p:sp>
      <p:sp>
        <p:nvSpPr>
          <p:cNvPr id="12" name="TextBox 11">
            <a:extLst>
              <a:ext uri="{FF2B5EF4-FFF2-40B4-BE49-F238E27FC236}">
                <a16:creationId xmlns:a16="http://schemas.microsoft.com/office/drawing/2014/main" id="{FBCCC704-DFB6-3DE4-F437-B946C48BFC7A}"/>
              </a:ext>
            </a:extLst>
          </p:cNvPr>
          <p:cNvSpPr txBox="1"/>
          <p:nvPr/>
        </p:nvSpPr>
        <p:spPr>
          <a:xfrm>
            <a:off x="3042248" y="4938454"/>
            <a:ext cx="6107502" cy="923330"/>
          </a:xfrm>
          <a:prstGeom prst="rect">
            <a:avLst/>
          </a:prstGeom>
          <a:noFill/>
        </p:spPr>
        <p:txBody>
          <a:bodyPr wrap="square">
            <a:spAutoFit/>
          </a:bodyPr>
          <a:lstStyle/>
          <a:p>
            <a:r>
              <a:rPr lang="en-US" dirty="0"/>
              <a:t>The Signal Analyzer is a general purpose diagnostic tool that uses a high-resolution FFT technique to provide several different display results. </a:t>
            </a:r>
          </a:p>
        </p:txBody>
      </p:sp>
    </p:spTree>
    <p:extLst>
      <p:ext uri="{BB962C8B-B14F-4D97-AF65-F5344CB8AC3E}">
        <p14:creationId xmlns:p14="http://schemas.microsoft.com/office/powerpoint/2010/main" val="15790477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165C7-5CD0-23CD-E699-F01833B4210A}"/>
              </a:ext>
            </a:extLst>
          </p:cNvPr>
          <p:cNvSpPr>
            <a:spLocks noGrp="1"/>
          </p:cNvSpPr>
          <p:nvPr>
            <p:ph type="title"/>
          </p:nvPr>
        </p:nvSpPr>
        <p:spPr/>
        <p:txBody>
          <a:bodyPr>
            <a:normAutofit/>
          </a:bodyPr>
          <a:lstStyle/>
          <a:p>
            <a:r>
              <a:rPr lang="en-US" sz="3600" b="1" dirty="0">
                <a:latin typeface="+mj-lt"/>
              </a:rPr>
              <a:t>Save to File</a:t>
            </a:r>
            <a:endParaRPr lang="en-US" sz="3600" dirty="0">
              <a:latin typeface="+mj-lt"/>
            </a:endParaRPr>
          </a:p>
        </p:txBody>
      </p:sp>
      <p:sp>
        <p:nvSpPr>
          <p:cNvPr id="4" name="Slide Number Placeholder 3">
            <a:extLst>
              <a:ext uri="{FF2B5EF4-FFF2-40B4-BE49-F238E27FC236}">
                <a16:creationId xmlns:a16="http://schemas.microsoft.com/office/drawing/2014/main" id="{F273802E-DF5B-AE9E-911F-A134F561B971}"/>
              </a:ext>
            </a:extLst>
          </p:cNvPr>
          <p:cNvSpPr>
            <a:spLocks noGrp="1"/>
          </p:cNvSpPr>
          <p:nvPr>
            <p:ph type="sldNum" sz="quarter" idx="12"/>
          </p:nvPr>
        </p:nvSpPr>
        <p:spPr/>
        <p:txBody>
          <a:bodyPr/>
          <a:lstStyle/>
          <a:p>
            <a:fld id="{83735547-B499-4273-BF07-F756EAEC2F73}" type="slidenum">
              <a:rPr lang="en-IN" smtClean="0"/>
              <a:pPr/>
              <a:t>28</a:t>
            </a:fld>
            <a:endParaRPr lang="en-IN" dirty="0"/>
          </a:p>
        </p:txBody>
      </p:sp>
      <p:sp>
        <p:nvSpPr>
          <p:cNvPr id="5" name="Rectangle 4">
            <a:extLst>
              <a:ext uri="{FF2B5EF4-FFF2-40B4-BE49-F238E27FC236}">
                <a16:creationId xmlns:a16="http://schemas.microsoft.com/office/drawing/2014/main" id="{3BCF91C6-59B7-0489-1996-0D9E509106D7}"/>
              </a:ext>
            </a:extLst>
          </p:cNvPr>
          <p:cNvSpPr/>
          <p:nvPr/>
        </p:nvSpPr>
        <p:spPr>
          <a:xfrm>
            <a:off x="404465" y="1589940"/>
            <a:ext cx="2831737" cy="400110"/>
          </a:xfrm>
          <a:prstGeom prst="rect">
            <a:avLst/>
          </a:prstGeom>
        </p:spPr>
        <p:txBody>
          <a:bodyPr wrap="none">
            <a:spAutoFit/>
          </a:bodyPr>
          <a:lstStyle/>
          <a:p>
            <a:r>
              <a:rPr lang="en-US" sz="2000" b="1" dirty="0"/>
              <a:t>Recording Audio to a File</a:t>
            </a:r>
            <a:endParaRPr lang="en-IN" sz="2000" b="1" dirty="0"/>
          </a:p>
        </p:txBody>
      </p:sp>
      <p:sp>
        <p:nvSpPr>
          <p:cNvPr id="6" name="Rectangle 5">
            <a:extLst>
              <a:ext uri="{FF2B5EF4-FFF2-40B4-BE49-F238E27FC236}">
                <a16:creationId xmlns:a16="http://schemas.microsoft.com/office/drawing/2014/main" id="{D8739191-CBCB-DFA7-6BDE-BDB01CEE3FCE}"/>
              </a:ext>
            </a:extLst>
          </p:cNvPr>
          <p:cNvSpPr/>
          <p:nvPr/>
        </p:nvSpPr>
        <p:spPr>
          <a:xfrm>
            <a:off x="404465" y="2031216"/>
            <a:ext cx="6096000" cy="646331"/>
          </a:xfrm>
          <a:prstGeom prst="rect">
            <a:avLst/>
          </a:prstGeom>
        </p:spPr>
        <p:txBody>
          <a:bodyPr>
            <a:spAutoFit/>
          </a:bodyPr>
          <a:lstStyle/>
          <a:p>
            <a:pPr marL="285750" indent="-285750">
              <a:buFont typeface="Wingdings" panose="05000000000000000000" pitchFamily="2" charset="2"/>
              <a:buChar char="Ø"/>
            </a:pPr>
            <a:r>
              <a:rPr lang="en-US" dirty="0"/>
              <a:t>The Measurement Recorder and the Noise Recorder can optionally record acquired audio to a file on disk</a:t>
            </a:r>
            <a:endParaRPr lang="en-IN" dirty="0"/>
          </a:p>
        </p:txBody>
      </p:sp>
      <p:sp>
        <p:nvSpPr>
          <p:cNvPr id="7" name="Rectangle 6">
            <a:extLst>
              <a:ext uri="{FF2B5EF4-FFF2-40B4-BE49-F238E27FC236}">
                <a16:creationId xmlns:a16="http://schemas.microsoft.com/office/drawing/2014/main" id="{576561CE-822E-DA6A-16D3-307CC55F072F}"/>
              </a:ext>
            </a:extLst>
          </p:cNvPr>
          <p:cNvSpPr/>
          <p:nvPr/>
        </p:nvSpPr>
        <p:spPr>
          <a:xfrm>
            <a:off x="404465" y="2704187"/>
            <a:ext cx="6096000" cy="923330"/>
          </a:xfrm>
          <a:prstGeom prst="rect">
            <a:avLst/>
          </a:prstGeom>
        </p:spPr>
        <p:txBody>
          <a:bodyPr>
            <a:spAutoFit/>
          </a:bodyPr>
          <a:lstStyle/>
          <a:p>
            <a:pPr marL="285750" indent="-285750">
              <a:buFont typeface="Wingdings" panose="05000000000000000000" pitchFamily="2" charset="2"/>
              <a:buChar char="Ø"/>
            </a:pPr>
            <a:r>
              <a:rPr lang="en-US" dirty="0"/>
              <a:t>On the Measurement or Noise Recorder panel, check the Save to File checkbox. Click File Settings to specify the file name, location and file format.</a:t>
            </a:r>
            <a:endParaRPr lang="en-IN" dirty="0"/>
          </a:p>
        </p:txBody>
      </p:sp>
      <p:sp>
        <p:nvSpPr>
          <p:cNvPr id="8" name="Rectangle 7">
            <a:extLst>
              <a:ext uri="{FF2B5EF4-FFF2-40B4-BE49-F238E27FC236}">
                <a16:creationId xmlns:a16="http://schemas.microsoft.com/office/drawing/2014/main" id="{EA8505CF-C776-D1EA-A1CE-734F4EF7E67D}"/>
              </a:ext>
            </a:extLst>
          </p:cNvPr>
          <p:cNvSpPr/>
          <p:nvPr/>
        </p:nvSpPr>
        <p:spPr>
          <a:xfrm>
            <a:off x="473476" y="3872723"/>
            <a:ext cx="3837204" cy="369332"/>
          </a:xfrm>
          <a:prstGeom prst="rect">
            <a:avLst/>
          </a:prstGeom>
        </p:spPr>
        <p:txBody>
          <a:bodyPr wrap="none">
            <a:spAutoFit/>
          </a:bodyPr>
          <a:lstStyle/>
          <a:p>
            <a:r>
              <a:rPr lang="en-IN" b="1" dirty="0"/>
              <a:t>Save Acquisition to File Settings dialog</a:t>
            </a:r>
          </a:p>
        </p:txBody>
      </p:sp>
      <p:pic>
        <p:nvPicPr>
          <p:cNvPr id="9" name="Picture 8">
            <a:extLst>
              <a:ext uri="{FF2B5EF4-FFF2-40B4-BE49-F238E27FC236}">
                <a16:creationId xmlns:a16="http://schemas.microsoft.com/office/drawing/2014/main" id="{18A9DDC9-A0CA-4F0D-BA39-9D8398189785}"/>
              </a:ext>
            </a:extLst>
          </p:cNvPr>
          <p:cNvPicPr>
            <a:picLocks noChangeAspect="1"/>
          </p:cNvPicPr>
          <p:nvPr/>
        </p:nvPicPr>
        <p:blipFill>
          <a:blip r:embed="rId2"/>
          <a:stretch>
            <a:fillRect/>
          </a:stretch>
        </p:blipFill>
        <p:spPr>
          <a:xfrm>
            <a:off x="473476" y="4349451"/>
            <a:ext cx="4448796" cy="2143424"/>
          </a:xfrm>
          <a:prstGeom prst="rect">
            <a:avLst/>
          </a:prstGeom>
        </p:spPr>
      </p:pic>
      <p:sp>
        <p:nvSpPr>
          <p:cNvPr id="10" name="Rectangle 9">
            <a:extLst>
              <a:ext uri="{FF2B5EF4-FFF2-40B4-BE49-F238E27FC236}">
                <a16:creationId xmlns:a16="http://schemas.microsoft.com/office/drawing/2014/main" id="{C7580613-7646-939B-D2B3-DE42CB1C0310}"/>
              </a:ext>
            </a:extLst>
          </p:cNvPr>
          <p:cNvSpPr/>
          <p:nvPr/>
        </p:nvSpPr>
        <p:spPr>
          <a:xfrm>
            <a:off x="6096000" y="2164914"/>
            <a:ext cx="6096000" cy="1477328"/>
          </a:xfrm>
          <a:prstGeom prst="rect">
            <a:avLst/>
          </a:prstGeom>
        </p:spPr>
        <p:txBody>
          <a:bodyPr>
            <a:spAutoFit/>
          </a:bodyPr>
          <a:lstStyle/>
          <a:p>
            <a:r>
              <a:rPr lang="en-US" b="1" dirty="0"/>
              <a:t>Location &gt;</a:t>
            </a:r>
            <a:r>
              <a:rPr lang="en-US" dirty="0"/>
              <a:t>Enter or browse to the destination folder here. Name </a:t>
            </a:r>
            <a:r>
              <a:rPr lang="en-US" b="1" dirty="0"/>
              <a:t>Name      &gt;</a:t>
            </a:r>
            <a:r>
              <a:rPr lang="en-US" dirty="0"/>
              <a:t>Name the output file here. </a:t>
            </a:r>
          </a:p>
          <a:p>
            <a:r>
              <a:rPr lang="en-US" dirty="0"/>
              <a:t>	 Choose from one of these selections: </a:t>
            </a:r>
          </a:p>
          <a:p>
            <a:r>
              <a:rPr lang="en-US" dirty="0"/>
              <a:t>	 •If file exists, replace it </a:t>
            </a:r>
          </a:p>
          <a:p>
            <a:r>
              <a:rPr lang="en-US" dirty="0"/>
              <a:t>	 •If file exists, append timestamp to the file name</a:t>
            </a:r>
            <a:endParaRPr lang="en-IN" dirty="0"/>
          </a:p>
        </p:txBody>
      </p:sp>
      <p:sp>
        <p:nvSpPr>
          <p:cNvPr id="11" name="Rectangle 10">
            <a:extLst>
              <a:ext uri="{FF2B5EF4-FFF2-40B4-BE49-F238E27FC236}">
                <a16:creationId xmlns:a16="http://schemas.microsoft.com/office/drawing/2014/main" id="{48F6C6CB-240E-B965-CABD-127A7BE911B1}"/>
              </a:ext>
            </a:extLst>
          </p:cNvPr>
          <p:cNvSpPr/>
          <p:nvPr/>
        </p:nvSpPr>
        <p:spPr>
          <a:xfrm>
            <a:off x="5153636" y="4536076"/>
            <a:ext cx="6096000" cy="1754326"/>
          </a:xfrm>
          <a:prstGeom prst="rect">
            <a:avLst/>
          </a:prstGeom>
        </p:spPr>
        <p:txBody>
          <a:bodyPr>
            <a:spAutoFit/>
          </a:bodyPr>
          <a:lstStyle/>
          <a:p>
            <a:r>
              <a:rPr lang="en-US" b="1" dirty="0"/>
              <a:t>Format</a:t>
            </a:r>
            <a:r>
              <a:rPr lang="en-US" dirty="0"/>
              <a:t> </a:t>
            </a:r>
            <a:r>
              <a:rPr lang="en-US" b="1" dirty="0"/>
              <a:t>&gt; </a:t>
            </a:r>
            <a:r>
              <a:rPr lang="en-US" dirty="0"/>
              <a:t>Choose the file format in the Format field. For both analog inputs and digital acquisitions, there are three linear file formats available</a:t>
            </a:r>
          </a:p>
          <a:p>
            <a:pPr marL="342900" indent="-342900">
              <a:buAutoNum type="arabicPeriod"/>
            </a:pPr>
            <a:r>
              <a:rPr lang="en-IN" dirty="0"/>
              <a:t>Multiple Mono PCM (.wav)</a:t>
            </a:r>
          </a:p>
          <a:p>
            <a:pPr marL="342900" indent="-342900">
              <a:buAutoNum type="arabicPeriod"/>
            </a:pPr>
            <a:r>
              <a:rPr lang="en-IN" dirty="0"/>
              <a:t>Multi-channel PCM (.wav) </a:t>
            </a:r>
          </a:p>
          <a:p>
            <a:pPr marL="342900" indent="-342900">
              <a:buAutoNum type="arabicPeriod"/>
            </a:pPr>
            <a:r>
              <a:rPr lang="en-IN" dirty="0"/>
              <a:t>Extensible Multi-channel PCM (.wav)</a:t>
            </a:r>
          </a:p>
        </p:txBody>
      </p:sp>
    </p:spTree>
    <p:extLst>
      <p:ext uri="{BB962C8B-B14F-4D97-AF65-F5344CB8AC3E}">
        <p14:creationId xmlns:p14="http://schemas.microsoft.com/office/powerpoint/2010/main" val="11362616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A897C-3568-81B2-5F36-9997B755530E}"/>
              </a:ext>
            </a:extLst>
          </p:cNvPr>
          <p:cNvSpPr>
            <a:spLocks noGrp="1"/>
          </p:cNvSpPr>
          <p:nvPr>
            <p:ph type="title"/>
          </p:nvPr>
        </p:nvSpPr>
        <p:spPr/>
        <p:txBody>
          <a:bodyPr/>
          <a:lstStyle/>
          <a:p>
            <a:endParaRPr lang="en-US" dirty="0"/>
          </a:p>
        </p:txBody>
      </p:sp>
      <p:sp>
        <p:nvSpPr>
          <p:cNvPr id="4" name="Slide Number Placeholder 3">
            <a:extLst>
              <a:ext uri="{FF2B5EF4-FFF2-40B4-BE49-F238E27FC236}">
                <a16:creationId xmlns:a16="http://schemas.microsoft.com/office/drawing/2014/main" id="{3AB227D6-7A9D-5F75-1C4D-C2327B5E12CE}"/>
              </a:ext>
            </a:extLst>
          </p:cNvPr>
          <p:cNvSpPr>
            <a:spLocks noGrp="1"/>
          </p:cNvSpPr>
          <p:nvPr>
            <p:ph type="sldNum" sz="quarter" idx="12"/>
          </p:nvPr>
        </p:nvSpPr>
        <p:spPr/>
        <p:txBody>
          <a:bodyPr/>
          <a:lstStyle/>
          <a:p>
            <a:fld id="{83735547-B499-4273-BF07-F756EAEC2F73}" type="slidenum">
              <a:rPr lang="en-IN" smtClean="0"/>
              <a:pPr/>
              <a:t>29</a:t>
            </a:fld>
            <a:endParaRPr lang="en-IN" dirty="0"/>
          </a:p>
        </p:txBody>
      </p:sp>
      <p:sp>
        <p:nvSpPr>
          <p:cNvPr id="5" name="Rectangle 4">
            <a:extLst>
              <a:ext uri="{FF2B5EF4-FFF2-40B4-BE49-F238E27FC236}">
                <a16:creationId xmlns:a16="http://schemas.microsoft.com/office/drawing/2014/main" id="{5DFD23F4-6A2D-C176-32B8-51BF1B9BC5DA}"/>
              </a:ext>
            </a:extLst>
          </p:cNvPr>
          <p:cNvSpPr/>
          <p:nvPr/>
        </p:nvSpPr>
        <p:spPr>
          <a:xfrm>
            <a:off x="874543" y="2510522"/>
            <a:ext cx="10400182" cy="1477328"/>
          </a:xfrm>
          <a:prstGeom prst="rect">
            <a:avLst/>
          </a:prstGeom>
        </p:spPr>
        <p:txBody>
          <a:bodyPr wrap="square">
            <a:spAutoFit/>
          </a:bodyPr>
          <a:lstStyle/>
          <a:p>
            <a:pPr marL="285750" indent="-285750">
              <a:buFont typeface="Wingdings" panose="05000000000000000000" pitchFamily="2" charset="2"/>
              <a:buChar char="Ø"/>
            </a:pPr>
            <a:r>
              <a:rPr lang="en-US" dirty="0"/>
              <a:t>APx500_Users_Manual.pdf available in APx hardware PC local path @ “D:\APx_7.0\User Documents” or else Please refer following URL for reference </a:t>
            </a:r>
            <a:r>
              <a:rPr lang="en-US" dirty="0">
                <a:hlinkClick r:id="rId2"/>
              </a:rPr>
              <a:t>https://ap.com</a:t>
            </a:r>
            <a:endParaRPr lang="en-US" dirty="0"/>
          </a:p>
          <a:p>
            <a:endParaRPr lang="en-US" dirty="0"/>
          </a:p>
          <a:p>
            <a:pPr marL="285750" indent="-285750">
              <a:buFont typeface="Wingdings" panose="05000000000000000000" pitchFamily="2" charset="2"/>
              <a:buChar char="Ø"/>
            </a:pPr>
            <a:r>
              <a:rPr lang="en-US" dirty="0"/>
              <a:t>Help file (available with installed software)</a:t>
            </a:r>
          </a:p>
          <a:p>
            <a:endParaRPr lang="en-US" dirty="0"/>
          </a:p>
        </p:txBody>
      </p:sp>
      <p:sp>
        <p:nvSpPr>
          <p:cNvPr id="6" name="Rectangle 5">
            <a:extLst>
              <a:ext uri="{FF2B5EF4-FFF2-40B4-BE49-F238E27FC236}">
                <a16:creationId xmlns:a16="http://schemas.microsoft.com/office/drawing/2014/main" id="{80B19442-BFCC-0B40-1743-12A41D540445}"/>
              </a:ext>
            </a:extLst>
          </p:cNvPr>
          <p:cNvSpPr/>
          <p:nvPr/>
        </p:nvSpPr>
        <p:spPr>
          <a:xfrm>
            <a:off x="874542" y="1710813"/>
            <a:ext cx="1920141" cy="523220"/>
          </a:xfrm>
          <a:prstGeom prst="rect">
            <a:avLst/>
          </a:prstGeom>
        </p:spPr>
        <p:txBody>
          <a:bodyPr wrap="none">
            <a:spAutoFit/>
          </a:bodyPr>
          <a:lstStyle/>
          <a:p>
            <a:r>
              <a:rPr lang="en-US" sz="2800" b="1" dirty="0"/>
              <a:t>References:</a:t>
            </a:r>
            <a:endParaRPr lang="en-IN" sz="2800" b="1" dirty="0"/>
          </a:p>
        </p:txBody>
      </p:sp>
      <p:sp>
        <p:nvSpPr>
          <p:cNvPr id="7" name="Rectangle 6">
            <a:extLst>
              <a:ext uri="{FF2B5EF4-FFF2-40B4-BE49-F238E27FC236}">
                <a16:creationId xmlns:a16="http://schemas.microsoft.com/office/drawing/2014/main" id="{B9FB3F03-F031-06E8-62AD-1E0482D15823}"/>
              </a:ext>
            </a:extLst>
          </p:cNvPr>
          <p:cNvSpPr/>
          <p:nvPr/>
        </p:nvSpPr>
        <p:spPr>
          <a:xfrm>
            <a:off x="874542" y="4660793"/>
            <a:ext cx="1476686" cy="523220"/>
          </a:xfrm>
          <a:prstGeom prst="rect">
            <a:avLst/>
          </a:prstGeom>
        </p:spPr>
        <p:txBody>
          <a:bodyPr wrap="none">
            <a:spAutoFit/>
          </a:bodyPr>
          <a:lstStyle/>
          <a:p>
            <a:r>
              <a:rPr lang="en-US" sz="2800" b="1" dirty="0"/>
              <a:t>Support:</a:t>
            </a:r>
            <a:endParaRPr lang="en-IN" sz="2800" b="1" dirty="0"/>
          </a:p>
        </p:txBody>
      </p:sp>
      <p:sp>
        <p:nvSpPr>
          <p:cNvPr id="8" name="Rectangle 7">
            <a:extLst>
              <a:ext uri="{FF2B5EF4-FFF2-40B4-BE49-F238E27FC236}">
                <a16:creationId xmlns:a16="http://schemas.microsoft.com/office/drawing/2014/main" id="{D3DDDAC5-7F67-022E-A934-BA0394D4FC78}"/>
              </a:ext>
            </a:extLst>
          </p:cNvPr>
          <p:cNvSpPr/>
          <p:nvPr/>
        </p:nvSpPr>
        <p:spPr>
          <a:xfrm>
            <a:off x="874541" y="5379543"/>
            <a:ext cx="10331171" cy="369332"/>
          </a:xfrm>
          <a:prstGeom prst="rect">
            <a:avLst/>
          </a:prstGeom>
        </p:spPr>
        <p:txBody>
          <a:bodyPr wrap="square">
            <a:spAutoFit/>
          </a:bodyPr>
          <a:lstStyle/>
          <a:p>
            <a:pPr marL="285750" indent="-285750">
              <a:buFont typeface="Wingdings" panose="05000000000000000000" pitchFamily="2" charset="2"/>
              <a:buChar char="Ø"/>
            </a:pPr>
            <a:r>
              <a:rPr lang="en-US" dirty="0"/>
              <a:t>For APx request and usage support contact </a:t>
            </a:r>
            <a:r>
              <a:rPr lang="en-IN" dirty="0">
                <a:hlinkClick r:id="rId3"/>
              </a:rPr>
              <a:t>apx585audioanalyzer@jasmin-infotech.com</a:t>
            </a:r>
            <a:r>
              <a:rPr lang="en-IN" dirty="0"/>
              <a:t> </a:t>
            </a:r>
          </a:p>
        </p:txBody>
      </p:sp>
    </p:spTree>
    <p:extLst>
      <p:ext uri="{BB962C8B-B14F-4D97-AF65-F5344CB8AC3E}">
        <p14:creationId xmlns:p14="http://schemas.microsoft.com/office/powerpoint/2010/main" val="21405534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76654-A540-9659-5300-51A291C2EC44}"/>
              </a:ext>
            </a:extLst>
          </p:cNvPr>
          <p:cNvSpPr>
            <a:spLocks noGrp="1"/>
          </p:cNvSpPr>
          <p:nvPr>
            <p:ph type="title"/>
          </p:nvPr>
        </p:nvSpPr>
        <p:spPr/>
        <p:txBody>
          <a:bodyPr/>
          <a:lstStyle/>
          <a:p>
            <a:r>
              <a:rPr lang="en-US" dirty="0"/>
              <a:t>Assessment for Afternoon</a:t>
            </a:r>
          </a:p>
        </p:txBody>
      </p:sp>
      <p:sp>
        <p:nvSpPr>
          <p:cNvPr id="3" name="Content Placeholder 2">
            <a:extLst>
              <a:ext uri="{FF2B5EF4-FFF2-40B4-BE49-F238E27FC236}">
                <a16:creationId xmlns:a16="http://schemas.microsoft.com/office/drawing/2014/main" id="{9E2172C1-1630-72B0-6AC1-F498D22F7A8C}"/>
              </a:ext>
            </a:extLst>
          </p:cNvPr>
          <p:cNvSpPr>
            <a:spLocks noGrp="1"/>
          </p:cNvSpPr>
          <p:nvPr>
            <p:ph idx="1"/>
          </p:nvPr>
        </p:nvSpPr>
        <p:spPr/>
        <p:txBody>
          <a:bodyPr/>
          <a:lstStyle/>
          <a:p>
            <a:r>
              <a:rPr lang="en-US" dirty="0"/>
              <a:t>What are the Six Big measurements?</a:t>
            </a:r>
          </a:p>
          <a:p>
            <a:r>
              <a:rPr lang="en-US" dirty="0"/>
              <a:t>Which measurement tool is used for measuring latency of the signal?</a:t>
            </a:r>
          </a:p>
          <a:p>
            <a:r>
              <a:rPr lang="en-US" dirty="0"/>
              <a:t>What are the available I/O options?</a:t>
            </a:r>
          </a:p>
          <a:p>
            <a:r>
              <a:rPr lang="en-US" dirty="0"/>
              <a:t>List the supported Audio File formats? Specify with sample frequency?</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173B1F4-BD74-50F1-753A-F6DFA97A28B5}"/>
              </a:ext>
            </a:extLst>
          </p:cNvPr>
          <p:cNvSpPr>
            <a:spLocks noGrp="1"/>
          </p:cNvSpPr>
          <p:nvPr>
            <p:ph type="sldNum" sz="quarter" idx="12"/>
          </p:nvPr>
        </p:nvSpPr>
        <p:spPr/>
        <p:txBody>
          <a:bodyPr/>
          <a:lstStyle/>
          <a:p>
            <a:fld id="{83735547-B499-4273-BF07-F756EAEC2F73}" type="slidenum">
              <a:rPr lang="en-IN" smtClean="0"/>
              <a:pPr/>
              <a:t>30</a:t>
            </a:fld>
            <a:endParaRPr lang="en-IN" dirty="0"/>
          </a:p>
        </p:txBody>
      </p:sp>
    </p:spTree>
    <p:extLst>
      <p:ext uri="{BB962C8B-B14F-4D97-AF65-F5344CB8AC3E}">
        <p14:creationId xmlns:p14="http://schemas.microsoft.com/office/powerpoint/2010/main" val="4189547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D6B04FA2-D65C-4AC9-A51B-F3262145AA72}" vid="{A4B87B1D-70D8-4F01-829C-E812A4D8AF5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3392</TotalTime>
  <Words>2580</Words>
  <Application>Microsoft Office PowerPoint</Application>
  <PresentationFormat>Widescreen</PresentationFormat>
  <Paragraphs>215</Paragraphs>
  <Slides>30</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30</vt:i4>
      </vt:variant>
    </vt:vector>
  </HeadingPairs>
  <TitlesOfParts>
    <vt:vector size="37" baseType="lpstr">
      <vt:lpstr>Arial</vt:lpstr>
      <vt:lpstr>Calibri</vt:lpstr>
      <vt:lpstr>Calibri Light</vt:lpstr>
      <vt:lpstr>Century Gothic</vt:lpstr>
      <vt:lpstr>Wingdings</vt:lpstr>
      <vt:lpstr>Office Theme</vt:lpstr>
      <vt:lpstr>1_Office Theme</vt:lpstr>
      <vt:lpstr>PowerPoint Presentation</vt:lpstr>
      <vt:lpstr>Audio precision Analyzer</vt:lpstr>
      <vt:lpstr>APx500 Measurement Software</vt:lpstr>
      <vt:lpstr>APx500 Measurement Software</vt:lpstr>
      <vt:lpstr>The Measurement Navigator</vt:lpstr>
      <vt:lpstr>Monitors</vt:lpstr>
      <vt:lpstr>The Selector (filmstrip)</vt:lpstr>
      <vt:lpstr>Meters and Bar Graph Displays</vt:lpstr>
      <vt:lpstr>Signal Path Setup</vt:lpstr>
      <vt:lpstr>Output Configuration settings</vt:lpstr>
      <vt:lpstr>Input Configuration settings </vt:lpstr>
      <vt:lpstr>Selecting a Waveform</vt:lpstr>
      <vt:lpstr>The “Big Six” Measurements</vt:lpstr>
      <vt:lpstr>Level &amp; Gain :  </vt:lpstr>
      <vt:lpstr>PowerPoint Presentation</vt:lpstr>
      <vt:lpstr>PowerPoint Presentation</vt:lpstr>
      <vt:lpstr>PowerPoint Presentation</vt:lpstr>
      <vt:lpstr>PowerPoint Presentation</vt:lpstr>
      <vt:lpstr>PowerPoint Presentation</vt:lpstr>
      <vt:lpstr>Frequency Response </vt:lpstr>
      <vt:lpstr>PowerPoint Presentation</vt:lpstr>
      <vt:lpstr>PowerPoint Presentation</vt:lpstr>
      <vt:lpstr>Signal to Noise Ratio</vt:lpstr>
      <vt:lpstr>Crosstalk, Custom</vt:lpstr>
      <vt:lpstr>Interchannel Phase</vt:lpstr>
      <vt:lpstr>Measurement Recorder</vt:lpstr>
      <vt:lpstr>Signal Analyzer</vt:lpstr>
      <vt:lpstr>Save to File</vt:lpstr>
      <vt:lpstr>PowerPoint Presentation</vt:lpstr>
      <vt:lpstr>Assessment for Afternoon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Sangeetha.U</dc:creator>
  <cp:lastModifiedBy>Sangeetha Udayakumar</cp:lastModifiedBy>
  <cp:revision>70</cp:revision>
  <dcterms:created xsi:type="dcterms:W3CDTF">2022-11-08T13:34:28Z</dcterms:created>
  <dcterms:modified xsi:type="dcterms:W3CDTF">2024-10-23T12:24:04Z</dcterms:modified>
</cp:coreProperties>
</file>