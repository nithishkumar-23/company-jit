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81" r:id="rId2"/>
  </p:sldMasterIdLst>
  <p:notesMasterIdLst>
    <p:notesMasterId r:id="rId25"/>
  </p:notesMasterIdLst>
  <p:sldIdLst>
    <p:sldId id="1710" r:id="rId3"/>
    <p:sldId id="1723" r:id="rId4"/>
    <p:sldId id="1716" r:id="rId5"/>
    <p:sldId id="1725" r:id="rId6"/>
    <p:sldId id="1711" r:id="rId7"/>
    <p:sldId id="1712" r:id="rId8"/>
    <p:sldId id="1718" r:id="rId9"/>
    <p:sldId id="1728" r:id="rId10"/>
    <p:sldId id="1729" r:id="rId11"/>
    <p:sldId id="1722" r:id="rId12"/>
    <p:sldId id="1713" r:id="rId13"/>
    <p:sldId id="1726" r:id="rId14"/>
    <p:sldId id="1719" r:id="rId15"/>
    <p:sldId id="1727" r:id="rId16"/>
    <p:sldId id="1731" r:id="rId17"/>
    <p:sldId id="1714" r:id="rId18"/>
    <p:sldId id="1730" r:id="rId19"/>
    <p:sldId id="1715" r:id="rId20"/>
    <p:sldId id="1724" r:id="rId21"/>
    <p:sldId id="1717" r:id="rId22"/>
    <p:sldId id="1720" r:id="rId23"/>
    <p:sldId id="1721" r:id="rId2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imozhi. T" initials="KT" lastIdx="2" clrIdx="0">
    <p:extLst>
      <p:ext uri="{19B8F6BF-5375-455C-9EA6-DF929625EA0E}">
        <p15:presenceInfo xmlns:p15="http://schemas.microsoft.com/office/powerpoint/2012/main" userId="Kanimozhi. 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DFFA"/>
    <a:srgbClr val="66FFCC"/>
    <a:srgbClr val="66FFFF"/>
    <a:srgbClr val="050189"/>
    <a:srgbClr val="010089"/>
    <a:srgbClr val="FFFFCC"/>
    <a:srgbClr val="FFCCFF"/>
    <a:srgbClr val="FFCC99"/>
    <a:srgbClr val="CCFF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>
      <p:cViewPr>
        <p:scale>
          <a:sx n="62" d="100"/>
          <a:sy n="62" d="100"/>
        </p:scale>
        <p:origin x="82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9570A71-2636-431E-8C24-4AEF549EFCC0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032AC8A-09D9-4769-975F-FA5725950C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04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265FB0-D045-4550-BE7E-9B49F9F75CFE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297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sz="1800" b="1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5994400" cy="533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569078"/>
            <a:ext cx="3251200" cy="2889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84000" y="6492878"/>
            <a:ext cx="508000" cy="365125"/>
          </a:xfr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sz="1800" b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26400" cy="914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524000"/>
            <a:ext cx="10972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sz="1800" b="1">
              <a:solidFill>
                <a:schemeClr val="bg1"/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sz="1800" b="1"/>
          </a:p>
        </p:txBody>
      </p:sp>
      <p:pic>
        <p:nvPicPr>
          <p:cNvPr id="12" name="Picture 17" descr="logo_jasmin_infotech">
            <a:extLst>
              <a:ext uri="{FF2B5EF4-FFF2-40B4-BE49-F238E27FC236}">
                <a16:creationId xmlns:a16="http://schemas.microsoft.com/office/drawing/2014/main" id="{097A603E-3B58-4279-B6A7-B216E5E4BE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045700" y="294481"/>
            <a:ext cx="17526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sz="1800" b="1">
              <a:solidFill>
                <a:schemeClr val="bg1"/>
              </a:solidFill>
            </a:endParaRP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11684000" y="6492878"/>
            <a:ext cx="50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sz="1800" b="1"/>
          </a:p>
        </p:txBody>
      </p:sp>
      <p:sp>
        <p:nvSpPr>
          <p:cNvPr id="11" name="Rectangle 1032"/>
          <p:cNvSpPr>
            <a:spLocks noChangeArrowheads="1"/>
          </p:cNvSpPr>
          <p:nvPr userDrawn="1"/>
        </p:nvSpPr>
        <p:spPr bwMode="auto">
          <a:xfrm>
            <a:off x="4775200" y="2971800"/>
            <a:ext cx="640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1800"/>
          </a:p>
        </p:txBody>
      </p:sp>
      <p:sp>
        <p:nvSpPr>
          <p:cNvPr id="14" name="Rectangle 6"/>
          <p:cNvSpPr>
            <a:spLocks noChangeArrowheads="1"/>
          </p:cNvSpPr>
          <p:nvPr userDrawn="1"/>
        </p:nvSpPr>
        <p:spPr bwMode="auto">
          <a:xfrm>
            <a:off x="406400" y="3040066"/>
            <a:ext cx="4165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400">
              <a:latin typeface="Book Antiqua" pitchFamily="18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 userDrawn="1"/>
        </p:nvSpPr>
        <p:spPr bwMode="auto">
          <a:xfrm>
            <a:off x="3454400" y="1066800"/>
            <a:ext cx="5486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500">
                <a:solidFill>
                  <a:schemeClr val="accent2"/>
                </a:solidFill>
                <a:latin typeface="Trebuchet MS" pitchFamily="34" charset="0"/>
                <a:cs typeface="Arial" charset="0"/>
              </a:rPr>
              <a:t>Jasmin Infotech Pvt. Ltd.</a:t>
            </a:r>
          </a:p>
          <a:p>
            <a:pPr algn="ctr">
              <a:defRPr/>
            </a:pPr>
            <a:r>
              <a:rPr lang="en-US" sz="1500">
                <a:solidFill>
                  <a:schemeClr val="accent2"/>
                </a:solidFill>
                <a:latin typeface="Trebuchet MS" pitchFamily="34" charset="0"/>
                <a:cs typeface="Arial" charset="0"/>
              </a:rPr>
              <a:t>Plot 119, Velachery Tambaram Road, Pallikaranai,</a:t>
            </a:r>
          </a:p>
          <a:p>
            <a:pPr algn="ctr">
              <a:defRPr/>
            </a:pPr>
            <a:r>
              <a:rPr lang="en-US" sz="1500">
                <a:solidFill>
                  <a:schemeClr val="accent2"/>
                </a:solidFill>
                <a:latin typeface="Trebuchet MS" pitchFamily="34" charset="0"/>
                <a:cs typeface="Arial" charset="0"/>
              </a:rPr>
              <a:t>Chennai 600100, INDIA</a:t>
            </a:r>
          </a:p>
          <a:p>
            <a:pPr algn="ctr">
              <a:defRPr/>
            </a:pPr>
            <a:r>
              <a:rPr lang="en-US" sz="1500">
                <a:solidFill>
                  <a:schemeClr val="accent2"/>
                </a:solidFill>
                <a:latin typeface="Trebuchet MS" pitchFamily="34" charset="0"/>
                <a:cs typeface="Arial" charset="0"/>
              </a:rPr>
              <a:t>Tel.: 91-44-3061 9600</a:t>
            </a:r>
          </a:p>
          <a:p>
            <a:pPr algn="ctr">
              <a:defRPr/>
            </a:pPr>
            <a:r>
              <a:rPr lang="en-US" sz="1500">
                <a:solidFill>
                  <a:schemeClr val="accent2"/>
                </a:solidFill>
                <a:latin typeface="Trebuchet MS" pitchFamily="34" charset="0"/>
                <a:cs typeface="Arial" charset="0"/>
              </a:rPr>
              <a:t>Fax: 91-44-3061 9605</a:t>
            </a:r>
          </a:p>
          <a:p>
            <a:pPr algn="ctr">
              <a:defRPr/>
            </a:pPr>
            <a:r>
              <a:rPr lang="en-US" sz="1500">
                <a:solidFill>
                  <a:schemeClr val="accent2"/>
                </a:solidFill>
                <a:latin typeface="Trebuchet MS" pitchFamily="34" charset="0"/>
                <a:cs typeface="Arial" charset="0"/>
              </a:rPr>
              <a:t>http://www.jasmin-infoteh.com</a:t>
            </a:r>
          </a:p>
          <a:p>
            <a:pPr>
              <a:defRPr/>
            </a:pPr>
            <a:endParaRPr lang="en-US" sz="1400" u="sng">
              <a:latin typeface="Trebuchet MS" pitchFamily="34" charset="0"/>
              <a:cs typeface="Arial" charset="0"/>
            </a:endParaRPr>
          </a:p>
        </p:txBody>
      </p:sp>
      <p:sp>
        <p:nvSpPr>
          <p:cNvPr id="16" name="TextBox 5"/>
          <p:cNvSpPr txBox="1">
            <a:spLocks noChangeArrowheads="1"/>
          </p:cNvSpPr>
          <p:nvPr userDrawn="1"/>
        </p:nvSpPr>
        <p:spPr bwMode="auto">
          <a:xfrm>
            <a:off x="8176683" y="3048000"/>
            <a:ext cx="3657600" cy="13843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Simplified Arabic Fixed" pitchFamily="49" charset="-78"/>
              </a:rPr>
              <a:t>Jasmin Infotech Inc.</a:t>
            </a:r>
          </a:p>
          <a:p>
            <a:pPr algn="ctr">
              <a:defRPr/>
            </a:pPr>
            <a:endParaRPr lang="en-US" sz="1400">
              <a:solidFill>
                <a:schemeClr val="accent2"/>
              </a:solidFill>
              <a:latin typeface="Trebuchet MS" pitchFamily="34" charset="0"/>
              <a:cs typeface="Simplified Arabic Fixed" pitchFamily="49" charset="-78"/>
            </a:endParaRP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Simplified Arabic Fixed" pitchFamily="49" charset="-78"/>
              </a:rPr>
              <a:t>560, S.Winchester Blvd, </a:t>
            </a: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Simplified Arabic Fixed" pitchFamily="49" charset="-78"/>
              </a:rPr>
              <a:t>Suite 500, San Jose, </a:t>
            </a: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Simplified Arabic Fixed" pitchFamily="49" charset="-78"/>
              </a:rPr>
              <a:t>CA-95128, USA</a:t>
            </a: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Simplified Arabic Fixed" pitchFamily="49" charset="-78"/>
              </a:rPr>
              <a:t>Tel: +1 408 550 3591</a:t>
            </a:r>
          </a:p>
        </p:txBody>
      </p:sp>
      <p:sp>
        <p:nvSpPr>
          <p:cNvPr id="17" name="TextBox 6"/>
          <p:cNvSpPr txBox="1">
            <a:spLocks noChangeArrowheads="1"/>
          </p:cNvSpPr>
          <p:nvPr userDrawn="1"/>
        </p:nvSpPr>
        <p:spPr bwMode="auto">
          <a:xfrm>
            <a:off x="4368800" y="3047762"/>
            <a:ext cx="3657600" cy="16004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Jasmin Infotech GmbH</a:t>
            </a:r>
          </a:p>
          <a:p>
            <a:pPr algn="ctr">
              <a:defRPr/>
            </a:pPr>
            <a:endParaRPr lang="en-US" sz="1400">
              <a:solidFill>
                <a:schemeClr val="accent2"/>
              </a:solidFill>
              <a:latin typeface="Trebuchet MS" pitchFamily="34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Stefan-George-Ring 29 </a:t>
            </a: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81929 München </a:t>
            </a: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Germany</a:t>
            </a: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Tel:+49 451 408 3497</a:t>
            </a:r>
          </a:p>
          <a:p>
            <a:pPr>
              <a:defRPr/>
            </a:pPr>
            <a:endParaRPr lang="en-US" sz="1400">
              <a:solidFill>
                <a:schemeClr val="accent2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18" name="TextBox 6"/>
          <p:cNvSpPr txBox="1">
            <a:spLocks noChangeArrowheads="1"/>
          </p:cNvSpPr>
          <p:nvPr userDrawn="1"/>
        </p:nvSpPr>
        <p:spPr bwMode="auto">
          <a:xfrm>
            <a:off x="508000" y="2971800"/>
            <a:ext cx="3657600" cy="13843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Jasmin Infotech Japan</a:t>
            </a:r>
          </a:p>
          <a:p>
            <a:pPr algn="ctr">
              <a:defRPr/>
            </a:pPr>
            <a:endParaRPr lang="en-US" sz="1400">
              <a:solidFill>
                <a:schemeClr val="accent2"/>
              </a:solidFill>
              <a:latin typeface="Trebuchet MS" pitchFamily="34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5-27-17, Hiyoshi-Honcho,</a:t>
            </a: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Kohoku-Ku Yokohama City</a:t>
            </a: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Japan</a:t>
            </a:r>
          </a:p>
          <a:p>
            <a:pPr algn="ctr">
              <a:defRPr/>
            </a:pPr>
            <a:r>
              <a:rPr lang="en-US" sz="1400">
                <a:solidFill>
                  <a:schemeClr val="accent2"/>
                </a:solidFill>
                <a:latin typeface="Trebuchet MS" pitchFamily="34" charset="0"/>
                <a:cs typeface="Times New Roman" pitchFamily="18" charset="0"/>
              </a:rPr>
              <a:t>Tel:+90 2302 1352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454400" y="1066800"/>
            <a:ext cx="5384800" cy="1752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508000" y="3003550"/>
            <a:ext cx="3556000" cy="1371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4320117" y="3048000"/>
            <a:ext cx="3657600" cy="1371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8128000" y="3067050"/>
            <a:ext cx="3657600" cy="1371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23" name="Picture 12" descr="cacthankyou1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46400" y="4495800"/>
            <a:ext cx="660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Date Placeholder 1"/>
          <p:cNvSpPr>
            <a:spLocks noGrp="1"/>
          </p:cNvSpPr>
          <p:nvPr userDrawn="1">
            <p:ph type="dt" sz="half" idx="10"/>
          </p:nvPr>
        </p:nvSpPr>
        <p:spPr>
          <a:xfrm>
            <a:off x="0" y="6553200"/>
            <a:ext cx="38608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-12700" y="0"/>
            <a:ext cx="12192000" cy="6858000"/>
            <a:chOff x="-6" y="0"/>
            <a:chExt cx="5760" cy="432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auto">
            <a:xfrm>
              <a:off x="-6" y="0"/>
              <a:ext cx="1013" cy="4320"/>
            </a:xfrm>
            <a:prstGeom prst="rect">
              <a:avLst/>
            </a:prstGeom>
            <a:gradFill rotWithShape="0">
              <a:gsLst>
                <a:gs pos="0">
                  <a:srgbClr val="00328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b="1">
                <a:solidFill>
                  <a:prstClr val="black"/>
                </a:solidFill>
              </a:endParaRP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-6" y="762"/>
              <a:ext cx="5760" cy="96"/>
            </a:xfrm>
            <a:prstGeom prst="rect">
              <a:avLst/>
            </a:prstGeom>
            <a:gradFill rotWithShape="0">
              <a:gsLst>
                <a:gs pos="0">
                  <a:srgbClr val="FF971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b="1">
                <a:solidFill>
                  <a:prstClr val="black"/>
                </a:solidFill>
              </a:endParaRPr>
            </a:p>
          </p:txBody>
        </p:sp>
      </p:grp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1828800" y="3276600"/>
            <a:ext cx="8940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r">
              <a:defRPr/>
            </a:pPr>
            <a:endParaRPr lang="en-US" sz="2000" b="1">
              <a:solidFill>
                <a:prstClr val="black"/>
              </a:solidFill>
            </a:endParaRPr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3962400" y="6153351"/>
            <a:ext cx="4267200" cy="30777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400" b="1" u="sng">
                <a:solidFill>
                  <a:srgbClr val="000099"/>
                </a:solidFill>
              </a:rPr>
              <a:t>www.jasmin-infotech.com</a:t>
            </a:r>
            <a:endParaRPr lang="en-US" sz="2000" b="1" i="1">
              <a:solidFill>
                <a:srgbClr val="C14916"/>
              </a:solidFill>
              <a:latin typeface="Arial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 userDrawn="1"/>
        </p:nvSpPr>
        <p:spPr bwMode="auto">
          <a:xfrm>
            <a:off x="3403600" y="3854782"/>
            <a:ext cx="5384800" cy="609600"/>
          </a:xfrm>
          <a:prstGeom prst="rect">
            <a:avLst/>
          </a:prstGeom>
          <a:noFill/>
          <a:ln w="254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>
              <a:defRPr/>
            </a:pPr>
            <a:r>
              <a:rPr lang="en-US" sz="2400" b="1">
                <a:solidFill>
                  <a:prstClr val="black"/>
                </a:solidFill>
                <a:latin typeface="Book Antiqua" pitchFamily="18" charset="0"/>
              </a:rPr>
              <a:t>Helping you Innovate</a:t>
            </a:r>
          </a:p>
        </p:txBody>
      </p:sp>
      <p:sp>
        <p:nvSpPr>
          <p:cNvPr id="11" name="TextBox 3"/>
          <p:cNvSpPr txBox="1">
            <a:spLocks noChangeArrowheads="1"/>
          </p:cNvSpPr>
          <p:nvPr userDrawn="1"/>
        </p:nvSpPr>
        <p:spPr bwMode="auto">
          <a:xfrm>
            <a:off x="9652000" y="6550226"/>
            <a:ext cx="2540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200" b="1">
                <a:solidFill>
                  <a:prstClr val="black"/>
                </a:solidFill>
              </a:rPr>
              <a:t>JASMIN CONFIDENTIAL</a:t>
            </a:r>
          </a:p>
        </p:txBody>
      </p:sp>
      <p:pic>
        <p:nvPicPr>
          <p:cNvPr id="12" name="Picture 12" descr="logo_jasmin_infotech">
            <a:extLst>
              <a:ext uri="{FF2B5EF4-FFF2-40B4-BE49-F238E27FC236}">
                <a16:creationId xmlns:a16="http://schemas.microsoft.com/office/drawing/2014/main" id="{050D615F-5836-470B-9186-B8D8F2F4F0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4038600" y="2500209"/>
            <a:ext cx="41910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7" descr="logo_jasmin_infotech">
            <a:extLst>
              <a:ext uri="{FF2B5EF4-FFF2-40B4-BE49-F238E27FC236}">
                <a16:creationId xmlns:a16="http://schemas.microsoft.com/office/drawing/2014/main" id="{8189BC8E-8374-4C43-BC6B-D48FA41729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10058400" y="152400"/>
            <a:ext cx="17526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800" y="762000"/>
            <a:ext cx="2207506" cy="3990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0800" y="1371600"/>
            <a:ext cx="1555910" cy="99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23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5994400" cy="533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569078"/>
            <a:ext cx="3251200" cy="2889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84000" y="6492878"/>
            <a:ext cx="508000" cy="365125"/>
          </a:xfr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7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00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26400" cy="914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524000"/>
            <a:ext cx="10972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black"/>
              </a:solidFill>
            </a:endParaRPr>
          </a:p>
        </p:txBody>
      </p:sp>
      <p:pic>
        <p:nvPicPr>
          <p:cNvPr id="12" name="Picture 17" descr="logo_jasmin_infotech">
            <a:extLst>
              <a:ext uri="{FF2B5EF4-FFF2-40B4-BE49-F238E27FC236}">
                <a16:creationId xmlns:a16="http://schemas.microsoft.com/office/drawing/2014/main" id="{097A603E-3B58-4279-B6A7-B216E5E4BE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045700" y="294481"/>
            <a:ext cx="17526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831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11684000" y="6492878"/>
            <a:ext cx="50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>
              <a:defRPr/>
            </a:pPr>
            <a:fld id="{B6F15528-21DE-4FAA-801E-634DDDAF4B2B}" type="slidenum">
              <a:rPr lang="en-US" smtClean="0">
                <a:solidFill>
                  <a:prstClr val="white"/>
                </a:solidFill>
              </a:rPr>
              <a:pPr algn="r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black"/>
              </a:solidFill>
            </a:endParaRPr>
          </a:p>
        </p:txBody>
      </p:sp>
      <p:sp>
        <p:nvSpPr>
          <p:cNvPr id="11" name="Rectangle 1032"/>
          <p:cNvSpPr>
            <a:spLocks noChangeArrowheads="1"/>
          </p:cNvSpPr>
          <p:nvPr userDrawn="1"/>
        </p:nvSpPr>
        <p:spPr bwMode="auto">
          <a:xfrm>
            <a:off x="4775200" y="2971800"/>
            <a:ext cx="6400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6"/>
          <p:cNvSpPr>
            <a:spLocks noChangeArrowheads="1"/>
          </p:cNvSpPr>
          <p:nvPr userDrawn="1"/>
        </p:nvSpPr>
        <p:spPr bwMode="auto">
          <a:xfrm>
            <a:off x="406400" y="3040066"/>
            <a:ext cx="4165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400">
              <a:solidFill>
                <a:prstClr val="black"/>
              </a:solidFill>
              <a:latin typeface="Book Antiqua" pitchFamily="18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 userDrawn="1"/>
        </p:nvSpPr>
        <p:spPr bwMode="auto">
          <a:xfrm>
            <a:off x="3454400" y="1066800"/>
            <a:ext cx="5486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1500">
                <a:solidFill>
                  <a:srgbClr val="C0504D"/>
                </a:solidFill>
                <a:latin typeface="Trebuchet MS" pitchFamily="34" charset="0"/>
                <a:cs typeface="Arial" charset="0"/>
              </a:rPr>
              <a:t>Jasmin Infotech Pvt. Ltd.</a:t>
            </a:r>
          </a:p>
          <a:p>
            <a:pPr algn="ctr">
              <a:defRPr/>
            </a:pPr>
            <a:r>
              <a:rPr lang="en-US" sz="1500">
                <a:solidFill>
                  <a:srgbClr val="C0504D"/>
                </a:solidFill>
                <a:latin typeface="Trebuchet MS" pitchFamily="34" charset="0"/>
                <a:cs typeface="Arial" charset="0"/>
              </a:rPr>
              <a:t>Plot 119, Velachery Tambaram Road, Pallikaranai,</a:t>
            </a:r>
          </a:p>
          <a:p>
            <a:pPr algn="ctr">
              <a:defRPr/>
            </a:pPr>
            <a:r>
              <a:rPr lang="en-US" sz="1500">
                <a:solidFill>
                  <a:srgbClr val="C0504D"/>
                </a:solidFill>
                <a:latin typeface="Trebuchet MS" pitchFamily="34" charset="0"/>
                <a:cs typeface="Arial" charset="0"/>
              </a:rPr>
              <a:t>Chennai 600100, INDIA</a:t>
            </a:r>
          </a:p>
          <a:p>
            <a:pPr algn="ctr">
              <a:defRPr/>
            </a:pPr>
            <a:r>
              <a:rPr lang="en-US" sz="1500">
                <a:solidFill>
                  <a:srgbClr val="C0504D"/>
                </a:solidFill>
                <a:latin typeface="Trebuchet MS" pitchFamily="34" charset="0"/>
                <a:cs typeface="Arial" charset="0"/>
              </a:rPr>
              <a:t>Tel.: 91-44-3061 9600</a:t>
            </a:r>
          </a:p>
          <a:p>
            <a:pPr algn="ctr">
              <a:defRPr/>
            </a:pPr>
            <a:r>
              <a:rPr lang="en-US" sz="1500">
                <a:solidFill>
                  <a:srgbClr val="C0504D"/>
                </a:solidFill>
                <a:latin typeface="Trebuchet MS" pitchFamily="34" charset="0"/>
                <a:cs typeface="Arial" charset="0"/>
              </a:rPr>
              <a:t>Fax: 91-44-3061 9605</a:t>
            </a:r>
          </a:p>
          <a:p>
            <a:pPr algn="ctr">
              <a:defRPr/>
            </a:pPr>
            <a:r>
              <a:rPr lang="en-US" sz="1500">
                <a:solidFill>
                  <a:srgbClr val="C0504D"/>
                </a:solidFill>
                <a:latin typeface="Trebuchet MS" pitchFamily="34" charset="0"/>
                <a:cs typeface="Arial" charset="0"/>
              </a:rPr>
              <a:t>http://www.jasmin-infoteh.com</a:t>
            </a:r>
          </a:p>
          <a:p>
            <a:pPr>
              <a:defRPr/>
            </a:pPr>
            <a:endParaRPr lang="en-US" sz="1400" u="sng">
              <a:solidFill>
                <a:prstClr val="black"/>
              </a:solidFill>
              <a:latin typeface="Trebuchet MS" pitchFamily="34" charset="0"/>
              <a:cs typeface="Arial" charset="0"/>
            </a:endParaRPr>
          </a:p>
        </p:txBody>
      </p:sp>
      <p:sp>
        <p:nvSpPr>
          <p:cNvPr id="16" name="TextBox 5"/>
          <p:cNvSpPr txBox="1">
            <a:spLocks noChangeArrowheads="1"/>
          </p:cNvSpPr>
          <p:nvPr userDrawn="1"/>
        </p:nvSpPr>
        <p:spPr bwMode="auto">
          <a:xfrm>
            <a:off x="8176683" y="3048000"/>
            <a:ext cx="3657600" cy="13843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Simplified Arabic Fixed" pitchFamily="49" charset="-78"/>
              </a:rPr>
              <a:t>Jasmin Infotech Inc.</a:t>
            </a:r>
          </a:p>
          <a:p>
            <a:pPr algn="ctr">
              <a:defRPr/>
            </a:pPr>
            <a:endParaRPr lang="en-US" sz="1400">
              <a:solidFill>
                <a:srgbClr val="C0504D"/>
              </a:solidFill>
              <a:latin typeface="Trebuchet MS" pitchFamily="34" charset="0"/>
              <a:cs typeface="Simplified Arabic Fixed" pitchFamily="49" charset="-78"/>
            </a:endParaRP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Simplified Arabic Fixed" pitchFamily="49" charset="-78"/>
              </a:rPr>
              <a:t>560, S.Winchester Blvd, </a:t>
            </a: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Simplified Arabic Fixed" pitchFamily="49" charset="-78"/>
              </a:rPr>
              <a:t>Suite 500, San Jose, </a:t>
            </a: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Simplified Arabic Fixed" pitchFamily="49" charset="-78"/>
              </a:rPr>
              <a:t>CA-95128, USA</a:t>
            </a: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Simplified Arabic Fixed" pitchFamily="49" charset="-78"/>
              </a:rPr>
              <a:t>Tel: +1 408 550 3591</a:t>
            </a:r>
          </a:p>
        </p:txBody>
      </p:sp>
      <p:sp>
        <p:nvSpPr>
          <p:cNvPr id="17" name="TextBox 6"/>
          <p:cNvSpPr txBox="1">
            <a:spLocks noChangeArrowheads="1"/>
          </p:cNvSpPr>
          <p:nvPr userDrawn="1"/>
        </p:nvSpPr>
        <p:spPr bwMode="auto">
          <a:xfrm>
            <a:off x="4368800" y="3047762"/>
            <a:ext cx="3657600" cy="16004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Jasmin Infotech GmbH</a:t>
            </a:r>
          </a:p>
          <a:p>
            <a:pPr algn="ctr">
              <a:defRPr/>
            </a:pPr>
            <a:endParaRPr lang="en-US" sz="1400">
              <a:solidFill>
                <a:srgbClr val="C0504D"/>
              </a:solidFill>
              <a:latin typeface="Trebuchet MS" pitchFamily="34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Stefan-George-Ring 29 </a:t>
            </a: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81929 München </a:t>
            </a: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Germany</a:t>
            </a: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Tel:+49 451 408 3497</a:t>
            </a:r>
          </a:p>
          <a:p>
            <a:pPr>
              <a:defRPr/>
            </a:pPr>
            <a:endParaRPr lang="en-US" sz="1400">
              <a:solidFill>
                <a:srgbClr val="C0504D"/>
              </a:solidFill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18" name="TextBox 6"/>
          <p:cNvSpPr txBox="1">
            <a:spLocks noChangeArrowheads="1"/>
          </p:cNvSpPr>
          <p:nvPr userDrawn="1"/>
        </p:nvSpPr>
        <p:spPr bwMode="auto">
          <a:xfrm>
            <a:off x="508000" y="2971800"/>
            <a:ext cx="3657600" cy="13843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Jasmin Infotech Japan</a:t>
            </a:r>
          </a:p>
          <a:p>
            <a:pPr algn="ctr">
              <a:defRPr/>
            </a:pPr>
            <a:endParaRPr lang="en-US" sz="1400">
              <a:solidFill>
                <a:srgbClr val="C0504D"/>
              </a:solidFill>
              <a:latin typeface="Trebuchet MS" pitchFamily="34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5-27-17, Hiyoshi-Honcho,</a:t>
            </a: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Kohoku-Ku Yokohama City</a:t>
            </a: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Japan</a:t>
            </a:r>
          </a:p>
          <a:p>
            <a:pPr algn="ctr">
              <a:defRPr/>
            </a:pPr>
            <a:r>
              <a:rPr lang="en-US" sz="1400">
                <a:solidFill>
                  <a:srgbClr val="C0504D"/>
                </a:solidFill>
                <a:latin typeface="Trebuchet MS" pitchFamily="34" charset="0"/>
                <a:cs typeface="Times New Roman" pitchFamily="18" charset="0"/>
              </a:rPr>
              <a:t>Tel:+90 2302 1352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454400" y="1066800"/>
            <a:ext cx="5384800" cy="1752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508000" y="3003550"/>
            <a:ext cx="3556000" cy="1371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4320117" y="3048000"/>
            <a:ext cx="3657600" cy="1371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8128000" y="3067050"/>
            <a:ext cx="3657600" cy="1371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23" name="Picture 12" descr="cacthankyou1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46400" y="4495800"/>
            <a:ext cx="660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Date Placeholder 1"/>
          <p:cNvSpPr>
            <a:spLocks noGrp="1"/>
          </p:cNvSpPr>
          <p:nvPr userDrawn="1">
            <p:ph type="dt" sz="half" idx="10"/>
          </p:nvPr>
        </p:nvSpPr>
        <p:spPr>
          <a:xfrm>
            <a:off x="0" y="6553200"/>
            <a:ext cx="38608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17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B93AEB6-B5B8-4142-916C-A5A7D4C0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-1080000">
            <a:off x="1824921" y="3791631"/>
            <a:ext cx="8940800" cy="933230"/>
          </a:xfrm>
          <a:solidFill>
            <a:srgbClr val="F3F2E9"/>
          </a:solidFill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                   DRAFT – TEMPLATE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26400" cy="914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524000"/>
            <a:ext cx="10972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7" name="Date Placeholder 2"/>
          <p:cNvSpPr txBox="1">
            <a:spLocks/>
          </p:cNvSpPr>
          <p:nvPr userDrawn="1"/>
        </p:nvSpPr>
        <p:spPr>
          <a:xfrm>
            <a:off x="0" y="6569076"/>
            <a:ext cx="2844800" cy="288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© Jasmin Infotech Private Limited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11684000" y="6492876"/>
            <a:ext cx="50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>
              <a:defRPr/>
            </a:pPr>
            <a:fld id="{B6F15528-21DE-4FAA-801E-634DDDAF4B2B}" type="slidenum">
              <a:rPr lang="en-US" smtClean="0">
                <a:solidFill>
                  <a:prstClr val="white"/>
                </a:solidFill>
              </a:rPr>
              <a:pPr algn="r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81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B93AEB6-B5B8-4142-916C-A5A7D4C0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-1080000">
            <a:off x="1824921" y="3791631"/>
            <a:ext cx="8940800" cy="933230"/>
          </a:xfrm>
          <a:solidFill>
            <a:srgbClr val="F3F2E9"/>
          </a:solidFill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                   DRAFT – TEMPLATE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26400" cy="914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524000"/>
            <a:ext cx="10972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7" name="Date Placeholder 2"/>
          <p:cNvSpPr txBox="1">
            <a:spLocks/>
          </p:cNvSpPr>
          <p:nvPr userDrawn="1"/>
        </p:nvSpPr>
        <p:spPr>
          <a:xfrm>
            <a:off x="0" y="6569076"/>
            <a:ext cx="2844800" cy="288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© Jasmin Infotech Private Limited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11684000" y="6492876"/>
            <a:ext cx="50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>
              <a:defRPr/>
            </a:pPr>
            <a:fld id="{B6F15528-21DE-4FAA-801E-634DDDAF4B2B}" type="slidenum">
              <a:rPr lang="en-US" smtClean="0">
                <a:solidFill>
                  <a:prstClr val="white"/>
                </a:solidFill>
              </a:rPr>
              <a:pPr algn="r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763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B93AEB6-B5B8-4142-916C-A5A7D4C0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-1080000">
            <a:off x="1824921" y="3791631"/>
            <a:ext cx="8940800" cy="933230"/>
          </a:xfrm>
          <a:solidFill>
            <a:srgbClr val="F3F2E9"/>
          </a:solidFill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                   DRAFT – TEMPLATE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26400" cy="914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524000"/>
            <a:ext cx="10972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7" name="Date Placeholder 2"/>
          <p:cNvSpPr txBox="1">
            <a:spLocks/>
          </p:cNvSpPr>
          <p:nvPr userDrawn="1"/>
        </p:nvSpPr>
        <p:spPr>
          <a:xfrm>
            <a:off x="0" y="6569076"/>
            <a:ext cx="2844800" cy="288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© Jasmin Infotech Private Limited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11684000" y="6492876"/>
            <a:ext cx="50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>
              <a:defRPr/>
            </a:pPr>
            <a:fld id="{B6F15528-21DE-4FAA-801E-634DDDAF4B2B}" type="slidenum">
              <a:rPr lang="en-US" smtClean="0">
                <a:solidFill>
                  <a:prstClr val="white"/>
                </a:solidFill>
              </a:rPr>
              <a:pPr algn="r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636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B93AEB6-B5B8-4142-916C-A5A7D4C0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-1080000">
            <a:off x="1824921" y="3791631"/>
            <a:ext cx="8940800" cy="933230"/>
          </a:xfrm>
          <a:solidFill>
            <a:srgbClr val="F3F2E9"/>
          </a:solidFill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                   DRAFT – TEMPLATE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26400" cy="914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524000"/>
            <a:ext cx="10972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7" name="Date Placeholder 2"/>
          <p:cNvSpPr txBox="1">
            <a:spLocks/>
          </p:cNvSpPr>
          <p:nvPr userDrawn="1"/>
        </p:nvSpPr>
        <p:spPr>
          <a:xfrm>
            <a:off x="0" y="6569076"/>
            <a:ext cx="2844800" cy="288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© Jasmin Infotech Private Limited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11684000" y="6492876"/>
            <a:ext cx="50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>
              <a:defRPr/>
            </a:pPr>
            <a:fld id="{B6F15528-21DE-4FAA-801E-634DDDAF4B2B}" type="slidenum">
              <a:rPr lang="en-US" smtClean="0">
                <a:solidFill>
                  <a:prstClr val="white"/>
                </a:solidFill>
              </a:rPr>
              <a:pPr algn="r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032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B93AEB6-B5B8-4142-916C-A5A7D4C0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-1080000">
            <a:off x="1824921" y="3791631"/>
            <a:ext cx="8940800" cy="933230"/>
          </a:xfrm>
          <a:solidFill>
            <a:srgbClr val="F3F2E9"/>
          </a:solidFill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                   DRAFT – TEMPLATE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26400" cy="914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524000"/>
            <a:ext cx="10972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7" name="Date Placeholder 2"/>
          <p:cNvSpPr txBox="1">
            <a:spLocks/>
          </p:cNvSpPr>
          <p:nvPr userDrawn="1"/>
        </p:nvSpPr>
        <p:spPr>
          <a:xfrm>
            <a:off x="0" y="6569076"/>
            <a:ext cx="2844800" cy="288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© Jasmin Infotech Private Limited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11684000" y="6492876"/>
            <a:ext cx="50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>
              <a:defRPr/>
            </a:pPr>
            <a:fld id="{B6F15528-21DE-4FAA-801E-634DDDAF4B2B}" type="slidenum">
              <a:rPr lang="en-US" smtClean="0">
                <a:solidFill>
                  <a:prstClr val="white"/>
                </a:solidFill>
              </a:rPr>
              <a:pPr algn="r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603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B93AEB6-B5B8-4142-916C-A5A7D4C0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-1080000">
            <a:off x="1824921" y="3791631"/>
            <a:ext cx="8940800" cy="933230"/>
          </a:xfrm>
          <a:solidFill>
            <a:srgbClr val="F3F2E9"/>
          </a:solidFill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                   DRAFT – TEMPLATE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026400" cy="914400"/>
          </a:xfrm>
        </p:spPr>
        <p:txBody>
          <a:bodyPr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524000"/>
            <a:ext cx="10972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7" name="Date Placeholder 2"/>
          <p:cNvSpPr txBox="1">
            <a:spLocks/>
          </p:cNvSpPr>
          <p:nvPr userDrawn="1"/>
        </p:nvSpPr>
        <p:spPr>
          <a:xfrm>
            <a:off x="0" y="6569076"/>
            <a:ext cx="2844800" cy="2889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© Jasmin Infotech Private Limited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11684000" y="6492876"/>
            <a:ext cx="50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>
              <a:defRPr/>
            </a:pPr>
            <a:fld id="{B6F15528-21DE-4FAA-801E-634DDDAF4B2B}" type="slidenum">
              <a:rPr lang="en-US" smtClean="0">
                <a:solidFill>
                  <a:prstClr val="white"/>
                </a:solidFill>
              </a:rPr>
              <a:pPr algn="r"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7" descr="logo_jasmin_infotech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9652000" y="152401"/>
            <a:ext cx="2336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0" y="914400"/>
            <a:ext cx="12192000" cy="15240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33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82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jasmininfo-my.sharepoint.com/:x:/g/personal/subramani_pazhaniyappan_jasmin-infotech_com/EWg7lIgtV39MhYBG5DceOKQBNHn7zlo4xTOZuB_aA0fTTw?email=subramani.pazhaniyappan%40jasmin-infotech.com&amp;e=UvEvA3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jasmininfo-my.sharepoint.com/:b:/g/personal/subramani_pazhaniyappan_jasmin-infotech_com/ETZ3TuWMCO5FtPTx4D3fgPcB1hTl0FW6WoYJ7kz1qjD1Uw?email=subramani.pazhaniyappan%40jasmin-infotech.com&amp;e=zcGFZp" TargetMode="External"/><Relationship Id="rId2" Type="http://schemas.openxmlformats.org/officeDocument/2006/relationships/hyperlink" Target="https://jasmininfo-my.sharepoint.com/:x:/g/personal/subramani_pazhaniyappan_jasmin-infotech_com/EWg7lIgtV39MhYBG5DceOKQBNHn7zlo4xTOZuB_aA0fTTw?email=subramani.pazhaniyappan%40jasmin-infotech.com&amp;e=UvEvA3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dolby.com/siteassets/about/support/guide/setup-guides/9.1.6-mounted--overhead-speakers/9_1_6_mounted_overhead_speaker_setup.pdf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ChangeArrowheads="1"/>
          </p:cNvSpPr>
          <p:nvPr/>
        </p:nvSpPr>
        <p:spPr bwMode="auto">
          <a:xfrm>
            <a:off x="2895600" y="4495800"/>
            <a:ext cx="6400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/>
            <a:endParaRPr lang="en-US" sz="2800" b="1" u="sng">
              <a:solidFill>
                <a:srgbClr val="000076"/>
              </a:solidFill>
            </a:endParaRPr>
          </a:p>
        </p:txBody>
      </p:sp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4800600" y="5791200"/>
            <a:ext cx="2362200" cy="369332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 wrap="square" lIns="91440" tIns="45720" rIns="91440" bIns="45720" anchor="t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 dirty="0">
                <a:latin typeface="Trebuchet MS"/>
              </a:rPr>
              <a:t> Oct 2024</a:t>
            </a:r>
            <a:endParaRPr lang="en-US" b="1" dirty="0">
              <a:solidFill>
                <a:prstClr val="black"/>
              </a:solidFill>
              <a:latin typeface="Trebuchet MS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C2A453-555B-4F82-AA31-D1D0761C25F2}"/>
              </a:ext>
            </a:extLst>
          </p:cNvPr>
          <p:cNvSpPr/>
          <p:nvPr/>
        </p:nvSpPr>
        <p:spPr>
          <a:xfrm>
            <a:off x="2267415" y="4535396"/>
            <a:ext cx="7848600" cy="949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u="sng">
                <a:solidFill>
                  <a:srgbClr val="000076"/>
                </a:solidFill>
                <a:cs typeface="Calibri"/>
              </a:rPr>
              <a:t>ATMOS, DTSX, </a:t>
            </a:r>
            <a:r>
              <a:rPr lang="en-US" sz="2800" b="1" u="sng" err="1">
                <a:solidFill>
                  <a:srgbClr val="000076"/>
                </a:solidFill>
                <a:cs typeface="Calibri"/>
              </a:rPr>
              <a:t>CrossUpmixing</a:t>
            </a:r>
            <a:r>
              <a:rPr lang="en-US" sz="2800" b="1" u="sng">
                <a:solidFill>
                  <a:srgbClr val="000076"/>
                </a:solidFill>
                <a:cs typeface="Calibri"/>
              </a:rPr>
              <a:t>, Command Protocol, Channel Re-order</a:t>
            </a:r>
          </a:p>
        </p:txBody>
      </p:sp>
    </p:spTree>
    <p:extLst>
      <p:ext uri="{BB962C8B-B14F-4D97-AF65-F5344CB8AC3E}">
        <p14:creationId xmlns:p14="http://schemas.microsoft.com/office/powerpoint/2010/main" val="281166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F33281-4E8A-CA6F-0B94-840EE9009063}"/>
              </a:ext>
            </a:extLst>
          </p:cNvPr>
          <p:cNvSpPr txBox="1"/>
          <p:nvPr/>
        </p:nvSpPr>
        <p:spPr>
          <a:xfrm>
            <a:off x="1412700" y="5718632"/>
            <a:ext cx="92744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Dolby Atmos Music is an immersive music experience that adds more space, clarity, and depth to your music. Instead of just hearing your music — with Dolby, it feels like you’re inside the song.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5" name="Picture 5" descr="Logo&#10;&#10;Description automatically generated">
            <a:extLst>
              <a:ext uri="{FF2B5EF4-FFF2-40B4-BE49-F238E27FC236}">
                <a16:creationId xmlns:a16="http://schemas.microsoft.com/office/drawing/2014/main" id="{912FE6B7-DCB7-4351-330C-7EFA3BCFA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571" y="99925"/>
            <a:ext cx="2873297" cy="748003"/>
          </a:xfrm>
          <a:prstGeom prst="rect">
            <a:avLst/>
          </a:prstGeom>
        </p:spPr>
      </p:pic>
      <p:pic>
        <p:nvPicPr>
          <p:cNvPr id="2" name="Picture 3" descr="A picture containing floor, indoor, seat, furniture&#10;&#10;Description automatically generated">
            <a:extLst>
              <a:ext uri="{FF2B5EF4-FFF2-40B4-BE49-F238E27FC236}">
                <a16:creationId xmlns:a16="http://schemas.microsoft.com/office/drawing/2014/main" id="{57789D4A-CD31-1C94-374D-FD862A271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108" y="1180623"/>
            <a:ext cx="8579003" cy="4487458"/>
          </a:xfrm>
          <a:prstGeom prst="rect">
            <a:avLst/>
          </a:prstGeom>
        </p:spPr>
      </p:pic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65FF4C31-9C00-7813-C402-F36151A9933E}"/>
              </a:ext>
            </a:extLst>
          </p:cNvPr>
          <p:cNvSpPr txBox="1">
            <a:spLocks/>
          </p:cNvSpPr>
          <p:nvPr/>
        </p:nvSpPr>
        <p:spPr>
          <a:xfrm>
            <a:off x="51577" y="6560013"/>
            <a:ext cx="3200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050">
                <a:solidFill>
                  <a:schemeClr val="bg1"/>
                </a:solidFill>
              </a:rPr>
              <a:t>©2022 Jasmin Infotech Private Limited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7D68FD1-A005-65F6-75C4-F246849A1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6560013"/>
            <a:ext cx="1905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chemeClr val="bg1"/>
                </a:solidFill>
                <a:latin typeface="+mj-lt"/>
              </a:rPr>
              <a:t>JASMIN CONFIDENTIAL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285AC413-4B3E-7564-7C75-658FB5E94EB7}"/>
              </a:ext>
            </a:extLst>
          </p:cNvPr>
          <p:cNvSpPr txBox="1">
            <a:spLocks/>
          </p:cNvSpPr>
          <p:nvPr/>
        </p:nvSpPr>
        <p:spPr>
          <a:xfrm>
            <a:off x="11684000" y="6492878"/>
            <a:ext cx="5080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D1CEE6-8BBE-4393-857A-BEE0A5C48EE0}" type="slidenum">
              <a:rPr lang="en-US" sz="900" smtClean="0">
                <a:solidFill>
                  <a:schemeClr val="bg1"/>
                </a:solidFill>
              </a:rPr>
              <a:pPr algn="r"/>
              <a:t>2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Logo&#10;&#10;Description automatically generated">
            <a:extLst>
              <a:ext uri="{FF2B5EF4-FFF2-40B4-BE49-F238E27FC236}">
                <a16:creationId xmlns:a16="http://schemas.microsoft.com/office/drawing/2014/main" id="{F49EE2DA-6EBA-4BF0-4AB9-DA24984F4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571" y="99925"/>
            <a:ext cx="2873297" cy="7480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BD2846-F7E8-F458-C7DD-8BB974FDBA27}"/>
              </a:ext>
            </a:extLst>
          </p:cNvPr>
          <p:cNvSpPr txBox="1"/>
          <p:nvPr/>
        </p:nvSpPr>
        <p:spPr>
          <a:xfrm>
            <a:off x="854925" y="1328853"/>
            <a:ext cx="1120697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Atmos : </a:t>
            </a:r>
            <a:r>
              <a:rPr lang="en-US" dirty="0">
                <a:ea typeface="+mn-lt"/>
                <a:cs typeface="+mn-lt"/>
              </a:rPr>
              <a:t>It’s really all about the objects, and the ability to place, move, and size those objects within the sound field.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Max channel supported for Soundbar : 16  [9.1.6]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Default up mixing  : DAP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Types : </a:t>
            </a:r>
          </a:p>
          <a:p>
            <a:pPr marL="1200150" lvl="2" indent="-285750">
              <a:buFont typeface="Courier New"/>
              <a:buChar char="o"/>
            </a:pPr>
            <a:r>
              <a:rPr lang="en-US" dirty="0">
                <a:cs typeface="Calibri"/>
              </a:rPr>
              <a:t>DD - Dolby Digital (.ac3)</a:t>
            </a:r>
          </a:p>
          <a:p>
            <a:pPr marL="1200150" lvl="2" indent="-285750">
              <a:buFont typeface="Courier New"/>
              <a:buChar char="o"/>
            </a:pPr>
            <a:r>
              <a:rPr lang="en-US" dirty="0">
                <a:cs typeface="Calibri"/>
              </a:rPr>
              <a:t>DDP - Dolby Digital Plus (.ec3), </a:t>
            </a:r>
          </a:p>
          <a:p>
            <a:pPr marL="1200150" lvl="2" indent="-285750">
              <a:buFont typeface="Courier New"/>
              <a:buChar char="o"/>
            </a:pPr>
            <a:r>
              <a:rPr lang="en-US" dirty="0">
                <a:cs typeface="Calibri"/>
              </a:rPr>
              <a:t>MAT - Metadata-enhanced Audio Transmission (</a:t>
            </a:r>
            <a:r>
              <a:rPr lang="en-US" dirty="0" err="1">
                <a:cs typeface="Calibri"/>
              </a:rPr>
              <a:t>TrueHD</a:t>
            </a:r>
            <a:r>
              <a:rPr lang="en-US" dirty="0">
                <a:cs typeface="Calibri"/>
              </a:rPr>
              <a:t> [.</a:t>
            </a:r>
            <a:r>
              <a:rPr lang="en-US" dirty="0" err="1">
                <a:cs typeface="Calibri"/>
              </a:rPr>
              <a:t>mlp</a:t>
            </a:r>
            <a:r>
              <a:rPr lang="en-US" dirty="0">
                <a:cs typeface="Calibri"/>
              </a:rPr>
              <a:t>], MAT PCM [.mat])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Supported Devices : Soundbar, AVR, </a:t>
            </a:r>
            <a:r>
              <a:rPr lang="en-US" dirty="0">
                <a:ea typeface="+mn-lt"/>
                <a:cs typeface="+mn-lt"/>
              </a:rPr>
              <a:t>Theatres</a:t>
            </a:r>
            <a:r>
              <a:rPr lang="en-US" dirty="0">
                <a:cs typeface="Calibri"/>
              </a:rPr>
              <a:t>, Smart TV, Xbox, Streaming services (</a:t>
            </a:r>
            <a:r>
              <a:rPr lang="en-US" dirty="0" err="1">
                <a:cs typeface="Calibri"/>
              </a:rPr>
              <a:t>I.e</a:t>
            </a:r>
            <a:r>
              <a:rPr lang="en-US" dirty="0">
                <a:cs typeface="Calibri"/>
              </a:rPr>
              <a:t>: Apple </a:t>
            </a:r>
            <a:r>
              <a:rPr lang="en-US" dirty="0" err="1">
                <a:cs typeface="Calibri"/>
              </a:rPr>
              <a:t>TV,Netflix</a:t>
            </a:r>
            <a:r>
              <a:rPr lang="en-US" dirty="0">
                <a:cs typeface="Calibri"/>
              </a:rPr>
              <a:t>),</a:t>
            </a:r>
            <a:r>
              <a:rPr lang="en-US" dirty="0">
                <a:ea typeface="+mn-lt"/>
                <a:cs typeface="+mn-lt"/>
              </a:rPr>
              <a:t>Laptops</a:t>
            </a:r>
            <a:r>
              <a:rPr lang="en-US" dirty="0">
                <a:cs typeface="Calibri"/>
              </a:rPr>
              <a:t>,</a:t>
            </a:r>
            <a:r>
              <a:rPr lang="en-US" dirty="0">
                <a:ea typeface="+mn-lt"/>
                <a:cs typeface="+mn-lt"/>
              </a:rPr>
              <a:t> Tablets &amp; Smart</a:t>
            </a:r>
            <a:r>
              <a:rPr lang="en-US" dirty="0">
                <a:cs typeface="Calibri"/>
              </a:rPr>
              <a:t>  Phone …..</a:t>
            </a:r>
            <a:r>
              <a:rPr lang="en-US" dirty="0" err="1">
                <a:cs typeface="Calibri"/>
              </a:rPr>
              <a:t>etc</a:t>
            </a:r>
            <a:endParaRPr lang="en-US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D4FD7-3648-C03B-3545-4B30EA11F0DA}"/>
              </a:ext>
            </a:extLst>
          </p:cNvPr>
          <p:cNvSpPr txBox="1"/>
          <p:nvPr/>
        </p:nvSpPr>
        <p:spPr>
          <a:xfrm>
            <a:off x="684068" y="5550477"/>
            <a:ext cx="1071995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Note :  The Max channel support is applicable for GUL SDK implemented in Jasmin.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98609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Logo&#10;&#10;Description automatically generated">
            <a:extLst>
              <a:ext uri="{FF2B5EF4-FFF2-40B4-BE49-F238E27FC236}">
                <a16:creationId xmlns:a16="http://schemas.microsoft.com/office/drawing/2014/main" id="{AD9425BB-7375-2A05-F7C7-14AC0D523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571" y="99925"/>
            <a:ext cx="2873297" cy="74800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D260437-D088-E026-353C-43FA1966B3E2}"/>
              </a:ext>
            </a:extLst>
          </p:cNvPr>
          <p:cNvGrpSpPr/>
          <p:nvPr/>
        </p:nvGrpSpPr>
        <p:grpSpPr>
          <a:xfrm>
            <a:off x="3717" y="1158958"/>
            <a:ext cx="12184566" cy="5106937"/>
            <a:chOff x="3717" y="1158958"/>
            <a:chExt cx="12184566" cy="5106937"/>
          </a:xfrm>
        </p:grpSpPr>
        <p:pic>
          <p:nvPicPr>
            <p:cNvPr id="3" name="Picture 3" descr="A picture containing chart&#10;&#10;Description automatically generated">
              <a:extLst>
                <a:ext uri="{FF2B5EF4-FFF2-40B4-BE49-F238E27FC236}">
                  <a16:creationId xmlns:a16="http://schemas.microsoft.com/office/drawing/2014/main" id="{CA85572B-5569-7BF5-DFC8-22C19D7A7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7" y="1711503"/>
              <a:ext cx="6423102" cy="3843871"/>
            </a:xfrm>
            <a:prstGeom prst="rect">
              <a:avLst/>
            </a:prstGeom>
          </p:spPr>
        </p:pic>
        <p:pic>
          <p:nvPicPr>
            <p:cNvPr id="6" name="Picture 6" descr="A picture containing text, sky, different, green&#10;&#10;Description automatically generated">
              <a:extLst>
                <a:ext uri="{FF2B5EF4-FFF2-40B4-BE49-F238E27FC236}">
                  <a16:creationId xmlns:a16="http://schemas.microsoft.com/office/drawing/2014/main" id="{4F5474C3-14B7-FB26-E7E5-0690160DD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62694" y="1158958"/>
              <a:ext cx="4025589" cy="5106937"/>
            </a:xfrm>
            <a:prstGeom prst="rect">
              <a:avLst/>
            </a:prstGeom>
          </p:spPr>
        </p:pic>
        <p:pic>
          <p:nvPicPr>
            <p:cNvPr id="7" name="Picture 7" descr="Text&#10;&#10;Description automatically generated">
              <a:extLst>
                <a:ext uri="{FF2B5EF4-FFF2-40B4-BE49-F238E27FC236}">
                  <a16:creationId xmlns:a16="http://schemas.microsoft.com/office/drawing/2014/main" id="{40AC0B5B-D2B7-4210-BFA3-F7B31B6E6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42156" y="2760877"/>
              <a:ext cx="2613103" cy="215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158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Logo&#10;&#10;Description automatically generated">
            <a:extLst>
              <a:ext uri="{FF2B5EF4-FFF2-40B4-BE49-F238E27FC236}">
                <a16:creationId xmlns:a16="http://schemas.microsoft.com/office/drawing/2014/main" id="{BDB12B00-0167-120C-D918-76EAF2A95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226" y="126201"/>
            <a:ext cx="2873297" cy="74800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19B4C1D-1F33-59DF-4D7F-F3B4E5670E52}"/>
              </a:ext>
            </a:extLst>
          </p:cNvPr>
          <p:cNvGrpSpPr/>
          <p:nvPr/>
        </p:nvGrpSpPr>
        <p:grpSpPr>
          <a:xfrm>
            <a:off x="3718" y="1259435"/>
            <a:ext cx="12184564" cy="5017494"/>
            <a:chOff x="3718" y="1110752"/>
            <a:chExt cx="12184564" cy="5017494"/>
          </a:xfrm>
        </p:grpSpPr>
        <p:pic>
          <p:nvPicPr>
            <p:cNvPr id="2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F84B1E72-8C62-6FD5-061C-B2A6EFA05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8" y="1516690"/>
              <a:ext cx="6441688" cy="3880381"/>
            </a:xfrm>
            <a:prstGeom prst="rect">
              <a:avLst/>
            </a:prstGeom>
          </p:spPr>
        </p:pic>
        <p:pic>
          <p:nvPicPr>
            <p:cNvPr id="4" name="Picture 5" descr="A picture containing text, green, different&#10;&#10;Description automatically generated">
              <a:extLst>
                <a:ext uri="{FF2B5EF4-FFF2-40B4-BE49-F238E27FC236}">
                  <a16:creationId xmlns:a16="http://schemas.microsoft.com/office/drawing/2014/main" id="{39E08AAE-080E-1D29-5F06-81B8A66E0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4814" y="1110752"/>
              <a:ext cx="4053468" cy="5017494"/>
            </a:xfrm>
            <a:prstGeom prst="rect">
              <a:avLst/>
            </a:prstGeom>
          </p:spPr>
        </p:pic>
        <p:pic>
          <p:nvPicPr>
            <p:cNvPr id="3" name="Picture 5" descr="Text&#10;&#10;Description automatically generated">
              <a:extLst>
                <a:ext uri="{FF2B5EF4-FFF2-40B4-BE49-F238E27FC236}">
                  <a16:creationId xmlns:a16="http://schemas.microsoft.com/office/drawing/2014/main" id="{AD953C77-2D16-C5C3-4A20-C7E02F025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84181" y="2462221"/>
              <a:ext cx="2743200" cy="23610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193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Graphical user interface, chart, sunburst chart&#10;&#10;Description automatically generated">
            <a:extLst>
              <a:ext uri="{FF2B5EF4-FFF2-40B4-BE49-F238E27FC236}">
                <a16:creationId xmlns:a16="http://schemas.microsoft.com/office/drawing/2014/main" id="{E8B90D9C-7E63-6B3B-742B-A4D437A51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170645"/>
            <a:ext cx="11487150" cy="5334930"/>
          </a:xfrm>
          <a:prstGeom prst="rect">
            <a:avLst/>
          </a:prstGeom>
        </p:spPr>
      </p:pic>
      <p:pic>
        <p:nvPicPr>
          <p:cNvPr id="4" name="Picture 4" descr="Chart, funnel chart&#10;&#10;Description automatically generated">
            <a:extLst>
              <a:ext uri="{FF2B5EF4-FFF2-40B4-BE49-F238E27FC236}">
                <a16:creationId xmlns:a16="http://schemas.microsoft.com/office/drawing/2014/main" id="{AB5E273A-1F06-55C3-A791-181324291F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424" r="-678" b="21212"/>
          <a:stretch/>
        </p:blipFill>
        <p:spPr>
          <a:xfrm>
            <a:off x="4715107" y="782"/>
            <a:ext cx="2761798" cy="86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13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11B192-76C4-A0E8-009F-ED8470D43070}"/>
              </a:ext>
            </a:extLst>
          </p:cNvPr>
          <p:cNvSpPr txBox="1"/>
          <p:nvPr/>
        </p:nvSpPr>
        <p:spPr>
          <a:xfrm>
            <a:off x="817754" y="1310267"/>
            <a:ext cx="10714463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DTS X: Digital Theater Systems with object-based audio.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Max channel supported for Soundbar : 12 [7.1.4]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Default up mixing : </a:t>
            </a:r>
            <a:r>
              <a:rPr lang="en-US" dirty="0" err="1">
                <a:ea typeface="+mn-lt"/>
                <a:cs typeface="+mn-lt"/>
              </a:rPr>
              <a:t>NeuralX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Types :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cs typeface="Calibri"/>
              </a:rPr>
              <a:t>         DTS CD/LD [</a:t>
            </a:r>
            <a:r>
              <a:rPr lang="en-US" dirty="0" err="1">
                <a:cs typeface="Calibri"/>
              </a:rPr>
              <a:t>Unformated</a:t>
            </a:r>
            <a:r>
              <a:rPr lang="en-US" dirty="0">
                <a:cs typeface="Calibri"/>
              </a:rPr>
              <a:t>]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cs typeface="Calibri"/>
              </a:rPr>
              <a:t>         DTS DVD [Formatted]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cs typeface="Calibri"/>
              </a:rPr>
              <a:t>         DTS HD MA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cs typeface="Calibri"/>
              </a:rPr>
              <a:t>         DTS HD HR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cs typeface="Calibri"/>
              </a:rPr>
              <a:t>         DTS</a:t>
            </a:r>
            <a:r>
              <a:rPr lang="en-US" dirty="0">
                <a:ea typeface="+mn-lt"/>
                <a:cs typeface="+mn-lt"/>
              </a:rPr>
              <a:t> LBR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Supported Devices : </a:t>
            </a:r>
            <a:r>
              <a:rPr lang="en-US" b="1" dirty="0">
                <a:ea typeface="+mn-lt"/>
                <a:cs typeface="+mn-lt"/>
              </a:rPr>
              <a:t>Theatres</a:t>
            </a:r>
            <a:r>
              <a:rPr lang="en-US" dirty="0">
                <a:ea typeface="+mn-lt"/>
                <a:cs typeface="+mn-lt"/>
              </a:rPr>
              <a:t>, Soundbar, AVR, Smart TV,</a:t>
            </a:r>
            <a:r>
              <a:rPr lang="en-US" dirty="0">
                <a:cs typeface="Calibri"/>
              </a:rPr>
              <a:t> Xbox Laptops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dirty="0">
                <a:cs typeface="Calibri"/>
              </a:rPr>
              <a:t>Tablets &amp; Smart</a:t>
            </a:r>
            <a:r>
              <a:rPr lang="en-US" dirty="0">
                <a:ea typeface="+mn-lt"/>
                <a:cs typeface="+mn-lt"/>
              </a:rPr>
              <a:t> Phone….. </a:t>
            </a:r>
            <a:r>
              <a:rPr lang="en-US" dirty="0" err="1">
                <a:ea typeface="+mn-lt"/>
                <a:cs typeface="+mn-lt"/>
              </a:rPr>
              <a:t>etc</a:t>
            </a:r>
            <a:endParaRPr lang="en-US" dirty="0" err="1">
              <a:cs typeface="Calibri"/>
            </a:endParaRPr>
          </a:p>
        </p:txBody>
      </p:sp>
      <p:pic>
        <p:nvPicPr>
          <p:cNvPr id="5" name="Picture 4" descr="Chart, funnel chart&#10;&#10;Description automatically generated">
            <a:extLst>
              <a:ext uri="{FF2B5EF4-FFF2-40B4-BE49-F238E27FC236}">
                <a16:creationId xmlns:a16="http://schemas.microsoft.com/office/drawing/2014/main" id="{BFC72ADD-3A14-EB92-DB6A-23821BE3AE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424" r="-678" b="21212"/>
          <a:stretch/>
        </p:blipFill>
        <p:spPr>
          <a:xfrm>
            <a:off x="4715107" y="782"/>
            <a:ext cx="2761798" cy="868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F00BCB-B435-5CE0-79F4-9563F9A33AAE}"/>
              </a:ext>
            </a:extLst>
          </p:cNvPr>
          <p:cNvSpPr txBox="1"/>
          <p:nvPr/>
        </p:nvSpPr>
        <p:spPr>
          <a:xfrm>
            <a:off x="674775" y="5754916"/>
            <a:ext cx="1071995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Note :  The Max channel support is applicable for GUL SDK implemented in Jasmin.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6436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hart, sunburst chart&#10;&#10;Description automatically generated">
            <a:extLst>
              <a:ext uri="{FF2B5EF4-FFF2-40B4-BE49-F238E27FC236}">
                <a16:creationId xmlns:a16="http://schemas.microsoft.com/office/drawing/2014/main" id="{E049730B-4A67-CDF5-EECE-AE265B60B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49" y="1103715"/>
            <a:ext cx="10158759" cy="53568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AC6F00-1A4D-DBCF-A2AD-A2553431AC58}"/>
              </a:ext>
            </a:extLst>
          </p:cNvPr>
          <p:cNvSpPr txBox="1"/>
          <p:nvPr/>
        </p:nvSpPr>
        <p:spPr>
          <a:xfrm>
            <a:off x="1073727" y="891886"/>
            <a:ext cx="180974" cy="3619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D8D46-0213-3D9C-B0C2-5B185CEACC3A}"/>
              </a:ext>
            </a:extLst>
          </p:cNvPr>
          <p:cNvSpPr txBox="1"/>
          <p:nvPr/>
        </p:nvSpPr>
        <p:spPr>
          <a:xfrm>
            <a:off x="199158" y="181841"/>
            <a:ext cx="32471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Speaker </a:t>
            </a:r>
          </a:p>
        </p:txBody>
      </p:sp>
    </p:spTree>
    <p:extLst>
      <p:ext uri="{BB962C8B-B14F-4D97-AF65-F5344CB8AC3E}">
        <p14:creationId xmlns:p14="http://schemas.microsoft.com/office/powerpoint/2010/main" val="248529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C3074054-F0EC-A5CF-AC89-8D1807D91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570" y="1338385"/>
            <a:ext cx="9517564" cy="4868886"/>
          </a:xfrm>
          <a:prstGeom prst="rect">
            <a:avLst/>
          </a:prstGeom>
        </p:spPr>
      </p:pic>
      <p:pic>
        <p:nvPicPr>
          <p:cNvPr id="5" name="Picture 4" descr="Chart, funnel chart&#10;&#10;Description automatically generated">
            <a:extLst>
              <a:ext uri="{FF2B5EF4-FFF2-40B4-BE49-F238E27FC236}">
                <a16:creationId xmlns:a16="http://schemas.microsoft.com/office/drawing/2014/main" id="{56B8AB30-AF94-1DBA-92B0-B213E0BA3C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424" r="-678" b="21212"/>
          <a:stretch/>
        </p:blipFill>
        <p:spPr>
          <a:xfrm>
            <a:off x="4715107" y="782"/>
            <a:ext cx="2761798" cy="86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18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DD75-5B5F-2A1D-6C01-387BB7F9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965" y="228600"/>
            <a:ext cx="2389684" cy="5334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Calibri"/>
              </a:rPr>
              <a:t>Dolby Vs DTS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395BD07-7F1D-F6BE-976E-45CE2B897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466792"/>
              </p:ext>
            </p:extLst>
          </p:nvPr>
        </p:nvGraphicFramePr>
        <p:xfrm>
          <a:off x="1825826" y="1633059"/>
          <a:ext cx="8168640" cy="3497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1195042377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617217618"/>
                    </a:ext>
                  </a:extLst>
                </a:gridCol>
              </a:tblGrid>
              <a:tr h="4571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+mn-cs"/>
                        </a:rPr>
                        <a:t>Dolby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+mn-cs"/>
                        </a:rPr>
                        <a:t>DTS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615923"/>
                  </a:ext>
                </a:extLst>
              </a:tr>
              <a:tr h="708643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6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bit-rate of 640 kbits/s (kilobits per second) for Blu-ray discs.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6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</a:rPr>
                        <a:t>higher bit-rates of up to 1.5Mb/s (megabits per second)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418431"/>
                  </a:ext>
                </a:extLst>
              </a:tr>
              <a:tr h="708643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600" b="0" i="0" u="none" strike="noStrike" noProof="0" dirty="0">
                          <a:latin typeface="Calibri"/>
                        </a:rPr>
                        <a:t>DVD discs, it supports a slightly lower bit-rate: up to 448 kbits/s.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600" b="0" i="0" u="none" strike="noStrike" noProof="0" dirty="0">
                          <a:latin typeface="Calibri"/>
                        </a:rPr>
                        <a:t>DVD discs also have 1.5Mb/s bit-rate, </a:t>
                      </a:r>
                      <a:r>
                        <a:rPr lang="en-US" sz="1600" b="0" i="0" u="none" strike="noStrike" noProof="0" dirty="0"/>
                        <a:t> though most have a soundtrack encoded at 754kbps.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40124"/>
                  </a:ext>
                </a:extLst>
              </a:tr>
              <a:tr h="708643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600" b="0" i="0" u="none" strike="noStrike" noProof="0" dirty="0"/>
                        <a:t>In HD formats Dolby Digital Plus supports up to 1.7Mbps.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Calibri"/>
                        </a:rPr>
                        <a:t>DTS-HD High Resolution supports up to 6Mb/s.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131770"/>
                  </a:ext>
                </a:extLst>
              </a:tr>
              <a:tr h="457189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 dirty="0"/>
                        <a:t>Dolby Lossless audio - </a:t>
                      </a:r>
                      <a:r>
                        <a:rPr lang="en-US" sz="1800" b="0" i="0" u="none" strike="noStrike" noProof="0" dirty="0" err="1"/>
                        <a:t>TrueHD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</a:rPr>
                        <a:t>DTS Lossless audio -</a:t>
                      </a: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+mn-cs"/>
                        </a:rPr>
                        <a:t> DTS Master Audio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751529"/>
                  </a:ext>
                </a:extLst>
              </a:tr>
              <a:tr h="457189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 dirty="0"/>
                        <a:t>Dolby Lossy audio – Dolby 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</a:rPr>
                        <a:t>DTS Lossy audio -</a:t>
                      </a:r>
                      <a:r>
                        <a:rPr lang="en-US" sz="1800" b="0" i="0" u="none" strike="noStrike" kern="1200" noProof="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+mn-cs"/>
                        </a:rPr>
                        <a:t> DTS CA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20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760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680B-17A7-C0F9-D3FA-7DD729F5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11328400" cy="533400"/>
          </a:xfrm>
        </p:spPr>
        <p:txBody>
          <a:bodyPr/>
          <a:lstStyle/>
          <a:p>
            <a:pPr algn="ctr"/>
            <a:r>
              <a:rPr lang="en-US" err="1">
                <a:cs typeface="Calibri"/>
              </a:rPr>
              <a:t>Upmixing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592D6B1-CA3F-5323-82FB-9391C24D6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242056"/>
              </p:ext>
            </p:extLst>
          </p:nvPr>
        </p:nvGraphicFramePr>
        <p:xfrm>
          <a:off x="2327632" y="2153450"/>
          <a:ext cx="7304410" cy="185506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52205">
                  <a:extLst>
                    <a:ext uri="{9D8B030D-6E8A-4147-A177-3AD203B41FA5}">
                      <a16:colId xmlns:a16="http://schemas.microsoft.com/office/drawing/2014/main" val="1263547645"/>
                    </a:ext>
                  </a:extLst>
                </a:gridCol>
                <a:gridCol w="3652205">
                  <a:extLst>
                    <a:ext uri="{9D8B030D-6E8A-4147-A177-3AD203B41FA5}">
                      <a16:colId xmlns:a16="http://schemas.microsoft.com/office/drawing/2014/main" val="4222174828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DECODERS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509718"/>
                  </a:ext>
                </a:extLst>
              </a:tr>
              <a:tr h="3717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PCM,MCPCM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DAP/OARI</a:t>
                      </a:r>
                    </a:p>
                    <a:p>
                      <a:pPr lvl="0" algn="ctr">
                        <a:buNone/>
                      </a:pPr>
                      <a:r>
                        <a:rPr lang="en-US" dirty="0" err="1"/>
                        <a:t>NeuralX</a:t>
                      </a:r>
                      <a:endParaRPr lang="en-US" dirty="0"/>
                    </a:p>
                    <a:p>
                      <a:pPr lvl="0" algn="ctr">
                        <a:buNone/>
                      </a:pPr>
                      <a:r>
                        <a:rPr lang="en-US" sz="1800" u="none" strike="noStrike" noProof="0" dirty="0" err="1"/>
                        <a:t>VirtualX</a:t>
                      </a:r>
                      <a:endParaRPr lang="en-US" dirty="0" err="1"/>
                    </a:p>
                    <a:p>
                      <a:pPr lvl="0" algn="ctr">
                        <a:buNone/>
                      </a:pPr>
                      <a:r>
                        <a:rPr lang="en-US" dirty="0"/>
                        <a:t>Auro 3D</a:t>
                      </a:r>
                    </a:p>
                    <a:p>
                      <a:pPr lvl="0" algn="ctr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06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DD, DDP, </a:t>
                      </a:r>
                      <a:r>
                        <a:rPr lang="en-US" dirty="0" err="1"/>
                        <a:t>TrueHD</a:t>
                      </a:r>
                      <a:r>
                        <a:rPr lang="en-US" dirty="0"/>
                        <a:t>, MAT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876183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DTS, DTSX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15071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AAC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1099126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7798545-B448-A340-D59E-FABE866D3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57827"/>
              </p:ext>
            </p:extLst>
          </p:nvPr>
        </p:nvGraphicFramePr>
        <p:xfrm>
          <a:off x="2326338" y="4627756"/>
          <a:ext cx="7350874" cy="120781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75437">
                  <a:extLst>
                    <a:ext uri="{9D8B030D-6E8A-4147-A177-3AD203B41FA5}">
                      <a16:colId xmlns:a16="http://schemas.microsoft.com/office/drawing/2014/main" val="4145316068"/>
                    </a:ext>
                  </a:extLst>
                </a:gridCol>
                <a:gridCol w="3675437">
                  <a:extLst>
                    <a:ext uri="{9D8B030D-6E8A-4147-A177-3AD203B41FA5}">
                      <a16:colId xmlns:a16="http://schemas.microsoft.com/office/drawing/2014/main" val="4094369326"/>
                    </a:ext>
                  </a:extLst>
                </a:gridCol>
              </a:tblGrid>
              <a:tr h="412798">
                <a:tc>
                  <a:txBody>
                    <a:bodyPr/>
                    <a:lstStyle/>
                    <a:p>
                      <a:r>
                        <a:rPr lang="en-US" dirty="0"/>
                        <a:t>                            DECODERS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            DEFAULT POST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72609"/>
                  </a:ext>
                </a:extLst>
              </a:tr>
              <a:tr h="3975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DD, DDP, </a:t>
                      </a:r>
                      <a:r>
                        <a:rPr lang="en-US" dirty="0" err="1"/>
                        <a:t>TrueHD</a:t>
                      </a:r>
                      <a:r>
                        <a:rPr lang="en-US" dirty="0"/>
                        <a:t>, 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DAP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002888"/>
                  </a:ext>
                </a:extLst>
              </a:tr>
              <a:tr h="3975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DTS, DTSX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NeuralX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5459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FA6652-0744-0F93-3F77-716068F32499}"/>
              </a:ext>
            </a:extLst>
          </p:cNvPr>
          <p:cNvSpPr txBox="1"/>
          <p:nvPr/>
        </p:nvSpPr>
        <p:spPr>
          <a:xfrm>
            <a:off x="845634" y="1087243"/>
            <a:ext cx="103613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Up-Mixing/Down-Mixing</a:t>
            </a:r>
            <a:r>
              <a:rPr lang="en-US" dirty="0">
                <a:cs typeface="Calibri"/>
              </a:rPr>
              <a:t>: </a:t>
            </a:r>
          </a:p>
          <a:p>
            <a:r>
              <a:rPr lang="en-US" dirty="0">
                <a:cs typeface="Calibri"/>
              </a:rPr>
              <a:t>                     Increasing/decreasing the number of channels according to the available speaker setup.</a:t>
            </a:r>
          </a:p>
        </p:txBody>
      </p:sp>
    </p:spTree>
    <p:extLst>
      <p:ext uri="{BB962C8B-B14F-4D97-AF65-F5344CB8AC3E}">
        <p14:creationId xmlns:p14="http://schemas.microsoft.com/office/powerpoint/2010/main" val="296991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6886-97C7-9DD6-C75D-4EF3EBEAF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Example: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F5B30A-D281-17D1-D352-7C6609741569}"/>
              </a:ext>
            </a:extLst>
          </p:cNvPr>
          <p:cNvGrpSpPr/>
          <p:nvPr/>
        </p:nvGrpSpPr>
        <p:grpSpPr>
          <a:xfrm>
            <a:off x="594731" y="2083884"/>
            <a:ext cx="10602951" cy="910682"/>
            <a:chOff x="362414" y="2527610"/>
            <a:chExt cx="10602951" cy="91068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806B9F-FFB8-6757-0011-0528774DC4FE}"/>
                </a:ext>
              </a:extLst>
            </p:cNvPr>
            <p:cNvSpPr txBox="1"/>
            <p:nvPr/>
          </p:nvSpPr>
          <p:spPr>
            <a:xfrm>
              <a:off x="4776438" y="2657708"/>
              <a:ext cx="156117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cs typeface="Calibri"/>
                </a:rPr>
                <a:t>(De-coded)</a:t>
              </a:r>
            </a:p>
            <a:p>
              <a:r>
                <a:rPr lang="en-US" dirty="0">
                  <a:cs typeface="Calibri"/>
                </a:rPr>
                <a:t>Audio content</a:t>
              </a:r>
              <a:endParaRPr lang="en-US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06549DD-89AE-F3B3-6B74-D97619405495}"/>
                </a:ext>
              </a:extLst>
            </p:cNvPr>
            <p:cNvSpPr/>
            <p:nvPr/>
          </p:nvSpPr>
          <p:spPr>
            <a:xfrm>
              <a:off x="2739483" y="2527610"/>
              <a:ext cx="1923584" cy="91068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dirty="0">
                  <a:cs typeface="Calibri"/>
                </a:rPr>
                <a:t>Decoder</a:t>
              </a:r>
            </a:p>
            <a:p>
              <a:pPr algn="ctr"/>
              <a:r>
                <a:rPr lang="en-US" sz="1600" dirty="0">
                  <a:cs typeface="Calibri"/>
                </a:rPr>
                <a:t>(DD/DDP/</a:t>
              </a:r>
              <a:r>
                <a:rPr lang="en-US" sz="1600" dirty="0" err="1">
                  <a:cs typeface="Calibri"/>
                </a:rPr>
                <a:t>TrueHD</a:t>
              </a:r>
              <a:r>
                <a:rPr lang="en-US" sz="1600" dirty="0">
                  <a:cs typeface="Calibri"/>
                </a:rPr>
                <a:t>/MAT)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E544AEB-937D-2743-68C6-48E63B0C586D}"/>
                </a:ext>
              </a:extLst>
            </p:cNvPr>
            <p:cNvSpPr/>
            <p:nvPr/>
          </p:nvSpPr>
          <p:spPr>
            <a:xfrm>
              <a:off x="6403334" y="2527610"/>
              <a:ext cx="1923584" cy="910682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dirty="0">
                  <a:cs typeface="Calibri"/>
                </a:rPr>
                <a:t>Post Processing</a:t>
              </a:r>
            </a:p>
            <a:p>
              <a:pPr algn="ctr"/>
              <a:r>
                <a:rPr lang="en-US" sz="1400" dirty="0">
                  <a:cs typeface="Calibri"/>
                </a:rPr>
                <a:t>(</a:t>
              </a:r>
              <a:r>
                <a:rPr lang="en-US" sz="1400" dirty="0">
                  <a:ea typeface="+mn-lt"/>
                  <a:cs typeface="+mn-lt"/>
                </a:rPr>
                <a:t>DAP/</a:t>
              </a:r>
              <a:r>
                <a:rPr lang="en-US" sz="1400" dirty="0">
                  <a:cs typeface="Calibri"/>
                </a:rPr>
                <a:t>OARI)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90B052E4-8F33-BA8E-C4B7-06AC265395F7}"/>
                </a:ext>
              </a:extLst>
            </p:cNvPr>
            <p:cNvSpPr/>
            <p:nvPr/>
          </p:nvSpPr>
          <p:spPr>
            <a:xfrm>
              <a:off x="1725938" y="2908610"/>
              <a:ext cx="975731" cy="148683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BFE8A1BF-03E0-3A00-9906-E5B900BDA105}"/>
                </a:ext>
              </a:extLst>
            </p:cNvPr>
            <p:cNvSpPr/>
            <p:nvPr/>
          </p:nvSpPr>
          <p:spPr>
            <a:xfrm>
              <a:off x="4876157" y="2908610"/>
              <a:ext cx="1375316" cy="148683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A69152C8-0915-9EB1-A743-CBAAD0D5885C}"/>
                </a:ext>
              </a:extLst>
            </p:cNvPr>
            <p:cNvSpPr/>
            <p:nvPr/>
          </p:nvSpPr>
          <p:spPr>
            <a:xfrm>
              <a:off x="8388792" y="2908610"/>
              <a:ext cx="975731" cy="148683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9011E9-D17D-294A-C501-71B109D4D881}"/>
                </a:ext>
              </a:extLst>
            </p:cNvPr>
            <p:cNvSpPr txBox="1"/>
            <p:nvPr/>
          </p:nvSpPr>
          <p:spPr>
            <a:xfrm>
              <a:off x="362414" y="2648415"/>
              <a:ext cx="157975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cs typeface="Calibri"/>
                </a:rPr>
                <a:t>Audio Input (En-coded)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2BC286-26E1-1C7F-6A16-AA91BD6D9EDE}"/>
                </a:ext>
              </a:extLst>
            </p:cNvPr>
            <p:cNvSpPr txBox="1"/>
            <p:nvPr/>
          </p:nvSpPr>
          <p:spPr>
            <a:xfrm>
              <a:off x="9385609" y="2787805"/>
              <a:ext cx="157975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cs typeface="Calibri"/>
                </a:rPr>
                <a:t>Audio Output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D136BBA-7D3F-7A7A-808E-5FC8D8D5EE99}"/>
              </a:ext>
            </a:extLst>
          </p:cNvPr>
          <p:cNvGrpSpPr/>
          <p:nvPr/>
        </p:nvGrpSpPr>
        <p:grpSpPr>
          <a:xfrm>
            <a:off x="594730" y="4101452"/>
            <a:ext cx="10602951" cy="910682"/>
            <a:chOff x="362414" y="2527610"/>
            <a:chExt cx="10602951" cy="91068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6BD088-2122-705E-0D85-A5FB42A14719}"/>
                </a:ext>
              </a:extLst>
            </p:cNvPr>
            <p:cNvSpPr txBox="1"/>
            <p:nvPr/>
          </p:nvSpPr>
          <p:spPr>
            <a:xfrm>
              <a:off x="4776438" y="2657708"/>
              <a:ext cx="156117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cs typeface="Calibri"/>
                </a:rPr>
                <a:t>(De-coded)</a:t>
              </a:r>
            </a:p>
            <a:p>
              <a:r>
                <a:rPr lang="en-US" dirty="0">
                  <a:cs typeface="Calibri"/>
                </a:rPr>
                <a:t>Audio content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C2CBA4-1458-943B-E7BF-29BF80188ABC}"/>
                </a:ext>
              </a:extLst>
            </p:cNvPr>
            <p:cNvSpPr/>
            <p:nvPr/>
          </p:nvSpPr>
          <p:spPr>
            <a:xfrm>
              <a:off x="2739483" y="2527610"/>
              <a:ext cx="1923584" cy="91068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dirty="0">
                  <a:cs typeface="Calibri"/>
                </a:rPr>
                <a:t>Decoder</a:t>
              </a:r>
            </a:p>
            <a:p>
              <a:pPr algn="ctr"/>
              <a:r>
                <a:rPr lang="en-US" sz="1600" dirty="0">
                  <a:cs typeface="Calibri"/>
                </a:rPr>
                <a:t>(DTS, DTS:X)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AC7F97-125E-84D3-42BE-BC398A5C1C28}"/>
                </a:ext>
              </a:extLst>
            </p:cNvPr>
            <p:cNvSpPr/>
            <p:nvPr/>
          </p:nvSpPr>
          <p:spPr>
            <a:xfrm>
              <a:off x="6386015" y="2527610"/>
              <a:ext cx="1923584" cy="910682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dirty="0">
                  <a:cs typeface="Calibri"/>
                </a:rPr>
                <a:t>Post Processing</a:t>
              </a:r>
            </a:p>
            <a:p>
              <a:pPr algn="ctr"/>
              <a:r>
                <a:rPr lang="en-US" sz="1400" dirty="0">
                  <a:cs typeface="Calibri"/>
                </a:rPr>
                <a:t>(</a:t>
              </a:r>
              <a:r>
                <a:rPr lang="en-US" sz="1400" dirty="0" err="1">
                  <a:ea typeface="+mn-lt"/>
                  <a:cs typeface="+mn-lt"/>
                </a:rPr>
                <a:t>NeuralX</a:t>
              </a:r>
              <a:r>
                <a:rPr lang="en-US" sz="1400" dirty="0">
                  <a:ea typeface="+mn-lt"/>
                  <a:cs typeface="+mn-lt"/>
                </a:rPr>
                <a:t>/</a:t>
              </a:r>
              <a:r>
                <a:rPr lang="en-US" sz="1400" dirty="0" err="1">
                  <a:ea typeface="+mn-lt"/>
                  <a:cs typeface="+mn-lt"/>
                </a:rPr>
                <a:t>VirtualX</a:t>
              </a:r>
            </a:p>
            <a:p>
              <a:pPr algn="ctr"/>
              <a:r>
                <a:rPr lang="en-US" sz="1400" dirty="0">
                  <a:ea typeface="+mn-lt"/>
                  <a:cs typeface="+mn-lt"/>
                </a:rPr>
                <a:t>/</a:t>
              </a:r>
              <a:r>
                <a:rPr lang="en-US" sz="1400" dirty="0" err="1">
                  <a:ea typeface="+mn-lt"/>
                  <a:cs typeface="+mn-lt"/>
                </a:rPr>
                <a:t>Trubass</a:t>
              </a:r>
              <a:r>
                <a:rPr lang="en-US" sz="1400" dirty="0">
                  <a:ea typeface="+mn-lt"/>
                  <a:cs typeface="+mn-lt"/>
                </a:rPr>
                <a:t>)</a:t>
              </a:r>
              <a:endParaRPr lang="en-US" sz="1400">
                <a:cs typeface="Calibri"/>
              </a:endParaRP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5AF3EC96-77AB-87BD-B813-D2C764F7F2BA}"/>
                </a:ext>
              </a:extLst>
            </p:cNvPr>
            <p:cNvSpPr/>
            <p:nvPr/>
          </p:nvSpPr>
          <p:spPr>
            <a:xfrm>
              <a:off x="1725938" y="2908610"/>
              <a:ext cx="975731" cy="148683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177E11C3-7BE6-FB9B-AA1A-3BB71EC8B684}"/>
                </a:ext>
              </a:extLst>
            </p:cNvPr>
            <p:cNvSpPr/>
            <p:nvPr/>
          </p:nvSpPr>
          <p:spPr>
            <a:xfrm>
              <a:off x="4876157" y="2908610"/>
              <a:ext cx="1375316" cy="148683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CC8542CD-AB90-C4A3-CEF4-8322915D1475}"/>
                </a:ext>
              </a:extLst>
            </p:cNvPr>
            <p:cNvSpPr/>
            <p:nvPr/>
          </p:nvSpPr>
          <p:spPr>
            <a:xfrm>
              <a:off x="8388792" y="2908610"/>
              <a:ext cx="975731" cy="148683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DFE133-E482-7F8E-C9E6-14B0B95CD14D}"/>
                </a:ext>
              </a:extLst>
            </p:cNvPr>
            <p:cNvSpPr txBox="1"/>
            <p:nvPr/>
          </p:nvSpPr>
          <p:spPr>
            <a:xfrm>
              <a:off x="362414" y="2648415"/>
              <a:ext cx="157975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cs typeface="Calibri"/>
                </a:rPr>
                <a:t>Audio Input (En-coded)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99DC87-DEB2-0C1C-1D5A-975EAD3DE46E}"/>
                </a:ext>
              </a:extLst>
            </p:cNvPr>
            <p:cNvSpPr txBox="1"/>
            <p:nvPr/>
          </p:nvSpPr>
          <p:spPr>
            <a:xfrm>
              <a:off x="9385609" y="2787805"/>
              <a:ext cx="157975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cs typeface="Calibri"/>
                </a:rPr>
                <a:t>Audio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424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BE3A-F55A-C4F2-AA26-67FEEDB5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024" y="247185"/>
            <a:ext cx="5994400" cy="533400"/>
          </a:xfrm>
        </p:spPr>
        <p:txBody>
          <a:bodyPr/>
          <a:lstStyle/>
          <a:p>
            <a:r>
              <a:rPr lang="en-US">
                <a:cs typeface="Calibri"/>
              </a:rPr>
              <a:t>              Cross </a:t>
            </a:r>
            <a:r>
              <a:rPr lang="en-US" err="1">
                <a:cs typeface="Calibri"/>
              </a:rPr>
              <a:t>upmixing</a:t>
            </a:r>
            <a:endParaRPr lang="en-US" err="1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B99AC059-1C1D-8C03-CB06-0F7313D50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826395"/>
              </p:ext>
            </p:extLst>
          </p:nvPr>
        </p:nvGraphicFramePr>
        <p:xfrm>
          <a:off x="1793487" y="2137316"/>
          <a:ext cx="8215102" cy="14899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7551">
                  <a:extLst>
                    <a:ext uri="{9D8B030D-6E8A-4147-A177-3AD203B41FA5}">
                      <a16:colId xmlns:a16="http://schemas.microsoft.com/office/drawing/2014/main" val="4145316068"/>
                    </a:ext>
                  </a:extLst>
                </a:gridCol>
                <a:gridCol w="4107551">
                  <a:extLst>
                    <a:ext uri="{9D8B030D-6E8A-4147-A177-3AD203B41FA5}">
                      <a16:colId xmlns:a16="http://schemas.microsoft.com/office/drawing/2014/main" val="4094369326"/>
                    </a:ext>
                  </a:extLst>
                </a:gridCol>
              </a:tblGrid>
              <a:tr h="436756">
                <a:tc>
                  <a:txBody>
                    <a:bodyPr/>
                    <a:lstStyle/>
                    <a:p>
                      <a:r>
                        <a:rPr lang="en-US" dirty="0"/>
                        <a:t>                            DECODERS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            CROSS POST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72609"/>
                  </a:ext>
                </a:extLst>
              </a:tr>
              <a:tr h="5265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DD, DDP, </a:t>
                      </a:r>
                      <a:r>
                        <a:rPr lang="en-US" dirty="0" err="1"/>
                        <a:t>TrueHD</a:t>
                      </a:r>
                      <a:r>
                        <a:rPr lang="en-US" dirty="0"/>
                        <a:t>, 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 err="1"/>
                        <a:t>NeuralX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VirtualX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002888"/>
                  </a:ext>
                </a:extLst>
              </a:tr>
              <a:tr h="5265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DTSX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DAP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545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132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2DD7-1125-A0DA-E870-D1D64F8D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Example:</a:t>
            </a:r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B8FC49A-ED1F-098F-FD35-3032772F167C}"/>
              </a:ext>
            </a:extLst>
          </p:cNvPr>
          <p:cNvGrpSpPr/>
          <p:nvPr/>
        </p:nvGrpSpPr>
        <p:grpSpPr>
          <a:xfrm>
            <a:off x="594731" y="2083884"/>
            <a:ext cx="10602951" cy="910682"/>
            <a:chOff x="362414" y="2527610"/>
            <a:chExt cx="10602951" cy="91068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167261-67C8-601A-7E8C-9F5A915F77B1}"/>
                </a:ext>
              </a:extLst>
            </p:cNvPr>
            <p:cNvSpPr txBox="1"/>
            <p:nvPr/>
          </p:nvSpPr>
          <p:spPr>
            <a:xfrm>
              <a:off x="4776438" y="2657708"/>
              <a:ext cx="156117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cs typeface="Calibri"/>
                </a:rPr>
                <a:t>(De-coded)</a:t>
              </a:r>
            </a:p>
            <a:p>
              <a:r>
                <a:rPr lang="en-US" dirty="0">
                  <a:cs typeface="Calibri"/>
                </a:rPr>
                <a:t>Audio content</a:t>
              </a:r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75ED321-A49D-BA99-081C-7F421EFAB2A8}"/>
                </a:ext>
              </a:extLst>
            </p:cNvPr>
            <p:cNvSpPr/>
            <p:nvPr/>
          </p:nvSpPr>
          <p:spPr>
            <a:xfrm>
              <a:off x="2739483" y="2527610"/>
              <a:ext cx="1923584" cy="91068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dirty="0">
                  <a:cs typeface="Calibri"/>
                </a:rPr>
                <a:t>Decoder</a:t>
              </a:r>
            </a:p>
            <a:p>
              <a:pPr algn="ctr"/>
              <a:r>
                <a:rPr lang="en-US" sz="1600" dirty="0">
                  <a:cs typeface="Calibri"/>
                </a:rPr>
                <a:t>(DD/DDP/</a:t>
              </a:r>
              <a:r>
                <a:rPr lang="en-US" sz="1600" dirty="0" err="1">
                  <a:cs typeface="Calibri"/>
                </a:rPr>
                <a:t>TrueHD</a:t>
              </a:r>
              <a:r>
                <a:rPr lang="en-US" sz="1600" dirty="0">
                  <a:cs typeface="Calibri"/>
                </a:rPr>
                <a:t>/MAT)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D58215-7847-55CC-2AD7-61119899DEB4}"/>
                </a:ext>
              </a:extLst>
            </p:cNvPr>
            <p:cNvSpPr/>
            <p:nvPr/>
          </p:nvSpPr>
          <p:spPr>
            <a:xfrm>
              <a:off x="6437970" y="2527610"/>
              <a:ext cx="1923584" cy="910682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dirty="0">
                  <a:solidFill>
                    <a:schemeClr val="dk1"/>
                  </a:solidFill>
                  <a:cs typeface="Calibri"/>
                </a:rPr>
                <a:t>Post Processing</a:t>
              </a:r>
            </a:p>
            <a:p>
              <a:pPr algn="ctr"/>
              <a:r>
                <a:rPr lang="en-US" sz="1400" dirty="0">
                  <a:solidFill>
                    <a:schemeClr val="dk1"/>
                  </a:solidFill>
                  <a:cs typeface="Calibri"/>
                </a:rPr>
                <a:t>(</a:t>
              </a:r>
              <a:r>
                <a:rPr lang="en-US" sz="1400" dirty="0" err="1">
                  <a:solidFill>
                    <a:schemeClr val="dk1"/>
                  </a:solidFill>
                  <a:cs typeface="Calibri"/>
                </a:rPr>
                <a:t>NeuralX</a:t>
              </a:r>
              <a:r>
                <a:rPr lang="en-US" sz="1400" dirty="0">
                  <a:solidFill>
                    <a:schemeClr val="dk1"/>
                  </a:solidFill>
                  <a:cs typeface="Calibri"/>
                </a:rPr>
                <a:t>/</a:t>
              </a:r>
              <a:r>
                <a:rPr lang="en-US" sz="1400" dirty="0" err="1">
                  <a:solidFill>
                    <a:schemeClr val="dk1"/>
                  </a:solidFill>
                  <a:cs typeface="Calibri"/>
                </a:rPr>
                <a:t>VirtualX</a:t>
              </a:r>
              <a:r>
                <a:rPr lang="en-US" sz="1400" dirty="0">
                  <a:solidFill>
                    <a:schemeClr val="dk1"/>
                  </a:solidFill>
                  <a:cs typeface="Calibri"/>
                </a:rPr>
                <a:t>/</a:t>
              </a:r>
            </a:p>
            <a:p>
              <a:pPr algn="ctr"/>
              <a:r>
                <a:rPr lang="en-US" sz="1400" dirty="0" err="1">
                  <a:solidFill>
                    <a:schemeClr val="dk1"/>
                  </a:solidFill>
                  <a:cs typeface="Calibri"/>
                </a:rPr>
                <a:t>Trubass</a:t>
              </a:r>
              <a:r>
                <a:rPr lang="en-US" sz="1400" dirty="0">
                  <a:solidFill>
                    <a:schemeClr val="dk1"/>
                  </a:solidFill>
                  <a:cs typeface="Calibri"/>
                </a:rPr>
                <a:t>)</a:t>
              </a:r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A956944E-8411-033E-D49C-3D7895993B29}"/>
                </a:ext>
              </a:extLst>
            </p:cNvPr>
            <p:cNvSpPr/>
            <p:nvPr/>
          </p:nvSpPr>
          <p:spPr>
            <a:xfrm>
              <a:off x="1725938" y="2908610"/>
              <a:ext cx="975731" cy="148683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A2F25F54-AD5C-36E2-F761-0B627CE73678}"/>
                </a:ext>
              </a:extLst>
            </p:cNvPr>
            <p:cNvSpPr/>
            <p:nvPr/>
          </p:nvSpPr>
          <p:spPr>
            <a:xfrm>
              <a:off x="4876157" y="2908610"/>
              <a:ext cx="1375316" cy="148683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DF511AE9-68C7-571A-97E6-790CDE9FC3F3}"/>
                </a:ext>
              </a:extLst>
            </p:cNvPr>
            <p:cNvSpPr/>
            <p:nvPr/>
          </p:nvSpPr>
          <p:spPr>
            <a:xfrm>
              <a:off x="8388792" y="2908610"/>
              <a:ext cx="975731" cy="148683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277BD01-2AA7-240B-0E11-96262D35AD9C}"/>
                </a:ext>
              </a:extLst>
            </p:cNvPr>
            <p:cNvSpPr txBox="1"/>
            <p:nvPr/>
          </p:nvSpPr>
          <p:spPr>
            <a:xfrm>
              <a:off x="362414" y="2648415"/>
              <a:ext cx="157975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cs typeface="Calibri"/>
                </a:rPr>
                <a:t>Audio Input (En-coded)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03C801-571C-306C-12BD-00E640B7264F}"/>
                </a:ext>
              </a:extLst>
            </p:cNvPr>
            <p:cNvSpPr txBox="1"/>
            <p:nvPr/>
          </p:nvSpPr>
          <p:spPr>
            <a:xfrm>
              <a:off x="9385609" y="2787805"/>
              <a:ext cx="157975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cs typeface="Calibri"/>
                </a:rPr>
                <a:t>Audio Output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E50D8A6-E2C5-B091-9B33-76AE12EB5403}"/>
              </a:ext>
            </a:extLst>
          </p:cNvPr>
          <p:cNvGrpSpPr/>
          <p:nvPr/>
        </p:nvGrpSpPr>
        <p:grpSpPr>
          <a:xfrm>
            <a:off x="594730" y="4101452"/>
            <a:ext cx="10602951" cy="910682"/>
            <a:chOff x="362414" y="2527610"/>
            <a:chExt cx="10602951" cy="91068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08216F-F7F2-4715-991F-82B22FCEBB6C}"/>
                </a:ext>
              </a:extLst>
            </p:cNvPr>
            <p:cNvSpPr txBox="1"/>
            <p:nvPr/>
          </p:nvSpPr>
          <p:spPr>
            <a:xfrm>
              <a:off x="4776438" y="2657708"/>
              <a:ext cx="156117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cs typeface="Calibri"/>
                </a:rPr>
                <a:t>(De-coded)</a:t>
              </a:r>
            </a:p>
            <a:p>
              <a:r>
                <a:rPr lang="en-US" dirty="0">
                  <a:cs typeface="Calibri"/>
                </a:rPr>
                <a:t>Audio content</a:t>
              </a:r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715FADF-3128-B522-98F5-771D780DCB94}"/>
                </a:ext>
              </a:extLst>
            </p:cNvPr>
            <p:cNvSpPr/>
            <p:nvPr/>
          </p:nvSpPr>
          <p:spPr>
            <a:xfrm>
              <a:off x="2739483" y="2527610"/>
              <a:ext cx="1923584" cy="91068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dirty="0">
                  <a:cs typeface="Calibri"/>
                </a:rPr>
                <a:t>Decoder</a:t>
              </a:r>
            </a:p>
            <a:p>
              <a:pPr algn="ctr"/>
              <a:r>
                <a:rPr lang="en-US" sz="1600" dirty="0">
                  <a:cs typeface="Calibri"/>
                </a:rPr>
                <a:t>(DTS, DTS:X)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DB5707A-5F51-2E28-A2C9-42DEAEE49759}"/>
                </a:ext>
              </a:extLst>
            </p:cNvPr>
            <p:cNvSpPr/>
            <p:nvPr/>
          </p:nvSpPr>
          <p:spPr>
            <a:xfrm>
              <a:off x="6437970" y="2527610"/>
              <a:ext cx="1923584" cy="910682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dirty="0">
                  <a:solidFill>
                    <a:schemeClr val="dk1"/>
                  </a:solidFill>
                  <a:cs typeface="Calibri"/>
                </a:rPr>
                <a:t>Post Processing</a:t>
              </a:r>
            </a:p>
            <a:p>
              <a:pPr algn="ctr"/>
              <a:r>
                <a:rPr lang="en-US" sz="1400" dirty="0">
                  <a:solidFill>
                    <a:schemeClr val="dk1"/>
                  </a:solidFill>
                  <a:cs typeface="Calibri"/>
                </a:rPr>
                <a:t>(DAP/OARI)</a:t>
              </a:r>
              <a:endParaRPr lang="en-US" sz="1400">
                <a:solidFill>
                  <a:schemeClr val="dk1"/>
                </a:solidFill>
                <a:cs typeface="Calibri"/>
              </a:endParaRPr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38698195-86C4-42C5-8210-E2C51B3469BF}"/>
                </a:ext>
              </a:extLst>
            </p:cNvPr>
            <p:cNvSpPr/>
            <p:nvPr/>
          </p:nvSpPr>
          <p:spPr>
            <a:xfrm>
              <a:off x="1725938" y="2908610"/>
              <a:ext cx="975731" cy="148683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6CACFC05-9001-E578-306B-D56A6AEC9AED}"/>
                </a:ext>
              </a:extLst>
            </p:cNvPr>
            <p:cNvSpPr/>
            <p:nvPr/>
          </p:nvSpPr>
          <p:spPr>
            <a:xfrm>
              <a:off x="4876157" y="2908610"/>
              <a:ext cx="1375316" cy="148683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A4C8C8D1-0AD4-F740-15F8-6BBDAD872CCF}"/>
                </a:ext>
              </a:extLst>
            </p:cNvPr>
            <p:cNvSpPr/>
            <p:nvPr/>
          </p:nvSpPr>
          <p:spPr>
            <a:xfrm>
              <a:off x="8388792" y="2908610"/>
              <a:ext cx="975731" cy="148683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2AC6F86-F943-79EF-3011-7B6F9488117A}"/>
                </a:ext>
              </a:extLst>
            </p:cNvPr>
            <p:cNvSpPr txBox="1"/>
            <p:nvPr/>
          </p:nvSpPr>
          <p:spPr>
            <a:xfrm>
              <a:off x="362414" y="2648415"/>
              <a:ext cx="157975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cs typeface="Calibri"/>
                </a:rPr>
                <a:t>Audio Input (En-coded)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1DFE1F-F48E-D8DC-51BE-C30C5EBD52A7}"/>
                </a:ext>
              </a:extLst>
            </p:cNvPr>
            <p:cNvSpPr txBox="1"/>
            <p:nvPr/>
          </p:nvSpPr>
          <p:spPr>
            <a:xfrm>
              <a:off x="9385609" y="2787805"/>
              <a:ext cx="157975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cs typeface="Calibri"/>
                </a:rPr>
                <a:t>Audio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3342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6569-17A4-0A95-57CD-BB4D184E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97" y="239111"/>
            <a:ext cx="5994400" cy="533400"/>
          </a:xfrm>
        </p:spPr>
        <p:txBody>
          <a:bodyPr/>
          <a:lstStyle/>
          <a:p>
            <a:r>
              <a:rPr lang="en-US" dirty="0"/>
              <a:t>Host Control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7276B-4962-150A-09DB-C74E25DE108E}"/>
              </a:ext>
            </a:extLst>
          </p:cNvPr>
          <p:cNvSpPr/>
          <p:nvPr/>
        </p:nvSpPr>
        <p:spPr>
          <a:xfrm>
            <a:off x="4396637" y="2518318"/>
            <a:ext cx="1923584" cy="9106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cs typeface="Calibri"/>
              </a:rPr>
              <a:t>Blackfin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4F4E8-95A4-7D1A-790A-A8CF318361E2}"/>
              </a:ext>
            </a:extLst>
          </p:cNvPr>
          <p:cNvSpPr/>
          <p:nvPr/>
        </p:nvSpPr>
        <p:spPr>
          <a:xfrm>
            <a:off x="7008058" y="2518318"/>
            <a:ext cx="1923584" cy="9106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cs typeface="Calibri"/>
              </a:rPr>
              <a:t>DSP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141E7F-BF30-52F5-BA3B-B4495F97D629}"/>
              </a:ext>
            </a:extLst>
          </p:cNvPr>
          <p:cNvSpPr/>
          <p:nvPr/>
        </p:nvSpPr>
        <p:spPr>
          <a:xfrm>
            <a:off x="1456082" y="2518318"/>
            <a:ext cx="1923584" cy="9106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cs typeface="Calibri"/>
              </a:rPr>
              <a:t>GUI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A328C4-1528-FECC-28DE-26C2A6710F8D}"/>
              </a:ext>
            </a:extLst>
          </p:cNvPr>
          <p:cNvSpPr/>
          <p:nvPr/>
        </p:nvSpPr>
        <p:spPr>
          <a:xfrm>
            <a:off x="4067503" y="2028497"/>
            <a:ext cx="5244663" cy="18558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ED97F5-18E3-7F3D-418D-35B0E7937B9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379666" y="2973659"/>
            <a:ext cx="6878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CB3F53-CFEA-5014-2316-B853A79A1872}"/>
              </a:ext>
            </a:extLst>
          </p:cNvPr>
          <p:cNvCxnSpPr>
            <a:cxnSpLocks/>
          </p:cNvCxnSpPr>
          <p:nvPr/>
        </p:nvCxnSpPr>
        <p:spPr>
          <a:xfrm>
            <a:off x="6320221" y="2973659"/>
            <a:ext cx="6878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3B3C87-8DCD-AE1F-703F-4D5CAB71B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339" y="4374166"/>
            <a:ext cx="8129481" cy="171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346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F80C-4393-0B46-2CB9-2C402C2C1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31" y="228600"/>
            <a:ext cx="5399669" cy="533400"/>
          </a:xfrm>
        </p:spPr>
        <p:txBody>
          <a:bodyPr/>
          <a:lstStyle/>
          <a:p>
            <a:r>
              <a:rPr lang="en-US">
                <a:cs typeface="Calibri"/>
              </a:rPr>
              <a:t>Command Protocol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2968DB-98F9-EC9E-3B3C-4B1BD87AE4A1}"/>
              </a:ext>
            </a:extLst>
          </p:cNvPr>
          <p:cNvSpPr txBox="1">
            <a:spLocks/>
          </p:cNvSpPr>
          <p:nvPr/>
        </p:nvSpPr>
        <p:spPr>
          <a:xfrm>
            <a:off x="594014" y="1385455"/>
            <a:ext cx="9717808" cy="4248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180C6-9902-59F6-C5C4-8B46B8422C95}"/>
              </a:ext>
            </a:extLst>
          </p:cNvPr>
          <p:cNvSpPr txBox="1"/>
          <p:nvPr/>
        </p:nvSpPr>
        <p:spPr>
          <a:xfrm>
            <a:off x="1509215" y="1382074"/>
            <a:ext cx="3477786" cy="434734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User commands ( TTL )</a:t>
            </a:r>
          </a:p>
          <a:p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 </a:t>
            </a:r>
            <a:r>
              <a:rPr lang="en-US" sz="1200" dirty="0" err="1">
                <a:ea typeface="+mn-lt"/>
                <a:cs typeface="+mn-lt"/>
              </a:rPr>
              <a:t>mpause</a:t>
            </a:r>
            <a:r>
              <a:rPr lang="en-US" sz="1200" dirty="0">
                <a:ea typeface="+mn-lt"/>
                <a:cs typeface="+mn-lt"/>
              </a:rPr>
              <a:t> 2000        </a:t>
            </a:r>
          </a:p>
          <a:p>
            <a:r>
              <a:rPr lang="en-US" sz="1200" dirty="0">
                <a:ea typeface="+mn-lt"/>
                <a:cs typeface="+mn-lt"/>
              </a:rPr>
              <a:t>        </a:t>
            </a:r>
            <a:r>
              <a:rPr lang="en-US" sz="1200" dirty="0" err="1">
                <a:ea typeface="+mn-lt"/>
                <a:cs typeface="+mn-lt"/>
              </a:rPr>
              <a:t>sendln</a:t>
            </a:r>
            <a:r>
              <a:rPr lang="en-US" sz="1200" dirty="0">
                <a:ea typeface="+mn-lt"/>
                <a:cs typeface="+mn-lt"/>
              </a:rPr>
              <a:t> '0x20000003'                 //STOP</a:t>
            </a:r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 </a:t>
            </a:r>
          </a:p>
          <a:p>
            <a:r>
              <a:rPr lang="en-US" sz="1200" dirty="0">
                <a:ea typeface="+mn-lt"/>
                <a:cs typeface="+mn-lt"/>
              </a:rPr>
              <a:t>        </a:t>
            </a:r>
            <a:r>
              <a:rPr lang="en-US" sz="1200" dirty="0" err="1">
                <a:ea typeface="+mn-lt"/>
                <a:cs typeface="+mn-lt"/>
              </a:rPr>
              <a:t>mpause</a:t>
            </a:r>
            <a:r>
              <a:rPr lang="en-US" sz="1200" dirty="0">
                <a:ea typeface="+mn-lt"/>
                <a:cs typeface="+mn-lt"/>
              </a:rPr>
              <a:t> 2000</a:t>
            </a:r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 </a:t>
            </a:r>
            <a:r>
              <a:rPr lang="en-US" sz="1200" dirty="0" err="1">
                <a:ea typeface="+mn-lt"/>
                <a:cs typeface="+mn-lt"/>
              </a:rPr>
              <a:t>sendln</a:t>
            </a:r>
            <a:r>
              <a:rPr lang="en-US" sz="1200" dirty="0">
                <a:ea typeface="+mn-lt"/>
                <a:cs typeface="+mn-lt"/>
              </a:rPr>
              <a:t> '0x20010010'  </a:t>
            </a:r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 </a:t>
            </a:r>
            <a:r>
              <a:rPr lang="en-US" sz="1200" dirty="0" err="1">
                <a:ea typeface="+mn-lt"/>
                <a:cs typeface="+mn-lt"/>
              </a:rPr>
              <a:t>mpause</a:t>
            </a:r>
            <a:r>
              <a:rPr lang="en-US" sz="1200" dirty="0">
                <a:ea typeface="+mn-lt"/>
                <a:cs typeface="+mn-lt"/>
              </a:rPr>
              <a:t> 2000        </a:t>
            </a:r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 </a:t>
            </a:r>
            <a:r>
              <a:rPr lang="en-US" sz="1200" dirty="0" err="1">
                <a:ea typeface="+mn-lt"/>
                <a:cs typeface="+mn-lt"/>
              </a:rPr>
              <a:t>sendln</a:t>
            </a:r>
            <a:r>
              <a:rPr lang="en-US" sz="1200" dirty="0">
                <a:ea typeface="+mn-lt"/>
                <a:cs typeface="+mn-lt"/>
              </a:rPr>
              <a:t> '0x20020021' </a:t>
            </a:r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 </a:t>
            </a:r>
            <a:r>
              <a:rPr lang="en-US" sz="1200" dirty="0" err="1">
                <a:ea typeface="+mn-lt"/>
                <a:cs typeface="+mn-lt"/>
              </a:rPr>
              <a:t>mpause</a:t>
            </a:r>
            <a:r>
              <a:rPr lang="en-US" sz="1200" dirty="0">
                <a:ea typeface="+mn-lt"/>
                <a:cs typeface="+mn-lt"/>
              </a:rPr>
              <a:t> 2000        </a:t>
            </a:r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 </a:t>
            </a:r>
            <a:r>
              <a:rPr lang="en-US" sz="1200" err="1">
                <a:ea typeface="+mn-lt"/>
                <a:cs typeface="+mn-lt"/>
              </a:rPr>
              <a:t>sendln</a:t>
            </a:r>
            <a:r>
              <a:rPr lang="en-US" sz="1200" dirty="0">
                <a:ea typeface="+mn-lt"/>
                <a:cs typeface="+mn-lt"/>
              </a:rPr>
              <a:t> '0x20030000' </a:t>
            </a:r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 </a:t>
            </a:r>
            <a:r>
              <a:rPr lang="en-US" sz="1200" err="1">
                <a:ea typeface="+mn-lt"/>
                <a:cs typeface="+mn-lt"/>
              </a:rPr>
              <a:t>mpause</a:t>
            </a:r>
            <a:r>
              <a:rPr lang="en-US" sz="1200" dirty="0">
                <a:ea typeface="+mn-lt"/>
                <a:cs typeface="+mn-lt"/>
              </a:rPr>
              <a:t> 2000        </a:t>
            </a:r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 </a:t>
            </a:r>
            <a:r>
              <a:rPr lang="en-US" sz="1200" err="1">
                <a:ea typeface="+mn-lt"/>
                <a:cs typeface="+mn-lt"/>
              </a:rPr>
              <a:t>sendln</a:t>
            </a:r>
            <a:r>
              <a:rPr lang="en-US" sz="1200" dirty="0">
                <a:ea typeface="+mn-lt"/>
                <a:cs typeface="+mn-lt"/>
              </a:rPr>
              <a:t> '0x20000010'                //GDO </a:t>
            </a:r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       </a:t>
            </a:r>
            <a:r>
              <a:rPr lang="en-US" sz="1200" err="1">
                <a:ea typeface="+mn-lt"/>
                <a:cs typeface="+mn-lt"/>
              </a:rPr>
              <a:t>mpause</a:t>
            </a:r>
            <a:r>
              <a:rPr lang="en-US" sz="1200" dirty="0">
                <a:ea typeface="+mn-lt"/>
                <a:cs typeface="+mn-lt"/>
              </a:rPr>
              <a:t> 2000    </a:t>
            </a:r>
            <a:endParaRPr lang="en-US" sz="1200" dirty="0">
              <a:cs typeface="Calibri"/>
            </a:endParaRPr>
          </a:p>
          <a:p>
            <a:endParaRPr lang="en-US" sz="1200" dirty="0"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        </a:t>
            </a:r>
            <a:r>
              <a:rPr lang="en-US" sz="1200" err="1">
                <a:ea typeface="+mn-lt"/>
                <a:cs typeface="+mn-lt"/>
              </a:rPr>
              <a:t>sendln</a:t>
            </a:r>
            <a:r>
              <a:rPr lang="en-US" sz="1200" dirty="0">
                <a:ea typeface="+mn-lt"/>
                <a:cs typeface="+mn-lt"/>
              </a:rPr>
              <a:t> '0x20000006'                     //SPORT INIT</a:t>
            </a:r>
          </a:p>
          <a:p>
            <a:r>
              <a:rPr lang="en-US" sz="1200" dirty="0">
                <a:ea typeface="+mn-lt"/>
                <a:cs typeface="+mn-lt"/>
              </a:rPr>
              <a:t>        </a:t>
            </a:r>
            <a:r>
              <a:rPr lang="en-US" sz="1200" err="1">
                <a:ea typeface="+mn-lt"/>
                <a:cs typeface="+mn-lt"/>
              </a:rPr>
              <a:t>mpause</a:t>
            </a:r>
            <a:r>
              <a:rPr lang="en-US" sz="1200" dirty="0">
                <a:ea typeface="+mn-lt"/>
                <a:cs typeface="+mn-lt"/>
              </a:rPr>
              <a:t> 2000    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        </a:t>
            </a:r>
            <a:r>
              <a:rPr lang="en-US" sz="1200" err="1">
                <a:ea typeface="+mn-lt"/>
                <a:cs typeface="+mn-lt"/>
              </a:rPr>
              <a:t>sendln</a:t>
            </a:r>
            <a:r>
              <a:rPr lang="en-US" sz="1200" dirty="0">
                <a:ea typeface="+mn-lt"/>
                <a:cs typeface="+mn-lt"/>
              </a:rPr>
              <a:t> '0x20000002'                    //PLAY</a:t>
            </a:r>
          </a:p>
          <a:p>
            <a:r>
              <a:rPr lang="en-US" sz="1200" dirty="0">
                <a:ea typeface="+mn-lt"/>
                <a:cs typeface="+mn-lt"/>
              </a:rPr>
              <a:t>        </a:t>
            </a:r>
            <a:r>
              <a:rPr lang="en-US" sz="1200" err="1">
                <a:ea typeface="+mn-lt"/>
                <a:cs typeface="+mn-lt"/>
              </a:rPr>
              <a:t>mpause</a:t>
            </a:r>
            <a:r>
              <a:rPr lang="en-US" sz="1200" dirty="0">
                <a:ea typeface="+mn-lt"/>
                <a:cs typeface="+mn-lt"/>
              </a:rPr>
              <a:t> 2000</a:t>
            </a:r>
          </a:p>
          <a:p>
            <a:endParaRPr lang="en-US" sz="1000" dirty="0">
              <a:cs typeface="Calibri"/>
            </a:endParaRPr>
          </a:p>
          <a:p>
            <a:endParaRPr lang="en-US" sz="1000">
              <a:cs typeface="Calibri"/>
            </a:endParaRPr>
          </a:p>
          <a:p>
            <a:endParaRPr lang="en-US" sz="105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E5CF5-B287-FF42-471D-21B703FA34F0}"/>
              </a:ext>
            </a:extLst>
          </p:cNvPr>
          <p:cNvSpPr txBox="1"/>
          <p:nvPr/>
        </p:nvSpPr>
        <p:spPr>
          <a:xfrm>
            <a:off x="6096000" y="2193073"/>
            <a:ext cx="3113047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 err="1">
                <a:cs typeface="Calibri"/>
              </a:rPr>
              <a:t>sendln</a:t>
            </a:r>
            <a:r>
              <a:rPr lang="en-US" sz="1200" b="1" dirty="0">
                <a:cs typeface="Calibri"/>
              </a:rPr>
              <a:t> '0x200 X YYYY'</a:t>
            </a:r>
          </a:p>
          <a:p>
            <a:endParaRPr lang="en-US" sz="1200" dirty="0">
              <a:cs typeface="Calibri"/>
            </a:endParaRPr>
          </a:p>
          <a:p>
            <a:r>
              <a:rPr lang="en-US" sz="1200" b="1" dirty="0">
                <a:cs typeface="Calibri"/>
              </a:rPr>
              <a:t>YYYY</a:t>
            </a:r>
            <a:r>
              <a:rPr lang="en-US" sz="1200" dirty="0">
                <a:cs typeface="Calibri"/>
              </a:rPr>
              <a:t> – bit 0-15 Parameter values.</a:t>
            </a:r>
          </a:p>
          <a:p>
            <a:r>
              <a:rPr lang="en-US" sz="1200" b="1" dirty="0">
                <a:cs typeface="Calibri"/>
              </a:rPr>
              <a:t>X</a:t>
            </a:r>
            <a:r>
              <a:rPr lang="en-US" sz="1200" dirty="0">
                <a:cs typeface="Calibri"/>
              </a:rPr>
              <a:t>        – No of the Parameters (0 - Command).</a:t>
            </a:r>
          </a:p>
          <a:p>
            <a:endParaRPr lang="en-US" sz="1200" dirty="0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56976-EA99-A03A-C601-35B6969FEEB7}"/>
              </a:ext>
            </a:extLst>
          </p:cNvPr>
          <p:cNvSpPr txBox="1"/>
          <p:nvPr/>
        </p:nvSpPr>
        <p:spPr>
          <a:xfrm>
            <a:off x="5455227" y="3818659"/>
            <a:ext cx="74814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Soundbar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_SDK_On_21569 _Command_Details_Status_Definitions.xlsx</a:t>
            </a:r>
            <a:endParaRPr lang="en-US" sz="1600" dirty="0">
              <a:solidFill>
                <a:schemeClr val="tx2">
                  <a:lumMod val="75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2823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DEC4-EFB3-512C-101B-33F390313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38" y="327134"/>
            <a:ext cx="5994400" cy="533400"/>
          </a:xfrm>
        </p:spPr>
        <p:txBody>
          <a:bodyPr/>
          <a:lstStyle/>
          <a:p>
            <a:r>
              <a:rPr lang="en-US" dirty="0"/>
              <a:t>Command Handling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67EA549-47C6-2D27-5F85-E276A56F5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18" y="1250731"/>
            <a:ext cx="10408803" cy="501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42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0E34-16E1-6346-45AA-AB84ACEA7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170" y="228600"/>
            <a:ext cx="5576230" cy="533400"/>
          </a:xfrm>
        </p:spPr>
        <p:txBody>
          <a:bodyPr/>
          <a:lstStyle/>
          <a:p>
            <a:r>
              <a:rPr lang="en-US" dirty="0">
                <a:cs typeface="Calibri"/>
              </a:rPr>
              <a:t>Channel Re-order        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46E889-F439-80EB-F13D-6461A061E4EF}"/>
              </a:ext>
            </a:extLst>
          </p:cNvPr>
          <p:cNvGrpSpPr/>
          <p:nvPr/>
        </p:nvGrpSpPr>
        <p:grpSpPr>
          <a:xfrm>
            <a:off x="4010785" y="2061327"/>
            <a:ext cx="3910445" cy="917863"/>
            <a:chOff x="3313834" y="2079912"/>
            <a:chExt cx="3910445" cy="9178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62F39E-9906-F26E-C1B0-BA701563CA88}"/>
                </a:ext>
              </a:extLst>
            </p:cNvPr>
            <p:cNvSpPr/>
            <p:nvPr/>
          </p:nvSpPr>
          <p:spPr>
            <a:xfrm>
              <a:off x="4322617" y="2079912"/>
              <a:ext cx="1861703" cy="9178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cs typeface="Calibri"/>
                </a:rPr>
                <a:t>Channel reorder</a:t>
              </a:r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D5D5E75-A3B9-8885-FFCD-6F4796C85D2E}"/>
                </a:ext>
              </a:extLst>
            </p:cNvPr>
            <p:cNvCxnSpPr/>
            <p:nvPr/>
          </p:nvCxnSpPr>
          <p:spPr>
            <a:xfrm>
              <a:off x="6214630" y="2491220"/>
              <a:ext cx="1009649" cy="51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BD57FF5-B3AA-223A-FC8F-DB9D7FD28EFD}"/>
                </a:ext>
              </a:extLst>
            </p:cNvPr>
            <p:cNvCxnSpPr>
              <a:cxnSpLocks/>
            </p:cNvCxnSpPr>
            <p:nvPr/>
          </p:nvCxnSpPr>
          <p:spPr>
            <a:xfrm>
              <a:off x="3313834" y="2491219"/>
              <a:ext cx="1009649" cy="51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561859D-0EC7-DD65-A2BD-E44607FE2E53}"/>
              </a:ext>
            </a:extLst>
          </p:cNvPr>
          <p:cNvSpPr txBox="1"/>
          <p:nvPr/>
        </p:nvSpPr>
        <p:spPr>
          <a:xfrm>
            <a:off x="3742204" y="2115985"/>
            <a:ext cx="4445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      L,C,R…...  </a:t>
            </a:r>
            <a:r>
              <a:rPr lang="en-US" dirty="0">
                <a:cs typeface="Calibri"/>
              </a:rPr>
              <a:t>                                       L,R,C,…...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D7D7F2-1695-51BE-06FF-B7AB322570DB}"/>
              </a:ext>
            </a:extLst>
          </p:cNvPr>
          <p:cNvSpPr txBox="1"/>
          <p:nvPr/>
        </p:nvSpPr>
        <p:spPr>
          <a:xfrm>
            <a:off x="729813" y="120015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Re-ordering the channels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8F5787-F92C-95E9-71DC-86B1AF00595E}"/>
              </a:ext>
            </a:extLst>
          </p:cNvPr>
          <p:cNvSpPr txBox="1"/>
          <p:nvPr/>
        </p:nvSpPr>
        <p:spPr>
          <a:xfrm>
            <a:off x="4632739" y="1481465"/>
            <a:ext cx="25387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DAP</a:t>
            </a:r>
          </a:p>
        </p:txBody>
      </p:sp>
    </p:spTree>
    <p:extLst>
      <p:ext uri="{BB962C8B-B14F-4D97-AF65-F5344CB8AC3E}">
        <p14:creationId xmlns:p14="http://schemas.microsoft.com/office/powerpoint/2010/main" val="2027872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E5987D8-7173-AD50-B9C6-557286EDBCBE}"/>
              </a:ext>
            </a:extLst>
          </p:cNvPr>
          <p:cNvGrpSpPr/>
          <p:nvPr/>
        </p:nvGrpSpPr>
        <p:grpSpPr>
          <a:xfrm>
            <a:off x="3725035" y="2061327"/>
            <a:ext cx="3910445" cy="917863"/>
            <a:chOff x="3313834" y="2079912"/>
            <a:chExt cx="3910445" cy="9178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D0BF98-08D4-0FE9-57AD-B49CE59C15A4}"/>
                </a:ext>
              </a:extLst>
            </p:cNvPr>
            <p:cNvSpPr/>
            <p:nvPr/>
          </p:nvSpPr>
          <p:spPr>
            <a:xfrm>
              <a:off x="4322617" y="2079912"/>
              <a:ext cx="1861703" cy="9178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cs typeface="Calibri"/>
                </a:rPr>
                <a:t>Channel reorder</a:t>
              </a:r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AE241CE-269D-3391-9A7A-FBA86BBF649C}"/>
                </a:ext>
              </a:extLst>
            </p:cNvPr>
            <p:cNvCxnSpPr/>
            <p:nvPr/>
          </p:nvCxnSpPr>
          <p:spPr>
            <a:xfrm>
              <a:off x="6214630" y="2491220"/>
              <a:ext cx="1009649" cy="51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6C9600C-37CB-1FD6-1806-65CFD378298E}"/>
                </a:ext>
              </a:extLst>
            </p:cNvPr>
            <p:cNvCxnSpPr>
              <a:cxnSpLocks/>
            </p:cNvCxnSpPr>
            <p:nvPr/>
          </p:nvCxnSpPr>
          <p:spPr>
            <a:xfrm>
              <a:off x="3313834" y="2491219"/>
              <a:ext cx="1009649" cy="51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F05E379-082C-6E8F-B59E-E087089D34D9}"/>
              </a:ext>
            </a:extLst>
          </p:cNvPr>
          <p:cNvSpPr txBox="1"/>
          <p:nvPr/>
        </p:nvSpPr>
        <p:spPr>
          <a:xfrm>
            <a:off x="668226" y="2064031"/>
            <a:ext cx="4445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      </a:t>
            </a:r>
            <a:r>
              <a:rPr lang="en-US" dirty="0" err="1">
                <a:ea typeface="+mn-lt"/>
                <a:cs typeface="+mn-lt"/>
              </a:rPr>
              <a:t>L,C,R,Lfe,Ls,Rs,Lsr,Rsr,Ltm,Rtm</a:t>
            </a:r>
            <a:r>
              <a:rPr lang="en-US" dirty="0">
                <a:ea typeface="+mn-lt"/>
                <a:cs typeface="+mn-lt"/>
              </a:rPr>
              <a:t>......</a:t>
            </a:r>
            <a:endParaRPr lang="en-US" dirty="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37F0E-2F82-D357-3056-EAB01041096E}"/>
              </a:ext>
            </a:extLst>
          </p:cNvPr>
          <p:cNvSpPr txBox="1"/>
          <p:nvPr/>
        </p:nvSpPr>
        <p:spPr>
          <a:xfrm>
            <a:off x="4416262" y="1420851"/>
            <a:ext cx="25387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DA177E-8201-7BA2-D0FF-7A88405C2137}"/>
              </a:ext>
            </a:extLst>
          </p:cNvPr>
          <p:cNvSpPr txBox="1"/>
          <p:nvPr/>
        </p:nvSpPr>
        <p:spPr>
          <a:xfrm>
            <a:off x="3065318" y="718704"/>
            <a:ext cx="180974" cy="3619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6C81FE-E934-3040-E9EE-FD5C46B81123}"/>
              </a:ext>
            </a:extLst>
          </p:cNvPr>
          <p:cNvSpPr txBox="1"/>
          <p:nvPr/>
        </p:nvSpPr>
        <p:spPr>
          <a:xfrm>
            <a:off x="251114" y="476250"/>
            <a:ext cx="42247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cs typeface="Calibri"/>
              </a:rPr>
              <a:t>Example:</a:t>
            </a:r>
            <a:endParaRPr lang="en-US" sz="2400" b="1"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BEB4A6-8FF1-DE85-9D03-F1BB51E9B01F}"/>
              </a:ext>
            </a:extLst>
          </p:cNvPr>
          <p:cNvSpPr txBox="1"/>
          <p:nvPr/>
        </p:nvSpPr>
        <p:spPr>
          <a:xfrm>
            <a:off x="6365908" y="2064030"/>
            <a:ext cx="45751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      L,R,C,Lfe,Ls,Rs,Assg1, Assg2,Assg3,Assg4......</a:t>
            </a:r>
            <a:endParaRPr lang="en-US" dirty="0" err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683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CF88-D979-109C-BE69-E53E573B6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58" y="1362307"/>
            <a:ext cx="5566937" cy="533400"/>
          </a:xfrm>
        </p:spPr>
        <p:txBody>
          <a:bodyPr/>
          <a:lstStyle/>
          <a:p>
            <a:r>
              <a:rPr lang="en-US">
                <a:cs typeface="Calibri"/>
              </a:rPr>
              <a:t>Reference: 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E042A-C514-6F6E-019B-8B3DF35C8EEE}"/>
              </a:ext>
            </a:extLst>
          </p:cNvPr>
          <p:cNvSpPr txBox="1"/>
          <p:nvPr/>
        </p:nvSpPr>
        <p:spPr>
          <a:xfrm>
            <a:off x="1508581" y="2034887"/>
            <a:ext cx="1007728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Soundbar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_SDK_On_21569 _Command_Details_Status_Definitions.xlsx</a:t>
            </a:r>
            <a:endParaRPr lang="en-US" dirty="0">
              <a:solidFill>
                <a:schemeClr val="tx2">
                  <a:lumMod val="75000"/>
                </a:schemeClr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Soundbar_SDK_On_21569_UserGuide_Eval-Melody-8.pdf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  <a:hlinkClick r:id="rId4"/>
              </a:rPr>
              <a:t>9_1_6_mounted_overhead_speaker_setup.pdf (dolby.com)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38C66CD-EEFB-E5C4-5C23-E00AC7D959AE}"/>
              </a:ext>
            </a:extLst>
          </p:cNvPr>
          <p:cNvSpPr txBox="1">
            <a:spLocks/>
          </p:cNvSpPr>
          <p:nvPr/>
        </p:nvSpPr>
        <p:spPr>
          <a:xfrm>
            <a:off x="51577" y="6560013"/>
            <a:ext cx="3200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050">
                <a:solidFill>
                  <a:schemeClr val="bg1"/>
                </a:solidFill>
              </a:rPr>
              <a:t>©2022 Jasmin Infotech Private Limited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7B76924-E5FF-0CDD-111C-C59358C1E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6560013"/>
            <a:ext cx="1905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chemeClr val="bg1"/>
                </a:solidFill>
                <a:latin typeface="+mj-lt"/>
              </a:rPr>
              <a:t>JASMIN CONFIDENTIAL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D8600AA-A3C2-DF87-A8FA-DC17BE53F6B7}"/>
              </a:ext>
            </a:extLst>
          </p:cNvPr>
          <p:cNvSpPr txBox="1">
            <a:spLocks/>
          </p:cNvSpPr>
          <p:nvPr/>
        </p:nvSpPr>
        <p:spPr>
          <a:xfrm>
            <a:off x="11684000" y="6492878"/>
            <a:ext cx="5080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D1CEE6-8BBE-4393-857A-BEE0A5C48EE0}" type="slidenum">
              <a:rPr lang="en-US" sz="900" smtClean="0">
                <a:solidFill>
                  <a:schemeClr val="bg1"/>
                </a:solidFill>
              </a:rPr>
              <a:pPr algn="r"/>
              <a:t>20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217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CC87D38-53D4-9FF4-593B-C3C5565A3FC8}"/>
              </a:ext>
            </a:extLst>
          </p:cNvPr>
          <p:cNvSpPr txBox="1">
            <a:spLocks/>
          </p:cNvSpPr>
          <p:nvPr/>
        </p:nvSpPr>
        <p:spPr>
          <a:xfrm>
            <a:off x="51577" y="6560013"/>
            <a:ext cx="3200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050">
                <a:solidFill>
                  <a:schemeClr val="bg1"/>
                </a:solidFill>
              </a:rPr>
              <a:t>©2022 Jasmin Infotech Private Limited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12CA79B-647D-428F-0791-E48E73298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6560013"/>
            <a:ext cx="1905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chemeClr val="bg1"/>
                </a:solidFill>
                <a:latin typeface="+mj-lt"/>
              </a:rPr>
              <a:t>JASMIN CONFIDENTIAL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002E9E1-A952-ACB4-7B7D-ABAE68253085}"/>
              </a:ext>
            </a:extLst>
          </p:cNvPr>
          <p:cNvSpPr txBox="1">
            <a:spLocks/>
          </p:cNvSpPr>
          <p:nvPr/>
        </p:nvSpPr>
        <p:spPr>
          <a:xfrm>
            <a:off x="11684000" y="6492878"/>
            <a:ext cx="5080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D1CEE6-8BBE-4393-857A-BEE0A5C48EE0}" type="slidenum">
              <a:rPr lang="en-US" sz="900" smtClean="0">
                <a:solidFill>
                  <a:schemeClr val="bg1"/>
                </a:solidFill>
              </a:rPr>
              <a:pPr algn="r"/>
              <a:t>21</a:t>
            </a:fld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2" name="Picture 2" descr="Text&#10;&#10;Description automatically generated">
            <a:extLst>
              <a:ext uri="{FF2B5EF4-FFF2-40B4-BE49-F238E27FC236}">
                <a16:creationId xmlns:a16="http://schemas.microsoft.com/office/drawing/2014/main" id="{413DA437-B59F-B26B-0FDD-5C136B9F2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351" y="1601130"/>
            <a:ext cx="5382321" cy="364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65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C84909E-B9F7-5E71-B25D-6900E17A54C3}"/>
              </a:ext>
            </a:extLst>
          </p:cNvPr>
          <p:cNvSpPr txBox="1">
            <a:spLocks noChangeArrowheads="1"/>
          </p:cNvSpPr>
          <p:nvPr/>
        </p:nvSpPr>
        <p:spPr>
          <a:xfrm>
            <a:off x="3536795" y="2649344"/>
            <a:ext cx="4876800" cy="22098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endParaRPr lang="en-US" altLang="en-US" dirty="0"/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5200" dirty="0">
                <a:latin typeface="Dreaming Outloud Script Pro"/>
                <a:cs typeface="Times New Roman"/>
              </a:rPr>
              <a:t>Thank You</a:t>
            </a:r>
          </a:p>
          <a:p>
            <a:pPr marL="0" indent="0" algn="ctr">
              <a:buFont typeface="Wingdings" panose="05000000000000000000" pitchFamily="2" charset="2"/>
              <a:buNone/>
            </a:pPr>
            <a:endParaRPr lang="en-IN" altLang="en-US" sz="4800" dirty="0">
              <a:solidFill>
                <a:srgbClr val="002060"/>
              </a:solidFill>
              <a:latin typeface="Script MT Bold" panose="03040602040607080904" pitchFamily="66" charset="0"/>
            </a:endParaRP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7EAF8412-9858-53EB-6295-AAE261E44B97}"/>
              </a:ext>
            </a:extLst>
          </p:cNvPr>
          <p:cNvSpPr txBox="1">
            <a:spLocks/>
          </p:cNvSpPr>
          <p:nvPr/>
        </p:nvSpPr>
        <p:spPr>
          <a:xfrm>
            <a:off x="51577" y="6560013"/>
            <a:ext cx="3200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r>
              <a:rPr lang="en-US" sz="1050">
                <a:solidFill>
                  <a:schemeClr val="bg1"/>
                </a:solidFill>
              </a:rPr>
              <a:t>©2022 Jasmin Infotech Private Limited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E455AB3A-CB82-B193-7129-29DFDAD06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6560013"/>
            <a:ext cx="1905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chemeClr val="bg1"/>
                </a:solidFill>
                <a:latin typeface="+mj-lt"/>
              </a:rPr>
              <a:t>JASMIN CONFIDENTIAL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F719710-C113-962E-19AB-AB112EE834FC}"/>
              </a:ext>
            </a:extLst>
          </p:cNvPr>
          <p:cNvSpPr txBox="1">
            <a:spLocks/>
          </p:cNvSpPr>
          <p:nvPr/>
        </p:nvSpPr>
        <p:spPr>
          <a:xfrm>
            <a:off x="11684000" y="6492878"/>
            <a:ext cx="5080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D1CEE6-8BBE-4393-857A-BEE0A5C48EE0}" type="slidenum">
              <a:rPr lang="en-US" sz="900" smtClean="0">
                <a:solidFill>
                  <a:schemeClr val="bg1"/>
                </a:solidFill>
              </a:rPr>
              <a:pPr algn="r"/>
              <a:t>22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311604"/>
      </p:ext>
    </p:extLst>
  </p:cSld>
  <p:clrMapOvr>
    <a:masterClrMapping/>
  </p:clrMapOvr>
</p:sld>
</file>

<file path=ppt/theme/theme1.xml><?xml version="1.0" encoding="utf-8"?>
<a:theme xmlns:a="http://schemas.openxmlformats.org/drawingml/2006/main" name="Jasmin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Jasmin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851</Words>
  <Application>Microsoft Office PowerPoint</Application>
  <PresentationFormat>Widescreen</PresentationFormat>
  <Paragraphs>164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Book Antiqua</vt:lpstr>
      <vt:lpstr>Calibri</vt:lpstr>
      <vt:lpstr>Courier New</vt:lpstr>
      <vt:lpstr>Dreaming Outloud Script Pro</vt:lpstr>
      <vt:lpstr>Script MT Bold</vt:lpstr>
      <vt:lpstr>Trebuchet MS</vt:lpstr>
      <vt:lpstr>Wingdings</vt:lpstr>
      <vt:lpstr>Jasmin_PPT_Template</vt:lpstr>
      <vt:lpstr>1_Jasmin_PPT_Template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Dolby Vs DTS</vt:lpstr>
      <vt:lpstr>Upmixing</vt:lpstr>
      <vt:lpstr>Example:</vt:lpstr>
      <vt:lpstr>              Cross upmixing</vt:lpstr>
      <vt:lpstr>Example:</vt:lpstr>
      <vt:lpstr>Host Control</vt:lpstr>
      <vt:lpstr>Command Protocol</vt:lpstr>
      <vt:lpstr>Command Handling</vt:lpstr>
      <vt:lpstr>Channel Re-order        </vt:lpstr>
      <vt:lpstr>PowerPoint Presentation</vt:lpstr>
      <vt:lpstr>Reference: 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ADI_HPMATeam</dc:creator>
  <cp:lastModifiedBy>Krishnan, Vijay</cp:lastModifiedBy>
  <cp:revision>720</cp:revision>
  <dcterms:created xsi:type="dcterms:W3CDTF">2018-10-17T07:24:31Z</dcterms:created>
  <dcterms:modified xsi:type="dcterms:W3CDTF">2024-10-10T03:55:35Z</dcterms:modified>
</cp:coreProperties>
</file>